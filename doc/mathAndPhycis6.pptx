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8"/>
  </p:notesMasterIdLst>
  <p:sldIdLst>
    <p:sldId id="454" r:id="rId2"/>
    <p:sldId id="467" r:id="rId3"/>
    <p:sldId id="468" r:id="rId4"/>
    <p:sldId id="469" r:id="rId5"/>
    <p:sldId id="615" r:id="rId6"/>
    <p:sldId id="616" r:id="rId7"/>
    <p:sldId id="617" r:id="rId8"/>
    <p:sldId id="618" r:id="rId9"/>
    <p:sldId id="619" r:id="rId10"/>
    <p:sldId id="620" r:id="rId11"/>
    <p:sldId id="533" r:id="rId12"/>
    <p:sldId id="621" r:id="rId13"/>
    <p:sldId id="622" r:id="rId14"/>
    <p:sldId id="470" r:id="rId15"/>
    <p:sldId id="535" r:id="rId16"/>
    <p:sldId id="623" r:id="rId17"/>
    <p:sldId id="540" r:id="rId18"/>
    <p:sldId id="624" r:id="rId19"/>
    <p:sldId id="625" r:id="rId20"/>
    <p:sldId id="626" r:id="rId21"/>
    <p:sldId id="627" r:id="rId22"/>
    <p:sldId id="628" r:id="rId23"/>
    <p:sldId id="629" r:id="rId24"/>
    <p:sldId id="630" r:id="rId25"/>
    <p:sldId id="631" r:id="rId26"/>
    <p:sldId id="632" r:id="rId27"/>
    <p:sldId id="542" r:id="rId28"/>
    <p:sldId id="546" r:id="rId29"/>
    <p:sldId id="634" r:id="rId30"/>
    <p:sldId id="633" r:id="rId31"/>
    <p:sldId id="549" r:id="rId32"/>
    <p:sldId id="635" r:id="rId33"/>
    <p:sldId id="638" r:id="rId34"/>
    <p:sldId id="610" r:id="rId35"/>
    <p:sldId id="600" r:id="rId36"/>
    <p:sldId id="636" r:id="rId37"/>
    <p:sldId id="637" r:id="rId38"/>
    <p:sldId id="572" r:id="rId39"/>
    <p:sldId id="639" r:id="rId40"/>
    <p:sldId id="640" r:id="rId41"/>
    <p:sldId id="614" r:id="rId42"/>
    <p:sldId id="641" r:id="rId43"/>
    <p:sldId id="642" r:id="rId44"/>
    <p:sldId id="643" r:id="rId45"/>
    <p:sldId id="644" r:id="rId46"/>
    <p:sldId id="645" r:id="rId47"/>
    <p:sldId id="646" r:id="rId48"/>
    <p:sldId id="647" r:id="rId49"/>
    <p:sldId id="648" r:id="rId50"/>
    <p:sldId id="649" r:id="rId51"/>
    <p:sldId id="650" r:id="rId52"/>
    <p:sldId id="651" r:id="rId53"/>
    <p:sldId id="652" r:id="rId54"/>
    <p:sldId id="653" r:id="rId55"/>
    <p:sldId id="611" r:id="rId56"/>
    <p:sldId id="579" r:id="rId57"/>
  </p:sldIdLst>
  <p:sldSz cx="9144000" cy="6858000" type="screen4x3"/>
  <p:notesSz cx="6858000" cy="9144000"/>
  <p:embeddedFontLst>
    <p:embeddedFont>
      <p:font typeface="Bitstream Vera Sans Mono" panose="020B0609030804020204" pitchFamily="49" charset="-127"/>
      <p:regular r:id="rId59"/>
    </p:embeddedFont>
    <p:embeddedFont>
      <p:font typeface="Cambria Math" panose="02040503050406030204" pitchFamily="18" charset="0"/>
      <p:regular r:id="rId60"/>
    </p:embeddedFont>
    <p:embeddedFont>
      <p:font typeface="D2Coding" panose="020B0609020101020101" pitchFamily="49" charset="-127"/>
      <p:regular r:id="rId61"/>
      <p:bold r:id="rId62"/>
    </p:embeddedFont>
    <p:embeddedFont>
      <p:font typeface="HY견고딕" panose="02030600000101010101" pitchFamily="18" charset="-127"/>
      <p:regular r:id="rId63"/>
    </p:embeddedFont>
    <p:embeddedFont>
      <p:font typeface="가을체" panose="02030600000101010101" pitchFamily="18" charset="-127"/>
      <p:regular r:id="rId64"/>
    </p:embeddedFont>
    <p:embeddedFont>
      <p:font typeface="나눔바른고딕" panose="020B0603020101020101" pitchFamily="50" charset="-127"/>
      <p:regular r:id="rId65"/>
      <p:bold r:id="rId6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FF"/>
    <a:srgbClr val="CCFFCC"/>
    <a:srgbClr val="008000"/>
    <a:srgbClr val="CC0000"/>
    <a:srgbClr val="009900"/>
    <a:srgbClr val="FF00FF"/>
    <a:srgbClr val="FF9900"/>
    <a:srgbClr val="FF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36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image" Target="../media/image114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" Type="http://schemas.openxmlformats.org/officeDocument/2006/relationships/image" Target="../media/image160.png"/><Relationship Id="rId16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163.png"/><Relationship Id="rId15" Type="http://schemas.openxmlformats.org/officeDocument/2006/relationships/image" Target="../media/image173.png"/><Relationship Id="rId10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9.png"/><Relationship Id="rId4" Type="http://schemas.openxmlformats.org/officeDocument/2006/relationships/image" Target="../media/image21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E4E74-A08A-3A8C-4DF0-2CD0F049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B010465-670E-74BD-2F82-6F9FCB4FA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16. </a:t>
            </a:r>
            <a:r>
              <a:rPr lang="ko-KR" altLang="en-US" dirty="0"/>
              <a:t>사원수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0E4878B0-C1F7-77CA-FFC6-0132BA000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차원 수를 설계한 </a:t>
            </a:r>
            <a:r>
              <a:rPr lang="en-US" altLang="ko-KR" dirty="0"/>
              <a:t>3</a:t>
            </a:r>
            <a:r>
              <a:rPr lang="ko-KR" altLang="en-US" dirty="0"/>
              <a:t>차원 회전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0E596F-52EC-4A7A-F14A-AECB0B748B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832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957D-1850-F5FE-3CB2-FFD212FC6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D2315-4738-2E52-2F52-7D7592CE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 </a:t>
            </a:r>
            <a:r>
              <a:rPr lang="ko-KR" altLang="en-US" dirty="0"/>
              <a:t>사원수 </a:t>
            </a:r>
            <a:r>
              <a:rPr lang="en-US" altLang="ko-KR" dirty="0"/>
              <a:t>(Quaternion) </a:t>
            </a:r>
            <a:r>
              <a:rPr lang="ko-KR" altLang="en-US" dirty="0"/>
              <a:t>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57AF9-F81C-785B-5EA9-25805925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원수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개의 독립된 체계로 구성된 </a:t>
            </a:r>
            <a:r>
              <a:rPr lang="en-US" altLang="ko-KR" dirty="0"/>
              <a:t>4</a:t>
            </a:r>
            <a:r>
              <a:rPr lang="ko-KR" altLang="en-US" dirty="0"/>
              <a:t>차원 </a:t>
            </a:r>
            <a:r>
              <a:rPr lang="ko-KR" altLang="en-US" dirty="0" err="1"/>
              <a:t>수집합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→ 복소 평면의 </a:t>
            </a:r>
            <a:r>
              <a:rPr lang="en-US" altLang="ko-KR" dirty="0"/>
              <a:t>4</a:t>
            </a:r>
            <a:r>
              <a:rPr lang="ko-KR" altLang="en-US" dirty="0"/>
              <a:t>차원 확장</a:t>
            </a:r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ko-KR" altLang="en-US" dirty="0"/>
              <a:t>실수 </a:t>
            </a:r>
            <a:r>
              <a:rPr lang="en-US" altLang="ko-KR" dirty="0"/>
              <a:t>, (</a:t>
            </a:r>
            <a:r>
              <a:rPr lang="ko-KR" altLang="en-US" dirty="0"/>
              <a:t>허수</a:t>
            </a:r>
            <a:r>
              <a:rPr lang="en-US" altLang="ko-KR" baseline="-25000" dirty="0"/>
              <a:t>1</a:t>
            </a:r>
            <a:r>
              <a:rPr lang="en-US" altLang="ko-KR" dirty="0"/>
              <a:t>, </a:t>
            </a:r>
            <a:r>
              <a:rPr lang="ko-KR" altLang="en-US" dirty="0"/>
              <a:t>허수</a:t>
            </a:r>
            <a:r>
              <a:rPr lang="en-US" altLang="ko-KR" baseline="-25000" dirty="0"/>
              <a:t> 2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허수</a:t>
            </a:r>
            <a:r>
              <a:rPr lang="en-US" altLang="ko-KR" baseline="-25000" dirty="0"/>
              <a:t> 3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표현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10F229-F7FA-E27C-6B02-28A1037082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C33E41-2ADE-EAC7-94E5-D7BEA7406227}"/>
                  </a:ext>
                </a:extLst>
              </p:cNvPr>
              <p:cNvSpPr txBox="1"/>
              <p:nvPr/>
            </p:nvSpPr>
            <p:spPr>
              <a:xfrm>
                <a:off x="899592" y="4293096"/>
                <a:ext cx="460851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𝑗𝑦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𝑘𝑧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C33E41-2ADE-EAC7-94E5-D7BEA7406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293096"/>
                <a:ext cx="4608512" cy="461665"/>
              </a:xfrm>
              <a:prstGeom prst="rect">
                <a:avLst/>
              </a:prstGeom>
              <a:blipFill>
                <a:blip r:embed="rId2"/>
                <a:stretch>
                  <a:fillRect l="-397"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39947-3A22-DE6B-4A97-047C5364D73D}"/>
                  </a:ext>
                </a:extLst>
              </p:cNvPr>
              <p:cNvSpPr txBox="1"/>
              <p:nvPr/>
            </p:nvSpPr>
            <p:spPr>
              <a:xfrm>
                <a:off x="899592" y="5549170"/>
                <a:ext cx="392164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ℍ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39947-3A22-DE6B-4A97-047C5364D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549170"/>
                <a:ext cx="3921646" cy="461665"/>
              </a:xfrm>
              <a:prstGeom prst="rect">
                <a:avLst/>
              </a:prstGeom>
              <a:blipFill>
                <a:blip r:embed="rId3"/>
                <a:stretch>
                  <a:fillRect l="-467" t="-1316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DAD10A-70C8-F81E-FC2B-6A57FFB33B05}"/>
                  </a:ext>
                </a:extLst>
              </p:cNvPr>
              <p:cNvSpPr txBox="1"/>
              <p:nvPr/>
            </p:nvSpPr>
            <p:spPr>
              <a:xfrm>
                <a:off x="899592" y="4711787"/>
                <a:ext cx="230425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DAD10A-70C8-F81E-FC2B-6A57FFB33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711787"/>
                <a:ext cx="2304256" cy="461665"/>
              </a:xfrm>
              <a:prstGeom prst="rect">
                <a:avLst/>
              </a:prstGeom>
              <a:blipFill>
                <a:blip r:embed="rId4"/>
                <a:stretch>
                  <a:fillRect l="-794" b="-1184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257893-4F37-F102-A2D8-1262871C1087}"/>
                  </a:ext>
                </a:extLst>
              </p:cNvPr>
              <p:cNvSpPr txBox="1"/>
              <p:nvPr/>
            </p:nvSpPr>
            <p:spPr>
              <a:xfrm>
                <a:off x="899592" y="5130478"/>
                <a:ext cx="331236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257893-4F37-F102-A2D8-1262871C1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130478"/>
                <a:ext cx="3312368" cy="461665"/>
              </a:xfrm>
              <a:prstGeom prst="rect">
                <a:avLst/>
              </a:prstGeom>
              <a:blipFill>
                <a:blip r:embed="rId5"/>
                <a:stretch>
                  <a:fillRect l="-552" t="-17333" r="-552"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28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B1B9-3D0B-DD33-EF91-1A3F4C86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8F341-57C9-9CBC-5439-4D53639E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16.1.1 </a:t>
            </a:r>
            <a:r>
              <a:rPr lang="ko-KR" altLang="en-US" dirty="0"/>
              <a:t>사원수를 구성하는 세 허수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DF882-90C0-B719-E45D-CCC4E2FBE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허수부</a:t>
            </a:r>
            <a:r>
              <a:rPr lang="ko-KR" altLang="en-US" dirty="0"/>
              <a:t> </a:t>
            </a:r>
            <a:r>
              <a:rPr lang="en-US" altLang="ko-KR" dirty="0"/>
              <a:t>i, j, k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2400" b="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47AFE7-7B8F-E662-84F0-63B1D2E791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15928-0311-BF10-2C8D-7A4FF58B6143}"/>
                  </a:ext>
                </a:extLst>
              </p:cNvPr>
              <p:cNvSpPr txBox="1"/>
              <p:nvPr/>
            </p:nvSpPr>
            <p:spPr>
              <a:xfrm>
                <a:off x="957908" y="1340768"/>
                <a:ext cx="4032448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15928-0311-BF10-2C8D-7A4FF58B6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08" y="1340768"/>
                <a:ext cx="403244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B31F99-AD99-CEDE-647B-C5914D089DAD}"/>
                  </a:ext>
                </a:extLst>
              </p:cNvPr>
              <p:cNvSpPr txBox="1"/>
              <p:nvPr/>
            </p:nvSpPr>
            <p:spPr>
              <a:xfrm>
                <a:off x="957908" y="1848014"/>
                <a:ext cx="4176464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𝑖𝑗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𝑗𝑘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B31F99-AD99-CEDE-647B-C5914D089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08" y="1848014"/>
                <a:ext cx="41764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C0ABA5-058B-1E0E-0A4B-CE005F90732C}"/>
                  </a:ext>
                </a:extLst>
              </p:cNvPr>
              <p:cNvSpPr txBox="1"/>
              <p:nvPr/>
            </p:nvSpPr>
            <p:spPr>
              <a:xfrm>
                <a:off x="1127101" y="4924325"/>
                <a:ext cx="6192688" cy="13849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𝑘𝑖𝑖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𝑗𝑖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 →  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𝑗𝑖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ko-KR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𝑘𝑗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𝑖𝑗𝑗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 →  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𝑘𝑗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ko-KR" alt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𝑖𝑖𝑗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𝑖𝑘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 →  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𝑖𝑘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C0ABA5-058B-1E0E-0A4B-CE005F907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1" y="4924325"/>
                <a:ext cx="6192688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6F43E-C0A1-DE31-6CD5-6A24124AF621}"/>
                  </a:ext>
                </a:extLst>
              </p:cNvPr>
              <p:cNvSpPr txBox="1"/>
              <p:nvPr/>
            </p:nvSpPr>
            <p:spPr>
              <a:xfrm>
                <a:off x="1127101" y="3395253"/>
                <a:ext cx="6192688" cy="138499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𝑖𝑗𝑘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𝑘𝑘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 →  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𝑘𝑖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 →  </m:t>
                    </m:r>
                    <m:r>
                      <a:rPr lang="en-US" altLang="ko-K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𝑗𝑘𝑖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𝑗𝑗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 →  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6F43E-C0A1-DE31-6CD5-6A24124AF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1" y="3395253"/>
                <a:ext cx="6192688" cy="1384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05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4F0E-C598-75B9-63AB-1C15A508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A8B81-424F-BE75-9186-A83B4881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</a:t>
            </a:r>
            <a:r>
              <a:rPr lang="ko-KR" altLang="en-US" dirty="0"/>
              <a:t>사원수 덧셈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EA966-03FE-C2E0-BB5C-42F0E1661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사원수</a:t>
            </a:r>
            <a:endParaRPr lang="en-US" altLang="ko-KR" sz="2400" dirty="0"/>
          </a:p>
          <a:p>
            <a:pPr lvl="4"/>
            <a:endParaRPr lang="en-US" altLang="ko-KR" sz="1200" dirty="0"/>
          </a:p>
          <a:p>
            <a:endParaRPr lang="en-US" altLang="ko-KR" sz="2400" dirty="0"/>
          </a:p>
          <a:p>
            <a:r>
              <a:rPr lang="ko-KR" altLang="en-US" sz="2400" dirty="0"/>
              <a:t>사원수 덧셈</a:t>
            </a:r>
            <a:endParaRPr lang="en-US" altLang="ko-KR" sz="2400" dirty="0"/>
          </a:p>
          <a:p>
            <a:endParaRPr lang="en-US" altLang="ko-KR" sz="24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결합 법칙 </a:t>
            </a:r>
            <a:r>
              <a:rPr lang="en-US" altLang="ko-KR" sz="2400" dirty="0"/>
              <a:t>(</a:t>
            </a:r>
            <a:r>
              <a:rPr lang="ko-KR" altLang="en-US" sz="2400" dirty="0"/>
              <a:t>덧셈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88E57E-5607-4160-6158-EB916E933C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32A3AA-FA9C-16DF-F1D6-0DC585CA6BB6}"/>
                  </a:ext>
                </a:extLst>
              </p:cNvPr>
              <p:cNvSpPr txBox="1"/>
              <p:nvPr/>
            </p:nvSpPr>
            <p:spPr>
              <a:xfrm>
                <a:off x="251520" y="2348880"/>
                <a:ext cx="878497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32A3AA-FA9C-16DF-F1D6-0DC585CA6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348880"/>
                <a:ext cx="8784976" cy="400110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427571-5178-5727-26C8-56ECF1338D5C}"/>
                  </a:ext>
                </a:extLst>
              </p:cNvPr>
              <p:cNvSpPr txBox="1"/>
              <p:nvPr/>
            </p:nvSpPr>
            <p:spPr>
              <a:xfrm>
                <a:off x="323528" y="3501008"/>
                <a:ext cx="3888432" cy="178972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427571-5178-5727-26C8-56ECF1338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501008"/>
                <a:ext cx="3888432" cy="17897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84B9F-2021-E444-DBAA-91ED2D0E3722}"/>
                  </a:ext>
                </a:extLst>
              </p:cNvPr>
              <p:cNvSpPr txBox="1"/>
              <p:nvPr/>
            </p:nvSpPr>
            <p:spPr>
              <a:xfrm>
                <a:off x="4211960" y="3808785"/>
                <a:ext cx="4104456" cy="148194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84B9F-2021-E444-DBAA-91ED2D0E3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3808785"/>
                <a:ext cx="4104456" cy="14819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C2BDE9-7200-6B15-B9FA-AF8E337331B9}"/>
                  </a:ext>
                </a:extLst>
              </p:cNvPr>
              <p:cNvSpPr txBox="1"/>
              <p:nvPr/>
            </p:nvSpPr>
            <p:spPr>
              <a:xfrm>
                <a:off x="698848" y="5398451"/>
                <a:ext cx="3888432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C2BDE9-7200-6B15-B9FA-AF8E33733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48" y="5398451"/>
                <a:ext cx="3888432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26A3AF-74DD-2EE9-5A89-67192A168495}"/>
                  </a:ext>
                </a:extLst>
              </p:cNvPr>
              <p:cNvSpPr txBox="1"/>
              <p:nvPr/>
            </p:nvSpPr>
            <p:spPr>
              <a:xfrm>
                <a:off x="277491" y="1167161"/>
                <a:ext cx="3790453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𝑥𝑖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𝑦𝑗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𝑧𝑘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26A3AF-74DD-2EE9-5A89-67192A168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91" y="1167161"/>
                <a:ext cx="3790453" cy="40011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15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CF8B-9457-7B2B-97E0-3211DCCC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1090D-0E5C-6614-F4D7-6ED08C5A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</a:t>
            </a:r>
            <a:r>
              <a:rPr lang="ko-KR" altLang="en-US" dirty="0"/>
              <a:t>사원수 덧셈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0166D4-2F74-FDED-D4C9-A75B03DB0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교환 법칙 </a:t>
            </a:r>
            <a:r>
              <a:rPr lang="en-US" altLang="ko-KR" sz="2400" dirty="0"/>
              <a:t>(</a:t>
            </a:r>
            <a:r>
              <a:rPr lang="ko-KR" altLang="en-US" sz="2400" dirty="0"/>
              <a:t>덧셈</a:t>
            </a:r>
            <a:r>
              <a:rPr lang="en-US" altLang="ko-KR" sz="2400" dirty="0"/>
              <a:t>)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항등원 </a:t>
            </a:r>
            <a:r>
              <a:rPr lang="en-US" altLang="ko-KR" sz="2400" dirty="0"/>
              <a:t>(</a:t>
            </a:r>
            <a:r>
              <a:rPr lang="ko-KR" altLang="en-US" sz="2400" dirty="0"/>
              <a:t>덧셈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어떤 연산을 수행해도 원래 값이 변하지 않는 원소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역원 </a:t>
            </a:r>
            <a:r>
              <a:rPr lang="en-US" altLang="ko-KR" sz="2400" dirty="0"/>
              <a:t>(</a:t>
            </a:r>
            <a:r>
              <a:rPr lang="ko-KR" altLang="en-US" sz="2400" dirty="0"/>
              <a:t>덧셈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어떤 연산 결과 항등원을 만드는 원소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C32AB2-0200-FABB-7806-80D2F2DCCB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BC86E-F8C2-13B6-11E0-C2DFB3F2FA2C}"/>
                  </a:ext>
                </a:extLst>
              </p:cNvPr>
              <p:cNvSpPr txBox="1"/>
              <p:nvPr/>
            </p:nvSpPr>
            <p:spPr>
              <a:xfrm>
                <a:off x="415802" y="1052736"/>
                <a:ext cx="8247706" cy="132343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2000" b="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  <a:p>
                <a:r>
                  <a:rPr lang="en-US" altLang="ko-KR" sz="20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sz="2000" dirty="0"/>
              </a:p>
              <a:p>
                <a:r>
                  <a:rPr lang="en-US" altLang="ko-KR" sz="20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BC86E-F8C2-13B6-11E0-C2DFB3F2F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02" y="1052736"/>
                <a:ext cx="8247706" cy="1323439"/>
              </a:xfrm>
              <a:prstGeom prst="rect">
                <a:avLst/>
              </a:prstGeom>
              <a:blipFill>
                <a:blip r:embed="rId2"/>
                <a:stretch>
                  <a:fillRect b="-230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15F06D-1825-344F-146F-A1DCA9BD2574}"/>
                  </a:ext>
                </a:extLst>
              </p:cNvPr>
              <p:cNvSpPr txBox="1"/>
              <p:nvPr/>
            </p:nvSpPr>
            <p:spPr>
              <a:xfrm>
                <a:off x="415802" y="3356992"/>
                <a:ext cx="8247706" cy="70788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ko-KR" sz="2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  <a:p>
                <a:r>
                  <a:rPr lang="en-US" altLang="ko-KR" sz="20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       </m:t>
                    </m:r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𝑥𝑖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𝑦𝑗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15F06D-1825-344F-146F-A1DCA9BD2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02" y="3356992"/>
                <a:ext cx="8247706" cy="707886"/>
              </a:xfrm>
              <a:prstGeom prst="rect">
                <a:avLst/>
              </a:prstGeom>
              <a:blipFill>
                <a:blip r:embed="rId3"/>
                <a:stretch>
                  <a:fillRect b="-862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F31B3-C60E-3D9A-4472-F2782FBEBCD8}"/>
                  </a:ext>
                </a:extLst>
              </p:cNvPr>
              <p:cNvSpPr txBox="1"/>
              <p:nvPr/>
            </p:nvSpPr>
            <p:spPr>
              <a:xfrm>
                <a:off x="415802" y="3933056"/>
                <a:ext cx="1223938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ko-KR" sz="2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F31B3-C60E-3D9A-4472-F2782FBEB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02" y="3933056"/>
                <a:ext cx="12239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5CA4DF-775F-1E36-C4C0-D729F39AAA6A}"/>
                  </a:ext>
                </a:extLst>
              </p:cNvPr>
              <p:cNvSpPr txBox="1"/>
              <p:nvPr/>
            </p:nvSpPr>
            <p:spPr>
              <a:xfrm>
                <a:off x="475086" y="5283285"/>
                <a:ext cx="8247706" cy="64633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1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8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               ← 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5CA4DF-775F-1E36-C4C0-D729F39A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86" y="5283285"/>
                <a:ext cx="8247706" cy="646331"/>
              </a:xfrm>
              <a:prstGeom prst="rect">
                <a:avLst/>
              </a:prstGeom>
              <a:blipFill>
                <a:blip r:embed="rId5"/>
                <a:stretch>
                  <a:fillRect b="-849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06E5C9-9B10-ED5F-C7AD-18AC36F8EDA6}"/>
                  </a:ext>
                </a:extLst>
              </p:cNvPr>
              <p:cNvSpPr txBox="1"/>
              <p:nvPr/>
            </p:nvSpPr>
            <p:spPr>
              <a:xfrm>
                <a:off x="501007" y="5949280"/>
                <a:ext cx="3134889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 −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06E5C9-9B10-ED5F-C7AD-18AC36F8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07" y="5949280"/>
                <a:ext cx="313488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81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C3D2-176A-5C74-58E1-9A0C9150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96D13-5707-D60A-F110-5D271DFE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</a:t>
            </a:r>
            <a:r>
              <a:rPr lang="ko-KR" altLang="en-US" dirty="0"/>
              <a:t>사원수 덧셈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CB9A0-60C0-EF1F-D043-37D56FE7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사원수 덧셈 연산 성질</a:t>
            </a:r>
            <a:endParaRPr lang="en-US" altLang="ko-KR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809A8-D289-07FB-02AE-3622B3182E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4B14B6C0-5B10-58DB-F298-B6C8DFFD58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896072"/>
                  </p:ext>
                </p:extLst>
              </p:nvPr>
            </p:nvGraphicFramePr>
            <p:xfrm>
              <a:off x="611560" y="1268760"/>
              <a:ext cx="7848872" cy="4320481"/>
            </p:xfrm>
            <a:graphic>
              <a:graphicData uri="http://schemas.openxmlformats.org/drawingml/2006/table">
                <a:tbl>
                  <a:tblPr/>
                  <a:tblGrid>
                    <a:gridCol w="4536504">
                      <a:extLst>
                        <a:ext uri="{9D8B030D-6E8A-4147-A177-3AD203B41FA5}">
                          <a16:colId xmlns:a16="http://schemas.microsoft.com/office/drawing/2014/main" val="2496068465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1908150935"/>
                        </a:ext>
                      </a:extLst>
                    </a:gridCol>
                  </a:tblGrid>
                  <a:tr h="607591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연산의 성질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만족의 여부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5633857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대해 닫혀 있음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7888148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교환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87662410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결합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0270571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항등원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0, 0, 0, 0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5866768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역원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-q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1299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4B14B6C0-5B10-58DB-F298-B6C8DFFD58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896072"/>
                  </p:ext>
                </p:extLst>
              </p:nvPr>
            </p:nvGraphicFramePr>
            <p:xfrm>
              <a:off x="611560" y="1268760"/>
              <a:ext cx="7848872" cy="4320481"/>
            </p:xfrm>
            <a:graphic>
              <a:graphicData uri="http://schemas.openxmlformats.org/drawingml/2006/table">
                <a:tbl>
                  <a:tblPr/>
                  <a:tblGrid>
                    <a:gridCol w="4536504">
                      <a:extLst>
                        <a:ext uri="{9D8B030D-6E8A-4147-A177-3AD203B41FA5}">
                          <a16:colId xmlns:a16="http://schemas.microsoft.com/office/drawing/2014/main" val="2496068465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1908150935"/>
                        </a:ext>
                      </a:extLst>
                    </a:gridCol>
                  </a:tblGrid>
                  <a:tr h="607591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연산의 성질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만족의 여부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5633857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대해 닫혀 있음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7888148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교환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87662410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결합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0270571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항등원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949" t="-381967" r="-368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5866768"/>
                      </a:ext>
                    </a:extLst>
                  </a:tr>
                  <a:tr h="742578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덧셈에 대한 역원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-q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108000" marB="1080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1299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38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219A-907F-5264-066F-CA8844D8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1F093-82C6-1226-AAA3-6CD417D5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</a:t>
            </a:r>
            <a:r>
              <a:rPr lang="ko-KR" altLang="en-US" dirty="0"/>
              <a:t>사원수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BB0FCF-0CD6-E291-DA50-643FFF1FC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해밀톤</a:t>
            </a:r>
            <a:r>
              <a:rPr lang="ko-KR" altLang="en-US" sz="2400" dirty="0"/>
              <a:t> 곱 </a:t>
            </a:r>
            <a:r>
              <a:rPr lang="en-US" altLang="ko-KR" sz="2400" dirty="0"/>
              <a:t>(Hamilton product)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결합 법칙 </a:t>
            </a:r>
            <a:r>
              <a:rPr lang="en-US" altLang="ko-KR" sz="2400" dirty="0"/>
              <a:t>(</a:t>
            </a:r>
            <a:r>
              <a:rPr lang="ko-KR" altLang="en-US" sz="2400" dirty="0"/>
              <a:t>곱셈</a:t>
            </a:r>
            <a:r>
              <a:rPr lang="en-US" altLang="ko-KR" sz="2400" dirty="0"/>
              <a:t>)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분배 법칙 </a:t>
            </a:r>
            <a:r>
              <a:rPr lang="en-US" altLang="ko-KR" sz="2400" dirty="0"/>
              <a:t>(</a:t>
            </a:r>
            <a:r>
              <a:rPr lang="ko-KR" altLang="en-US" sz="2400" dirty="0"/>
              <a:t>곱셈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항등원 </a:t>
            </a:r>
            <a:r>
              <a:rPr lang="en-US" altLang="ko-KR" sz="2400" dirty="0"/>
              <a:t>(</a:t>
            </a:r>
            <a:r>
              <a:rPr lang="ko-KR" altLang="en-US" sz="2400" dirty="0"/>
              <a:t>곱셈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D988FF-4844-5379-D79B-492779DE34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7768BA-CA30-B23C-980E-305966EB6156}"/>
                  </a:ext>
                </a:extLst>
              </p:cNvPr>
              <p:cNvSpPr txBox="1"/>
              <p:nvPr/>
            </p:nvSpPr>
            <p:spPr>
              <a:xfrm>
                <a:off x="644774" y="1052736"/>
                <a:ext cx="7311602" cy="16312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2000" b="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altLang="ko-K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20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      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 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      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+  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7768BA-CA30-B23C-980E-305966EB6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4" y="1052736"/>
                <a:ext cx="7311602" cy="1631216"/>
              </a:xfrm>
              <a:prstGeom prst="rect">
                <a:avLst/>
              </a:prstGeom>
              <a:blipFill>
                <a:blip r:embed="rId2"/>
                <a:stretch>
                  <a:fillRect b="-187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33A90-04ED-8FB5-8B02-4AF544487FC3}"/>
                  </a:ext>
                </a:extLst>
              </p:cNvPr>
              <p:cNvSpPr txBox="1"/>
              <p:nvPr/>
            </p:nvSpPr>
            <p:spPr>
              <a:xfrm>
                <a:off x="644775" y="3429000"/>
                <a:ext cx="356718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33A90-04ED-8FB5-8B02-4AF544487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5" y="3429000"/>
                <a:ext cx="3567186" cy="400110"/>
              </a:xfrm>
              <a:prstGeom prst="rect">
                <a:avLst/>
              </a:prstGeom>
              <a:blipFill>
                <a:blip r:embed="rId3"/>
                <a:stretch>
                  <a:fillRect b="-1076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669C18-4D1A-3D89-1BEE-F6AC067A43D1}"/>
                  </a:ext>
                </a:extLst>
              </p:cNvPr>
              <p:cNvSpPr txBox="1"/>
              <p:nvPr/>
            </p:nvSpPr>
            <p:spPr>
              <a:xfrm>
                <a:off x="644774" y="4541058"/>
                <a:ext cx="389394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669C18-4D1A-3D89-1BEE-F6AC067A4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4" y="4541058"/>
                <a:ext cx="3893946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5BA2E4-D6FD-3718-ADF6-46E7AFC72ACC}"/>
                  </a:ext>
                </a:extLst>
              </p:cNvPr>
              <p:cNvSpPr txBox="1"/>
              <p:nvPr/>
            </p:nvSpPr>
            <p:spPr>
              <a:xfrm>
                <a:off x="644774" y="5837202"/>
                <a:ext cx="172355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  1</m:t>
                      </m:r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5BA2E4-D6FD-3718-ADF6-46E7AFC72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4" y="5837202"/>
                <a:ext cx="1723550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406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1E25-3285-5DF2-92F0-022F368A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9A414-10ED-7D54-391D-20B54A2D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</a:t>
            </a:r>
            <a:r>
              <a:rPr lang="ko-KR" altLang="en-US" dirty="0"/>
              <a:t>사원수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3362C-A9E7-1F82-931B-990427873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사원수 곱셈 연산 성질</a:t>
            </a:r>
            <a:endParaRPr lang="en-US" altLang="ko-KR" sz="12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5015E3-4914-8CDB-F227-F94717FDE0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9F0774F-428B-F828-9DE0-28D5626D11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6487600"/>
                  </p:ext>
                </p:extLst>
              </p:nvPr>
            </p:nvGraphicFramePr>
            <p:xfrm>
              <a:off x="611560" y="1340768"/>
              <a:ext cx="7848872" cy="4971640"/>
            </p:xfrm>
            <a:graphic>
              <a:graphicData uri="http://schemas.openxmlformats.org/drawingml/2006/table">
                <a:tbl>
                  <a:tblPr/>
                  <a:tblGrid>
                    <a:gridCol w="4146574">
                      <a:extLst>
                        <a:ext uri="{9D8B030D-6E8A-4147-A177-3AD203B41FA5}">
                          <a16:colId xmlns:a16="http://schemas.microsoft.com/office/drawing/2014/main" val="1753824273"/>
                        </a:ext>
                      </a:extLst>
                    </a:gridCol>
                    <a:gridCol w="3702298">
                      <a:extLst>
                        <a:ext uri="{9D8B030D-6E8A-4147-A177-3AD203B41FA5}">
                          <a16:colId xmlns:a16="http://schemas.microsoft.com/office/drawing/2014/main" val="38909665"/>
                        </a:ext>
                      </a:extLst>
                    </a:gridCol>
                  </a:tblGrid>
                  <a:tr h="576064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연산의 성질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만족의 여부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8014381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대해 닫혀 있음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0452673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교환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X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3506177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결합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6694093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분배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033280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항등원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altLang="ko-KR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737976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역원 존재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켤레 사용</a:t>
                          </a:r>
                          <a:r>
                            <a:rPr lang="en-US" altLang="ko-KR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:</a:t>
                          </a: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ko-KR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ko-KR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8684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9F0774F-428B-F828-9DE0-28D5626D11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6487600"/>
                  </p:ext>
                </p:extLst>
              </p:nvPr>
            </p:nvGraphicFramePr>
            <p:xfrm>
              <a:off x="611560" y="1340768"/>
              <a:ext cx="7848872" cy="4971640"/>
            </p:xfrm>
            <a:graphic>
              <a:graphicData uri="http://schemas.openxmlformats.org/drawingml/2006/table">
                <a:tbl>
                  <a:tblPr/>
                  <a:tblGrid>
                    <a:gridCol w="4146574">
                      <a:extLst>
                        <a:ext uri="{9D8B030D-6E8A-4147-A177-3AD203B41FA5}">
                          <a16:colId xmlns:a16="http://schemas.microsoft.com/office/drawing/2014/main" val="1753824273"/>
                        </a:ext>
                      </a:extLst>
                    </a:gridCol>
                    <a:gridCol w="3702298">
                      <a:extLst>
                        <a:ext uri="{9D8B030D-6E8A-4147-A177-3AD203B41FA5}">
                          <a16:colId xmlns:a16="http://schemas.microsoft.com/office/drawing/2014/main" val="38909665"/>
                        </a:ext>
                      </a:extLst>
                    </a:gridCol>
                  </a:tblGrid>
                  <a:tr h="576064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연산의 성질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만족의 여부</a:t>
                          </a:r>
                          <a:endParaRPr lang="ko-KR" altLang="en-US" sz="32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8014381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대해 닫혀 있음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0452673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교환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X</a:t>
                          </a:r>
                          <a:endParaRPr lang="en-US" sz="400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3506177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결합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6694093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분배 법칙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O</a:t>
                          </a:r>
                          <a:endParaRPr 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033280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항등원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altLang="ko-KR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1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737976"/>
                      </a:ext>
                    </a:extLst>
                  </a:tr>
                  <a:tr h="73259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2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곱셈에 대한 역원 존재</a:t>
                          </a:r>
                          <a:endParaRPr lang="ko-KR" altLang="en-US" sz="4000" dirty="0">
                            <a:effectLst/>
                          </a:endParaRPr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88000" marR="288000" marT="71996" marB="71996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2007" t="-581667" r="-329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86844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30579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7844-A8BB-8456-DDE7-FCCC29D0F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AE0AB-7178-3BFD-FC13-FE764C65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</a:t>
            </a:r>
            <a:r>
              <a:rPr lang="ko-KR" altLang="en-US" dirty="0"/>
              <a:t>사원수 크기</a:t>
            </a:r>
            <a:r>
              <a:rPr lang="en-US" altLang="ko-KR" dirty="0"/>
              <a:t>, </a:t>
            </a:r>
            <a:r>
              <a:rPr lang="ko-KR" altLang="en-US" dirty="0"/>
              <a:t>켤레 사원수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9A99FB-9BB5-ACD6-44F9-DD02CE41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사원수 크기 → </a:t>
            </a:r>
            <a:r>
              <a:rPr lang="en-US" altLang="ko-KR" sz="2400" dirty="0"/>
              <a:t>Norm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단위 사원수</a:t>
            </a:r>
            <a:endParaRPr lang="en-US" altLang="ko-KR" sz="2400" dirty="0"/>
          </a:p>
          <a:p>
            <a:pPr lvl="1"/>
            <a:r>
              <a:rPr lang="ko-KR" altLang="en-US" sz="2000" dirty="0"/>
              <a:t>크기 </a:t>
            </a:r>
            <a:r>
              <a:rPr lang="en-US" altLang="ko-KR" sz="2000" dirty="0"/>
              <a:t>=1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켤레</a:t>
            </a:r>
            <a:r>
              <a:rPr lang="en-US" altLang="ko-KR" sz="2400" dirty="0"/>
              <a:t>(Conjugate)</a:t>
            </a:r>
            <a:r>
              <a:rPr lang="ko-KR" altLang="en-US" sz="2400" dirty="0"/>
              <a:t> 사원수</a:t>
            </a:r>
            <a:endParaRPr lang="en-US" altLang="ko-KR" sz="2400" dirty="0"/>
          </a:p>
          <a:p>
            <a:pPr lvl="1"/>
            <a:r>
              <a:rPr lang="ko-KR" altLang="en-US" sz="2000" dirty="0" err="1"/>
              <a:t>허수부</a:t>
            </a:r>
            <a:r>
              <a:rPr lang="ko-KR" altLang="en-US" sz="2000" dirty="0"/>
              <a:t> 부호 바꾼 사원수</a:t>
            </a:r>
            <a:endParaRPr lang="en-US" altLang="ko-KR" sz="2000" dirty="0"/>
          </a:p>
          <a:p>
            <a:pPr lvl="1"/>
            <a:r>
              <a:rPr lang="en-US" altLang="ko-KR" sz="2000" dirty="0"/>
              <a:t>* </a:t>
            </a:r>
            <a:r>
              <a:rPr lang="ko-KR" altLang="en-US" sz="2000" dirty="0"/>
              <a:t>사용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6E642C-9FF2-9597-86F7-271D2B7732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37790-2D18-2823-5709-BEE870F082E6}"/>
                  </a:ext>
                </a:extLst>
              </p:cNvPr>
              <p:cNvSpPr txBox="1"/>
              <p:nvPr/>
            </p:nvSpPr>
            <p:spPr>
              <a:xfrm>
                <a:off x="516136" y="1194507"/>
                <a:ext cx="2734259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37790-2D18-2823-5709-BEE870F08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36" y="1194507"/>
                <a:ext cx="2734259" cy="461665"/>
              </a:xfrm>
              <a:prstGeom prst="rect">
                <a:avLst/>
              </a:prstGeom>
              <a:blipFill>
                <a:blip r:embed="rId2"/>
                <a:stretch>
                  <a:fillRect b="-1184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C00A7F-0EF6-9D35-8CE9-C448D2AF81DC}"/>
                  </a:ext>
                </a:extLst>
              </p:cNvPr>
              <p:cNvSpPr txBox="1"/>
              <p:nvPr/>
            </p:nvSpPr>
            <p:spPr>
              <a:xfrm>
                <a:off x="2232565" y="2587872"/>
                <a:ext cx="199852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C00A7F-0EF6-9D35-8CE9-C448D2AF8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565" y="2587872"/>
                <a:ext cx="1998524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E0A7F5-4C31-A325-42E7-369224B29560}"/>
                  </a:ext>
                </a:extLst>
              </p:cNvPr>
              <p:cNvSpPr txBox="1"/>
              <p:nvPr/>
            </p:nvSpPr>
            <p:spPr>
              <a:xfrm>
                <a:off x="971600" y="4653136"/>
                <a:ext cx="511256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𝑗𝑦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𝑘𝑧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E0A7F5-4C31-A325-42E7-369224B29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653136"/>
                <a:ext cx="5112568" cy="461665"/>
              </a:xfrm>
              <a:prstGeom prst="rect">
                <a:avLst/>
              </a:prstGeom>
              <a:blipFill>
                <a:blip r:embed="rId4"/>
                <a:stretch>
                  <a:fillRect l="-358"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2279A8-320E-AB93-CBF3-D3CAA346C1AA}"/>
                  </a:ext>
                </a:extLst>
              </p:cNvPr>
              <p:cNvSpPr txBox="1"/>
              <p:nvPr/>
            </p:nvSpPr>
            <p:spPr>
              <a:xfrm>
                <a:off x="971600" y="5110622"/>
                <a:ext cx="396044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𝑘𝑧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2279A8-320E-AB93-CBF3-D3CAA346C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110622"/>
                <a:ext cx="3960440" cy="461665"/>
              </a:xfrm>
              <a:prstGeom prst="rect">
                <a:avLst/>
              </a:prstGeom>
              <a:blipFill>
                <a:blip r:embed="rId5"/>
                <a:stretch>
                  <a:fillRect l="-462" b="-1973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F5403F-697E-9DBE-DFD9-B0857DFA9D3A}"/>
                  </a:ext>
                </a:extLst>
              </p:cNvPr>
              <p:cNvSpPr txBox="1"/>
              <p:nvPr/>
            </p:nvSpPr>
            <p:spPr>
              <a:xfrm>
                <a:off x="971600" y="5568108"/>
                <a:ext cx="396044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F5403F-697E-9DBE-DFD9-B0857DFA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568108"/>
                <a:ext cx="3960440" cy="461665"/>
              </a:xfrm>
              <a:prstGeom prst="rect">
                <a:avLst/>
              </a:prstGeom>
              <a:blipFill>
                <a:blip r:embed="rId6"/>
                <a:stretch>
                  <a:fillRect l="-462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20286F-1B86-139A-42F4-58761DCE073F}"/>
                  </a:ext>
                </a:extLst>
              </p:cNvPr>
              <p:cNvSpPr txBox="1"/>
              <p:nvPr/>
            </p:nvSpPr>
            <p:spPr>
              <a:xfrm>
                <a:off x="971600" y="6025593"/>
                <a:ext cx="299233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20286F-1B86-139A-42F4-58761DCE0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6025593"/>
                <a:ext cx="2992330" cy="461665"/>
              </a:xfrm>
              <a:prstGeom prst="rect">
                <a:avLst/>
              </a:prstGeom>
              <a:blipFill>
                <a:blip r:embed="rId7"/>
                <a:stretch>
                  <a:fillRect l="-611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C1557E-7699-AF74-8269-72246FF18D19}"/>
                  </a:ext>
                </a:extLst>
              </p:cNvPr>
              <p:cNvSpPr txBox="1"/>
              <p:nvPr/>
            </p:nvSpPr>
            <p:spPr>
              <a:xfrm>
                <a:off x="3807172" y="1312671"/>
                <a:ext cx="3861172" cy="53957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C1557E-7699-AF74-8269-72246FF18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72" y="1312671"/>
                <a:ext cx="3861172" cy="5395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1FD4F5-E0D5-91D0-9E74-1150B7BA1058}"/>
                  </a:ext>
                </a:extLst>
              </p:cNvPr>
              <p:cNvSpPr txBox="1"/>
              <p:nvPr/>
            </p:nvSpPr>
            <p:spPr>
              <a:xfrm>
                <a:off x="539750" y="1623850"/>
                <a:ext cx="354587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1FD4F5-E0D5-91D0-9E74-1150B7BA1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623850"/>
                <a:ext cx="3545878" cy="461665"/>
              </a:xfrm>
              <a:prstGeom prst="rect">
                <a:avLst/>
              </a:prstGeom>
              <a:blipFill>
                <a:blip r:embed="rId9"/>
                <a:stretch>
                  <a:fillRect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652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23EE-0C83-3A0E-6977-D312267B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324A2-FEBB-AAB5-EA80-F7EE0829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</a:t>
            </a:r>
            <a:r>
              <a:rPr lang="ko-KR" altLang="en-US" dirty="0"/>
              <a:t>켤레 사원수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5A3D7-9F3E-DC46-7D55-79F8D79F6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켤레 사원수 성질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사원수 역원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F2C7A9-86DF-6791-15B2-71FCA4149C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1D3BCB-1E5A-571F-EBDA-8AC79CAF9977}"/>
                  </a:ext>
                </a:extLst>
              </p:cNvPr>
              <p:cNvSpPr txBox="1"/>
              <p:nvPr/>
            </p:nvSpPr>
            <p:spPr>
              <a:xfrm>
                <a:off x="539750" y="1735089"/>
                <a:ext cx="6624538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𝑖𝑥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𝑗𝑦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𝑘𝑧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𝑖𝑥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𝑗𝑦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𝑘𝑧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1D3BCB-1E5A-571F-EBDA-8AC79CAF9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735089"/>
                <a:ext cx="6624538" cy="338554"/>
              </a:xfrm>
              <a:prstGeom prst="rect">
                <a:avLst/>
              </a:prstGeom>
              <a:blipFill>
                <a:blip r:embed="rId2"/>
                <a:stretch>
                  <a:fillRect b="-1272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E32CC4-27BC-9F0B-D133-78FCFADC4D1D}"/>
                  </a:ext>
                </a:extLst>
              </p:cNvPr>
              <p:cNvSpPr txBox="1"/>
              <p:nvPr/>
            </p:nvSpPr>
            <p:spPr>
              <a:xfrm>
                <a:off x="539750" y="1124744"/>
                <a:ext cx="160961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E32CC4-27BC-9F0B-D133-78FCFADC4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124744"/>
                <a:ext cx="1609610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14D7C4-F82B-3542-037C-0E65E8156667}"/>
                  </a:ext>
                </a:extLst>
              </p:cNvPr>
              <p:cNvSpPr txBox="1"/>
              <p:nvPr/>
            </p:nvSpPr>
            <p:spPr>
              <a:xfrm>
                <a:off x="2223580" y="1124744"/>
                <a:ext cx="2202391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14D7C4-F82B-3542-037C-0E65E8156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580" y="1124744"/>
                <a:ext cx="2202391" cy="461665"/>
              </a:xfrm>
              <a:prstGeom prst="rect">
                <a:avLst/>
              </a:prstGeom>
              <a:blipFill>
                <a:blip r:embed="rId4"/>
                <a:stretch>
                  <a:fillRect l="-831"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71A292-3B46-B92F-D086-00C888775141}"/>
                  </a:ext>
                </a:extLst>
              </p:cNvPr>
              <p:cNvSpPr txBox="1"/>
              <p:nvPr/>
            </p:nvSpPr>
            <p:spPr>
              <a:xfrm>
                <a:off x="4500190" y="1124744"/>
                <a:ext cx="288012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ko-KR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71A292-3B46-B92F-D086-00C888775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190" y="1124744"/>
                <a:ext cx="2880122" cy="461665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F3B305-B90E-7D12-AD1F-64F094D3867D}"/>
                  </a:ext>
                </a:extLst>
              </p:cNvPr>
              <p:cNvSpPr txBox="1"/>
              <p:nvPr/>
            </p:nvSpPr>
            <p:spPr>
              <a:xfrm>
                <a:off x="539750" y="4252359"/>
                <a:ext cx="4752528" cy="73141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F3B305-B90E-7D12-AD1F-64F094D38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4252359"/>
                <a:ext cx="4752528" cy="7314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959D43-03AA-3D8D-F928-9610B5F9AC5F}"/>
                  </a:ext>
                </a:extLst>
              </p:cNvPr>
              <p:cNvSpPr txBox="1"/>
              <p:nvPr/>
            </p:nvSpPr>
            <p:spPr>
              <a:xfrm>
                <a:off x="2771800" y="5124172"/>
                <a:ext cx="3960440" cy="85670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𝑘𝑧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959D43-03AA-3D8D-F928-9610B5F9A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5124172"/>
                <a:ext cx="3960440" cy="8567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6632F4-617F-BF47-C296-895A61C119E0}"/>
                  </a:ext>
                </a:extLst>
              </p:cNvPr>
              <p:cNvSpPr txBox="1"/>
              <p:nvPr/>
            </p:nvSpPr>
            <p:spPr>
              <a:xfrm>
                <a:off x="539750" y="5122889"/>
                <a:ext cx="1944018" cy="85927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6632F4-617F-BF47-C296-895A61C1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5122889"/>
                <a:ext cx="1944018" cy="8592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F4F82F-CB38-956F-0CE7-9E918733E777}"/>
                  </a:ext>
                </a:extLst>
              </p:cNvPr>
              <p:cNvSpPr txBox="1"/>
              <p:nvPr/>
            </p:nvSpPr>
            <p:spPr>
              <a:xfrm>
                <a:off x="539750" y="3140968"/>
                <a:ext cx="4752528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F4F82F-CB38-956F-0CE7-9E918733E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140968"/>
                <a:ext cx="4752528" cy="400110"/>
              </a:xfrm>
              <a:prstGeom prst="rect">
                <a:avLst/>
              </a:prstGeom>
              <a:blipFill>
                <a:blip r:embed="rId9"/>
                <a:stretch>
                  <a:fillRect b="-1060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85B0F0-5C14-7E74-7F37-DAE872B5CFDC}"/>
                  </a:ext>
                </a:extLst>
              </p:cNvPr>
              <p:cNvSpPr txBox="1"/>
              <p:nvPr/>
            </p:nvSpPr>
            <p:spPr>
              <a:xfrm>
                <a:off x="1187822" y="2060848"/>
                <a:ext cx="2664098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85B0F0-5C14-7E74-7F37-DAE872B5C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822" y="2060848"/>
                <a:ext cx="2664098" cy="338554"/>
              </a:xfrm>
              <a:prstGeom prst="rect">
                <a:avLst/>
              </a:prstGeom>
              <a:blipFill>
                <a:blip r:embed="rId10"/>
                <a:stretch>
                  <a:fillRect b="-71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39230A-5D3E-E315-D6C3-63A31BF21FCC}"/>
                  </a:ext>
                </a:extLst>
              </p:cNvPr>
              <p:cNvSpPr txBox="1"/>
              <p:nvPr/>
            </p:nvSpPr>
            <p:spPr>
              <a:xfrm>
                <a:off x="3558596" y="2071039"/>
                <a:ext cx="3821716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𝑦𝑧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𝑤𝑥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𝑧𝑦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39230A-5D3E-E315-D6C3-63A31BF21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596" y="2071039"/>
                <a:ext cx="3821716" cy="338554"/>
              </a:xfrm>
              <a:prstGeom prst="rect">
                <a:avLst/>
              </a:prstGeom>
              <a:blipFill>
                <a:blip r:embed="rId11"/>
                <a:stretch>
                  <a:fillRect b="-727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6DEC7F-20AA-24A1-FA58-7171B9DB3DC8}"/>
                  </a:ext>
                </a:extLst>
              </p:cNvPr>
              <p:cNvSpPr txBox="1"/>
              <p:nvPr/>
            </p:nvSpPr>
            <p:spPr>
              <a:xfrm>
                <a:off x="3558596" y="2424837"/>
                <a:ext cx="3821716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𝑧𝑥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𝑤𝑦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𝑧𝑥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6DEC7F-20AA-24A1-FA58-7171B9DB3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596" y="2424837"/>
                <a:ext cx="3821716" cy="338554"/>
              </a:xfrm>
              <a:prstGeom prst="rect">
                <a:avLst/>
              </a:prstGeom>
              <a:blipFill>
                <a:blip r:embed="rId12"/>
                <a:stretch>
                  <a:fillRect b="-1272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DDA68-DAB3-08B7-0EFE-A38585DA762F}"/>
                  </a:ext>
                </a:extLst>
              </p:cNvPr>
              <p:cNvSpPr txBox="1"/>
              <p:nvPr/>
            </p:nvSpPr>
            <p:spPr>
              <a:xfrm>
                <a:off x="3558596" y="2761721"/>
                <a:ext cx="3821716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𝑤𝑧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DDA68-DAB3-08B7-0EFE-A38585DA7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596" y="2761721"/>
                <a:ext cx="3821716" cy="338554"/>
              </a:xfrm>
              <a:prstGeom prst="rect">
                <a:avLst/>
              </a:prstGeom>
              <a:blipFill>
                <a:blip r:embed="rId13"/>
                <a:stretch>
                  <a:fillRect b="-125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322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9C2F-D0CB-53D9-7EDE-F8F2BA97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C64B9-72BE-C0E8-F514-D4CB3948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16.1.3 </a:t>
            </a:r>
            <a:r>
              <a:rPr lang="ko-KR" altLang="en-US" dirty="0"/>
              <a:t>사원수와 벡터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148D2B-2A2D-5F06-D6A2-A1066A8AB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B9344E-2153-4F5D-01C9-46F3C4DDB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차원 공간 입방체 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BC0743-CCD2-EB1D-75E3-C6D14FB80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412776"/>
            <a:ext cx="4358640" cy="492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57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9388-F6B1-721B-5584-8DDD9C2A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80DA0-2F33-ED12-97DE-8F08DBAD6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16.1.3 </a:t>
            </a:r>
            <a:r>
              <a:rPr lang="ko-KR" altLang="en-US" dirty="0"/>
              <a:t>사원수와 벡터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E699EE-6071-2C8F-4E0B-24A1CB2BB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F337DCD4-9C90-C69C-244E-E03BBDF9B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사원수 표현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실수</a:t>
                </a:r>
                <a:r>
                  <a:rPr lang="en-US" altLang="ko-KR" dirty="0"/>
                  <a:t>, 3</a:t>
                </a:r>
                <a:r>
                  <a:rPr lang="ko-KR" altLang="en-US" dirty="0"/>
                  <a:t>차원 벡터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덧셈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곱셈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실수가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인 사원수 곱셈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0, </m:t>
                        </m:r>
                        <m:acc>
                          <m:accPr>
                            <m:chr m:val="⃗"/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/>
                  <a:t>내적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외적으로 표현</a:t>
                </a:r>
              </a:p>
            </p:txBody>
          </p:sp>
        </mc:Choice>
        <mc:Fallback xmlns="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F337DCD4-9C90-C69C-244E-E03BBDF9B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992588-0521-8F9D-C33B-7E8A0D427703}"/>
                  </a:ext>
                </a:extLst>
              </p:cNvPr>
              <p:cNvSpPr txBox="1"/>
              <p:nvPr/>
            </p:nvSpPr>
            <p:spPr>
              <a:xfrm>
                <a:off x="2051720" y="1792532"/>
                <a:ext cx="2369513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992588-0521-8F9D-C33B-7E8A0D42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1792532"/>
                <a:ext cx="236951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090722-72AF-E2EE-5510-4D2DF6B18DE5}"/>
                  </a:ext>
                </a:extLst>
              </p:cNvPr>
              <p:cNvSpPr txBox="1"/>
              <p:nvPr/>
            </p:nvSpPr>
            <p:spPr>
              <a:xfrm>
                <a:off x="683568" y="1268760"/>
                <a:ext cx="5832648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𝑖𝑥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𝑗𝑦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𝑘𝑧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090722-72AF-E2EE-5510-4D2DF6B18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268760"/>
                <a:ext cx="58326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AE38A17-E65B-715E-D9B2-246769569030}"/>
              </a:ext>
            </a:extLst>
          </p:cNvPr>
          <p:cNvSpPr/>
          <p:nvPr/>
        </p:nvSpPr>
        <p:spPr bwMode="auto">
          <a:xfrm>
            <a:off x="1262329" y="1825660"/>
            <a:ext cx="570670" cy="523220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8ECA79-18CE-67CC-ABFC-E6A63D5B8C56}"/>
                  </a:ext>
                </a:extLst>
              </p:cNvPr>
              <p:cNvSpPr txBox="1"/>
              <p:nvPr/>
            </p:nvSpPr>
            <p:spPr>
              <a:xfrm>
                <a:off x="1403648" y="2636912"/>
                <a:ext cx="4464496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8ECA79-18CE-67CC-ABFC-E6A63D5B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2636912"/>
                <a:ext cx="4464496" cy="461665"/>
              </a:xfrm>
              <a:prstGeom prst="rect">
                <a:avLst/>
              </a:prstGeom>
              <a:blipFill>
                <a:blip r:embed="rId5"/>
                <a:stretch>
                  <a:fillRect l="-409"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A413B-A35F-49F6-DAD3-B8776E4D5C2B}"/>
                  </a:ext>
                </a:extLst>
              </p:cNvPr>
              <p:cNvSpPr txBox="1"/>
              <p:nvPr/>
            </p:nvSpPr>
            <p:spPr>
              <a:xfrm>
                <a:off x="1403648" y="3573016"/>
                <a:ext cx="712879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A413B-A35F-49F6-DAD3-B8776E4D5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573016"/>
                <a:ext cx="7128792" cy="461665"/>
              </a:xfrm>
              <a:prstGeom prst="rect">
                <a:avLst/>
              </a:prstGeom>
              <a:blipFill>
                <a:blip r:embed="rId6"/>
                <a:stretch>
                  <a:fillRect l="-256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A88C32-0ECA-1618-6572-8AE6D4A47794}"/>
                  </a:ext>
                </a:extLst>
              </p:cNvPr>
              <p:cNvSpPr txBox="1"/>
              <p:nvPr/>
            </p:nvSpPr>
            <p:spPr>
              <a:xfrm>
                <a:off x="1043608" y="5517232"/>
                <a:ext cx="403244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A88C32-0ECA-1618-6572-8AE6D4A47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517232"/>
                <a:ext cx="4032448" cy="461665"/>
              </a:xfrm>
              <a:prstGeom prst="rect">
                <a:avLst/>
              </a:prstGeom>
              <a:blipFill>
                <a:blip r:embed="rId7"/>
                <a:stretch>
                  <a:fillRect l="-453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4D661D-AC24-C564-8EB3-FC02E8527A90}"/>
                  </a:ext>
                </a:extLst>
              </p:cNvPr>
              <p:cNvSpPr txBox="1"/>
              <p:nvPr/>
            </p:nvSpPr>
            <p:spPr>
              <a:xfrm>
                <a:off x="1395556" y="3927470"/>
                <a:ext cx="712879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4D661D-AC24-C564-8EB3-FC02E8527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556" y="3927470"/>
                <a:ext cx="7128792" cy="461665"/>
              </a:xfrm>
              <a:prstGeom prst="rect">
                <a:avLst/>
              </a:prstGeom>
              <a:blipFill>
                <a:blip r:embed="rId8"/>
                <a:stretch>
                  <a:fillRect l="-257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F3EB5B-5C99-6A4A-F84C-1E25AA5CC0CF}"/>
                  </a:ext>
                </a:extLst>
              </p:cNvPr>
              <p:cNvSpPr txBox="1"/>
              <p:nvPr/>
            </p:nvSpPr>
            <p:spPr>
              <a:xfrm>
                <a:off x="1043608" y="5940106"/>
                <a:ext cx="3888432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F3EB5B-5C99-6A4A-F84C-1E25AA5CC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940106"/>
                <a:ext cx="3888432" cy="461665"/>
              </a:xfrm>
              <a:prstGeom prst="rect">
                <a:avLst/>
              </a:prstGeom>
              <a:blipFill>
                <a:blip r:embed="rId9"/>
                <a:stretch>
                  <a:fillRect l="-470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6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2FDC-9A75-A32C-2268-7182262C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82489-D412-9E48-112E-9187ED90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16.1.3 </a:t>
            </a:r>
            <a:r>
              <a:rPr lang="ko-KR" altLang="en-US" dirty="0"/>
              <a:t>사원수와 벡터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5AE0F8-FB31-E565-CB22-DA7E557A25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DBD98C-50D8-CC53-E2E3-8EE30E3F6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사원수 클래스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94296-FF32-C878-8C0B-B91C2E768E80}"/>
              </a:ext>
            </a:extLst>
          </p:cNvPr>
          <p:cNvSpPr txBox="1"/>
          <p:nvPr/>
        </p:nvSpPr>
        <p:spPr>
          <a:xfrm>
            <a:off x="539749" y="1463293"/>
            <a:ext cx="8208963" cy="34778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struct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Quaternion</a:t>
            </a:r>
            <a:endParaRPr lang="en-US" altLang="ko-KR" sz="2000" b="1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Real       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 { </a:t>
            </a:r>
            <a:r>
              <a:rPr lang="en-US" altLang="ko-KR" sz="2000" b="1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return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Imaginary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 { </a:t>
            </a:r>
            <a:r>
              <a:rPr lang="en-US" altLang="ko-KR" sz="2000" b="1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return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Z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 }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public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0.0F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0.0F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Z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0.0F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1.0F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//...</a:t>
            </a:r>
            <a:endParaRPr lang="en-US" altLang="ko-KR" sz="2000" b="1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28059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F5478-A68B-FF6D-C0ED-6DBB0BC4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49052-D586-2802-5FD7-6405764F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 </a:t>
            </a:r>
            <a:r>
              <a:rPr lang="ko-KR" altLang="en-US" dirty="0"/>
              <a:t>사원수의 회전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7C0D48-C1EF-2299-CFD5-56B15F776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복소수 오일러 공식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오일러 공식 사원수 확장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B26CEC-2770-35CE-9726-C510E8284A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3C6EE0-5183-7115-0F96-E6EE9605A20E}"/>
                  </a:ext>
                </a:extLst>
              </p:cNvPr>
              <p:cNvSpPr txBox="1"/>
              <p:nvPr/>
            </p:nvSpPr>
            <p:spPr>
              <a:xfrm>
                <a:off x="1043607" y="1268760"/>
                <a:ext cx="4636207" cy="67076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3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3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3C6EE0-5183-7115-0F96-E6EE9605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7" y="1268760"/>
                <a:ext cx="4636207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0C83F-6378-578A-1024-65A3CAFF2399}"/>
                  </a:ext>
                </a:extLst>
              </p:cNvPr>
              <p:cNvSpPr txBox="1"/>
              <p:nvPr/>
            </p:nvSpPr>
            <p:spPr>
              <a:xfrm>
                <a:off x="1115616" y="3588435"/>
                <a:ext cx="2232248" cy="6765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0C83F-6378-578A-1024-65A3CAFF2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588435"/>
                <a:ext cx="2232248" cy="676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8361EA-F7F2-F701-788D-EDA8CE61125C}"/>
                  </a:ext>
                </a:extLst>
              </p:cNvPr>
              <p:cNvSpPr txBox="1"/>
              <p:nvPr/>
            </p:nvSpPr>
            <p:spPr>
              <a:xfrm>
                <a:off x="3491879" y="3588435"/>
                <a:ext cx="2592289" cy="6765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3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8361EA-F7F2-F701-788D-EDA8CE611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79" y="3588435"/>
                <a:ext cx="2592289" cy="6765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63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1EAE-25C9-7694-5A84-5B5A3B10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D67BA-DA6F-2A5F-26F9-96C593BA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16.2.1 </a:t>
            </a:r>
            <a:r>
              <a:rPr lang="ko-KR" altLang="en-US" dirty="0"/>
              <a:t>사원수와 오일러 공식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4CD387-9EB9-4DC4-A85A-ABDA851A3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크기 </a:t>
                </a:r>
                <a:r>
                  <a:rPr lang="en-US" altLang="ko-KR" dirty="0"/>
                  <a:t>1 </a:t>
                </a:r>
                <a:r>
                  <a:rPr lang="ko-KR" altLang="en-US" dirty="0"/>
                  <a:t>사원수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크기 </a:t>
                </a:r>
                <a:r>
                  <a:rPr lang="en-US" altLang="ko-KR" sz="2400" dirty="0"/>
                  <a:t>1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ko-KR" altLang="en-US" sz="2400" dirty="0"/>
                  <a:t> 사원수 의미 → 회전축 </a:t>
                </a:r>
                <a14:m>
                  <m:oMath xmlns:m="http://schemas.openxmlformats.org/officeDocument/2006/math">
                    <m:r>
                      <a:rPr lang="en-US" altLang="ko-KR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ko-KR" sz="2400" dirty="0"/>
                  <a:t> </a:t>
                </a:r>
                <a:r>
                  <a:rPr lang="ko-KR" altLang="en-US" sz="2400" dirty="0"/>
                  <a:t>기준</a:t>
                </a:r>
                <a:r>
                  <a:rPr lang="en-US" altLang="ko-KR" sz="24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2400" dirty="0"/>
                  <a:t>만큼 회전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오일러 공식</a:t>
                </a:r>
                <a:endParaRPr lang="en-US" altLang="ko-KR" sz="2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4CD387-9EB9-4DC4-A85A-ABDA851A3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225B63-4168-B357-4536-BDFD13BB55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8C6A04-A072-7550-0CD7-599DA51E59FE}"/>
                  </a:ext>
                </a:extLst>
              </p:cNvPr>
              <p:cNvSpPr txBox="1"/>
              <p:nvPr/>
            </p:nvSpPr>
            <p:spPr>
              <a:xfrm>
                <a:off x="660897" y="4963489"/>
                <a:ext cx="3191023" cy="48173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8C6A04-A072-7550-0CD7-599DA51E5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97" y="4963489"/>
                <a:ext cx="3191023" cy="481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E64225-96BC-EA39-B5DB-C01241E4A6CF}"/>
                  </a:ext>
                </a:extLst>
              </p:cNvPr>
              <p:cNvSpPr txBox="1"/>
              <p:nvPr/>
            </p:nvSpPr>
            <p:spPr>
              <a:xfrm>
                <a:off x="647564" y="1196752"/>
                <a:ext cx="2369513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E64225-96BC-EA39-B5DB-C01241E4A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64" y="1196752"/>
                <a:ext cx="2369513" cy="400110"/>
              </a:xfrm>
              <a:prstGeom prst="rect">
                <a:avLst/>
              </a:prstGeom>
              <a:blipFill>
                <a:blip r:embed="rId4"/>
                <a:stretch>
                  <a:fillRect t="-15152" b="-1060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ECF531-3F33-E168-D0B4-CB3029A03A0A}"/>
                  </a:ext>
                </a:extLst>
              </p:cNvPr>
              <p:cNvSpPr txBox="1"/>
              <p:nvPr/>
            </p:nvSpPr>
            <p:spPr>
              <a:xfrm>
                <a:off x="647564" y="1596862"/>
                <a:ext cx="2369513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ECF531-3F33-E168-D0B4-CB3029A03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64" y="1596862"/>
                <a:ext cx="2369513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B50290-2D58-F567-08C7-BB32BD7BF5C1}"/>
                  </a:ext>
                </a:extLst>
              </p:cNvPr>
              <p:cNvSpPr txBox="1"/>
              <p:nvPr/>
            </p:nvSpPr>
            <p:spPr>
              <a:xfrm>
                <a:off x="2915816" y="1596414"/>
                <a:ext cx="2736304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den>
                          </m:f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B50290-2D58-F567-08C7-BB32BD7B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596414"/>
                <a:ext cx="2736304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C108B2-3C5A-774F-80F1-C1B38AE75AB4}"/>
                  </a:ext>
                </a:extLst>
              </p:cNvPr>
              <p:cNvSpPr txBox="1"/>
              <p:nvPr/>
            </p:nvSpPr>
            <p:spPr>
              <a:xfrm>
                <a:off x="5796136" y="1765132"/>
                <a:ext cx="270030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C108B2-3C5A-774F-80F1-C1B38AE75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1765132"/>
                <a:ext cx="2700300" cy="400110"/>
              </a:xfrm>
              <a:prstGeom prst="rect">
                <a:avLst/>
              </a:prstGeom>
              <a:blipFill>
                <a:blip r:embed="rId7"/>
                <a:stretch>
                  <a:fillRect t="-3077" b="-1076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0BD5FB-7B1C-454F-8D3A-6BEAA3E2D000}"/>
                  </a:ext>
                </a:extLst>
              </p:cNvPr>
              <p:cNvSpPr txBox="1"/>
              <p:nvPr/>
            </p:nvSpPr>
            <p:spPr>
              <a:xfrm>
                <a:off x="645782" y="3225750"/>
                <a:ext cx="286747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0BD5FB-7B1C-454F-8D3A-6BEAA3E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82" y="3225750"/>
                <a:ext cx="2867474" cy="461665"/>
              </a:xfrm>
              <a:prstGeom prst="rect">
                <a:avLst/>
              </a:prstGeom>
              <a:blipFill>
                <a:blip r:embed="rId8"/>
                <a:stretch>
                  <a:fillRect l="-638" t="-1316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5716D9-4AD8-F975-B674-5E37C8E47C69}"/>
                  </a:ext>
                </a:extLst>
              </p:cNvPr>
              <p:cNvSpPr txBox="1"/>
              <p:nvPr/>
            </p:nvSpPr>
            <p:spPr>
              <a:xfrm>
                <a:off x="645782" y="3687415"/>
                <a:ext cx="286747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5716D9-4AD8-F975-B674-5E37C8E47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82" y="3687415"/>
                <a:ext cx="2867474" cy="461665"/>
              </a:xfrm>
              <a:prstGeom prst="rect">
                <a:avLst/>
              </a:prstGeom>
              <a:blipFill>
                <a:blip r:embed="rId9"/>
                <a:stretch>
                  <a:fillRect l="-638" t="-1316" b="-1184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180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959B-B835-EBD9-2CB0-E7BD1EB0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FB230-4C29-4509-976A-EA8722FD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16.2.1 </a:t>
            </a:r>
            <a:r>
              <a:rPr lang="ko-KR" altLang="en-US" dirty="0"/>
              <a:t>사원수와 오일러 공식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646458-71B1-E540-18C1-0F4F5F548A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크기 </a:t>
                </a:r>
                <a:r>
                  <a:rPr lang="en-US" altLang="ko-KR" dirty="0"/>
                  <a:t>1, </a:t>
                </a:r>
                <a:r>
                  <a:rPr lang="ko-KR" altLang="en-US" dirty="0"/>
                  <a:t>켤레 사원수</a:t>
                </a:r>
                <a:endParaRPr lang="en-US" altLang="ko-KR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켤레 사원수 → 회전축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acc>
                      <m:accPr>
                        <m:chr m:val="̂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ko-KR" sz="2400" dirty="0"/>
                  <a:t> </a:t>
                </a:r>
                <a:r>
                  <a:rPr lang="ko-KR" altLang="en-US" sz="2400" dirty="0"/>
                  <a:t> 기준 </a:t>
                </a:r>
                <a14:m>
                  <m:oMath xmlns:m="http://schemas.openxmlformats.org/officeDocument/2006/math"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ko-KR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2400" dirty="0"/>
                  <a:t>만큼 회전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켤레 사원수 오일러 공식</a:t>
                </a:r>
                <a:endParaRPr lang="en-US" altLang="ko-KR" sz="2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646458-71B1-E540-18C1-0F4F5F548A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E596D8-5346-5E86-97ED-DCDD74256F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4932D-8B49-2A61-386D-E41AE8F2FC1E}"/>
                  </a:ext>
                </a:extLst>
              </p:cNvPr>
              <p:cNvSpPr txBox="1"/>
              <p:nvPr/>
            </p:nvSpPr>
            <p:spPr>
              <a:xfrm>
                <a:off x="625478" y="4958552"/>
                <a:ext cx="3154434" cy="48667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4932D-8B49-2A61-386D-E41AE8F2F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8" y="4958552"/>
                <a:ext cx="3154434" cy="486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C81B4E-34B2-41C5-A24B-CBF79DB6E081}"/>
                  </a:ext>
                </a:extLst>
              </p:cNvPr>
              <p:cNvSpPr txBox="1"/>
              <p:nvPr/>
            </p:nvSpPr>
            <p:spPr>
              <a:xfrm>
                <a:off x="645782" y="1340768"/>
                <a:ext cx="4646297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ko-KR" dirty="0"/>
                  <a:t> ,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C81B4E-34B2-41C5-A24B-CBF79DB6E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82" y="1340768"/>
                <a:ext cx="4646297" cy="461665"/>
              </a:xfrm>
              <a:prstGeom prst="rect">
                <a:avLst/>
              </a:prstGeom>
              <a:blipFill>
                <a:blip r:embed="rId4"/>
                <a:stretch>
                  <a:fillRect l="-394" t="-14474" b="-25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162813-ED61-CDA4-0916-C2E13EFD2A4F}"/>
                  </a:ext>
                </a:extLst>
              </p:cNvPr>
              <p:cNvSpPr txBox="1"/>
              <p:nvPr/>
            </p:nvSpPr>
            <p:spPr>
              <a:xfrm>
                <a:off x="645783" y="3550856"/>
                <a:ext cx="3769241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162813-ED61-CDA4-0916-C2E13EFD2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83" y="3550856"/>
                <a:ext cx="3769241" cy="461665"/>
              </a:xfrm>
              <a:prstGeom prst="rect">
                <a:avLst/>
              </a:prstGeom>
              <a:blipFill>
                <a:blip r:embed="rId5"/>
                <a:stretch>
                  <a:fillRect l="-485" t="-1316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C0C694-54B8-EA79-BCE8-09997619FF9F}"/>
                  </a:ext>
                </a:extLst>
              </p:cNvPr>
              <p:cNvSpPr txBox="1"/>
              <p:nvPr/>
            </p:nvSpPr>
            <p:spPr>
              <a:xfrm>
                <a:off x="645783" y="1815207"/>
                <a:ext cx="4646297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C0C694-54B8-EA79-BCE8-09997619F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83" y="1815207"/>
                <a:ext cx="4646297" cy="461665"/>
              </a:xfrm>
              <a:prstGeom prst="rect">
                <a:avLst/>
              </a:prstGeom>
              <a:blipFill>
                <a:blip r:embed="rId6"/>
                <a:stretch>
                  <a:fillRect l="-394" t="-1316" b="-1184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8A35A0-775A-8EA2-F457-87548BD527F6}"/>
                  </a:ext>
                </a:extLst>
              </p:cNvPr>
              <p:cNvSpPr txBox="1"/>
              <p:nvPr/>
            </p:nvSpPr>
            <p:spPr>
              <a:xfrm>
                <a:off x="645783" y="2276872"/>
                <a:ext cx="4646297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8A35A0-775A-8EA2-F457-87548BD52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83" y="2276872"/>
                <a:ext cx="4646297" cy="461665"/>
              </a:xfrm>
              <a:prstGeom prst="rect">
                <a:avLst/>
              </a:prstGeom>
              <a:blipFill>
                <a:blip r:embed="rId7"/>
                <a:stretch>
                  <a:fillRect l="-394" t="-1333"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254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D2F6-5045-3BD3-FC23-B4A83902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9FF1E-AE6A-AA03-D436-E907F983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1F9593-03E9-41F0-EE2D-84009A963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회전축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에 대한 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dirty="0"/>
                  <a:t> 의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회전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회전 사원수와 순 허수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dirty="0"/>
                  <a:t> 사원수 벡터 곱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1F9593-03E9-41F0-EE2D-84009A963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E81432-C361-6A78-75A4-B6E728AC1D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00D9BF-51E0-18B8-BE90-C633B9EFB9BE}"/>
                  </a:ext>
                </a:extLst>
              </p:cNvPr>
              <p:cNvSpPr txBox="1"/>
              <p:nvPr/>
            </p:nvSpPr>
            <p:spPr>
              <a:xfrm>
                <a:off x="539750" y="1334813"/>
                <a:ext cx="7451056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00D9BF-51E0-18B8-BE90-C633B9EFB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334813"/>
                <a:ext cx="7451056" cy="5100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7EB3A7-C2BA-0C50-D1B0-D6941D664308}"/>
                  </a:ext>
                </a:extLst>
              </p:cNvPr>
              <p:cNvSpPr txBox="1"/>
              <p:nvPr/>
            </p:nvSpPr>
            <p:spPr>
              <a:xfrm>
                <a:off x="515145" y="2949262"/>
                <a:ext cx="4200871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7EB3A7-C2BA-0C50-D1B0-D6941D66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5" y="2949262"/>
                <a:ext cx="4200871" cy="5100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921AF6-E3E9-BDF3-7F20-3AC8720AEE5C}"/>
                  </a:ext>
                </a:extLst>
              </p:cNvPr>
              <p:cNvSpPr txBox="1"/>
              <p:nvPr/>
            </p:nvSpPr>
            <p:spPr>
              <a:xfrm>
                <a:off x="846472" y="3517489"/>
                <a:ext cx="372552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921AF6-E3E9-BDF3-7F20-3AC8720AE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72" y="3517489"/>
                <a:ext cx="3725528" cy="461665"/>
              </a:xfrm>
              <a:prstGeom prst="rect">
                <a:avLst/>
              </a:prstGeom>
              <a:blipFill>
                <a:blip r:embed="rId5"/>
                <a:stretch>
                  <a:fillRect t="-17105" r="-474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647675-3F97-83BC-7F1E-47740BD89A11}"/>
                  </a:ext>
                </a:extLst>
              </p:cNvPr>
              <p:cNvSpPr txBox="1"/>
              <p:nvPr/>
            </p:nvSpPr>
            <p:spPr>
              <a:xfrm>
                <a:off x="846472" y="4071950"/>
                <a:ext cx="6533840" cy="50917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647675-3F97-83BC-7F1E-47740BD89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72" y="4071950"/>
                <a:ext cx="6533840" cy="5091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468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8D9C2-AE43-EF2A-0F36-CFF07A44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1076E-94C3-53A3-29A8-222E7E47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EAACD0-87E2-0F9E-A56F-61FB8FA51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회전 사원수를 사용해 벡터를 회전시킨 결과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4E86EF-C504-DD59-1450-67A71C39EB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EFF7937-AE1B-0A8B-069B-29FAF52C9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90" y="1448780"/>
            <a:ext cx="8794419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08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DC9D-3B38-6E35-6811-D397175D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594D3-FFA7-D5A0-68BE-73145FB6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ED8449F-776C-235D-95E4-D6C27A03B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임의의 회전축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ko-KR" altLang="en-US" dirty="0"/>
                  <a:t> 에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대한 회전의 표현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ED8449F-776C-235D-95E4-D6C27A03B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047A5A-4C22-7D3E-AFA4-8DC51AB31F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9D6E03-3A97-6DBA-7FD0-05D7C2F4C1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60" r="5634" b="6096"/>
          <a:stretch>
            <a:fillRect/>
          </a:stretch>
        </p:blipFill>
        <p:spPr>
          <a:xfrm>
            <a:off x="1907704" y="1349191"/>
            <a:ext cx="4464496" cy="51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67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3A66-39A5-0F15-58D4-35C33F1E9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4DFD3-B802-6E31-A3EC-3CFB619B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BD1B5CC-2D40-77D4-685F-8CF79A0E9E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dirty="0"/>
                  <a:t> 의 평행 성분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수직 성분 분해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BD1B5CC-2D40-77D4-685F-8CF79A0E9E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F30444-BB3D-73CA-C0E3-6F52074D72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3E3D84-E533-2709-0B13-7F264559D1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62" b="6914"/>
          <a:stretch>
            <a:fillRect/>
          </a:stretch>
        </p:blipFill>
        <p:spPr>
          <a:xfrm>
            <a:off x="3995936" y="1522505"/>
            <a:ext cx="4909453" cy="4824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E2D11A-280F-9232-DF31-9F4095ACEDDD}"/>
                  </a:ext>
                </a:extLst>
              </p:cNvPr>
              <p:cNvSpPr txBox="1"/>
              <p:nvPr/>
            </p:nvSpPr>
            <p:spPr>
              <a:xfrm>
                <a:off x="683568" y="1460029"/>
                <a:ext cx="5472608" cy="59522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E2D11A-280F-9232-DF31-9F4095ACE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60029"/>
                <a:ext cx="5472608" cy="595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527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6031-6622-070D-5B9F-9F703942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63C7A-0832-A1BB-7831-E0605422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F36A8-B85B-4599-5F11-3A47618E9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공간에서의 회전 구현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409981-6B16-2C72-6185-585305F2FF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45B5F42-9296-E703-32DE-743CD54D0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5" t="5902" r="5165" b="4087"/>
          <a:stretch>
            <a:fillRect/>
          </a:stretch>
        </p:blipFill>
        <p:spPr>
          <a:xfrm>
            <a:off x="3635896" y="1124744"/>
            <a:ext cx="5383017" cy="52558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F4E8F6-7C80-265A-8F33-053F30B24637}"/>
                  </a:ext>
                </a:extLst>
              </p:cNvPr>
              <p:cNvSpPr txBox="1"/>
              <p:nvPr/>
            </p:nvSpPr>
            <p:spPr>
              <a:xfrm>
                <a:off x="683568" y="1389639"/>
                <a:ext cx="3024336" cy="67120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F4E8F6-7C80-265A-8F33-053F30B24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389639"/>
                <a:ext cx="3024336" cy="6712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348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8ACC-8AD4-D39B-C3A0-628C32FB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B481B-7D79-7D97-A677-1512A32B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F08DA45-76AB-6563-0763-99D747A137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3</a:t>
                </a:r>
                <a:r>
                  <a:rPr lang="ko-KR" altLang="en-US" dirty="0"/>
                  <a:t>차원 공간에서의 회전 구현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반대 방향 회전 →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ko-KR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적용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F08DA45-76AB-6563-0763-99D747A137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1DB75D-7426-FCB5-7FCD-C9B04E34AF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1EAEB6-297F-C0ED-FFE1-75F693AAF5CF}"/>
                  </a:ext>
                </a:extLst>
              </p:cNvPr>
              <p:cNvSpPr txBox="1"/>
              <p:nvPr/>
            </p:nvSpPr>
            <p:spPr>
              <a:xfrm>
                <a:off x="683568" y="1460029"/>
                <a:ext cx="3528392" cy="45403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1EAEB6-297F-C0ED-FFE1-75F693AAF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60029"/>
                <a:ext cx="3528392" cy="454035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3DA59E-E9C6-5004-CAB2-24B41E4353C6}"/>
                  </a:ext>
                </a:extLst>
              </p:cNvPr>
              <p:cNvSpPr txBox="1"/>
              <p:nvPr/>
            </p:nvSpPr>
            <p:spPr>
              <a:xfrm>
                <a:off x="683568" y="1988840"/>
                <a:ext cx="3528392" cy="45403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3DA59E-E9C6-5004-CAB2-24B41E435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988840"/>
                <a:ext cx="3528392" cy="454035"/>
              </a:xfrm>
              <a:prstGeom prst="rect">
                <a:avLst/>
              </a:prstGeom>
              <a:blipFill>
                <a:blip r:embed="rId4"/>
                <a:stretch>
                  <a:fillRect b="-5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67A442-D9CA-5D5E-2CD3-C2ABFDD84DB4}"/>
                  </a:ext>
                </a:extLst>
              </p:cNvPr>
              <p:cNvSpPr txBox="1"/>
              <p:nvPr/>
            </p:nvSpPr>
            <p:spPr>
              <a:xfrm>
                <a:off x="611560" y="2556566"/>
                <a:ext cx="6552728" cy="44140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67A442-D9CA-5D5E-2CD3-C2ABFDD84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556566"/>
                <a:ext cx="6552728" cy="441403"/>
              </a:xfrm>
              <a:prstGeom prst="rect">
                <a:avLst/>
              </a:prstGeom>
              <a:blipFill>
                <a:blip r:embed="rId5"/>
                <a:stretch>
                  <a:fillRect t="-411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ED27AF-799E-704E-90FF-D9A293ABD3D7}"/>
                  </a:ext>
                </a:extLst>
              </p:cNvPr>
              <p:cNvSpPr txBox="1"/>
              <p:nvPr/>
            </p:nvSpPr>
            <p:spPr>
              <a:xfrm>
                <a:off x="611560" y="3042265"/>
                <a:ext cx="6048672" cy="51135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ED27AF-799E-704E-90FF-D9A293ABD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042265"/>
                <a:ext cx="6048672" cy="5113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0F5974-E854-C7A0-9D47-0CC471A603A1}"/>
                  </a:ext>
                </a:extLst>
              </p:cNvPr>
              <p:cNvSpPr txBox="1"/>
              <p:nvPr/>
            </p:nvSpPr>
            <p:spPr>
              <a:xfrm>
                <a:off x="6660272" y="3075574"/>
                <a:ext cx="180016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0F5974-E854-C7A0-9D47-0CC471A60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72" y="3075574"/>
                <a:ext cx="1800160" cy="400110"/>
              </a:xfrm>
              <a:prstGeom prst="rect">
                <a:avLst/>
              </a:prstGeom>
              <a:blipFill>
                <a:blip r:embed="rId7"/>
                <a:stretch>
                  <a:fillRect t="-3077" b="-307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5B60BD-1271-A1D3-E99A-C3E7F2D37CA2}"/>
                  </a:ext>
                </a:extLst>
              </p:cNvPr>
              <p:cNvSpPr txBox="1"/>
              <p:nvPr/>
            </p:nvSpPr>
            <p:spPr>
              <a:xfrm>
                <a:off x="611560" y="3563661"/>
                <a:ext cx="6048672" cy="51135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5B60BD-1271-A1D3-E99A-C3E7F2D37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563661"/>
                <a:ext cx="6048672" cy="5113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8003E0-74A2-8197-6673-2B0D8DB8BCD3}"/>
                  </a:ext>
                </a:extLst>
              </p:cNvPr>
              <p:cNvSpPr txBox="1"/>
              <p:nvPr/>
            </p:nvSpPr>
            <p:spPr>
              <a:xfrm>
                <a:off x="611560" y="4842465"/>
                <a:ext cx="5571176" cy="44563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8003E0-74A2-8197-6673-2B0D8DB8B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842465"/>
                <a:ext cx="5571176" cy="445635"/>
              </a:xfrm>
              <a:prstGeom prst="rect">
                <a:avLst/>
              </a:prstGeom>
              <a:blipFill>
                <a:blip r:embed="rId9"/>
                <a:stretch>
                  <a:fillRect t="-274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78D1D4-394C-C78C-8D47-068949888A91}"/>
                  </a:ext>
                </a:extLst>
              </p:cNvPr>
              <p:cNvSpPr txBox="1"/>
              <p:nvPr/>
            </p:nvSpPr>
            <p:spPr>
              <a:xfrm>
                <a:off x="611560" y="5363861"/>
                <a:ext cx="5571176" cy="44563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78D1D4-394C-C78C-8D47-068949888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363861"/>
                <a:ext cx="5571176" cy="445635"/>
              </a:xfrm>
              <a:prstGeom prst="rect">
                <a:avLst/>
              </a:prstGeom>
              <a:blipFill>
                <a:blip r:embed="rId10"/>
                <a:stretch>
                  <a:fillRect t="-274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DA2F64-6FA7-BE64-AF74-07FF2C2FD029}"/>
                  </a:ext>
                </a:extLst>
              </p:cNvPr>
              <p:cNvSpPr txBox="1"/>
              <p:nvPr/>
            </p:nvSpPr>
            <p:spPr>
              <a:xfrm>
                <a:off x="611560" y="5960315"/>
                <a:ext cx="5571176" cy="48667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DA2F64-6FA7-BE64-AF74-07FF2C2FD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960315"/>
                <a:ext cx="5571176" cy="4866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091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C231B-0ABB-BE86-ECC2-F5D14DA4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C39F9-C81E-3703-22FE-DE8826F3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882995-4EC8-68FF-D120-A680A76CE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acc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적용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882995-4EC8-68FF-D120-A680A76CE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5B8638-5946-18F4-DA88-D4F03DCBE2AA}"/>
                  </a:ext>
                </a:extLst>
              </p:cNvPr>
              <p:cNvSpPr txBox="1"/>
              <p:nvPr/>
            </p:nvSpPr>
            <p:spPr>
              <a:xfrm>
                <a:off x="611560" y="1774490"/>
                <a:ext cx="3096344" cy="43037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0, 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5B8638-5946-18F4-DA88-D4F03DCBE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74490"/>
                <a:ext cx="3096344" cy="430374"/>
              </a:xfrm>
              <a:prstGeom prst="rect">
                <a:avLst/>
              </a:prstGeom>
              <a:blipFill>
                <a:blip r:embed="rId3"/>
                <a:stretch>
                  <a:fillRect t="-4225" b="-563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2B40A0-6753-E113-0E3C-C978A44B3F1C}"/>
                  </a:ext>
                </a:extLst>
              </p:cNvPr>
              <p:cNvSpPr txBox="1"/>
              <p:nvPr/>
            </p:nvSpPr>
            <p:spPr>
              <a:xfrm>
                <a:off x="5318640" y="1780837"/>
                <a:ext cx="2997776" cy="42402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, </m:t>
                      </m:r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2B40A0-6753-E113-0E3C-C978A44B3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640" y="1780837"/>
                <a:ext cx="2997776" cy="424027"/>
              </a:xfrm>
              <a:prstGeom prst="rect">
                <a:avLst/>
              </a:prstGeom>
              <a:blipFill>
                <a:blip r:embed="rId4"/>
                <a:stretch>
                  <a:fillRect t="-5714" r="-4675" b="-71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60C674-36FC-F2CD-9A4F-8220068901E6}"/>
                  </a:ext>
                </a:extLst>
              </p:cNvPr>
              <p:cNvSpPr txBox="1"/>
              <p:nvPr/>
            </p:nvSpPr>
            <p:spPr>
              <a:xfrm>
                <a:off x="611560" y="1219844"/>
                <a:ext cx="6552728" cy="55297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60C674-36FC-F2CD-9A4F-822006890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219844"/>
                <a:ext cx="6552728" cy="5529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2B87B7-4079-CA19-C49D-EB48316A8917}"/>
                  </a:ext>
                </a:extLst>
              </p:cNvPr>
              <p:cNvSpPr txBox="1"/>
              <p:nvPr/>
            </p:nvSpPr>
            <p:spPr>
              <a:xfrm>
                <a:off x="611560" y="3138410"/>
                <a:ext cx="2880320" cy="49821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2B87B7-4079-CA19-C49D-EB48316A8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138410"/>
                <a:ext cx="2880320" cy="4982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813D64-A299-C191-E181-CADADBAFD6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821238" y="6597650"/>
            <a:ext cx="3927475" cy="26035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87533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57074-6F94-0437-9789-70AEE0C5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3B200-00D3-141E-C1C1-014DD8C68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7A91D0-C5D6-F584-A7DC-A58D3D20F2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altLang="ko-KR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altLang="ko-KR" sz="2400" dirty="0"/>
                  <a:t>,  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</m:t>
                    </m:r>
                    <m:sSup>
                      <m:sSupPr>
                        <m:ctrlP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d>
                          <m:dPr>
                            <m:ctrlP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altLang="ko-KR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altLang="ko-KR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 altLang="ko-KR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</m:oMath>
                </a14:m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7A91D0-C5D6-F584-A7DC-A58D3D20F2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9CB589-E61A-7E94-1D5C-5A49675A94EA}"/>
                  </a:ext>
                </a:extLst>
              </p:cNvPr>
              <p:cNvSpPr txBox="1"/>
              <p:nvPr/>
            </p:nvSpPr>
            <p:spPr>
              <a:xfrm>
                <a:off x="755576" y="1484784"/>
                <a:ext cx="3528392" cy="45403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9CB589-E61A-7E94-1D5C-5A49675A9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84784"/>
                <a:ext cx="3528392" cy="454035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465144-DAEA-D2D8-F1A6-D8983D5888CF}"/>
                  </a:ext>
                </a:extLst>
              </p:cNvPr>
              <p:cNvSpPr txBox="1"/>
              <p:nvPr/>
            </p:nvSpPr>
            <p:spPr>
              <a:xfrm>
                <a:off x="1043608" y="1988840"/>
                <a:ext cx="5400600" cy="60452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465144-DAEA-D2D8-F1A6-D8983D588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988840"/>
                <a:ext cx="5400600" cy="6045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66DA50-4F79-5E6C-4F98-78EE933FC464}"/>
                  </a:ext>
                </a:extLst>
              </p:cNvPr>
              <p:cNvSpPr txBox="1"/>
              <p:nvPr/>
            </p:nvSpPr>
            <p:spPr>
              <a:xfrm>
                <a:off x="1043608" y="2586891"/>
                <a:ext cx="5832648" cy="60452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66DA50-4F79-5E6C-4F98-78EE933F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586891"/>
                <a:ext cx="5832648" cy="6045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4677A-41F1-BDE5-6DF1-400234CBA1A6}"/>
                  </a:ext>
                </a:extLst>
              </p:cNvPr>
              <p:cNvSpPr txBox="1"/>
              <p:nvPr/>
            </p:nvSpPr>
            <p:spPr>
              <a:xfrm>
                <a:off x="1043608" y="3256524"/>
                <a:ext cx="5832648" cy="60452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4677A-41F1-BDE5-6DF1-400234CB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256524"/>
                <a:ext cx="5832648" cy="6045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0B4E1F-BE0E-5E6C-1A26-D379F9F1D6F3}"/>
                  </a:ext>
                </a:extLst>
              </p:cNvPr>
              <p:cNvSpPr txBox="1"/>
              <p:nvPr/>
            </p:nvSpPr>
            <p:spPr>
              <a:xfrm>
                <a:off x="1043608" y="3904596"/>
                <a:ext cx="5832648" cy="61555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0B4E1F-BE0E-5E6C-1A26-D379F9F1D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904596"/>
                <a:ext cx="5832648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A3AFC-B504-5CD5-9E6A-5E5CBA6557D3}"/>
                  </a:ext>
                </a:extLst>
              </p:cNvPr>
              <p:cNvSpPr txBox="1"/>
              <p:nvPr/>
            </p:nvSpPr>
            <p:spPr>
              <a:xfrm>
                <a:off x="1043608" y="4563697"/>
                <a:ext cx="2592288" cy="59093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A3AFC-B504-5CD5-9E6A-5E5CBA655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563697"/>
                <a:ext cx="2592288" cy="5909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DD0B4-F8BF-85B7-379B-06896C22FD8E}"/>
                  </a:ext>
                </a:extLst>
              </p:cNvPr>
              <p:cNvSpPr txBox="1"/>
              <p:nvPr/>
            </p:nvSpPr>
            <p:spPr>
              <a:xfrm>
                <a:off x="755576" y="5373216"/>
                <a:ext cx="5220580" cy="69038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DD0B4-F8BF-85B7-379B-06896C22F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373216"/>
                <a:ext cx="5220580" cy="6903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8D2524DE-34F4-8464-9290-AA904995A3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821238" y="6597650"/>
            <a:ext cx="3927475" cy="26035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19739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DE1C-AEAB-29CD-8B65-95765A0F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71AD0-BFB6-EC5D-8091-3296F4210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B1B024A-241D-5CCC-4AAB-46E9CC0B9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/>
                  <a:t>실수부가 </a:t>
                </a:r>
                <a:r>
                  <a:rPr lang="en-US" altLang="ko-KR" sz="2000" dirty="0"/>
                  <a:t>0</a:t>
                </a:r>
                <a:r>
                  <a:rPr lang="ko-KR" altLang="en-US" sz="2000" dirty="0"/>
                  <a:t>인 </a:t>
                </a:r>
                <a:r>
                  <a:rPr lang="en-US" altLang="ko-KR" sz="2000" dirty="0"/>
                  <a:t>3</a:t>
                </a:r>
                <a:r>
                  <a:rPr lang="ko-KR" altLang="en-US" sz="2000" dirty="0"/>
                  <a:t>차원 공간에서 회전을 보장하는 사원수의 곱셈 공식</a:t>
                </a:r>
                <a:endParaRPr lang="en-US" altLang="ko-K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ko-KR" sz="2000" dirty="0"/>
                  <a:t>,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B1B024A-241D-5CCC-4AAB-46E9CC0B9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3" t="-5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그림 27">
            <a:extLst>
              <a:ext uri="{FF2B5EF4-FFF2-40B4-BE49-F238E27FC236}">
                <a16:creationId xmlns:a16="http://schemas.microsoft.com/office/drawing/2014/main" id="{3A9A9102-7917-2C0F-6B24-563E53C7D6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2" r="2777" b="3581"/>
          <a:stretch>
            <a:fillRect/>
          </a:stretch>
        </p:blipFill>
        <p:spPr>
          <a:xfrm>
            <a:off x="4122204" y="1256006"/>
            <a:ext cx="3204356" cy="2515789"/>
          </a:xfrm>
          <a:prstGeom prst="rect">
            <a:avLst/>
          </a:prstGeom>
        </p:spPr>
      </p:pic>
      <p:sp>
        <p:nvSpPr>
          <p:cNvPr id="27" name="바닥글 개체 틀 3">
            <a:extLst>
              <a:ext uri="{FF2B5EF4-FFF2-40B4-BE49-F238E27FC236}">
                <a16:creationId xmlns:a16="http://schemas.microsoft.com/office/drawing/2014/main" id="{B8083472-E42E-0FA0-1034-5E78DA798A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821238" y="6597650"/>
            <a:ext cx="3927475" cy="26035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8B3FAD-E65B-3E9E-4A3B-C1CC0D05B7FD}"/>
                  </a:ext>
                </a:extLst>
              </p:cNvPr>
              <p:cNvSpPr txBox="1"/>
              <p:nvPr/>
            </p:nvSpPr>
            <p:spPr>
              <a:xfrm>
                <a:off x="467544" y="3501008"/>
                <a:ext cx="2664296" cy="54078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acc>
                            <m:accPr>
                              <m:chr m:val="̂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8B3FAD-E65B-3E9E-4A3B-C1CC0D05B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501008"/>
                <a:ext cx="2664296" cy="540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19338A-0D54-1212-880B-B690D282ED78}"/>
                  </a:ext>
                </a:extLst>
              </p:cNvPr>
              <p:cNvSpPr txBox="1"/>
              <p:nvPr/>
            </p:nvSpPr>
            <p:spPr>
              <a:xfrm>
                <a:off x="467544" y="4114440"/>
                <a:ext cx="2520280" cy="40562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19338A-0D54-1212-880B-B690D282E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114440"/>
                <a:ext cx="2520280" cy="405624"/>
              </a:xfrm>
              <a:prstGeom prst="rect">
                <a:avLst/>
              </a:prstGeom>
              <a:blipFill>
                <a:blip r:embed="rId5"/>
                <a:stretch>
                  <a:fillRect t="-9091" b="-909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D327FA-C44C-1CDA-AA4C-7FBFDBC493B5}"/>
                  </a:ext>
                </a:extLst>
              </p:cNvPr>
              <p:cNvSpPr txBox="1"/>
              <p:nvPr/>
            </p:nvSpPr>
            <p:spPr>
              <a:xfrm>
                <a:off x="1941927" y="4010461"/>
                <a:ext cx="4646297" cy="64556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  =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ko-KR" alt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D327FA-C44C-1CDA-AA4C-7FBFDBC49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927" y="4010461"/>
                <a:ext cx="4646297" cy="6455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B76813-EE96-D50B-7946-8F3AA105913B}"/>
                  </a:ext>
                </a:extLst>
              </p:cNvPr>
              <p:cNvSpPr txBox="1"/>
              <p:nvPr/>
            </p:nvSpPr>
            <p:spPr>
              <a:xfrm>
                <a:off x="361650" y="4692640"/>
                <a:ext cx="3483614" cy="3360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B76813-EE96-D50B-7946-8F3AA1059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0" y="4692640"/>
                <a:ext cx="3483614" cy="336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46F4F8-EEFF-8A3A-FA0D-EE6EE83B9B33}"/>
                  </a:ext>
                </a:extLst>
              </p:cNvPr>
              <p:cNvSpPr txBox="1"/>
              <p:nvPr/>
            </p:nvSpPr>
            <p:spPr>
              <a:xfrm>
                <a:off x="577673" y="5052680"/>
                <a:ext cx="6730631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⋅0−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,  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 + 0⋅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46F4F8-EEFF-8A3A-FA0D-EE6EE83B9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3" y="5052680"/>
                <a:ext cx="6730631" cy="307777"/>
              </a:xfrm>
              <a:prstGeom prst="rect">
                <a:avLst/>
              </a:prstGeom>
              <a:blipFill>
                <a:blip r:embed="rId8"/>
                <a:stretch>
                  <a:fillRect t="-8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2D9EAB-8942-F537-EAB3-EB1383427789}"/>
                  </a:ext>
                </a:extLst>
              </p:cNvPr>
              <p:cNvSpPr txBox="1"/>
              <p:nvPr/>
            </p:nvSpPr>
            <p:spPr>
              <a:xfrm>
                <a:off x="4860032" y="4184252"/>
                <a:ext cx="3744415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=1,  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2D9EAB-8942-F537-EAB3-EB1383427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4184252"/>
                <a:ext cx="3744415" cy="307777"/>
              </a:xfrm>
              <a:prstGeom prst="rect">
                <a:avLst/>
              </a:prstGeom>
              <a:blipFill>
                <a:blip r:embed="rId9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DDCA75-028B-F4EE-F097-75CF2A420042}"/>
                  </a:ext>
                </a:extLst>
              </p:cNvPr>
              <p:cNvSpPr txBox="1"/>
              <p:nvPr/>
            </p:nvSpPr>
            <p:spPr>
              <a:xfrm>
                <a:off x="3818034" y="4704694"/>
                <a:ext cx="4066334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  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DDCA75-028B-F4EE-F097-75CF2A420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034" y="4704694"/>
                <a:ext cx="4066334" cy="307777"/>
              </a:xfrm>
              <a:prstGeom prst="rect">
                <a:avLst/>
              </a:prstGeom>
              <a:blipFill>
                <a:blip r:embed="rId10"/>
                <a:stretch>
                  <a:fillRect b="-6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C17B01-A703-A590-82D5-875279A7D18A}"/>
                  </a:ext>
                </a:extLst>
              </p:cNvPr>
              <p:cNvSpPr txBox="1"/>
              <p:nvPr/>
            </p:nvSpPr>
            <p:spPr>
              <a:xfrm>
                <a:off x="581332" y="5370725"/>
                <a:ext cx="4032448" cy="3354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,  </m:t>
                          </m:r>
                          <m:d>
                            <m:d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 + 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C17B01-A703-A590-82D5-875279A7D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32" y="5370725"/>
                <a:ext cx="4032448" cy="335476"/>
              </a:xfrm>
              <a:prstGeom prst="rect">
                <a:avLst/>
              </a:prstGeom>
              <a:blipFill>
                <a:blip r:embed="rId11"/>
                <a:stretch>
                  <a:fillRect t="-545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385E50-A2B8-61EC-BEBF-DCD10FCB1080}"/>
                  </a:ext>
                </a:extLst>
              </p:cNvPr>
              <p:cNvSpPr txBox="1"/>
              <p:nvPr/>
            </p:nvSpPr>
            <p:spPr>
              <a:xfrm>
                <a:off x="581332" y="5688698"/>
                <a:ext cx="8311148" cy="3354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 + 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  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 + 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 + 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385E50-A2B8-61EC-BEBF-DCD10FCB1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32" y="5688698"/>
                <a:ext cx="8311148" cy="335476"/>
              </a:xfrm>
              <a:prstGeom prst="rect">
                <a:avLst/>
              </a:prstGeom>
              <a:blipFill>
                <a:blip r:embed="rId12"/>
                <a:stretch>
                  <a:fillRect t="-545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690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ECA6E-F069-7262-00BD-AE3AA912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6AE30-1370-9380-3880-29922033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사원수를 이용한 </a:t>
            </a:r>
            <a:r>
              <a:rPr lang="en-US" altLang="ko-KR" dirty="0"/>
              <a:t>3</a:t>
            </a:r>
            <a:r>
              <a:rPr lang="ko-KR" altLang="en-US" dirty="0"/>
              <a:t>차원 공간에서의 회전</a:t>
            </a:r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3E1EAE58-99AE-6A31-AA45-1F7461E81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0" name="바닥글 개체 틀 3">
            <a:extLst>
              <a:ext uri="{FF2B5EF4-FFF2-40B4-BE49-F238E27FC236}">
                <a16:creationId xmlns:a16="http://schemas.microsoft.com/office/drawing/2014/main" id="{E5C2BB47-EC3A-999D-DF78-7AEF21CF60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821238" y="6597650"/>
            <a:ext cx="3927475" cy="26035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403A07-BF63-FCBE-C17C-895E2D2422BB}"/>
                  </a:ext>
                </a:extLst>
              </p:cNvPr>
              <p:cNvSpPr txBox="1"/>
              <p:nvPr/>
            </p:nvSpPr>
            <p:spPr>
              <a:xfrm>
                <a:off x="324928" y="1832646"/>
                <a:ext cx="5831248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403A07-BF63-FCBE-C17C-895E2D24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28" y="1832646"/>
                <a:ext cx="5831248" cy="307777"/>
              </a:xfrm>
              <a:prstGeom prst="rect">
                <a:avLst/>
              </a:prstGeom>
              <a:blipFill>
                <a:blip r:embed="rId2"/>
                <a:stretch>
                  <a:fillRect t="-8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340078-E051-6CA7-D2B9-C1C61410BF43}"/>
                  </a:ext>
                </a:extLst>
              </p:cNvPr>
              <p:cNvSpPr txBox="1"/>
              <p:nvPr/>
            </p:nvSpPr>
            <p:spPr>
              <a:xfrm>
                <a:off x="3019231" y="2185119"/>
                <a:ext cx="1480761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0 +0 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340078-E051-6CA7-D2B9-C1C61410B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231" y="2185119"/>
                <a:ext cx="148076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C96965-BB2E-37F0-EBED-B93C35663CEC}"/>
                  </a:ext>
                </a:extLst>
              </p:cNvPr>
              <p:cNvSpPr txBox="1"/>
              <p:nvPr/>
            </p:nvSpPr>
            <p:spPr>
              <a:xfrm>
                <a:off x="324189" y="2624734"/>
                <a:ext cx="6777327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C96965-BB2E-37F0-EBED-B93C35663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89" y="2624734"/>
                <a:ext cx="6777327" cy="307777"/>
              </a:xfrm>
              <a:prstGeom prst="rect">
                <a:avLst/>
              </a:prstGeom>
              <a:blipFill>
                <a:blip r:embed="rId4"/>
                <a:stretch>
                  <a:fillRect t="-8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B64297-F0A6-8D95-3EF4-F918F7C5DDAD}"/>
                  </a:ext>
                </a:extLst>
              </p:cNvPr>
              <p:cNvSpPr txBox="1"/>
              <p:nvPr/>
            </p:nvSpPr>
            <p:spPr>
              <a:xfrm>
                <a:off x="314953" y="2950072"/>
                <a:ext cx="7497407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B64297-F0A6-8D95-3EF4-F918F7C5D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53" y="2950072"/>
                <a:ext cx="7497407" cy="307777"/>
              </a:xfrm>
              <a:prstGeom prst="rect">
                <a:avLst/>
              </a:prstGeom>
              <a:blipFill>
                <a:blip r:embed="rId5"/>
                <a:stretch>
                  <a:fillRect t="-8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A684AB-5B7C-0195-3BE7-8FAFF05DEB60}"/>
                  </a:ext>
                </a:extLst>
              </p:cNvPr>
              <p:cNvSpPr txBox="1"/>
              <p:nvPr/>
            </p:nvSpPr>
            <p:spPr>
              <a:xfrm>
                <a:off x="314953" y="3440262"/>
                <a:ext cx="5409175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A684AB-5B7C-0195-3BE7-8FAFF05DE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53" y="3440262"/>
                <a:ext cx="5409175" cy="307777"/>
              </a:xfrm>
              <a:prstGeom prst="rect">
                <a:avLst/>
              </a:prstGeom>
              <a:blipFill>
                <a:blip r:embed="rId6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BAEABB-0BBB-9A6A-8677-75268EC92E5A}"/>
                  </a:ext>
                </a:extLst>
              </p:cNvPr>
              <p:cNvSpPr txBox="1"/>
              <p:nvPr/>
            </p:nvSpPr>
            <p:spPr>
              <a:xfrm>
                <a:off x="314953" y="3731989"/>
                <a:ext cx="5409175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 +1⋅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BAEABB-0BBB-9A6A-8677-75268EC92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53" y="3731989"/>
                <a:ext cx="5409175" cy="307777"/>
              </a:xfrm>
              <a:prstGeom prst="rect">
                <a:avLst/>
              </a:prstGeom>
              <a:blipFill>
                <a:blip r:embed="rId7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39CE5F-5D5E-19A2-F0E4-210BB5F2BA6A}"/>
                  </a:ext>
                </a:extLst>
              </p:cNvPr>
              <p:cNvSpPr txBox="1"/>
              <p:nvPr/>
            </p:nvSpPr>
            <p:spPr>
              <a:xfrm>
                <a:off x="323528" y="4057327"/>
                <a:ext cx="5409175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+ 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 + 2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39CE5F-5D5E-19A2-F0E4-210BB5F2B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057327"/>
                <a:ext cx="5409175" cy="307777"/>
              </a:xfrm>
              <a:prstGeom prst="rect">
                <a:avLst/>
              </a:prstGeom>
              <a:blipFill>
                <a:blip r:embed="rId8"/>
                <a:stretch>
                  <a:fillRect t="-8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37D8D2-1F5A-D05B-BA1B-8D20CB5B81F7}"/>
                  </a:ext>
                </a:extLst>
              </p:cNvPr>
              <p:cNvSpPr txBox="1"/>
              <p:nvPr/>
            </p:nvSpPr>
            <p:spPr>
              <a:xfrm>
                <a:off x="361650" y="764704"/>
                <a:ext cx="3483614" cy="3360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37D8D2-1F5A-D05B-BA1B-8D20CB5B8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0" y="764704"/>
                <a:ext cx="3483614" cy="3360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234C3C1-0116-5518-F649-DCBC9D956100}"/>
                  </a:ext>
                </a:extLst>
              </p:cNvPr>
              <p:cNvSpPr txBox="1"/>
              <p:nvPr/>
            </p:nvSpPr>
            <p:spPr>
              <a:xfrm>
                <a:off x="581332" y="1077300"/>
                <a:ext cx="8311148" cy="3354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 + 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  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 + 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 + 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 + 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234C3C1-0116-5518-F649-DCBC9D95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32" y="1077300"/>
                <a:ext cx="8311148" cy="335476"/>
              </a:xfrm>
              <a:prstGeom prst="rect">
                <a:avLst/>
              </a:prstGeom>
              <a:blipFill>
                <a:blip r:embed="rId10"/>
                <a:stretch>
                  <a:fillRect t="-545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AA47ED1-C80B-0830-47E7-0C51199103AD}"/>
                  </a:ext>
                </a:extLst>
              </p:cNvPr>
              <p:cNvSpPr txBox="1"/>
              <p:nvPr/>
            </p:nvSpPr>
            <p:spPr>
              <a:xfrm>
                <a:off x="5904149" y="3432237"/>
                <a:ext cx="2700299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=1,  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AA47ED1-C80B-0830-47E7-0C5119910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149" y="3432237"/>
                <a:ext cx="2700299" cy="307777"/>
              </a:xfrm>
              <a:prstGeom prst="rect">
                <a:avLst/>
              </a:prstGeom>
              <a:blipFill>
                <a:blip r:embed="rId11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7E3148E-92EA-67D9-AC51-33605EC11B45}"/>
                  </a:ext>
                </a:extLst>
              </p:cNvPr>
              <p:cNvSpPr txBox="1"/>
              <p:nvPr/>
            </p:nvSpPr>
            <p:spPr>
              <a:xfrm>
                <a:off x="323529" y="4610981"/>
                <a:ext cx="4384866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+ 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 + 2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 + 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7E3148E-92EA-67D9-AC51-33605EC11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4610981"/>
                <a:ext cx="4384866" cy="307777"/>
              </a:xfrm>
              <a:prstGeom prst="rect">
                <a:avLst/>
              </a:prstGeom>
              <a:blipFill>
                <a:blip r:embed="rId12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8F0B22-ABFD-DBE3-3EAA-337EC3E80949}"/>
                  </a:ext>
                </a:extLst>
              </p:cNvPr>
              <p:cNvSpPr txBox="1"/>
              <p:nvPr/>
            </p:nvSpPr>
            <p:spPr>
              <a:xfrm>
                <a:off x="5436097" y="4588571"/>
                <a:ext cx="3312616" cy="35259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8F0B22-ABFD-DBE3-3EAA-337EC3E80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7" y="4588571"/>
                <a:ext cx="3312616" cy="352597"/>
              </a:xfrm>
              <a:prstGeom prst="rect">
                <a:avLst/>
              </a:prstGeom>
              <a:blipFill>
                <a:blip r:embed="rId13"/>
                <a:stretch>
                  <a:fillRect t="-862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9E343A7-F2B5-7052-742C-A7354F31F5D0}"/>
                  </a:ext>
                </a:extLst>
              </p:cNvPr>
              <p:cNvSpPr txBox="1"/>
              <p:nvPr/>
            </p:nvSpPr>
            <p:spPr>
              <a:xfrm>
                <a:off x="323528" y="4993431"/>
                <a:ext cx="4384866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 +2⋅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9E343A7-F2B5-7052-742C-A7354F31F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993431"/>
                <a:ext cx="4384866" cy="307777"/>
              </a:xfrm>
              <a:prstGeom prst="rect">
                <a:avLst/>
              </a:prstGeom>
              <a:blipFill>
                <a:blip r:embed="rId14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D134E3-88EB-6D95-0FC6-FC1F4C41326F}"/>
                  </a:ext>
                </a:extLst>
              </p:cNvPr>
              <p:cNvSpPr txBox="1"/>
              <p:nvPr/>
            </p:nvSpPr>
            <p:spPr>
              <a:xfrm>
                <a:off x="323528" y="5531027"/>
                <a:ext cx="3888432" cy="44044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 +2⋅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D134E3-88EB-6D95-0FC6-FC1F4C41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531027"/>
                <a:ext cx="3888432" cy="440442"/>
              </a:xfrm>
              <a:prstGeom prst="rect">
                <a:avLst/>
              </a:prstGeom>
              <a:blipFill>
                <a:blip r:embed="rId15"/>
                <a:stretch>
                  <a:fillRect t="-1232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70A1FE-2394-6F71-6871-73C192DD3AFD}"/>
                  </a:ext>
                </a:extLst>
              </p:cNvPr>
              <p:cNvSpPr txBox="1"/>
              <p:nvPr/>
            </p:nvSpPr>
            <p:spPr>
              <a:xfrm>
                <a:off x="4708394" y="5542633"/>
                <a:ext cx="2236788" cy="41723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70A1FE-2394-6F71-6871-73C192DD3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394" y="5542633"/>
                <a:ext cx="2236788" cy="417230"/>
              </a:xfrm>
              <a:prstGeom prst="rect">
                <a:avLst/>
              </a:prstGeom>
              <a:blipFill>
                <a:blip r:embed="rId16"/>
                <a:stretch>
                  <a:fillRect l="-545" t="-1739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539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8544-13B7-3AF1-25D9-839F82CE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773F5-D348-3EE6-F314-E40201BA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회전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FA9C33-101C-377E-A23A-56C0436F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로드리게스 공식 비교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24C6C2-03ED-C068-F0B9-A99275E4C9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86635E-4401-AC90-AF19-C24BE0B7C13B}"/>
                  </a:ext>
                </a:extLst>
              </p:cNvPr>
              <p:cNvSpPr txBox="1"/>
              <p:nvPr/>
            </p:nvSpPr>
            <p:spPr>
              <a:xfrm>
                <a:off x="509290" y="1340768"/>
                <a:ext cx="4566766" cy="3360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 +2⋅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86635E-4401-AC90-AF19-C24BE0B7C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90" y="1340768"/>
                <a:ext cx="4566766" cy="336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AF489A-6BDF-FFA4-8FDD-296F795774F5}"/>
                  </a:ext>
                </a:extLst>
              </p:cNvPr>
              <p:cNvSpPr txBox="1"/>
              <p:nvPr/>
            </p:nvSpPr>
            <p:spPr>
              <a:xfrm>
                <a:off x="4036896" y="1220607"/>
                <a:ext cx="4646297" cy="5763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ko-KR" alt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AF489A-6BDF-FFA4-8FDD-296F79577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896" y="1220607"/>
                <a:ext cx="4646297" cy="576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D38289-04CF-CB0F-B9F7-44076618D975}"/>
                  </a:ext>
                </a:extLst>
              </p:cNvPr>
              <p:cNvSpPr txBox="1"/>
              <p:nvPr/>
            </p:nvSpPr>
            <p:spPr>
              <a:xfrm>
                <a:off x="616476" y="1772816"/>
                <a:ext cx="4465282" cy="5763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 +2⋅</m:t>
                      </m:r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D38289-04CF-CB0F-B9F7-44076618D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1772816"/>
                <a:ext cx="4465282" cy="576376"/>
              </a:xfrm>
              <a:prstGeom prst="rect">
                <a:avLst/>
              </a:prstGeom>
              <a:blipFill>
                <a:blip r:embed="rId4"/>
                <a:stretch>
                  <a:fillRect r="-13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393219-C094-7986-F23D-29666C1814BE}"/>
                  </a:ext>
                </a:extLst>
              </p:cNvPr>
              <p:cNvSpPr txBox="1"/>
              <p:nvPr/>
            </p:nvSpPr>
            <p:spPr>
              <a:xfrm>
                <a:off x="616476" y="2411340"/>
                <a:ext cx="5491810" cy="49750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 +2⋅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393219-C094-7986-F23D-29666C181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2411340"/>
                <a:ext cx="5491810" cy="497508"/>
              </a:xfrm>
              <a:prstGeom prst="rect">
                <a:avLst/>
              </a:prstGeom>
              <a:blipFill>
                <a:blip r:embed="rId5"/>
                <a:stretch>
                  <a:fillRect b="-123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86758-1E4F-8123-4DE2-7D6F841F04B0}"/>
                  </a:ext>
                </a:extLst>
              </p:cNvPr>
              <p:cNvSpPr txBox="1"/>
              <p:nvPr/>
            </p:nvSpPr>
            <p:spPr>
              <a:xfrm>
                <a:off x="616476" y="2970996"/>
                <a:ext cx="5491810" cy="49750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 +2⋅</m:t>
                      </m:r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86758-1E4F-8123-4DE2-7D6F841F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2970996"/>
                <a:ext cx="5491810" cy="497508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9AA1A8-120F-2895-A42B-E96AFF625F05}"/>
                  </a:ext>
                </a:extLst>
              </p:cNvPr>
              <p:cNvSpPr txBox="1"/>
              <p:nvPr/>
            </p:nvSpPr>
            <p:spPr>
              <a:xfrm>
                <a:off x="616476" y="3530652"/>
                <a:ext cx="5491810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9AA1A8-120F-2895-A42B-E96AFF625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3530652"/>
                <a:ext cx="5491810" cy="307777"/>
              </a:xfrm>
              <a:prstGeom prst="rect">
                <a:avLst/>
              </a:prstGeom>
              <a:blipFill>
                <a:blip r:embed="rId7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3C910-8D23-A858-D1DA-05E1E5AAD88D}"/>
                  </a:ext>
                </a:extLst>
              </p:cNvPr>
              <p:cNvSpPr txBox="1"/>
              <p:nvPr/>
            </p:nvSpPr>
            <p:spPr>
              <a:xfrm>
                <a:off x="616476" y="3900577"/>
                <a:ext cx="5491810" cy="3354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3C910-8D23-A858-D1DA-05E1E5AAD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3900577"/>
                <a:ext cx="5491810" cy="335476"/>
              </a:xfrm>
              <a:prstGeom prst="rect">
                <a:avLst/>
              </a:prstGeom>
              <a:blipFill>
                <a:blip r:embed="rId8"/>
                <a:stretch>
                  <a:fillRect t="-545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CC0D3A-78BC-7F05-C36A-B75F406A061E}"/>
                  </a:ext>
                </a:extLst>
              </p:cNvPr>
              <p:cNvSpPr txBox="1"/>
              <p:nvPr/>
            </p:nvSpPr>
            <p:spPr>
              <a:xfrm>
                <a:off x="616476" y="4298201"/>
                <a:ext cx="5491810" cy="3354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CC0D3A-78BC-7F05-C36A-B75F406A0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4298201"/>
                <a:ext cx="5491810" cy="335476"/>
              </a:xfrm>
              <a:prstGeom prst="rect">
                <a:avLst/>
              </a:prstGeom>
              <a:blipFill>
                <a:blip r:embed="rId9"/>
                <a:stretch>
                  <a:fillRect t="-545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088D5B-370F-1991-FA48-3A5896665209}"/>
                  </a:ext>
                </a:extLst>
              </p:cNvPr>
              <p:cNvSpPr txBox="1"/>
              <p:nvPr/>
            </p:nvSpPr>
            <p:spPr>
              <a:xfrm>
                <a:off x="539552" y="5445224"/>
                <a:ext cx="6048672" cy="40562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acc>
                        <m:accPr>
                          <m:chr m:val="̂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088D5B-370F-1991-FA48-3A5896665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445224"/>
                <a:ext cx="6048672" cy="405624"/>
              </a:xfrm>
              <a:prstGeom prst="rect">
                <a:avLst/>
              </a:prstGeom>
              <a:blipFill>
                <a:blip r:embed="rId10"/>
                <a:stretch>
                  <a:fillRect t="-8955" r="-201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6EF6A6-0770-2288-AF76-FB8098EBD7E8}"/>
                  </a:ext>
                </a:extLst>
              </p:cNvPr>
              <p:cNvSpPr txBox="1"/>
              <p:nvPr/>
            </p:nvSpPr>
            <p:spPr>
              <a:xfrm>
                <a:off x="616476" y="4695825"/>
                <a:ext cx="6336704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6EF6A6-0770-2288-AF76-FB8098EBD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4695825"/>
                <a:ext cx="6336704" cy="307777"/>
              </a:xfrm>
              <a:prstGeom prst="rect">
                <a:avLst/>
              </a:prstGeom>
              <a:blipFill>
                <a:blip r:embed="rId11"/>
                <a:stretch>
                  <a:fillRect t="-784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4697F-1BDF-1706-1CCC-B9F94F5F4954}"/>
                  </a:ext>
                </a:extLst>
              </p:cNvPr>
              <p:cNvSpPr txBox="1"/>
              <p:nvPr/>
            </p:nvSpPr>
            <p:spPr>
              <a:xfrm>
                <a:off x="616476" y="5065751"/>
                <a:ext cx="6336704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acc>
                        <m:accPr>
                          <m:chr m:val="̂"/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4697F-1BDF-1706-1CCC-B9F94F5F4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6" y="5065751"/>
                <a:ext cx="6336704" cy="307777"/>
              </a:xfrm>
              <a:prstGeom prst="rect">
                <a:avLst/>
              </a:prstGeom>
              <a:blipFill>
                <a:blip r:embed="rId12"/>
                <a:stretch>
                  <a:fillRect t="-8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0A21DA-035D-1C72-8397-634AFA36A838}"/>
                  </a:ext>
                </a:extLst>
              </p:cNvPr>
              <p:cNvSpPr txBox="1"/>
              <p:nvPr/>
            </p:nvSpPr>
            <p:spPr>
              <a:xfrm>
                <a:off x="6696236" y="5383797"/>
                <a:ext cx="1764196" cy="52847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0A21DA-035D-1C72-8397-634AFA36A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36" y="5383797"/>
                <a:ext cx="1764196" cy="528478"/>
              </a:xfrm>
              <a:prstGeom prst="rect">
                <a:avLst/>
              </a:prstGeom>
              <a:blipFill>
                <a:blip r:embed="rId13"/>
                <a:stretch>
                  <a:fillRect t="-13793" b="-229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341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1DC3-B4CD-99DB-6B53-01CC14C9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0531E-FAF1-7BE2-FFD2-26785430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연속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ACE1407-A50F-0D32-3A66-0C2DD8E95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2</a:t>
                </a:r>
                <a:r>
                  <a:rPr lang="ko-KR" altLang="en-US" dirty="0"/>
                  <a:t>회전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연속 회전 </a:t>
                </a:r>
                <a:r>
                  <a:rPr lang="ko-KR" altLang="en-US" dirty="0">
                    <a:sym typeface="Wingdings" panose="05000000000000000000" pitchFamily="2" charset="2"/>
                  </a:rPr>
                  <a:t>→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/>
                  <a:t>사원수 연산으로 회전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ACE1407-A50F-0D32-3A66-0C2DD8E95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D4C233-2849-3ADE-24C5-4B03B0BE2D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11AC40-096A-E564-FDCB-112983A32208}"/>
                  </a:ext>
                </a:extLst>
              </p:cNvPr>
              <p:cNvSpPr txBox="1"/>
              <p:nvPr/>
            </p:nvSpPr>
            <p:spPr>
              <a:xfrm>
                <a:off x="899592" y="1196752"/>
                <a:ext cx="1764196" cy="40562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11AC40-096A-E564-FDCB-112983A32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196752"/>
                <a:ext cx="1764196" cy="405624"/>
              </a:xfrm>
              <a:prstGeom prst="rect">
                <a:avLst/>
              </a:prstGeom>
              <a:blipFill>
                <a:blip r:embed="rId3"/>
                <a:stretch>
                  <a:fillRect t="-8955" b="-895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A8476B-14BE-A4F1-526A-19F814DB27EA}"/>
                  </a:ext>
                </a:extLst>
              </p:cNvPr>
              <p:cNvSpPr txBox="1"/>
              <p:nvPr/>
            </p:nvSpPr>
            <p:spPr>
              <a:xfrm>
                <a:off x="899592" y="1570780"/>
                <a:ext cx="2088232" cy="43672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A8476B-14BE-A4F1-526A-19F814DB2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570780"/>
                <a:ext cx="2088232" cy="436723"/>
              </a:xfrm>
              <a:prstGeom prst="rect">
                <a:avLst/>
              </a:prstGeom>
              <a:blipFill>
                <a:blip r:embed="rId4"/>
                <a:stretch>
                  <a:fillRect b="-845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19D570-F9AD-774E-5A82-68B5EE328A8F}"/>
                  </a:ext>
                </a:extLst>
              </p:cNvPr>
              <p:cNvSpPr txBox="1"/>
              <p:nvPr/>
            </p:nvSpPr>
            <p:spPr>
              <a:xfrm>
                <a:off x="1187624" y="2035290"/>
                <a:ext cx="3456384" cy="39408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19D570-F9AD-774E-5A82-68B5EE328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035290"/>
                <a:ext cx="3456384" cy="394082"/>
              </a:xfrm>
              <a:prstGeom prst="rect">
                <a:avLst/>
              </a:prstGeom>
              <a:blipFill>
                <a:blip r:embed="rId5"/>
                <a:stretch>
                  <a:fillRect t="-20000" b="-769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1A0E42-81C5-2408-4DE6-3A8BCA4AF86F}"/>
                  </a:ext>
                </a:extLst>
              </p:cNvPr>
              <p:cNvSpPr txBox="1"/>
              <p:nvPr/>
            </p:nvSpPr>
            <p:spPr>
              <a:xfrm>
                <a:off x="1187624" y="2439551"/>
                <a:ext cx="3456384" cy="41383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1A0E42-81C5-2408-4DE6-3A8BCA4AF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439551"/>
                <a:ext cx="3456384" cy="413831"/>
              </a:xfrm>
              <a:prstGeom prst="rect">
                <a:avLst/>
              </a:prstGeom>
              <a:blipFill>
                <a:blip r:embed="rId6"/>
                <a:stretch>
                  <a:fillRect t="-14706" b="-882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3957E5-7B8F-557C-26AE-3C7C74EA6ABF}"/>
                  </a:ext>
                </a:extLst>
              </p:cNvPr>
              <p:cNvSpPr txBox="1"/>
              <p:nvPr/>
            </p:nvSpPr>
            <p:spPr>
              <a:xfrm>
                <a:off x="1187624" y="2871599"/>
                <a:ext cx="3456384" cy="4412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3957E5-7B8F-557C-26AE-3C7C74EA6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871599"/>
                <a:ext cx="3456384" cy="441211"/>
              </a:xfrm>
              <a:prstGeom prst="rect">
                <a:avLst/>
              </a:prstGeom>
              <a:blipFill>
                <a:blip r:embed="rId7"/>
                <a:stretch>
                  <a:fillRect t="-8333" b="-8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BE4185-F8AE-EAD3-BDB2-3EE38610A37A}"/>
                  </a:ext>
                </a:extLst>
              </p:cNvPr>
              <p:cNvSpPr txBox="1"/>
              <p:nvPr/>
            </p:nvSpPr>
            <p:spPr>
              <a:xfrm>
                <a:off x="1187624" y="3356992"/>
                <a:ext cx="3456384" cy="39408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sub>
                          </m:sSub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BE4185-F8AE-EAD3-BDB2-3EE38610A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356992"/>
                <a:ext cx="3456384" cy="394082"/>
              </a:xfrm>
              <a:prstGeom prst="rect">
                <a:avLst/>
              </a:prstGeom>
              <a:blipFill>
                <a:blip r:embed="rId8"/>
                <a:stretch>
                  <a:fillRect t="-20313" b="-937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569A27-4972-46E6-213C-DEA644D9B87C}"/>
                  </a:ext>
                </a:extLst>
              </p:cNvPr>
              <p:cNvSpPr txBox="1"/>
              <p:nvPr/>
            </p:nvSpPr>
            <p:spPr>
              <a:xfrm>
                <a:off x="1187624" y="3751074"/>
                <a:ext cx="3456384" cy="39408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sub>
                          </m:sSub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569A27-4972-46E6-213C-DEA644D9B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751074"/>
                <a:ext cx="3456384" cy="394082"/>
              </a:xfrm>
              <a:prstGeom prst="rect">
                <a:avLst/>
              </a:prstGeom>
              <a:blipFill>
                <a:blip r:embed="rId9"/>
                <a:stretch>
                  <a:fillRect t="-20000" b="-923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499B21-EB34-21C2-2F6C-880B68033F2B}"/>
                  </a:ext>
                </a:extLst>
              </p:cNvPr>
              <p:cNvSpPr txBox="1"/>
              <p:nvPr/>
            </p:nvSpPr>
            <p:spPr>
              <a:xfrm>
                <a:off x="539750" y="4941168"/>
                <a:ext cx="3456384" cy="43672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sub>
                          </m:sSub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499B21-EB34-21C2-2F6C-880B68033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4941168"/>
                <a:ext cx="3456384" cy="436723"/>
              </a:xfrm>
              <a:prstGeom prst="rect">
                <a:avLst/>
              </a:prstGeom>
              <a:blipFill>
                <a:blip r:embed="rId10"/>
                <a:stretch>
                  <a:fillRect t="-8451" b="-845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560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98488C-0F18-5EBF-5686-3A6C5966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 </a:t>
            </a:r>
            <a:r>
              <a:rPr lang="ko-KR" altLang="en-US" dirty="0"/>
              <a:t>사원수의 변환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D3BA619-1A22-E0A3-C0AB-E9653E358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오일러 각</a:t>
            </a:r>
            <a:endParaRPr lang="en-US" altLang="ko-KR" dirty="0"/>
          </a:p>
          <a:p>
            <a:pPr lvl="1"/>
            <a:r>
              <a:rPr lang="ko-KR" altLang="en-US" dirty="0" err="1"/>
              <a:t>직관성</a:t>
            </a:r>
            <a:r>
              <a:rPr lang="ko-KR" altLang="en-US" dirty="0"/>
              <a:t> 우수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사원수</a:t>
            </a:r>
            <a:endParaRPr lang="en-US" altLang="ko-KR" dirty="0"/>
          </a:p>
          <a:p>
            <a:pPr lvl="1"/>
            <a:r>
              <a:rPr lang="ko-KR" altLang="en-US" dirty="0"/>
              <a:t>회전 설계의 어려움</a:t>
            </a:r>
            <a:endParaRPr lang="en-US" altLang="ko-KR" dirty="0"/>
          </a:p>
          <a:p>
            <a:pPr lvl="1"/>
            <a:r>
              <a:rPr lang="ko-KR" altLang="en-US" dirty="0"/>
              <a:t>오일러 각 → 사원수 변환으로 사용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D10227F-F766-BE7A-033E-22E986A00B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5029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C5ACF-4C45-4659-3D69-34B69399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727CF-BDDE-8199-AA36-CF741247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16.3.1 </a:t>
            </a:r>
            <a:r>
              <a:rPr lang="ko-KR" altLang="en-US" dirty="0"/>
              <a:t>오일러 각에서 사원수로의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708536-41E2-40AF-3DEC-DD56A08F5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오일러 각 </a:t>
            </a:r>
            <a:r>
              <a:rPr lang="en-US" altLang="ko-KR" sz="2400" dirty="0"/>
              <a:t>roll, pitch, yaw </a:t>
            </a:r>
            <a:r>
              <a:rPr lang="ko-KR" altLang="en-US" sz="2400" dirty="0"/>
              <a:t>→ 사원수</a:t>
            </a:r>
            <a:endParaRPr lang="en-US" altLang="ko-KR" sz="24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sz="2400" dirty="0"/>
              <a:t>yaw ·pitch ·roll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EBBC24-BB41-A69F-84D0-DABA9DD3AC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A8623B-8C55-6669-06D3-1DB3330A20D5}"/>
                  </a:ext>
                </a:extLst>
              </p:cNvPr>
              <p:cNvSpPr txBox="1"/>
              <p:nvPr/>
            </p:nvSpPr>
            <p:spPr>
              <a:xfrm>
                <a:off x="683568" y="1268760"/>
                <a:ext cx="4646297" cy="5763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  =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A8623B-8C55-6669-06D3-1DB3330A2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268760"/>
                <a:ext cx="4646297" cy="576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F9590-6F9A-6138-90C9-D30D03FCDF43}"/>
                  </a:ext>
                </a:extLst>
              </p:cNvPr>
              <p:cNvSpPr txBox="1"/>
              <p:nvPr/>
            </p:nvSpPr>
            <p:spPr>
              <a:xfrm>
                <a:off x="683568" y="1772816"/>
                <a:ext cx="3384376" cy="49750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𝑟𝑜𝑙𝑙</m:t>
                          </m:r>
                        </m:sub>
                      </m:sSub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𝑟𝑜𝑙𝑙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𝑟𝑜𝑙𝑙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F9590-6F9A-6138-90C9-D30D03FCD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772816"/>
                <a:ext cx="3384376" cy="497508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2FD178-B7FF-42E6-59C2-34CE976B1BCC}"/>
                  </a:ext>
                </a:extLst>
              </p:cNvPr>
              <p:cNvSpPr txBox="1"/>
              <p:nvPr/>
            </p:nvSpPr>
            <p:spPr>
              <a:xfrm>
                <a:off x="588700" y="2254897"/>
                <a:ext cx="3384376" cy="50295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𝑝𝑖𝑡𝑐h</m:t>
                          </m:r>
                        </m:sub>
                      </m:sSub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2FD178-B7FF-42E6-59C2-34CE976B1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00" y="2254897"/>
                <a:ext cx="3384376" cy="502958"/>
              </a:xfrm>
              <a:prstGeom prst="rect">
                <a:avLst/>
              </a:prstGeom>
              <a:blipFill>
                <a:blip r:embed="rId4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F4D7DD-D8B5-6450-FABC-01BB5CD99E92}"/>
                  </a:ext>
                </a:extLst>
              </p:cNvPr>
              <p:cNvSpPr txBox="1"/>
              <p:nvPr/>
            </p:nvSpPr>
            <p:spPr>
              <a:xfrm>
                <a:off x="645468" y="2734995"/>
                <a:ext cx="3384376" cy="50334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𝑦𝑎𝑤</m:t>
                          </m:r>
                        </m:sub>
                      </m:sSub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𝑦𝑎𝑤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𝑦𝑎𝑤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F4D7DD-D8B5-6450-FABC-01BB5CD99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68" y="2734995"/>
                <a:ext cx="3384376" cy="503343"/>
              </a:xfrm>
              <a:prstGeom prst="rect">
                <a:avLst/>
              </a:prstGeom>
              <a:blipFill>
                <a:blip r:embed="rId5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C6DC19-FD50-3B11-46BF-DB8FA8E14B30}"/>
                  </a:ext>
                </a:extLst>
              </p:cNvPr>
              <p:cNvSpPr txBox="1"/>
              <p:nvPr/>
            </p:nvSpPr>
            <p:spPr>
              <a:xfrm>
                <a:off x="323528" y="3842836"/>
                <a:ext cx="1799808" cy="3247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𝑦𝑎𝑤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𝑝𝑖𝑡𝑐h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𝑟𝑜𝑙𝑙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C6DC19-FD50-3B11-46BF-DB8FA8E14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842836"/>
                <a:ext cx="1799808" cy="324769"/>
              </a:xfrm>
              <a:prstGeom prst="rect">
                <a:avLst/>
              </a:prstGeom>
              <a:blipFill>
                <a:blip r:embed="rId6"/>
                <a:stretch>
                  <a:fillRect b="-185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35298E-9887-EE05-B92E-B8978CC325BD}"/>
                  </a:ext>
                </a:extLst>
              </p:cNvPr>
              <p:cNvSpPr txBox="1"/>
              <p:nvPr/>
            </p:nvSpPr>
            <p:spPr>
              <a:xfrm>
                <a:off x="1907704" y="3717032"/>
                <a:ext cx="6192688" cy="5763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func>
                            <m:func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35298E-9887-EE05-B92E-B8978CC32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717032"/>
                <a:ext cx="6192688" cy="5763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C88FA0-0792-B82B-2395-BF235693FE0A}"/>
                  </a:ext>
                </a:extLst>
              </p:cNvPr>
              <p:cNvSpPr txBox="1"/>
              <p:nvPr/>
            </p:nvSpPr>
            <p:spPr>
              <a:xfrm>
                <a:off x="645468" y="4293096"/>
                <a:ext cx="6192688" cy="51854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𝑟𝑜𝑙𝑙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𝑦𝑎𝑤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𝑟𝑜𝑙𝑙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𝑦𝑎𝑤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C88FA0-0792-B82B-2395-BF235693F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68" y="4293096"/>
                <a:ext cx="6192688" cy="5185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699E21-06E2-69D3-851F-33C5FD5342B5}"/>
                  </a:ext>
                </a:extLst>
              </p:cNvPr>
              <p:cNvSpPr txBox="1"/>
              <p:nvPr/>
            </p:nvSpPr>
            <p:spPr>
              <a:xfrm>
                <a:off x="611560" y="4796840"/>
                <a:ext cx="7984504" cy="5763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699E21-06E2-69D3-851F-33C5FD534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796840"/>
                <a:ext cx="798450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A9C40D-E213-3ED6-1A11-2292C4DDED85}"/>
                  </a:ext>
                </a:extLst>
              </p:cNvPr>
              <p:cNvSpPr txBox="1"/>
              <p:nvPr/>
            </p:nvSpPr>
            <p:spPr>
              <a:xfrm>
                <a:off x="611560" y="5372904"/>
                <a:ext cx="7984504" cy="5763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A9C40D-E213-3ED6-1A11-2292C4DDE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372904"/>
                <a:ext cx="7984504" cy="5763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7C00D1-550F-F746-E47C-8E45C5E0A526}"/>
                  </a:ext>
                </a:extLst>
              </p:cNvPr>
              <p:cNvSpPr txBox="1"/>
              <p:nvPr/>
            </p:nvSpPr>
            <p:spPr>
              <a:xfrm>
                <a:off x="611560" y="5948968"/>
                <a:ext cx="7984504" cy="5763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𝑟𝑜𝑙𝑙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𝑝𝑖𝑡𝑐h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𝑦𝑎𝑤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7C00D1-550F-F746-E47C-8E45C5E0A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948968"/>
                <a:ext cx="7984504" cy="5763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701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E44F-A609-97E1-FA9B-299D44D6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BE5FA-0B90-4C1E-8849-B4CFF329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16.3.2 </a:t>
            </a:r>
            <a:r>
              <a:rPr lang="ko-KR" altLang="en-US" dirty="0"/>
              <a:t>사원수에서 오일러 각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B42AD15-5382-2700-8571-4B9EE7E08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𝑝𝑖𝑡𝑐h</m:t>
                        </m:r>
                      </m:num>
                      <m:den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b="0" dirty="0"/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𝑦𝑎𝑤</m:t>
                        </m:r>
                      </m:num>
                      <m:den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000" b="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𝑟𝑜𝑙𝑙</m:t>
                        </m:r>
                      </m:num>
                      <m:den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𝑤𝑧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𝑟𝑜𝑙𝑙</m:t>
                            </m:r>
                          </m:sub>
                        </m:sSub>
                      </m:e>
                    </m:func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𝑝𝑖𝑡𝑐h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ko-KR" sz="2000" b="0" dirty="0"/>
                  <a:t> </a:t>
                </a:r>
                <a:endParaRPr lang="en-US" altLang="ko-KR" sz="1600" b="0" dirty="0"/>
              </a:p>
              <a:p>
                <a:endParaRPr lang="en-US" altLang="ko-KR" sz="2000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B42AD15-5382-2700-8571-4B9EE7E08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4A7F14-47BC-8C69-E92B-4B3D55D161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9CFFF5-2C54-1E29-E89E-40E45ACD07D1}"/>
                  </a:ext>
                </a:extLst>
              </p:cNvPr>
              <p:cNvSpPr txBox="1"/>
              <p:nvPr/>
            </p:nvSpPr>
            <p:spPr>
              <a:xfrm>
                <a:off x="395536" y="1988840"/>
                <a:ext cx="4752528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  +  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9CFFF5-2C54-1E29-E89E-40E45ACD0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8840"/>
                <a:ext cx="4752528" cy="307777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AD87CD-8892-F228-616A-8EC4B08A1DB9}"/>
                  </a:ext>
                </a:extLst>
              </p:cNvPr>
              <p:cNvSpPr txBox="1"/>
              <p:nvPr/>
            </p:nvSpPr>
            <p:spPr>
              <a:xfrm>
                <a:off x="395536" y="2311628"/>
                <a:ext cx="5832648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AD87CD-8892-F228-616A-8EC4B08A1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311628"/>
                <a:ext cx="5832648" cy="307777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F1A7D2-749F-BA6B-2036-10F4BDF64CF5}"/>
                  </a:ext>
                </a:extLst>
              </p:cNvPr>
              <p:cNvSpPr txBox="1"/>
              <p:nvPr/>
            </p:nvSpPr>
            <p:spPr>
              <a:xfrm>
                <a:off x="395536" y="2617167"/>
                <a:ext cx="7632848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𝑤𝑧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  + 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F1A7D2-749F-BA6B-2036-10F4BDF64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17167"/>
                <a:ext cx="7632848" cy="307777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5091BE-3CC8-ABB6-6834-A4D3AB8F3417}"/>
                  </a:ext>
                </a:extLst>
              </p:cNvPr>
              <p:cNvSpPr txBox="1"/>
              <p:nvPr/>
            </p:nvSpPr>
            <p:spPr>
              <a:xfrm>
                <a:off x="395536" y="3058972"/>
                <a:ext cx="5760442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  +  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5091BE-3CC8-ABB6-6834-A4D3AB8F3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058972"/>
                <a:ext cx="5760442" cy="30777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647E6A-C706-BD05-5A26-014AFBF231A0}"/>
                  </a:ext>
                </a:extLst>
              </p:cNvPr>
              <p:cNvSpPr txBox="1"/>
              <p:nvPr/>
            </p:nvSpPr>
            <p:spPr>
              <a:xfrm>
                <a:off x="395536" y="3375204"/>
                <a:ext cx="4999970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647E6A-C706-BD05-5A26-014AFBF23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75204"/>
                <a:ext cx="4999970" cy="307777"/>
              </a:xfrm>
              <a:prstGeom prst="rect">
                <a:avLst/>
              </a:prstGeom>
              <a:blipFill>
                <a:blip r:embed="rId7"/>
                <a:stretch>
                  <a:fillRect b="-6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286CE8-0C47-D48F-58E9-30EB80FBB7FD}"/>
                  </a:ext>
                </a:extLst>
              </p:cNvPr>
              <p:cNvSpPr txBox="1"/>
              <p:nvPr/>
            </p:nvSpPr>
            <p:spPr>
              <a:xfrm>
                <a:off x="395536" y="3697287"/>
                <a:ext cx="7776864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  +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286CE8-0C47-D48F-58E9-30EB80FBB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697287"/>
                <a:ext cx="7776864" cy="307777"/>
              </a:xfrm>
              <a:prstGeom prst="rect">
                <a:avLst/>
              </a:prstGeom>
              <a:blipFill>
                <a:blip r:embed="rId8"/>
                <a:stretch>
                  <a:fillRect b="-6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F33620-9A09-6F31-FDC9-6B4271463FB9}"/>
                  </a:ext>
                </a:extLst>
              </p:cNvPr>
              <p:cNvSpPr txBox="1"/>
              <p:nvPr/>
            </p:nvSpPr>
            <p:spPr>
              <a:xfrm>
                <a:off x="395536" y="4219555"/>
                <a:ext cx="6624736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𝑤𝑧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𝑐𝑦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𝑐𝑝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𝑠𝑦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𝑠𝑝</m:t>
                          </m:r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  − 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F33620-9A09-6F31-FDC9-6B4271463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19555"/>
                <a:ext cx="6624736" cy="307777"/>
              </a:xfrm>
              <a:prstGeom prst="rect">
                <a:avLst/>
              </a:prstGeom>
              <a:blipFill>
                <a:blip r:embed="rId9"/>
                <a:stretch>
                  <a:fillRect b="-392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4B8887-7C87-DFB4-5227-476AB29FA0F4}"/>
                  </a:ext>
                </a:extLst>
              </p:cNvPr>
              <p:cNvSpPr txBox="1"/>
              <p:nvPr/>
            </p:nvSpPr>
            <p:spPr>
              <a:xfrm>
                <a:off x="1105352" y="4539425"/>
                <a:ext cx="2818576" cy="3077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 ⋅ 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  − </m:t>
                          </m:r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sSup>
                            <m:sSup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4B8887-7C87-DFB4-5227-476AB29FA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52" y="4539425"/>
                <a:ext cx="2818576" cy="307777"/>
              </a:xfrm>
              <a:prstGeom prst="rect">
                <a:avLst/>
              </a:prstGeom>
              <a:blipFill>
                <a:blip r:embed="rId10"/>
                <a:stretch>
                  <a:fillRect b="-60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CBC5DE-2573-1D60-A5A4-B999FF729E9F}"/>
                  </a:ext>
                </a:extLst>
              </p:cNvPr>
              <p:cNvSpPr txBox="1"/>
              <p:nvPr/>
            </p:nvSpPr>
            <p:spPr>
              <a:xfrm>
                <a:off x="1114540" y="4834308"/>
                <a:ext cx="2377340" cy="49564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CBC5DE-2573-1D60-A5A4-B999FF729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40" y="4834308"/>
                <a:ext cx="2377340" cy="495649"/>
              </a:xfrm>
              <a:prstGeom prst="rect">
                <a:avLst/>
              </a:prstGeom>
              <a:blipFill>
                <a:blip r:embed="rId11"/>
                <a:stretch>
                  <a:fillRect b="-246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AE5BFA-8630-4D6C-6AAA-D9BEE9EBB60B}"/>
                  </a:ext>
                </a:extLst>
              </p:cNvPr>
              <p:cNvSpPr txBox="1"/>
              <p:nvPr/>
            </p:nvSpPr>
            <p:spPr>
              <a:xfrm>
                <a:off x="433160" y="1396559"/>
                <a:ext cx="1402734" cy="459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𝑦𝑎𝑤</m:t>
                              </m:r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AE5BFA-8630-4D6C-6AAA-D9BEE9EBB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60" y="1396559"/>
                <a:ext cx="1402734" cy="459869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2EA877-A787-39DD-4BB4-5B3367EAAD90}"/>
                  </a:ext>
                </a:extLst>
              </p:cNvPr>
              <p:cNvSpPr txBox="1"/>
              <p:nvPr/>
            </p:nvSpPr>
            <p:spPr>
              <a:xfrm>
                <a:off x="1657098" y="1396559"/>
                <a:ext cx="1402734" cy="459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𝑦𝑎𝑤</m:t>
                              </m:r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2EA877-A787-39DD-4BB4-5B3367EAA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098" y="1396559"/>
                <a:ext cx="1402734" cy="459869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C7B5DAC-3208-1E00-7FC0-46BD8B0B3D00}"/>
                  </a:ext>
                </a:extLst>
              </p:cNvPr>
              <p:cNvSpPr txBox="1"/>
              <p:nvPr/>
            </p:nvSpPr>
            <p:spPr>
              <a:xfrm>
                <a:off x="3204456" y="1376521"/>
                <a:ext cx="1402734" cy="49994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𝑝𝑖𝑡𝑐h</m:t>
                              </m:r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C7B5DAC-3208-1E00-7FC0-46BD8B0B3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56" y="1376521"/>
                <a:ext cx="1402734" cy="499945"/>
              </a:xfrm>
              <a:prstGeom prst="rect">
                <a:avLst/>
              </a:prstGeom>
              <a:blipFill>
                <a:blip r:embed="rId14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57884C-DD87-15B1-BB6D-98F7C0957676}"/>
                  </a:ext>
                </a:extLst>
              </p:cNvPr>
              <p:cNvSpPr txBox="1"/>
              <p:nvPr/>
            </p:nvSpPr>
            <p:spPr>
              <a:xfrm>
                <a:off x="4427984" y="1376521"/>
                <a:ext cx="1402734" cy="49994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𝑝𝑖𝑡𝑐h</m:t>
                              </m:r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𝑐𝑝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57884C-DD87-15B1-BB6D-98F7C0957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1376521"/>
                <a:ext cx="1402734" cy="499945"/>
              </a:xfrm>
              <a:prstGeom prst="rect">
                <a:avLst/>
              </a:prstGeom>
              <a:blipFill>
                <a:blip r:embed="rId15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3FAB6F6-BDBB-ACA8-6AD6-B5467F39AB25}"/>
                  </a:ext>
                </a:extLst>
              </p:cNvPr>
              <p:cNvSpPr txBox="1"/>
              <p:nvPr/>
            </p:nvSpPr>
            <p:spPr>
              <a:xfrm>
                <a:off x="5978596" y="1376521"/>
                <a:ext cx="1402734" cy="49994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𝑟𝑜𝑙𝑙</m:t>
                              </m:r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𝑠𝑟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3FAB6F6-BDBB-ACA8-6AD6-B5467F39A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596" y="1376521"/>
                <a:ext cx="1402734" cy="499945"/>
              </a:xfrm>
              <a:prstGeom prst="rect">
                <a:avLst/>
              </a:prstGeom>
              <a:blipFill>
                <a:blip r:embed="rId16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0CF25C-E9BD-FD92-55B4-F6AEFA87C7E4}"/>
                  </a:ext>
                </a:extLst>
              </p:cNvPr>
              <p:cNvSpPr txBox="1"/>
              <p:nvPr/>
            </p:nvSpPr>
            <p:spPr>
              <a:xfrm>
                <a:off x="7129706" y="1376521"/>
                <a:ext cx="1402734" cy="49994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𝑟𝑜𝑙𝑙</m:t>
                              </m:r>
                            </m:num>
                            <m:den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0CF25C-E9BD-FD92-55B4-F6AEFA87C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706" y="1376521"/>
                <a:ext cx="1402734" cy="499945"/>
              </a:xfrm>
              <a:prstGeom prst="rect">
                <a:avLst/>
              </a:prstGeom>
              <a:blipFill>
                <a:blip r:embed="rId17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776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C8EB-04ED-751A-17E1-AC4B73FF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DAB41-1194-1F98-1C6B-8A044602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16.3.2 </a:t>
            </a:r>
            <a:r>
              <a:rPr lang="ko-KR" altLang="en-US" dirty="0"/>
              <a:t>사원수에서 오일러 각 변환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0DA808-0649-3568-D6E7-7077ACFA78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20FE22-629A-409D-6476-C2A3FCFBE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𝑟𝑜𝑙𝑙</m:t>
                            </m:r>
                          </m:sub>
                        </m:sSub>
                      </m:e>
                    </m:func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𝑝𝑖𝑡𝑐h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ko-KR" sz="2000" b="0" dirty="0"/>
                  <a:t> </a:t>
                </a:r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:endParaRPr lang="en-US" altLang="ko-KR" sz="20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𝑦𝑎𝑤</m:t>
                        </m:r>
                      </m:sub>
                    </m:sSub>
                  </m:oMath>
                </a14:m>
                <a:endParaRPr lang="en-US" altLang="ko-KR" sz="2000" b="0" dirty="0"/>
              </a:p>
              <a:p>
                <a:endParaRPr lang="en-US" altLang="ko-KR" sz="2000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20FE22-629A-409D-6476-C2A3FCFBE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2F349D-8D1E-D467-FE2E-867F6887DCCD}"/>
                  </a:ext>
                </a:extLst>
              </p:cNvPr>
              <p:cNvSpPr txBox="1"/>
              <p:nvPr/>
            </p:nvSpPr>
            <p:spPr>
              <a:xfrm>
                <a:off x="536694" y="1324851"/>
                <a:ext cx="4082965" cy="57047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𝑟𝑜𝑙𝑙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𝑟𝑜𝑙𝑙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𝑟𝑜𝑙𝑙</m:t>
                              </m:r>
                            </m:sub>
                          </m:sSub>
                        </m:e>
                      </m:func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𝑤𝑧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d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1−2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2F349D-8D1E-D467-FE2E-867F6887D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94" y="1324851"/>
                <a:ext cx="4082965" cy="570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F64B57-24EF-3C86-93B2-D9A6D6AECCF5}"/>
                  </a:ext>
                </a:extLst>
              </p:cNvPr>
              <p:cNvSpPr txBox="1"/>
              <p:nvPr/>
            </p:nvSpPr>
            <p:spPr>
              <a:xfrm>
                <a:off x="536693" y="2035027"/>
                <a:ext cx="6771611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𝑟𝑜𝑙𝑙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𝑎𝑡𝑎𝑛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 2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𝑤𝑧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, 1−2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F64B57-24EF-3C86-93B2-D9A6D6AEC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93" y="2035027"/>
                <a:ext cx="6771611" cy="400110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81A5FE-626E-7CD4-3A1F-C9DC59EBE496}"/>
                  </a:ext>
                </a:extLst>
              </p:cNvPr>
              <p:cNvSpPr txBox="1"/>
              <p:nvPr/>
            </p:nvSpPr>
            <p:spPr>
              <a:xfrm>
                <a:off x="536695" y="3026640"/>
                <a:ext cx="2736304" cy="5182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𝑦𝑧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81A5FE-626E-7CD4-3A1F-C9DC59EBE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95" y="3026640"/>
                <a:ext cx="2736304" cy="5182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650D32-73E0-1E74-65B5-415CB985F7AD}"/>
                  </a:ext>
                </a:extLst>
              </p:cNvPr>
              <p:cNvSpPr txBox="1"/>
              <p:nvPr/>
            </p:nvSpPr>
            <p:spPr>
              <a:xfrm>
                <a:off x="3203848" y="3031647"/>
                <a:ext cx="1728192" cy="49564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𝑝𝑖𝑡𝑐h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650D32-73E0-1E74-65B5-415CB985F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3031647"/>
                <a:ext cx="1728192" cy="495649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FE5BC0-4C1E-16E9-9942-4B34F400AC36}"/>
                  </a:ext>
                </a:extLst>
              </p:cNvPr>
              <p:cNvSpPr txBox="1"/>
              <p:nvPr/>
            </p:nvSpPr>
            <p:spPr>
              <a:xfrm>
                <a:off x="536694" y="3573016"/>
                <a:ext cx="6120938" cy="44589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𝑝𝑖𝑡𝑐h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𝑎𝑠𝑖𝑛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 2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 − 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𝑦𝑧</m:t>
                              </m:r>
                            </m:e>
                          </m:d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,   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.   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𝑦𝑧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≤0.5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FE5BC0-4C1E-16E9-9942-4B34F400A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94" y="3573016"/>
                <a:ext cx="6120938" cy="445891"/>
              </a:xfrm>
              <a:prstGeom prst="rect">
                <a:avLst/>
              </a:prstGeom>
              <a:blipFill>
                <a:blip r:embed="rId7"/>
                <a:stretch>
                  <a:fillRect b="-958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A5A2A2-AD02-FA7D-AC8B-32B91D51BF6D}"/>
                  </a:ext>
                </a:extLst>
              </p:cNvPr>
              <p:cNvSpPr txBox="1"/>
              <p:nvPr/>
            </p:nvSpPr>
            <p:spPr>
              <a:xfrm>
                <a:off x="536694" y="5014722"/>
                <a:ext cx="5340206" cy="43050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𝑦𝑎𝑤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𝑎𝑡𝑎𝑛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 2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𝑤𝑦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𝑧𝑥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, 1−2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A5A2A2-AD02-FA7D-AC8B-32B91D51B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94" y="5014722"/>
                <a:ext cx="5340206" cy="430502"/>
              </a:xfrm>
              <a:prstGeom prst="rect">
                <a:avLst/>
              </a:prstGeom>
              <a:blipFill>
                <a:blip r:embed="rId8"/>
                <a:stretch>
                  <a:fillRect b="-5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378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8CE0-E81B-057B-1034-26DAD05EF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9799-FBCA-CFF1-908B-36A3E629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16.3.2 </a:t>
            </a:r>
            <a:r>
              <a:rPr lang="ko-KR" altLang="en-US" dirty="0"/>
              <a:t>사원수에서 오일러 각 변환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516039-309F-1E86-7C33-CF8ADD19B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DC070D-9914-542B-2570-E58CA31CE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CC11D-88FA-B4E8-B11D-882E5ECDDEC4}"/>
              </a:ext>
            </a:extLst>
          </p:cNvPr>
          <p:cNvSpPr txBox="1"/>
          <p:nvPr/>
        </p:nvSpPr>
        <p:spPr>
          <a:xfrm>
            <a:off x="683568" y="675285"/>
            <a:ext cx="6174432" cy="576395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sinrCosp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cosrCosp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Roll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Rad2Deg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atan2f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sinrCosp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cosrCosp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pitchTest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asinThreshold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0.4999995f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pitchTest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pitchTest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-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asinThreshold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-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90.f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pitchTest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asinThreshold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90.f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Rad2Deg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asinf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sinyCosp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cosyCosp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Yaw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Rad2Deg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atan2f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sinyCosp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cosyCosp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56000"/>
              </a:lnSpc>
              <a:spcBef>
                <a:spcPts val="600"/>
              </a:spcBef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1322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016B-90BF-5DE6-64B7-BEA5408C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A9DC9-B567-EC53-549F-E48F8302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16.3.3 </a:t>
            </a:r>
            <a:r>
              <a:rPr lang="ko-KR" altLang="en-US" dirty="0"/>
              <a:t>사원수에서 회전 변환행렬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251FD9-EC0C-EADC-BE2A-F4AD83049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사원수 → 회전 변환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변환 행렬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F779CF-EFA8-E564-E667-F580167B14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D6379C-9D3D-FE6B-B7E2-F0BC78239478}"/>
                  </a:ext>
                </a:extLst>
              </p:cNvPr>
              <p:cNvSpPr txBox="1"/>
              <p:nvPr/>
            </p:nvSpPr>
            <p:spPr>
              <a:xfrm>
                <a:off x="539552" y="1268760"/>
                <a:ext cx="6408712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, −2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 2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 −2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D6379C-9D3D-FE6B-B7E2-F0BC78239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268760"/>
                <a:ext cx="6408712" cy="338554"/>
              </a:xfrm>
              <a:prstGeom prst="rect">
                <a:avLst/>
              </a:prstGeom>
              <a:blipFill>
                <a:blip r:embed="rId2"/>
                <a:stretch>
                  <a:fillRect b="-1250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3C3762-11AC-E172-C447-B0AED8C0D3DB}"/>
                  </a:ext>
                </a:extLst>
              </p:cNvPr>
              <p:cNvSpPr txBox="1"/>
              <p:nvPr/>
            </p:nvSpPr>
            <p:spPr>
              <a:xfrm>
                <a:off x="1100376" y="1650286"/>
                <a:ext cx="6408712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1, 2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𝑧𝑤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, −2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𝑦𝑤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, 2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, 2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𝑥𝑧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3C3762-11AC-E172-C447-B0AED8C0D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376" y="1650286"/>
                <a:ext cx="6408712" cy="338554"/>
              </a:xfrm>
              <a:prstGeom prst="rect">
                <a:avLst/>
              </a:prstGeom>
              <a:blipFill>
                <a:blip r:embed="rId3"/>
                <a:stretch>
                  <a:fillRect b="-1272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B9C25A-B067-F5B9-5787-D8B8C59E3D74}"/>
                  </a:ext>
                </a:extLst>
              </p:cNvPr>
              <p:cNvSpPr txBox="1"/>
              <p:nvPr/>
            </p:nvSpPr>
            <p:spPr>
              <a:xfrm>
                <a:off x="611560" y="2132856"/>
                <a:ext cx="5614540" cy="4049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1−2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𝑧𝑤</m:t>
                              </m:r>
                            </m:e>
                          </m:d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𝑥𝑧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𝑦𝑤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B9C25A-B067-F5B9-5787-D8B8C59E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132856"/>
                <a:ext cx="5614540" cy="404983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CFCE0E-54EF-29D1-01FF-A1497197BB21}"/>
                  </a:ext>
                </a:extLst>
              </p:cNvPr>
              <p:cNvSpPr txBox="1"/>
              <p:nvPr/>
            </p:nvSpPr>
            <p:spPr>
              <a:xfrm>
                <a:off x="611560" y="2636912"/>
                <a:ext cx="5614540" cy="4049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𝑧𝑤</m:t>
                              </m:r>
                            </m:e>
                          </m:d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, 1−2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𝑥𝑤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CFCE0E-54EF-29D1-01FF-A1497197B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36912"/>
                <a:ext cx="5614540" cy="404983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5EBF70-8CD5-441C-C51F-828BCD5D5BF5}"/>
                  </a:ext>
                </a:extLst>
              </p:cNvPr>
              <p:cNvSpPr txBox="1"/>
              <p:nvPr/>
            </p:nvSpPr>
            <p:spPr>
              <a:xfrm>
                <a:off x="611560" y="3140968"/>
                <a:ext cx="5614540" cy="4049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𝑥𝑧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𝑦𝑤</m:t>
                              </m:r>
                            </m:e>
                          </m:d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𝑥𝑤</m:t>
                              </m:r>
                            </m:e>
                          </m:d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, 1−2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5EBF70-8CD5-441C-C51F-828BCD5D5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140968"/>
                <a:ext cx="5614540" cy="404983"/>
              </a:xfrm>
              <a:prstGeom prst="rect">
                <a:avLst/>
              </a:prstGeom>
              <a:blipFill>
                <a:blip r:embed="rId6"/>
                <a:stretch>
                  <a:fillRect b="-298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B4FA32-217F-0F98-F735-AEE97F79D20B}"/>
                  </a:ext>
                </a:extLst>
              </p:cNvPr>
              <p:cNvSpPr txBox="1"/>
              <p:nvPr/>
            </p:nvSpPr>
            <p:spPr>
              <a:xfrm>
                <a:off x="611560" y="4639046"/>
                <a:ext cx="6336704" cy="10942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𝑥𝑦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𝑥𝑧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𝑦𝑤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𝑥𝑦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𝑦𝑧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𝑥𝑤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𝑥𝑧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𝑦𝑧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B4FA32-217F-0F98-F735-AEE97F79D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639046"/>
                <a:ext cx="6336704" cy="10942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122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C7F7-9311-336D-D46D-9F649AAC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98CFE-E159-CDEB-44AC-5CB5E7D8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</a:t>
            </a:r>
            <a:r>
              <a:rPr lang="ko-KR" altLang="en-US" dirty="0"/>
              <a:t>회전 변환 행렬에서 사원수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79547-737E-3470-8BFE-21F1ECAF4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정방행렬 </a:t>
            </a:r>
            <a:r>
              <a:rPr lang="ko-KR" altLang="en-US" dirty="0" err="1"/>
              <a:t>트레이스</a:t>
            </a:r>
            <a:r>
              <a:rPr lang="ko-KR" altLang="en-US" dirty="0"/>
              <a:t> 표현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대각</a:t>
            </a:r>
            <a:r>
              <a:rPr lang="en-US" altLang="ko-KR" dirty="0"/>
              <a:t> </a:t>
            </a:r>
            <a:r>
              <a:rPr lang="ko-KR" altLang="en-US" dirty="0"/>
              <a:t>행렬 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2FAAD4-42D8-F199-0C06-46BD14193D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0A388C-0FA8-D559-A7AD-C22D698DD5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22" t="6325" r="8191" b="12149"/>
          <a:stretch>
            <a:fillRect/>
          </a:stretch>
        </p:blipFill>
        <p:spPr>
          <a:xfrm>
            <a:off x="507634" y="1412776"/>
            <a:ext cx="2984246" cy="1944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AA4758-8CCB-7DE9-B902-7D9146D2A345}"/>
                  </a:ext>
                </a:extLst>
              </p:cNvPr>
              <p:cNvSpPr txBox="1"/>
              <p:nvPr/>
            </p:nvSpPr>
            <p:spPr>
              <a:xfrm>
                <a:off x="395536" y="4336051"/>
                <a:ext cx="5760640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=1−2</m:t>
                      </m:r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1−2</m:t>
                      </m:r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1−2</m:t>
                      </m:r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AA4758-8CCB-7DE9-B902-7D9146D2A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336051"/>
                <a:ext cx="5760640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C039B-BD18-18F0-8277-F7A9D8CB118E}"/>
                  </a:ext>
                </a:extLst>
              </p:cNvPr>
              <p:cNvSpPr txBox="1"/>
              <p:nvPr/>
            </p:nvSpPr>
            <p:spPr>
              <a:xfrm>
                <a:off x="507634" y="4725144"/>
                <a:ext cx="2912238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C039B-BD18-18F0-8277-F7A9D8CB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4" y="4725144"/>
                <a:ext cx="2912238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A35601-8A5D-2F63-E1FE-6EA412DCA3D2}"/>
                  </a:ext>
                </a:extLst>
              </p:cNvPr>
              <p:cNvSpPr txBox="1"/>
              <p:nvPr/>
            </p:nvSpPr>
            <p:spPr>
              <a:xfrm>
                <a:off x="395536" y="5157192"/>
                <a:ext cx="6480720" cy="4049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+1=4−4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 </m:t>
                        </m:r>
                        <m:sSup>
                          <m:sSup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 </m:t>
                        </m:r>
                        <m:sSup>
                          <m:sSup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+ </m:t>
                            </m:r>
                            <m:sSup>
                              <m:sSupPr>
                                <m:ctrlP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+ </m:t>
                            </m:r>
                            <m:sSup>
                              <m:sSupPr>
                                <m:ctrlP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A35601-8A5D-2F63-E1FE-6EA412DC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157192"/>
                <a:ext cx="6480720" cy="404983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B2B4EB-70A5-0AAA-FF79-2EE8A9E1DBC0}"/>
                  </a:ext>
                </a:extLst>
              </p:cNvPr>
              <p:cNvSpPr txBox="1"/>
              <p:nvPr/>
            </p:nvSpPr>
            <p:spPr>
              <a:xfrm>
                <a:off x="467544" y="5867817"/>
                <a:ext cx="2088232" cy="40197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B2B4EB-70A5-0AAA-FF79-2EE8A9E1D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867817"/>
                <a:ext cx="2088232" cy="4019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46CEA0-2F59-06A5-A535-98A22ABC046E}"/>
                  </a:ext>
                </a:extLst>
              </p:cNvPr>
              <p:cNvSpPr txBox="1"/>
              <p:nvPr/>
            </p:nvSpPr>
            <p:spPr>
              <a:xfrm>
                <a:off x="2635142" y="5763334"/>
                <a:ext cx="1144770" cy="61093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46CEA0-2F59-06A5-A535-98A22ABC0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142" y="5763334"/>
                <a:ext cx="1144770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739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CECE1-81C9-9467-A5BB-13A861E3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98057-BE94-3AC8-8746-869FB2FB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</a:t>
            </a:r>
            <a:r>
              <a:rPr lang="ko-KR" altLang="en-US" dirty="0"/>
              <a:t>회전 변환 행렬에서 사원수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D5B29A-F522-8B1F-7F24-E21D1B6245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값을 구하기 위한 행렬의 성분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D5B29A-F522-8B1F-7F24-E21D1B6245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t="-1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4D20DD-FA32-1053-5509-6B0582726F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8A1651-672C-05FF-44B2-385A72BD07A0}"/>
                  </a:ext>
                </a:extLst>
              </p:cNvPr>
              <p:cNvSpPr txBox="1"/>
              <p:nvPr/>
            </p:nvSpPr>
            <p:spPr>
              <a:xfrm>
                <a:off x="568556" y="3568730"/>
                <a:ext cx="328336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𝑥𝑤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 = 4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𝑥𝑤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8A1651-672C-05FF-44B2-385A72BD0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56" y="3568730"/>
                <a:ext cx="3283364" cy="400110"/>
              </a:xfrm>
              <a:prstGeom prst="rect">
                <a:avLst/>
              </a:prstGeom>
              <a:blipFill>
                <a:blip r:embed="rId3"/>
                <a:stretch>
                  <a:fillRect l="-742"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574C314-919D-BCCF-E362-DB2AD7E7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91" t="7146" r="4394" b="10062"/>
          <a:stretch>
            <a:fillRect/>
          </a:stretch>
        </p:blipFill>
        <p:spPr>
          <a:xfrm>
            <a:off x="683568" y="1412776"/>
            <a:ext cx="2995259" cy="187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47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6D01-9AF9-CD23-0760-B8777EAA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50BCA-C966-63D9-1F19-212E6CA7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</a:t>
            </a:r>
            <a:r>
              <a:rPr lang="ko-KR" altLang="en-US" dirty="0"/>
              <a:t>회전 변환 행렬에서 사원수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8773A8A-357C-6BBF-6CC1-826C313EC0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𝑤𝑦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값을 구하기 위한 행렬의 성분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8773A8A-357C-6BBF-6CC1-826C313EC0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t="-1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0CBAB9-4D4A-A2D8-8D71-DC94019912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3A57FC-38F1-8FF8-A2BE-90D17B695CF9}"/>
                  </a:ext>
                </a:extLst>
              </p:cNvPr>
              <p:cNvSpPr txBox="1"/>
              <p:nvPr/>
            </p:nvSpPr>
            <p:spPr>
              <a:xfrm>
                <a:off x="395536" y="4369316"/>
                <a:ext cx="4032448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𝑥𝑧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𝑦𝑤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𝑥𝑧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= 4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𝑦𝑤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3A57FC-38F1-8FF8-A2BE-90D17B695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369316"/>
                <a:ext cx="4032448" cy="400110"/>
              </a:xfrm>
              <a:prstGeom prst="rect">
                <a:avLst/>
              </a:prstGeom>
              <a:blipFill>
                <a:blip r:embed="rId3"/>
                <a:stretch>
                  <a:fillRect b="-1692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A68870CF-0C9F-1563-DC76-8F7575DB95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91" t="6923" r="57809" b="11706"/>
          <a:stretch>
            <a:fillRect/>
          </a:stretch>
        </p:blipFill>
        <p:spPr>
          <a:xfrm>
            <a:off x="683568" y="1556792"/>
            <a:ext cx="2918217" cy="25202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6012E1-C070-4F9E-EE4F-2426626ABE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350" t="6923" r="3048" b="11706"/>
          <a:stretch>
            <a:fillRect/>
          </a:stretch>
        </p:blipFill>
        <p:spPr>
          <a:xfrm>
            <a:off x="4786318" y="1556792"/>
            <a:ext cx="2851895" cy="2520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C07121-AF6C-1D55-9B99-7922BE3B9873}"/>
                  </a:ext>
                </a:extLst>
              </p:cNvPr>
              <p:cNvSpPr txBox="1"/>
              <p:nvPr/>
            </p:nvSpPr>
            <p:spPr>
              <a:xfrm>
                <a:off x="4644008" y="4365104"/>
                <a:ext cx="410445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𝑧𝑤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= 4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𝑧𝑤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C07121-AF6C-1D55-9B99-7922BE3B9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4365104"/>
                <a:ext cx="4104456" cy="400110"/>
              </a:xfrm>
              <a:prstGeom prst="rect">
                <a:avLst/>
              </a:prstGeom>
              <a:blipFill>
                <a:blip r:embed="rId5"/>
                <a:stretch>
                  <a:fillRect l="-594"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160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AD1C-6840-CF6D-FF29-1069CA20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2C8CA-8C81-E2A3-24D1-4F11079B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</a:t>
            </a:r>
            <a:r>
              <a:rPr lang="ko-KR" altLang="en-US" dirty="0"/>
              <a:t>회전 변환 행렬에서 사원수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C6057-20BB-92BF-62E5-78FBC882D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sz="2400" dirty="0"/>
                  <a:t>예외 사항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 err="1"/>
                  <a:t>트레이스</a:t>
                </a:r>
                <a:r>
                  <a:rPr lang="ko-KR" altLang="en-US" sz="2000" dirty="0"/>
                  <a:t> ≤</a:t>
                </a:r>
                <a:r>
                  <a:rPr lang="en-US" altLang="ko-KR" sz="2000" dirty="0"/>
                  <a:t>-1 </a:t>
                </a:r>
                <a:r>
                  <a:rPr lang="ko-KR" altLang="en-US" sz="2000" dirty="0"/>
                  <a:t>→ 제곱근 구할 수 없음</a:t>
                </a:r>
                <a:endParaRPr lang="en-US" altLang="ko-KR" sz="2000" dirty="0"/>
              </a:p>
              <a:p>
                <a:pPr lvl="1"/>
                <a:r>
                  <a:rPr lang="en-US" altLang="ko-KR" sz="2000" dirty="0"/>
                  <a:t>Ex)</a:t>
                </a:r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r>
                  <a:rPr lang="en-US" altLang="ko-KR" sz="2000" dirty="0"/>
                  <a:t>w</a:t>
                </a:r>
                <a:r>
                  <a:rPr lang="ko-KR" altLang="en-US" sz="2000" dirty="0"/>
                  <a:t>가 아닌 다른 요소 부터 계산 한 후에 다른 성분을 구함</a:t>
                </a:r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예외 상황에서 </a:t>
                </a:r>
                <a14:m>
                  <m:oMath xmlns:m="http://schemas.openxmlformats.org/officeDocument/2006/math">
                    <m:r>
                      <a:rPr lang="en-US" altLang="ko-KR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dirty="0"/>
                  <a:t>값을 구하기 위한 대각 성분</a:t>
                </a:r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C6057-20BB-92BF-62E5-78FBC882D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478" t="-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E1077C-F4FC-1FAA-FE97-95EA844BFA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4E6D0-A7B4-8B0A-62D0-28BCE7B54FB5}"/>
                  </a:ext>
                </a:extLst>
              </p:cNvPr>
              <p:cNvSpPr txBox="1"/>
              <p:nvPr/>
            </p:nvSpPr>
            <p:spPr>
              <a:xfrm>
                <a:off x="1475656" y="1635351"/>
                <a:ext cx="1944216" cy="9062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4E6D0-A7B4-8B0A-62D0-28BCE7B54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1635351"/>
                <a:ext cx="1944216" cy="906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2DE1DD-5955-65CC-0865-0056881B1821}"/>
                  </a:ext>
                </a:extLst>
              </p:cNvPr>
              <p:cNvSpPr txBox="1"/>
              <p:nvPr/>
            </p:nvSpPr>
            <p:spPr>
              <a:xfrm>
                <a:off x="755576" y="3055476"/>
                <a:ext cx="6480720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−1+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−1+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2DE1DD-5955-65CC-0865-0056881B1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055476"/>
                <a:ext cx="6480720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E9AC375A-EDC7-6C0E-A0B2-4DE85D1471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11" t="12040" r="7485" b="12347"/>
          <a:stretch>
            <a:fillRect/>
          </a:stretch>
        </p:blipFill>
        <p:spPr>
          <a:xfrm>
            <a:off x="755576" y="4261338"/>
            <a:ext cx="3502591" cy="211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52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D649-7085-752D-AEC6-82085D83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F3ED0-CE59-F4BB-AF67-CA1846BE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</a:t>
            </a:r>
            <a:r>
              <a:rPr lang="ko-KR" altLang="en-US" dirty="0"/>
              <a:t>회전 변환 행렬에서 사원수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78B590-B79A-0700-1ED6-4CA28A273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20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2000" dirty="0"/>
                  <a:t>값을 구하기 위한 대각 성분</a:t>
                </a:r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r>
                  <a:rPr lang="ko-KR" altLang="en-US" sz="2000" dirty="0"/>
                  <a:t>켄 </a:t>
                </a:r>
                <a:r>
                  <a:rPr lang="ko-KR" altLang="en-US" sz="2000" dirty="0" err="1"/>
                  <a:t>슈메이크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(1985)</a:t>
                </a:r>
              </a:p>
              <a:p>
                <a:pPr lvl="1"/>
                <a:r>
                  <a:rPr lang="ko-KR" altLang="en-US" sz="1800" dirty="0" err="1"/>
                  <a:t>트레이스</a:t>
                </a:r>
                <a:r>
                  <a:rPr lang="ko-KR" altLang="en-US" sz="1800" dirty="0"/>
                  <a:t> 값 계산</a:t>
                </a:r>
                <a:endParaRPr lang="en-US" altLang="ko-KR" sz="1800" dirty="0"/>
              </a:p>
              <a:p>
                <a:pPr lvl="1"/>
                <a:r>
                  <a:rPr lang="en-US" altLang="ko-KR" sz="1800" dirty="0"/>
                  <a:t>-1</a:t>
                </a:r>
                <a:r>
                  <a:rPr lang="ko-KR" altLang="en-US" sz="1800" dirty="0"/>
                  <a:t>에 가까워 질 수록 오차 발생</a:t>
                </a:r>
                <a:endParaRPr lang="en-US" altLang="ko-KR" sz="1800" dirty="0"/>
              </a:p>
              <a:p>
                <a:pPr lvl="1"/>
                <a:r>
                  <a:rPr lang="en-US" altLang="ko-KR" sz="1800" dirty="0"/>
                  <a:t>0 </a:t>
                </a:r>
                <a:r>
                  <a:rPr lang="ko-KR" altLang="en-US" sz="1800" dirty="0"/>
                  <a:t>＜ </a:t>
                </a:r>
                <a:r>
                  <a:rPr lang="ko-KR" altLang="en-US" sz="1800" dirty="0" err="1"/>
                  <a:t>트레이스</a:t>
                </a:r>
                <a:r>
                  <a:rPr lang="en-US" altLang="ko-KR" sz="1800" dirty="0"/>
                  <a:t> </a:t>
                </a:r>
                <a:r>
                  <a:rPr lang="ko-KR" altLang="en-US" sz="1800" dirty="0"/>
                  <a:t>→ 일반 계산</a:t>
                </a:r>
                <a:r>
                  <a:rPr lang="en-US" altLang="ko-KR" sz="1800" dirty="0"/>
                  <a:t>, 0 </a:t>
                </a:r>
                <a:r>
                  <a:rPr lang="ko-KR" altLang="en-US" sz="1800" dirty="0"/>
                  <a:t>≥ </a:t>
                </a:r>
                <a:r>
                  <a:rPr lang="ko-KR" altLang="en-US" sz="1800" dirty="0" err="1"/>
                  <a:t>트레이스</a:t>
                </a:r>
                <a:r>
                  <a:rPr lang="ko-KR" altLang="en-US" sz="1800" dirty="0"/>
                  <a:t> → 예외사항</a:t>
                </a:r>
                <a:endParaRPr lang="en-US" altLang="ko-KR" sz="1800" dirty="0"/>
              </a:p>
              <a:p>
                <a:pPr lvl="1"/>
                <a:r>
                  <a:rPr lang="ko-KR" altLang="en-US" sz="1800" dirty="0"/>
                  <a:t>예외사항</a:t>
                </a:r>
                <a:endParaRPr lang="en-US" altLang="ko-KR" sz="1800" dirty="0"/>
              </a:p>
              <a:p>
                <a:pPr lvl="2"/>
                <a:r>
                  <a:rPr lang="en-US" altLang="ko-KR" sz="1400" dirty="0"/>
                  <a:t>x, y, z </a:t>
                </a:r>
                <a:r>
                  <a:rPr lang="ko-KR" altLang="en-US" sz="1400" dirty="0"/>
                  <a:t>중 가장 큰 값 선택</a:t>
                </a:r>
                <a:endParaRPr lang="en-US" altLang="ko-KR" sz="1400" dirty="0"/>
              </a:p>
              <a:p>
                <a:pPr lvl="3"/>
                <a:r>
                  <a:rPr lang="en-US" altLang="ko-KR" sz="1200" dirty="0"/>
                  <a:t>ex) x</a:t>
                </a:r>
                <a:r>
                  <a:rPr lang="ko-KR" altLang="en-US" sz="1200" dirty="0"/>
                  <a:t>요소 </a:t>
                </a:r>
                <a:r>
                  <a:rPr lang="en-US" altLang="ko-KR" sz="1200" dirty="0"/>
                  <a:t>&lt; y </a:t>
                </a:r>
                <a:r>
                  <a:rPr lang="ko-KR" altLang="en-US" sz="1200" dirty="0"/>
                  <a:t>요소 비교</a:t>
                </a:r>
                <a:endParaRPr lang="en-US" altLang="ko-KR" sz="12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78B590-B79A-0700-1ED6-4CA28A273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273" t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0A88B9-AC59-5197-ED5D-4FDBEB62AB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24729E-F977-4C48-A845-4217BAF8E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0" t="28785" r="57210" b="7121"/>
          <a:stretch>
            <a:fillRect/>
          </a:stretch>
        </p:blipFill>
        <p:spPr>
          <a:xfrm>
            <a:off x="683568" y="1115631"/>
            <a:ext cx="2232248" cy="14350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2668B2-8A0A-5679-CD3F-75DF456F0B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724" t="29105" r="2086" b="6802"/>
          <a:stretch>
            <a:fillRect/>
          </a:stretch>
        </p:blipFill>
        <p:spPr>
          <a:xfrm>
            <a:off x="3059832" y="1115631"/>
            <a:ext cx="2232248" cy="1435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BB611B-48E0-8315-959F-185912D8A9D4}"/>
                  </a:ext>
                </a:extLst>
              </p:cNvPr>
              <p:cNvSpPr txBox="1"/>
              <p:nvPr/>
            </p:nvSpPr>
            <p:spPr>
              <a:xfrm>
                <a:off x="1691680" y="5085184"/>
                <a:ext cx="6480720" cy="3693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 &lt;1−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BB611B-48E0-8315-959F-185912D8A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085184"/>
                <a:ext cx="6480720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280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30B1-3473-9DCD-1610-9AA92681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346B0-C5F6-6D83-10E7-D223B6EF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16.3.4 </a:t>
            </a:r>
            <a:r>
              <a:rPr lang="ko-KR" altLang="en-US"/>
              <a:t>회전 변환 행렬에서 사원수 변환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69D29C-0218-C7FE-EEC5-7C98A17400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sz="2000" dirty="0"/>
                  <a:t>순서대로</a:t>
                </a:r>
                <a:r>
                  <a:rPr lang="ko-KR" alt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0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2000" dirty="0"/>
                  <a:t> 값을 구하기 위한 행렬의 성분</a:t>
                </a:r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69D29C-0218-C7FE-EEC5-7C98A17400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273" t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02D6C3-50C1-EDB8-53B4-E34F17E54F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0EAAD4-E7EC-2579-9743-5E016D1D76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0" t="30249" r="72366" b="10707"/>
          <a:stretch>
            <a:fillRect/>
          </a:stretch>
        </p:blipFill>
        <p:spPr>
          <a:xfrm>
            <a:off x="492404" y="1097958"/>
            <a:ext cx="2448272" cy="14937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42385C5-54A8-0898-D868-3FEB5F18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51" t="29013" r="37565" b="8367"/>
          <a:stretch>
            <a:fillRect/>
          </a:stretch>
        </p:blipFill>
        <p:spPr>
          <a:xfrm>
            <a:off x="503942" y="2746276"/>
            <a:ext cx="2448272" cy="15841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93AAB5-7B29-1DC7-293E-E2279D697E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600" t="29886" r="2716" b="10341"/>
          <a:stretch>
            <a:fillRect/>
          </a:stretch>
        </p:blipFill>
        <p:spPr>
          <a:xfrm>
            <a:off x="539750" y="4485037"/>
            <a:ext cx="2448272" cy="1512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614426-C931-911B-4546-7E2BFC9F57CD}"/>
              </a:ext>
            </a:extLst>
          </p:cNvPr>
          <p:cNvSpPr txBox="1"/>
          <p:nvPr/>
        </p:nvSpPr>
        <p:spPr>
          <a:xfrm>
            <a:off x="3404142" y="1097958"/>
            <a:ext cx="5598368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1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FromMatrix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Matrix3x3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1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1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trace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1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trace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&lt;=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{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BYTE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X,Y,Z </a:t>
            </a:r>
            <a:r>
              <a:rPr lang="ko-KR" altLang="en-US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중에서 가장 큰 요소를 파악</a:t>
            </a:r>
            <a:endParaRPr lang="ko-KR" altLang="en-US" sz="11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{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{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i, j, k </a:t>
            </a:r>
            <a:r>
              <a:rPr lang="ko-KR" altLang="en-US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 순서 지정</a:t>
            </a:r>
            <a:endParaRPr lang="ko-KR" altLang="en-US" sz="11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static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BYTE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next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= {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};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BYTE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next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BYTE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next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가장 큰 요소의 값을 구하기</a:t>
            </a:r>
            <a:endParaRPr lang="ko-KR" altLang="en-US" sz="11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sqrtf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= { &amp;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};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*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=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0.5f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1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0.5f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나머지 두 요소의 값을 구하기</a:t>
            </a:r>
            <a:endParaRPr lang="ko-KR" altLang="en-US" sz="11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*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= (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*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= (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마지막 </a:t>
            </a:r>
            <a:r>
              <a:rPr lang="en-US" altLang="ko-KR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 </a:t>
            </a:r>
            <a:r>
              <a:rPr lang="ko-KR" altLang="en-US" sz="11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 구하기</a:t>
            </a:r>
            <a:endParaRPr lang="ko-KR" altLang="en-US" sz="11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InMatrix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][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  <a:r>
              <a:rPr lang="en-US" altLang="ko-KR" sz="11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1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</p:txBody>
      </p:sp>
    </p:spTree>
    <p:extLst>
      <p:ext uri="{BB962C8B-B14F-4D97-AF65-F5344CB8AC3E}">
        <p14:creationId xmlns:p14="http://schemas.microsoft.com/office/powerpoint/2010/main" val="405802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7989-49B7-E5C3-3EC1-9371649A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7EBD5-CE2F-6B43-4FAE-E9182C46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96BDF2-3A10-FF34-DCBB-1A027AB2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" y="675285"/>
            <a:ext cx="8928992" cy="5832475"/>
          </a:xfrm>
        </p:spPr>
        <p:txBody>
          <a:bodyPr/>
          <a:lstStyle/>
          <a:p>
            <a:r>
              <a:rPr lang="ko-KR" altLang="en-US" dirty="0"/>
              <a:t>사원수 장점</a:t>
            </a:r>
            <a:endParaRPr lang="en-US" altLang="ko-KR" dirty="0"/>
          </a:p>
          <a:p>
            <a:pPr lvl="1"/>
            <a:r>
              <a:rPr lang="ko-KR" altLang="en-US" dirty="0"/>
              <a:t>로드리게스 회전과 동일한 임의의 축</a:t>
            </a:r>
            <a:r>
              <a:rPr lang="en-US" altLang="ko-KR" dirty="0"/>
              <a:t>-</a:t>
            </a:r>
            <a:r>
              <a:rPr lang="ko-KR" altLang="en-US" dirty="0"/>
              <a:t>각 회전</a:t>
            </a:r>
            <a:endParaRPr lang="en-US" altLang="ko-KR" dirty="0"/>
          </a:p>
          <a:p>
            <a:pPr lvl="1"/>
            <a:r>
              <a:rPr lang="ko-KR" altLang="en-US" dirty="0"/>
              <a:t>오일러 각으로 변환 가능</a:t>
            </a:r>
            <a:r>
              <a:rPr lang="en-US" altLang="ko-KR" dirty="0"/>
              <a:t>, </a:t>
            </a:r>
            <a:r>
              <a:rPr lang="ko-KR" altLang="en-US" dirty="0"/>
              <a:t>회전 행렬 구성 용이</a:t>
            </a:r>
            <a:endParaRPr lang="en-US" altLang="ko-KR" dirty="0"/>
          </a:p>
          <a:p>
            <a:pPr lvl="1"/>
            <a:r>
              <a:rPr lang="ko-KR" altLang="en-US" dirty="0"/>
              <a:t>짐벌락 방지</a:t>
            </a:r>
            <a:endParaRPr lang="en-US" altLang="ko-KR" dirty="0"/>
          </a:p>
          <a:p>
            <a:pPr lvl="1"/>
            <a:r>
              <a:rPr lang="ko-KR" altLang="en-US" dirty="0"/>
              <a:t>회전 보간 계산 가능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개의 원소 → 저장 공간의 효율</a:t>
            </a:r>
            <a:endParaRPr lang="en-US" altLang="ko-KR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FCF4CE-465C-7A7C-ED97-B28EFC5049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311A42-B62C-8F83-4E1D-AE044789B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136242"/>
              </p:ext>
            </p:extLst>
          </p:nvPr>
        </p:nvGraphicFramePr>
        <p:xfrm>
          <a:off x="323528" y="3575518"/>
          <a:ext cx="8496943" cy="2932243"/>
        </p:xfrm>
        <a:graphic>
          <a:graphicData uri="http://schemas.openxmlformats.org/drawingml/2006/table">
            <a:tbl>
              <a:tblPr/>
              <a:tblGrid>
                <a:gridCol w="1452469">
                  <a:extLst>
                    <a:ext uri="{9D8B030D-6E8A-4147-A177-3AD203B41FA5}">
                      <a16:colId xmlns:a16="http://schemas.microsoft.com/office/drawing/2014/main" val="3304004467"/>
                    </a:ext>
                  </a:extLst>
                </a:gridCol>
                <a:gridCol w="3076121">
                  <a:extLst>
                    <a:ext uri="{9D8B030D-6E8A-4147-A177-3AD203B41FA5}">
                      <a16:colId xmlns:a16="http://schemas.microsoft.com/office/drawing/2014/main" val="795698016"/>
                    </a:ext>
                  </a:extLst>
                </a:gridCol>
                <a:gridCol w="1960833">
                  <a:extLst>
                    <a:ext uri="{9D8B030D-6E8A-4147-A177-3AD203B41FA5}">
                      <a16:colId xmlns:a16="http://schemas.microsoft.com/office/drawing/2014/main" val="161425684"/>
                    </a:ext>
                  </a:extLst>
                </a:gridCol>
                <a:gridCol w="2007520">
                  <a:extLst>
                    <a:ext uri="{9D8B030D-6E8A-4147-A177-3AD203B41FA5}">
                      <a16:colId xmlns:a16="http://schemas.microsoft.com/office/drawing/2014/main" val="2668839243"/>
                    </a:ext>
                  </a:extLst>
                </a:gridCol>
              </a:tblGrid>
              <a:tr h="56311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ko-KR" altLang="en-US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오일러 각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행렬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사원수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921823"/>
                  </a:ext>
                </a:extLst>
              </a:tr>
              <a:tr h="60414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저장공간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저장공간 </a:t>
                      </a:r>
                      <a:r>
                        <a:rPr lang="en-US" altLang="ko-KR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ko-KR" altLang="en-US" sz="20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</a:rPr>
                        <a:t>저장공간 </a:t>
                      </a:r>
                      <a:r>
                        <a:rPr lang="en-US" altLang="ko-KR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en-US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</a:rPr>
                        <a:t>x3</a:t>
                      </a:r>
                      <a:endParaRPr lang="en-US" sz="2000" b="1" dirty="0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저장공간 </a:t>
                      </a:r>
                      <a:r>
                        <a:rPr lang="en-US" altLang="ko-KR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ko-KR" altLang="en-US" sz="20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222663"/>
                  </a:ext>
                </a:extLst>
              </a:tr>
              <a:tr h="60414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짐벌락 현상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발생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altLang="en-US" sz="2000" b="1" dirty="0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altLang="en-US" sz="20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491"/>
                  </a:ext>
                </a:extLst>
              </a:tr>
              <a:tr h="5566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회전 보간</a:t>
                      </a:r>
                      <a:endParaRPr lang="ko-KR" altLang="en-US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한 기저 축에 대해서만 가능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임의의 축 가능</a:t>
                      </a:r>
                      <a:endParaRPr lang="ko-KR" altLang="en-US" sz="20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17593"/>
                  </a:ext>
                </a:extLst>
              </a:tr>
              <a:tr h="60414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직관성</a:t>
                      </a:r>
                      <a:endParaRPr lang="ko-KR" altLang="en-US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직관성</a:t>
                      </a:r>
                      <a:endParaRPr lang="ko-KR" altLang="en-US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직관적이지 않음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직관적이지 않음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79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550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109E-DDAD-D86B-BB09-FCF454B1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C141D-27B1-7AB3-AB58-8DC5D017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A97635-258A-E5DA-2F6F-D5DF18881C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dirty="0"/>
                  <a:t>사원수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3</m:t>
                        </m:r>
                      </m:den>
                    </m:f>
                  </m:oMath>
                </a14:m>
                <a:r>
                  <a:rPr lang="ko-KR" altLang="en-US" dirty="0"/>
                  <a:t> 선형 보간</a:t>
                </a:r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A97635-258A-E5DA-2F6F-D5DF18881C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7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BEF470-5432-1654-E9C0-C400073596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36FB12-C601-785B-EA8D-38C56CF76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556792"/>
            <a:ext cx="7059010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87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0D1BC-85D2-0637-B8E4-0D82B416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79F18-31B6-B6F8-196E-11192A6CA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사원수 보간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단순 선형 보간 값은 크기 가 </a:t>
            </a:r>
            <a:r>
              <a:rPr lang="en-US" altLang="ko-KR" dirty="0"/>
              <a:t>1  </a:t>
            </a:r>
            <a:r>
              <a:rPr lang="ko-KR" altLang="en-US" dirty="0"/>
              <a:t>따라서 정규화 필요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단순 선형 보간 → 회전 오차 발생 →  구면 보간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A052CA-B93D-BE8E-0860-77A93A8E3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B1DE79-4133-54D6-B9C4-CB0216504EDD}"/>
                  </a:ext>
                </a:extLst>
              </p:cNvPr>
              <p:cNvSpPr txBox="1"/>
              <p:nvPr/>
            </p:nvSpPr>
            <p:spPr>
              <a:xfrm>
                <a:off x="755576" y="1361995"/>
                <a:ext cx="547260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B1DE79-4133-54D6-B9C4-CB0216504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361995"/>
                <a:ext cx="5472608" cy="461665"/>
              </a:xfrm>
              <a:prstGeom prst="rect">
                <a:avLst/>
              </a:prstGeom>
              <a:blipFill>
                <a:blip r:embed="rId2"/>
                <a:stretch>
                  <a:fillRect l="-334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DD573-B249-A979-E01D-83B9132D8D1C}"/>
                  </a:ext>
                </a:extLst>
              </p:cNvPr>
              <p:cNvSpPr txBox="1"/>
              <p:nvPr/>
            </p:nvSpPr>
            <p:spPr>
              <a:xfrm>
                <a:off x="741492" y="2773695"/>
                <a:ext cx="2174324" cy="87132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DD573-B249-A979-E01D-83B9132D8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92" y="2773695"/>
                <a:ext cx="2174324" cy="871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349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7A950-C4C7-5B54-4443-912C7F47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F43F6-1F1B-A6E2-EAB7-A0DB8563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9D519-4D01-B33F-9F38-C75EA8520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구면 보간 사원수 </a:t>
            </a:r>
            <a:r>
              <a:rPr lang="en-US" altLang="ko-KR" dirty="0"/>
              <a:t>vs</a:t>
            </a:r>
            <a:r>
              <a:rPr lang="ko-KR" altLang="en-US" dirty="0"/>
              <a:t> 선형</a:t>
            </a:r>
            <a:r>
              <a:rPr lang="en-US" altLang="ko-KR" dirty="0"/>
              <a:t> </a:t>
            </a:r>
            <a:r>
              <a:rPr lang="ko-KR" altLang="en-US" dirty="0"/>
              <a:t>보간 사원수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08F343-7384-1A04-36D1-DDEA608454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DD6172-59EC-674F-96DE-4699A4A5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6" t="1552" r="4012" b="6873"/>
          <a:stretch>
            <a:fillRect/>
          </a:stretch>
        </p:blipFill>
        <p:spPr>
          <a:xfrm>
            <a:off x="1403648" y="1700808"/>
            <a:ext cx="5921742" cy="375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266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A734-FB8E-69B4-E907-2EAD602B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8B8D3-1C1F-286A-B5D7-B69BCC64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FC249F-2A31-28FE-6319-91ABF0130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구면으로 </a:t>
            </a:r>
            <a:r>
              <a:rPr lang="ko-KR" altLang="en-US" dirty="0" err="1"/>
              <a:t>보간된</a:t>
            </a:r>
            <a:r>
              <a:rPr lang="ko-KR" altLang="en-US" dirty="0"/>
              <a:t> 사원수를 평면의 벡터로 표현하기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0688E5-9641-C140-5DDF-B07227285F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67A488-1F3B-560E-EBEF-693A74B20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5" t="1796" r="1570" b="4782"/>
          <a:stretch>
            <a:fillRect/>
          </a:stretch>
        </p:blipFill>
        <p:spPr>
          <a:xfrm>
            <a:off x="3460031" y="1413679"/>
            <a:ext cx="5608314" cy="3888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454B10-1761-AC57-0F11-B90030449AA8}"/>
                  </a:ext>
                </a:extLst>
              </p:cNvPr>
              <p:cNvSpPr txBox="1"/>
              <p:nvPr/>
            </p:nvSpPr>
            <p:spPr>
              <a:xfrm>
                <a:off x="467544" y="2905780"/>
                <a:ext cx="3232050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ko-KR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454B10-1761-AC57-0F11-B90030449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905780"/>
                <a:ext cx="32320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93DFFD-9362-36A5-16C7-BF5AF89D6698}"/>
                  </a:ext>
                </a:extLst>
              </p:cNvPr>
              <p:cNvSpPr txBox="1"/>
              <p:nvPr/>
            </p:nvSpPr>
            <p:spPr>
              <a:xfrm>
                <a:off x="559631" y="3757116"/>
                <a:ext cx="2295946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93DFFD-9362-36A5-16C7-BF5AF89D6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31" y="3757116"/>
                <a:ext cx="2295946" cy="400110"/>
              </a:xfrm>
              <a:prstGeom prst="rect">
                <a:avLst/>
              </a:prstGeom>
              <a:blipFill>
                <a:blip r:embed="rId4"/>
                <a:stretch>
                  <a:fillRect t="-15152" b="-16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A7854C-0FE4-AA62-71F6-49941AA62A01}"/>
                  </a:ext>
                </a:extLst>
              </p:cNvPr>
              <p:cNvSpPr txBox="1"/>
              <p:nvPr/>
            </p:nvSpPr>
            <p:spPr>
              <a:xfrm>
                <a:off x="395536" y="4946997"/>
                <a:ext cx="4608314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ko-KR" sz="2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A7854C-0FE4-AA62-71F6-49941AA62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46997"/>
                <a:ext cx="460831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3500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57368-2D62-DDF1-817B-D5E9BF15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E385E-EA83-B2E1-713A-3A0D47EF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57749-5641-49E8-A22F-D3FA690E6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직교하는 두 기저 벡터를 사용한 중간 벡터의 계산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0811C2-46A8-DCAA-668B-98CC0D50D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0A7815-5AEF-AD8B-23FA-E614D0DB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5" t="1796" r="1570" b="4782"/>
          <a:stretch>
            <a:fillRect/>
          </a:stretch>
        </p:blipFill>
        <p:spPr>
          <a:xfrm>
            <a:off x="3460031" y="1413679"/>
            <a:ext cx="5608314" cy="3888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333A1F-66DC-7498-4433-E5EBF1705C5C}"/>
                  </a:ext>
                </a:extLst>
              </p:cNvPr>
              <p:cNvSpPr txBox="1"/>
              <p:nvPr/>
            </p:nvSpPr>
            <p:spPr>
              <a:xfrm>
                <a:off x="539750" y="3216452"/>
                <a:ext cx="3528194" cy="78386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333A1F-66DC-7498-4433-E5EBF1705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216452"/>
                <a:ext cx="3528194" cy="7838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833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F9E0-BE24-4FEF-C787-B2774C988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C40A4-CB4B-B269-DB39-524F8BBE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5BA619-2BA1-D8DC-F833-8E96EE446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두 번째 사원수로부터 직교하는 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r>
                          <a:rPr lang="en-US" altLang="ko-KR" sz="2400" b="1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𝒚</m:t>
                        </m:r>
                      </m:e>
                    </m:acc>
                  </m:oMath>
                </a14:m>
                <a:r>
                  <a:rPr lang="ko-KR" altLang="en-US" dirty="0"/>
                  <a:t> 구하기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5BA619-2BA1-D8DC-F833-8E96EE446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FABE3B-21B5-8383-7EE9-38542D345C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887C38B-1870-1907-68C1-99502447D3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4" t="3634" r="2572" b="825"/>
          <a:stretch>
            <a:fillRect/>
          </a:stretch>
        </p:blipFill>
        <p:spPr>
          <a:xfrm>
            <a:off x="2723089" y="2382440"/>
            <a:ext cx="6313407" cy="4050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1A1E87-4E7F-E0DF-BBDF-3F789B7391D5}"/>
                  </a:ext>
                </a:extLst>
              </p:cNvPr>
              <p:cNvSpPr txBox="1"/>
              <p:nvPr/>
            </p:nvSpPr>
            <p:spPr>
              <a:xfrm>
                <a:off x="395734" y="1988840"/>
                <a:ext cx="3528194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1A1E87-4E7F-E0DF-BBDF-3F789B739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34" y="1988840"/>
                <a:ext cx="3528194" cy="461665"/>
              </a:xfrm>
              <a:prstGeom prst="rect">
                <a:avLst/>
              </a:prstGeom>
              <a:blipFill>
                <a:blip r:embed="rId4"/>
                <a:stretch>
                  <a:fillRect t="-17105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B973BE-FC0D-B3D0-C8B9-D4B1BD8A141F}"/>
                  </a:ext>
                </a:extLst>
              </p:cNvPr>
              <p:cNvSpPr txBox="1"/>
              <p:nvPr/>
            </p:nvSpPr>
            <p:spPr>
              <a:xfrm>
                <a:off x="395734" y="2524124"/>
                <a:ext cx="3528194" cy="81567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B973BE-FC0D-B3D0-C8B9-D4B1BD8A1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34" y="2524124"/>
                <a:ext cx="3528194" cy="8156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239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8D89-E4E8-FCAD-79C6-B1D9F0D7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3DE92-16AC-4B42-18DF-924938B8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14E9696-A8D8-FA0A-BCE1-555101521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두 번째 사원수로부터 직교하는 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r>
                          <a:rPr lang="en-US" altLang="ko-KR" sz="2400" b="1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𝒚</m:t>
                        </m:r>
                      </m:e>
                    </m:acc>
                  </m:oMath>
                </a14:m>
                <a:r>
                  <a:rPr lang="ko-KR" altLang="en-US" dirty="0"/>
                  <a:t> 구하기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14E9696-A8D8-FA0A-BCE1-555101521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D25C1E-9923-B726-E5DA-E7CD358427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46CF02-1F20-A9BA-9268-8F3927CC81F4}"/>
                  </a:ext>
                </a:extLst>
              </p:cNvPr>
              <p:cNvSpPr txBox="1"/>
              <p:nvPr/>
            </p:nvSpPr>
            <p:spPr>
              <a:xfrm>
                <a:off x="899592" y="1232297"/>
                <a:ext cx="3528194" cy="69948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46CF02-1F20-A9BA-9268-8F3927CC8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232297"/>
                <a:ext cx="3528194" cy="6994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CE6B57-2847-8121-672D-E92802C2A7AE}"/>
                  </a:ext>
                </a:extLst>
              </p:cNvPr>
              <p:cNvSpPr txBox="1"/>
              <p:nvPr/>
            </p:nvSpPr>
            <p:spPr>
              <a:xfrm>
                <a:off x="935048" y="2020778"/>
                <a:ext cx="460831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CE6B57-2847-8121-672D-E92802C2A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48" y="2020778"/>
                <a:ext cx="4608314" cy="400110"/>
              </a:xfrm>
              <a:prstGeom prst="rect">
                <a:avLst/>
              </a:prstGeom>
              <a:blipFill>
                <a:blip r:embed="rId4"/>
                <a:stretch>
                  <a:fillRect t="-15152" b="-10606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4A04D9-1020-A4A0-9DCC-0D7FE6F87498}"/>
                  </a:ext>
                </a:extLst>
              </p:cNvPr>
              <p:cNvSpPr txBox="1"/>
              <p:nvPr/>
            </p:nvSpPr>
            <p:spPr>
              <a:xfrm>
                <a:off x="1115814" y="2452826"/>
                <a:ext cx="4608314" cy="69948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4A04D9-1020-A4A0-9DCC-0D7FE6F87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814" y="2452826"/>
                <a:ext cx="4608314" cy="6994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8E15E4-9A56-8C5D-D95F-315E39DFFFCD}"/>
                  </a:ext>
                </a:extLst>
              </p:cNvPr>
              <p:cNvSpPr txBox="1"/>
              <p:nvPr/>
            </p:nvSpPr>
            <p:spPr>
              <a:xfrm>
                <a:off x="1115814" y="3233569"/>
                <a:ext cx="6696546" cy="69948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8E15E4-9A56-8C5D-D95F-315E39DF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814" y="3233569"/>
                <a:ext cx="6696546" cy="6994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2A518F-540F-8D7F-342A-B21AC2BC12B5}"/>
                  </a:ext>
                </a:extLst>
              </p:cNvPr>
              <p:cNvSpPr txBox="1"/>
              <p:nvPr/>
            </p:nvSpPr>
            <p:spPr>
              <a:xfrm>
                <a:off x="1115814" y="4006081"/>
                <a:ext cx="6696546" cy="69948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2A518F-540F-8D7F-342A-B21AC2BC1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814" y="4006081"/>
                <a:ext cx="6696546" cy="6994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52B78F-4FF5-2832-4725-A746077B86A8}"/>
                  </a:ext>
                </a:extLst>
              </p:cNvPr>
              <p:cNvSpPr txBox="1"/>
              <p:nvPr/>
            </p:nvSpPr>
            <p:spPr>
              <a:xfrm>
                <a:off x="1268214" y="4817745"/>
                <a:ext cx="6696546" cy="69948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52B78F-4FF5-2832-4725-A746077B8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214" y="4817745"/>
                <a:ext cx="6696546" cy="6994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AD659D-7E0A-DC3D-15EA-900637650F17}"/>
                  </a:ext>
                </a:extLst>
              </p:cNvPr>
              <p:cNvSpPr txBox="1"/>
              <p:nvPr/>
            </p:nvSpPr>
            <p:spPr>
              <a:xfrm>
                <a:off x="1259632" y="5609833"/>
                <a:ext cx="6696546" cy="72757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AD659D-7E0A-DC3D-15EA-900637650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609833"/>
                <a:ext cx="6696546" cy="7275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1149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A4753-93C6-AA00-0ABC-1E667027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F1C29-3535-0BB3-7D4A-5E2AAB21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CC2787B-AD2D-12D6-E264-F18DA3D6B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사원수 구면 선형 보간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en-US" altLang="ko-KR" dirty="0" err="1"/>
                  <a:t>Slerp</a:t>
                </a:r>
                <a:r>
                  <a:rPr lang="en-US" altLang="ko-KR" dirty="0"/>
                  <a:t>: Spherical linear interpolation)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~0→</m:t>
                    </m:r>
                    <m:func>
                      <m:func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~ 0</m:t>
                        </m:r>
                      </m:e>
                    </m:func>
                  </m:oMath>
                </a14:m>
                <a:r>
                  <a:rPr lang="ko-KR" altLang="en-US" dirty="0"/>
                  <a:t> 대응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CC2787B-AD2D-12D6-E264-F18DA3D6B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21715A-52CE-F972-2BC3-DC7A0DD2F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E282C9-76B8-227B-53E4-D6DEE3E9A6EB}"/>
                  </a:ext>
                </a:extLst>
              </p:cNvPr>
              <p:cNvSpPr txBox="1"/>
              <p:nvPr/>
            </p:nvSpPr>
            <p:spPr>
              <a:xfrm>
                <a:off x="1043608" y="1782447"/>
                <a:ext cx="2304256" cy="72757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E282C9-76B8-227B-53E4-D6DEE3E9A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782447"/>
                <a:ext cx="2304256" cy="727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EC06D5-0745-9BFD-ADEE-2A1A46F23266}"/>
                  </a:ext>
                </a:extLst>
              </p:cNvPr>
              <p:cNvSpPr txBox="1"/>
              <p:nvPr/>
            </p:nvSpPr>
            <p:spPr>
              <a:xfrm>
                <a:off x="3347864" y="1801394"/>
                <a:ext cx="1656184" cy="6896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EC06D5-0745-9BFD-ADEE-2A1A46F2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1801394"/>
                <a:ext cx="1656184" cy="6896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8DDE45-3181-01F7-7B79-13E6ECDDA831}"/>
                  </a:ext>
                </a:extLst>
              </p:cNvPr>
              <p:cNvSpPr txBox="1"/>
              <p:nvPr/>
            </p:nvSpPr>
            <p:spPr>
              <a:xfrm>
                <a:off x="5228382" y="1998471"/>
                <a:ext cx="323205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8DDE45-3181-01F7-7B79-13E6ECDDA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382" y="1998471"/>
                <a:ext cx="3232050" cy="400110"/>
              </a:xfrm>
              <a:prstGeom prst="rect">
                <a:avLst/>
              </a:prstGeom>
              <a:blipFill>
                <a:blip r:embed="rId5"/>
                <a:stretch>
                  <a:fillRect b="-1846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8B3B28-27D0-3E89-6FFD-563BC38DF46F}"/>
                  </a:ext>
                </a:extLst>
              </p:cNvPr>
              <p:cNvSpPr txBox="1"/>
              <p:nvPr/>
            </p:nvSpPr>
            <p:spPr>
              <a:xfrm>
                <a:off x="1043608" y="2492896"/>
                <a:ext cx="5112568" cy="8544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8B3B28-27D0-3E89-6FFD-563BC38DF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492896"/>
                <a:ext cx="5112568" cy="8544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7D9676-ABC2-2E3A-93A7-0B48E729FA52}"/>
                  </a:ext>
                </a:extLst>
              </p:cNvPr>
              <p:cNvSpPr txBox="1"/>
              <p:nvPr/>
            </p:nvSpPr>
            <p:spPr>
              <a:xfrm>
                <a:off x="971402" y="4397042"/>
                <a:ext cx="1008112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7D9676-ABC2-2E3A-93A7-0B48E729F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02" y="4397042"/>
                <a:ext cx="1008112" cy="400110"/>
              </a:xfrm>
              <a:prstGeom prst="rect">
                <a:avLst/>
              </a:prstGeom>
              <a:blipFill>
                <a:blip r:embed="rId7"/>
                <a:stretch>
                  <a:fillRect r="-542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479111-A7B5-76C1-9ADA-50433E687FF4}"/>
                  </a:ext>
                </a:extLst>
              </p:cNvPr>
              <p:cNvSpPr txBox="1"/>
              <p:nvPr/>
            </p:nvSpPr>
            <p:spPr>
              <a:xfrm>
                <a:off x="2167189" y="4397042"/>
                <a:ext cx="144016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479111-A7B5-76C1-9ADA-50433E68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189" y="4397042"/>
                <a:ext cx="144016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04380D-33D3-3810-4DDD-B8DCB92E483C}"/>
                  </a:ext>
                </a:extLst>
              </p:cNvPr>
              <p:cNvSpPr txBox="1"/>
              <p:nvPr/>
            </p:nvSpPr>
            <p:spPr>
              <a:xfrm>
                <a:off x="3795024" y="4357416"/>
                <a:ext cx="2793002" cy="43973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04380D-33D3-3810-4DDD-B8DCB92E4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024" y="4357416"/>
                <a:ext cx="2793002" cy="4397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7344AA-497E-D9BE-A083-D6C8B4FFF7FE}"/>
                  </a:ext>
                </a:extLst>
              </p:cNvPr>
              <p:cNvSpPr txBox="1"/>
              <p:nvPr/>
            </p:nvSpPr>
            <p:spPr>
              <a:xfrm>
                <a:off x="971600" y="4797152"/>
                <a:ext cx="3672408" cy="6896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7344AA-497E-D9BE-A083-D6C8B4FFF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797152"/>
                <a:ext cx="3672408" cy="6896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0278FB-DBEE-3800-76FA-67141B6CBAD7}"/>
                  </a:ext>
                </a:extLst>
              </p:cNvPr>
              <p:cNvSpPr txBox="1"/>
              <p:nvPr/>
            </p:nvSpPr>
            <p:spPr>
              <a:xfrm>
                <a:off x="971600" y="5487389"/>
                <a:ext cx="367240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0278FB-DBEE-3800-76FA-67141B6CB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487389"/>
                <a:ext cx="3672408" cy="461665"/>
              </a:xfrm>
              <a:prstGeom prst="rect">
                <a:avLst/>
              </a:prstGeom>
              <a:blipFill>
                <a:blip r:embed="rId11"/>
                <a:stretch>
                  <a:fillRect l="-498" b="-1315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9AA015-D350-D99A-405F-FA3C091AE9D1}"/>
                  </a:ext>
                </a:extLst>
              </p:cNvPr>
              <p:cNvSpPr txBox="1"/>
              <p:nvPr/>
            </p:nvSpPr>
            <p:spPr>
              <a:xfrm>
                <a:off x="4413900" y="5373216"/>
                <a:ext cx="2174324" cy="7870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9AA015-D350-D99A-405F-FA3C091AE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900" y="5373216"/>
                <a:ext cx="2174324" cy="7870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252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1DA7-9B33-C37B-1747-E1AFBEE9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C2B4A-65EF-9234-CF6C-A0C0C70F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04C99-BCA7-D19A-7665-DDC083476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벡터의 </a:t>
            </a:r>
            <a:r>
              <a:rPr lang="ko-KR" altLang="en-US" dirty="0" err="1"/>
              <a:t>사잇각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벡터의 각이 긴 경로 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09865B-AD02-F478-D1C1-AD17705197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667C4B-9F1C-DEB8-1F09-1EAED0B1C9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80" b="1956"/>
          <a:stretch>
            <a:fillRect/>
          </a:stretch>
        </p:blipFill>
        <p:spPr>
          <a:xfrm>
            <a:off x="3851920" y="548680"/>
            <a:ext cx="3263053" cy="29689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8D20A5-345E-6739-9F9D-54565EF654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9"/>
          <a:stretch>
            <a:fillRect/>
          </a:stretch>
        </p:blipFill>
        <p:spPr>
          <a:xfrm>
            <a:off x="3707904" y="3589531"/>
            <a:ext cx="3210944" cy="296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93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F693-BEDF-B690-2A5D-B729082F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934DB-1DDC-AE0C-9CDE-CA9352AF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E522B3-CE99-7794-C98E-AFED17D43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사원수에 담긴 각의 정보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13E16A-AC68-0DC0-B70D-D721E92E1E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E70D00-0D59-801C-F487-20FBC761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039" y="1340768"/>
            <a:ext cx="5673921" cy="506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044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43426-26D7-5420-A9F3-F3CFDEA5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95F87-7D92-D248-E50A-AFADD811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사원수의 보간 </a:t>
            </a:r>
            <a:r>
              <a:rPr lang="en-US" altLang="ko-KR" dirty="0"/>
              <a:t>: </a:t>
            </a:r>
            <a:r>
              <a:rPr lang="en-US" altLang="ko-KR" dirty="0" err="1"/>
              <a:t>Slerp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FB252-BE0B-A995-C2B7-39C5A60C2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400" dirty="0" err="1"/>
          </a:p>
          <a:p>
            <a:endParaRPr lang="en-US" altLang="ko-KR" sz="2400" dirty="0" err="1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41FCE8-A54E-011A-0FDB-9178EA85BF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706E4-4970-7B8F-1AF0-2DE50926E4BF}"/>
              </a:ext>
            </a:extLst>
          </p:cNvPr>
          <p:cNvSpPr txBox="1"/>
          <p:nvPr/>
        </p:nvSpPr>
        <p:spPr>
          <a:xfrm>
            <a:off x="755576" y="647700"/>
            <a:ext cx="7740352" cy="59093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Slerp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InRatio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사원수의 내적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내적 값이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보다 작으면 최단거리를 사용하도록 방향을 전환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0.0f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두 사원수의 </a:t>
            </a:r>
            <a:r>
              <a:rPr lang="ko-KR" altLang="en-US" sz="14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사잇각이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작으면 선형 </a:t>
            </a:r>
            <a:r>
              <a:rPr lang="ko-KR" altLang="en-US" sz="14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보간으로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수행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0.9995f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1.0f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InRatio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InRatio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acosf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invSin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InRatio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invSin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InRatio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invSin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049928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6B41B-49CC-B145-14C6-C0780550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 </a:t>
            </a:r>
            <a:r>
              <a:rPr lang="ko-KR" altLang="en-US" dirty="0"/>
              <a:t>사원수의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FCFB68-AA6F-DF68-6F05-07E1C2DF0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사원수 기반 회전 시스템 설계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2327DC-8210-D9B3-E5C7-BC05DC0061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3FAFF7-14CE-0F47-3C8C-F072C4164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28527"/>
            <a:ext cx="7559040" cy="494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517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D25F-1272-B4D5-7E33-A22C1FCC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30805-37E2-FD31-350E-118B425A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 </a:t>
            </a:r>
            <a:r>
              <a:rPr lang="ko-KR" altLang="en-US" dirty="0"/>
              <a:t>사원수의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CB9C6C-DF04-C1A7-082F-8AD639C0A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사원수 기반 회전 시스템 설계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93FA81-C177-857F-536A-BA47C9C5D1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155C3-918B-9813-B95E-DE6DC99A98B3}"/>
              </a:ext>
            </a:extLst>
          </p:cNvPr>
          <p:cNvSpPr txBox="1"/>
          <p:nvPr/>
        </p:nvSpPr>
        <p:spPr>
          <a:xfrm>
            <a:off x="899592" y="1261646"/>
            <a:ext cx="6174432" cy="501675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AddYawRotation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InDegree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Rotation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ToRotator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Yaw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InDegree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Clamp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AddRollRotation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InDegree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 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Rotation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ToRotator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Roll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InDegree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Clamp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AddPitchRotation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InDegree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 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Rotation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ToRotator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InDegree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Clamp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</p:txBody>
      </p:sp>
    </p:spTree>
    <p:extLst>
      <p:ext uri="{BB962C8B-B14F-4D97-AF65-F5344CB8AC3E}">
        <p14:creationId xmlns:p14="http://schemas.microsoft.com/office/powerpoint/2010/main" val="1851635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134F-2C68-1E14-3793-E5A7A1D9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A9FA6-4060-0F76-3C67-240F4952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16-1 </a:t>
            </a:r>
            <a:r>
              <a:rPr lang="ko-KR" altLang="en-US" dirty="0"/>
              <a:t>자유로운 </a:t>
            </a:r>
            <a:r>
              <a:rPr lang="en-US" altLang="ko-KR" dirty="0"/>
              <a:t>3</a:t>
            </a:r>
            <a:r>
              <a:rPr lang="ko-KR" altLang="en-US" dirty="0"/>
              <a:t>차원 회전의 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91BCAC-595B-70FF-5F45-6022534189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8A453-21EE-758A-C4AB-9CBA18C969C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674688"/>
            <a:ext cx="8928100" cy="5832475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A8000-22F5-E2F2-A005-865B29648713}"/>
              </a:ext>
            </a:extLst>
          </p:cNvPr>
          <p:cNvSpPr txBox="1"/>
          <p:nvPr/>
        </p:nvSpPr>
        <p:spPr>
          <a:xfrm>
            <a:off x="215900" y="836712"/>
            <a:ext cx="8712200" cy="461664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입력에 따른 카메라 시야각의 변경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CameraObject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GetMainCamera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deltaFOV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fovSpeed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Clamp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+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deltaFOV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minFOV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maxFOV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시간에 따른 카메라 회전의 보간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elapsedTime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Clamp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elapsedTime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duration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elapsedTime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duration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elapsedTime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dir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generator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dir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generator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dir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generator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GetNormalize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angle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generator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elapsedTime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/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duration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Quaternion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Slerp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45182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7692-3CD6-9F3C-6EAC-2E97810F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98427-FF4F-101F-34A9-75794D1D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 </a:t>
            </a:r>
            <a:r>
              <a:rPr lang="ko-KR" altLang="en-US" dirty="0"/>
              <a:t>정리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D1A7E2-0C1C-5482-95FA-44C21FC942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</p:spPr>
            <p:txBody>
              <a:bodyPr/>
              <a:lstStyle/>
              <a:p>
                <a:r>
                  <a:rPr lang="ko-KR" altLang="en-US" sz="2400" dirty="0"/>
                  <a:t>사원수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/>
                  <a:t>복소수를 </a:t>
                </a:r>
                <a:r>
                  <a:rPr lang="en-US" altLang="ko-KR" sz="2000" dirty="0"/>
                  <a:t>4</a:t>
                </a:r>
                <a:r>
                  <a:rPr lang="ko-KR" altLang="en-US" sz="2000" dirty="0"/>
                  <a:t>차원으로 확장</a:t>
                </a:r>
              </a:p>
              <a:p>
                <a:pPr lvl="1"/>
                <a:r>
                  <a:rPr lang="ko-KR" altLang="en-US" sz="2000" dirty="0"/>
                  <a:t>실수부와 </a:t>
                </a:r>
                <a:r>
                  <a:rPr lang="en-US" altLang="ko-KR" sz="2000" dirty="0"/>
                  <a:t>3</a:t>
                </a:r>
                <a:r>
                  <a:rPr lang="ko-KR" altLang="en-US" sz="2000" dirty="0"/>
                  <a:t>차원 허수 벡터로 구성</a:t>
                </a:r>
              </a:p>
              <a:p>
                <a:pPr lvl="1"/>
                <a:r>
                  <a:rPr lang="ko-KR" altLang="en-US" sz="2000" dirty="0" err="1"/>
                  <a:t>해밀톤</a:t>
                </a:r>
                <a:r>
                  <a:rPr lang="ko-KR" altLang="en-US" sz="2000" dirty="0"/>
                  <a:t> 곱을 통해 </a:t>
                </a:r>
                <a:r>
                  <a:rPr lang="en-US" altLang="ko-KR" sz="2000" dirty="0"/>
                  <a:t>3</a:t>
                </a:r>
                <a:r>
                  <a:rPr lang="ko-KR" altLang="en-US" sz="2000" dirty="0"/>
                  <a:t>차원 회전 표현 가능</a:t>
                </a:r>
              </a:p>
              <a:p>
                <a:pPr lvl="1"/>
                <a:r>
                  <a:rPr lang="ko-KR" altLang="en-US" sz="2000" dirty="0"/>
                  <a:t>회전축과 회전각을 하나의 수로 표현</a:t>
                </a:r>
              </a:p>
              <a:p>
                <a:pPr lvl="1"/>
                <a:r>
                  <a:rPr lang="ko-KR" altLang="en-US" sz="2000" dirty="0"/>
                  <a:t>켤레 사원수와 역원을 이용해 역회전 구현</a:t>
                </a:r>
                <a:endParaRPr lang="en-US" altLang="ko-KR" sz="2000" dirty="0"/>
              </a:p>
              <a:p>
                <a:pPr lvl="3"/>
                <a:endParaRPr lang="en-US" altLang="ko-KR" sz="1400" dirty="0"/>
              </a:p>
              <a:p>
                <a:r>
                  <a:rPr lang="ko-KR" altLang="en-US" sz="2400" dirty="0"/>
                  <a:t>사원수 회전</a:t>
                </a:r>
                <a:endParaRPr lang="en-US" altLang="ko-KR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000" dirty="0"/>
              </a:p>
              <a:p>
                <a:pPr lvl="1"/>
                <a:r>
                  <a:rPr lang="ko-KR" altLang="en-US" sz="2000" dirty="0"/>
                  <a:t>오일러 각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회전 행렬과 상호 변환 가능</a:t>
                </a:r>
              </a:p>
              <a:p>
                <a:pPr lvl="1"/>
                <a:r>
                  <a:rPr lang="ko-KR" altLang="en-US" sz="2000" dirty="0"/>
                  <a:t>짐벌락 문제 감소</a:t>
                </a:r>
                <a:endParaRPr lang="en-US" altLang="ko-KR" sz="2000" dirty="0"/>
              </a:p>
              <a:p>
                <a:pPr lvl="3"/>
                <a:endParaRPr lang="ko-KR" altLang="en-US" sz="1400" dirty="0"/>
              </a:p>
              <a:p>
                <a:r>
                  <a:rPr lang="en-US" altLang="ko-KR" sz="2400" dirty="0" err="1"/>
                  <a:t>Slerp</a:t>
                </a:r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  ,   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altLang="ko-KR" sz="20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~0</m:t>
                        </m:r>
                      </m:e>
                    </m:d>
                  </m:oMath>
                </a14:m>
                <a:endParaRPr lang="en-US" altLang="ko-KR" sz="2000" dirty="0"/>
              </a:p>
              <a:p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D1A7E2-0C1C-5482-95FA-44C21FC942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98" y="675285"/>
                <a:ext cx="8928992" cy="5832475"/>
              </a:xfrm>
              <a:blipFill>
                <a:blip r:embed="rId2"/>
                <a:stretch>
                  <a:fillRect l="-478" t="-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7DD737-11E3-BC1A-7B54-201CE6D742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95074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400" b="1" dirty="0">
            <a:solidFill>
              <a:srgbClr val="6F008A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10807</TotalTime>
  <Words>4125</Words>
  <Application>Microsoft Office PowerPoint</Application>
  <PresentationFormat>화면 슬라이드 쇼(4:3)</PresentationFormat>
  <Paragraphs>814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6" baseType="lpstr">
      <vt:lpstr>Cambria Math</vt:lpstr>
      <vt:lpstr>HY견고딕</vt:lpstr>
      <vt:lpstr>나눔바른고딕</vt:lpstr>
      <vt:lpstr>굴림</vt:lpstr>
      <vt:lpstr>Arial</vt:lpstr>
      <vt:lpstr>Wingdings</vt:lpstr>
      <vt:lpstr>D2Coding</vt:lpstr>
      <vt:lpstr>Bitstream Vera Sans Mono</vt:lpstr>
      <vt:lpstr>가을체</vt:lpstr>
      <vt:lpstr>기본 디자인</vt:lpstr>
      <vt:lpstr>16. 사원수</vt:lpstr>
      <vt:lpstr>16.1 사원수 (Quaternion) 대수</vt:lpstr>
      <vt:lpstr>16.1.1 사원수를 구성하는 세 허수</vt:lpstr>
      <vt:lpstr>16.1.2 사원수 덧셈</vt:lpstr>
      <vt:lpstr>16.1.2 사원수 덧셈</vt:lpstr>
      <vt:lpstr>16.1.2 사원수 덧셈</vt:lpstr>
      <vt:lpstr>16.1.2 사원수 곱셈</vt:lpstr>
      <vt:lpstr>16.1.2 사원수 곱셈</vt:lpstr>
      <vt:lpstr>16.1.2 사원수 크기, 켤레 사원수</vt:lpstr>
      <vt:lpstr>16.1.2 켤레 사원수</vt:lpstr>
      <vt:lpstr>16.1.3 사원수와 벡터</vt:lpstr>
      <vt:lpstr>16.1.3 사원수와 벡터</vt:lpstr>
      <vt:lpstr>16.1.3 사원수와 벡터</vt:lpstr>
      <vt:lpstr>16.2 사원수의 회전</vt:lpstr>
      <vt:lpstr>16.2.1 사원수와 오일러 공식</vt:lpstr>
      <vt:lpstr>16.2.1 사원수와 오일러 공식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사원수를 이용한 3차원 공간에서의 회전</vt:lpstr>
      <vt:lpstr>16.2.2 회전</vt:lpstr>
      <vt:lpstr>16.2.2 연속 회전</vt:lpstr>
      <vt:lpstr>16.3 사원수의 변환</vt:lpstr>
      <vt:lpstr>16.3.1 오일러 각에서 사원수로의 변환</vt:lpstr>
      <vt:lpstr>16.3.2 사원수에서 오일러 각 변환</vt:lpstr>
      <vt:lpstr>16.3.2 사원수에서 오일러 각 변환</vt:lpstr>
      <vt:lpstr>16.3.2 사원수에서 오일러 각 변환</vt:lpstr>
      <vt:lpstr>16.3.3 사원수에서 회전 변환행렬 변환</vt:lpstr>
      <vt:lpstr>16.3.4 회전 변환 행렬에서 사원수 변환</vt:lpstr>
      <vt:lpstr>16.3.4 회전 변환 행렬에서 사원수 변환</vt:lpstr>
      <vt:lpstr>16.3.4 회전 변환 행렬에서 사원수 변환</vt:lpstr>
      <vt:lpstr>16.3.4 회전 변환 행렬에서 사원수 변환</vt:lpstr>
      <vt:lpstr>16.3.4 회전 변환 행렬에서 사원수 변환</vt:lpstr>
      <vt:lpstr>16.3.4 회전 변환 행렬에서 사원수 변환</vt:lpstr>
      <vt:lpstr>16.4 사원수의 보간</vt:lpstr>
      <vt:lpstr>16.4 사원수의 보간</vt:lpstr>
      <vt:lpstr>16.4 사원수의 보간</vt:lpstr>
      <vt:lpstr>16.4 사원수의 보간</vt:lpstr>
      <vt:lpstr>16.4 사원수의 보간</vt:lpstr>
      <vt:lpstr>16.4 사원수의 보간</vt:lpstr>
      <vt:lpstr>16.4 사원수의 보간</vt:lpstr>
      <vt:lpstr>16.4 사원수의 보간</vt:lpstr>
      <vt:lpstr>16.4 사원수의 보간</vt:lpstr>
      <vt:lpstr>16.4 사원수의 보간</vt:lpstr>
      <vt:lpstr>16.4 사원수의 보간</vt:lpstr>
      <vt:lpstr>16.4 사원수의 보간 : Slerp</vt:lpstr>
      <vt:lpstr>16.5 사원수의 활용</vt:lpstr>
      <vt:lpstr>16.5 사원수의 활용</vt:lpstr>
      <vt:lpstr>예제 16-1 자유로운 3차원 회전의 구현</vt:lpstr>
      <vt:lpstr>16.6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332</cp:revision>
  <dcterms:created xsi:type="dcterms:W3CDTF">2003-11-30T16:03:20Z</dcterms:created>
  <dcterms:modified xsi:type="dcterms:W3CDTF">2026-05-28T12:41:34Z</dcterms:modified>
</cp:coreProperties>
</file>