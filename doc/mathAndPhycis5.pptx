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3"/>
  </p:notesMasterIdLst>
  <p:sldIdLst>
    <p:sldId id="454" r:id="rId2"/>
    <p:sldId id="467" r:id="rId3"/>
    <p:sldId id="468" r:id="rId4"/>
    <p:sldId id="469" r:id="rId5"/>
    <p:sldId id="532" r:id="rId6"/>
    <p:sldId id="533" r:id="rId7"/>
    <p:sldId id="534" r:id="rId8"/>
    <p:sldId id="470" r:id="rId9"/>
    <p:sldId id="535" r:id="rId10"/>
    <p:sldId id="471" r:id="rId11"/>
    <p:sldId id="536" r:id="rId12"/>
    <p:sldId id="537" r:id="rId13"/>
    <p:sldId id="538" r:id="rId14"/>
    <p:sldId id="539" r:id="rId15"/>
    <p:sldId id="540" r:id="rId16"/>
    <p:sldId id="541" r:id="rId17"/>
    <p:sldId id="542" r:id="rId18"/>
    <p:sldId id="543" r:id="rId19"/>
    <p:sldId id="544" r:id="rId20"/>
    <p:sldId id="545" r:id="rId21"/>
    <p:sldId id="546" r:id="rId22"/>
    <p:sldId id="547" r:id="rId23"/>
    <p:sldId id="548" r:id="rId24"/>
    <p:sldId id="549" r:id="rId25"/>
    <p:sldId id="606" r:id="rId26"/>
    <p:sldId id="607" r:id="rId27"/>
    <p:sldId id="608" r:id="rId28"/>
    <p:sldId id="569" r:id="rId29"/>
    <p:sldId id="609" r:id="rId30"/>
    <p:sldId id="570" r:id="rId31"/>
    <p:sldId id="598" r:id="rId32"/>
    <p:sldId id="599" r:id="rId33"/>
    <p:sldId id="571" r:id="rId34"/>
    <p:sldId id="610" r:id="rId35"/>
    <p:sldId id="600" r:id="rId36"/>
    <p:sldId id="572" r:id="rId37"/>
    <p:sldId id="614" r:id="rId38"/>
    <p:sldId id="611" r:id="rId39"/>
    <p:sldId id="573" r:id="rId40"/>
    <p:sldId id="615" r:id="rId41"/>
    <p:sldId id="616" r:id="rId42"/>
    <p:sldId id="601" r:id="rId43"/>
    <p:sldId id="602" r:id="rId44"/>
    <p:sldId id="617" r:id="rId45"/>
    <p:sldId id="618" r:id="rId46"/>
    <p:sldId id="575" r:id="rId47"/>
    <p:sldId id="576" r:id="rId48"/>
    <p:sldId id="603" r:id="rId49"/>
    <p:sldId id="619" r:id="rId50"/>
    <p:sldId id="620" r:id="rId51"/>
    <p:sldId id="621" r:id="rId52"/>
    <p:sldId id="577" r:id="rId53"/>
    <p:sldId id="622" r:id="rId54"/>
    <p:sldId id="623" r:id="rId55"/>
    <p:sldId id="624" r:id="rId56"/>
    <p:sldId id="604" r:id="rId57"/>
    <p:sldId id="625" r:id="rId58"/>
    <p:sldId id="626" r:id="rId59"/>
    <p:sldId id="627" r:id="rId60"/>
    <p:sldId id="605" r:id="rId61"/>
    <p:sldId id="579" r:id="rId62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64"/>
    </p:embeddedFont>
    <p:embeddedFont>
      <p:font typeface="D2Coding" panose="020B0609020101020101" pitchFamily="49" charset="-127"/>
      <p:regular r:id="rId65"/>
      <p:bold r:id="rId66"/>
    </p:embeddedFont>
    <p:embeddedFont>
      <p:font typeface="HY견고딕" panose="02030600000101010101" pitchFamily="18" charset="-127"/>
      <p:regular r:id="rId67"/>
    </p:embeddedFont>
    <p:embeddedFont>
      <p:font typeface="가을체" panose="02030600000101010101" pitchFamily="18" charset="-127"/>
      <p:regular r:id="rId68"/>
    </p:embeddedFont>
    <p:embeddedFont>
      <p:font typeface="나눔바른고딕" panose="020B0603020101020101" pitchFamily="50" charset="-127"/>
      <p:regular r:id="rId69"/>
      <p:bold r:id="rId70"/>
    </p:embeddedFont>
    <p:embeddedFont>
      <p:font typeface="맑은 고딕" panose="020B0503020000020004" pitchFamily="50" charset="-127"/>
      <p:regular r:id="rId71"/>
      <p:bold r:id="rId72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CC"/>
    <a:srgbClr val="008000"/>
    <a:srgbClr val="CC0000"/>
    <a:srgbClr val="009900"/>
    <a:srgbClr val="FF00FF"/>
    <a:srgbClr val="FF9900"/>
    <a:srgbClr val="FF0000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25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780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3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7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/>
            </a:lvl1pPr>
            <a:lvl2pPr>
              <a:buSzPct val="60000"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8.png"/><Relationship Id="rId7" Type="http://schemas.openxmlformats.org/officeDocument/2006/relationships/image" Target="../media/image140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39.png"/><Relationship Id="rId10" Type="http://schemas.openxmlformats.org/officeDocument/2006/relationships/image" Target="../media/image145.png"/><Relationship Id="rId4" Type="http://schemas.openxmlformats.org/officeDocument/2006/relationships/image" Target="../media/image136.png"/><Relationship Id="rId9" Type="http://schemas.openxmlformats.org/officeDocument/2006/relationships/image" Target="../media/image1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12" Type="http://schemas.openxmlformats.org/officeDocument/2006/relationships/image" Target="../media/image161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11" Type="http://schemas.openxmlformats.org/officeDocument/2006/relationships/image" Target="../media/image160.png"/><Relationship Id="rId5" Type="http://schemas.openxmlformats.org/officeDocument/2006/relationships/image" Target="../media/image154.png"/><Relationship Id="rId10" Type="http://schemas.openxmlformats.org/officeDocument/2006/relationships/image" Target="../media/image159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63.png"/><Relationship Id="rId7" Type="http://schemas.openxmlformats.org/officeDocument/2006/relationships/image" Target="../media/image165.png"/><Relationship Id="rId2" Type="http://schemas.openxmlformats.org/officeDocument/2006/relationships/image" Target="../media/image16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70.png"/><Relationship Id="rId5" Type="http://schemas.openxmlformats.org/officeDocument/2006/relationships/image" Target="../media/image162.png"/><Relationship Id="rId10" Type="http://schemas.openxmlformats.org/officeDocument/2006/relationships/image" Target="../media/image167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7" Type="http://schemas.openxmlformats.org/officeDocument/2006/relationships/image" Target="../media/image202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19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7" Type="http://schemas.openxmlformats.org/officeDocument/2006/relationships/image" Target="../media/image211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213.png"/><Relationship Id="rId7" Type="http://schemas.openxmlformats.org/officeDocument/2006/relationships/image" Target="../media/image217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4" Type="http://schemas.openxmlformats.org/officeDocument/2006/relationships/image" Target="../media/image214.png"/><Relationship Id="rId9" Type="http://schemas.openxmlformats.org/officeDocument/2006/relationships/image" Target="../media/image21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0.png"/><Relationship Id="rId7" Type="http://schemas.openxmlformats.org/officeDocument/2006/relationships/image" Target="../media/image223.png"/><Relationship Id="rId2" Type="http://schemas.openxmlformats.org/officeDocument/2006/relationships/image" Target="../media/image2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.png"/><Relationship Id="rId5" Type="http://schemas.openxmlformats.org/officeDocument/2006/relationships/image" Target="../media/image221.png"/><Relationship Id="rId4" Type="http://schemas.openxmlformats.org/officeDocument/2006/relationships/image" Target="../media/image22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226.png"/><Relationship Id="rId7" Type="http://schemas.openxmlformats.org/officeDocument/2006/relationships/image" Target="../media/image230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png"/><Relationship Id="rId5" Type="http://schemas.openxmlformats.org/officeDocument/2006/relationships/image" Target="../media/image228.png"/><Relationship Id="rId4" Type="http://schemas.openxmlformats.org/officeDocument/2006/relationships/image" Target="../media/image227.png"/><Relationship Id="rId9" Type="http://schemas.openxmlformats.org/officeDocument/2006/relationships/image" Target="../media/image232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3" Type="http://schemas.openxmlformats.org/officeDocument/2006/relationships/image" Target="../media/image234.png"/><Relationship Id="rId7" Type="http://schemas.openxmlformats.org/officeDocument/2006/relationships/image" Target="../media/image238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7.png"/><Relationship Id="rId5" Type="http://schemas.openxmlformats.org/officeDocument/2006/relationships/image" Target="../media/image236.png"/><Relationship Id="rId4" Type="http://schemas.openxmlformats.org/officeDocument/2006/relationships/image" Target="../media/image235.png"/><Relationship Id="rId9" Type="http://schemas.openxmlformats.org/officeDocument/2006/relationships/image" Target="../media/image24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3" Type="http://schemas.openxmlformats.org/officeDocument/2006/relationships/image" Target="../media/image241.png"/><Relationship Id="rId7" Type="http://schemas.openxmlformats.org/officeDocument/2006/relationships/image" Target="../media/image245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11" Type="http://schemas.openxmlformats.org/officeDocument/2006/relationships/image" Target="../media/image249.png"/><Relationship Id="rId5" Type="http://schemas.openxmlformats.org/officeDocument/2006/relationships/image" Target="../media/image243.png"/><Relationship Id="rId10" Type="http://schemas.openxmlformats.org/officeDocument/2006/relationships/image" Target="../media/image248.png"/><Relationship Id="rId4" Type="http://schemas.openxmlformats.org/officeDocument/2006/relationships/image" Target="../media/image242.png"/><Relationship Id="rId9" Type="http://schemas.openxmlformats.org/officeDocument/2006/relationships/image" Target="../media/image24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0.png"/><Relationship Id="rId2" Type="http://schemas.openxmlformats.org/officeDocument/2006/relationships/image" Target="../media/image24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2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E4E74-A08A-3A8C-4DF0-2CD0F049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B010465-670E-74BD-2F82-6F9FCB4FA4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14. </a:t>
            </a:r>
            <a:r>
              <a:rPr lang="ko-KR" altLang="en-US" dirty="0"/>
              <a:t>복소수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0E4878B0-C1F7-77CA-FFC6-0132BA0003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평면의 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0E596F-52EC-4A7A-F14A-AECB0B748B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96832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957D-1850-F5FE-3CB2-FFD212FC6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D2315-4738-2E52-2F52-7D7592CE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 </a:t>
            </a:r>
            <a:r>
              <a:rPr lang="ko-KR" altLang="en-US" dirty="0"/>
              <a:t>복소수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857AF9-F81C-785B-5EA9-25805925F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복소수 집합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10F229-F7FA-E27C-6B02-28A1037082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937668-563A-85B4-D17E-CA253B80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82" y="1178611"/>
            <a:ext cx="7416824" cy="537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80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CB1B9-3D0B-DD33-EF91-1A3F4C86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C8F341-57C9-9CBC-5439-4D53639ED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14.1.1 </a:t>
            </a:r>
            <a:r>
              <a:rPr lang="ko-KR" altLang="en-US" dirty="0"/>
              <a:t>허수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0DF882-90C0-B719-E45D-CCC4E2FBE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허수 </a:t>
            </a:r>
            <a:r>
              <a:rPr lang="en-US" altLang="ko-KR" dirty="0"/>
              <a:t>Imaginary Number</a:t>
            </a:r>
          </a:p>
          <a:p>
            <a:pPr lvl="1"/>
            <a:r>
              <a:rPr lang="ko-KR" altLang="en-US" dirty="0"/>
              <a:t>제곱하면 음수가 되는 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복소수 표현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sz="2400" b="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2400" b="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2400" b="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2400" b="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47AFE7-7B8F-E662-84F0-63B1D2E791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115928-0311-BF10-2C8D-7A4FF58B6143}"/>
                  </a:ext>
                </a:extLst>
              </p:cNvPr>
              <p:cNvSpPr txBox="1"/>
              <p:nvPr/>
            </p:nvSpPr>
            <p:spPr>
              <a:xfrm>
                <a:off x="1043608" y="1844824"/>
                <a:ext cx="1659697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115928-0311-BF10-2C8D-7A4FF58B6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844824"/>
                <a:ext cx="165969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871AAF-C7C2-E55A-2EF7-F572064D7D6E}"/>
                  </a:ext>
                </a:extLst>
              </p:cNvPr>
              <p:cNvSpPr txBox="1"/>
              <p:nvPr/>
            </p:nvSpPr>
            <p:spPr>
              <a:xfrm>
                <a:off x="1043608" y="4077072"/>
                <a:ext cx="2520280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871AAF-C7C2-E55A-2EF7-F572064D7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077072"/>
                <a:ext cx="252028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9233F2-5D67-B082-E446-42AF76BDD088}"/>
                  </a:ext>
                </a:extLst>
              </p:cNvPr>
              <p:cNvSpPr txBox="1"/>
              <p:nvPr/>
            </p:nvSpPr>
            <p:spPr>
              <a:xfrm>
                <a:off x="1043608" y="4634206"/>
                <a:ext cx="2520280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9233F2-5D67-B082-E446-42AF76BDD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634206"/>
                <a:ext cx="252028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EB7151-B3CC-4801-A19A-CE1C9702C3EC}"/>
                  </a:ext>
                </a:extLst>
              </p:cNvPr>
              <p:cNvSpPr txBox="1"/>
              <p:nvPr/>
            </p:nvSpPr>
            <p:spPr>
              <a:xfrm>
                <a:off x="3923928" y="4073163"/>
                <a:ext cx="3456384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 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acc>
                        <m:accPr>
                          <m:chr m:val="̂"/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EB7151-B3CC-4801-A19A-CE1C9702C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4073163"/>
                <a:ext cx="345638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055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4F0E-C598-75B9-63AB-1C15A5085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A8B81-424F-BE75-9186-A83B4881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14.1.2 </a:t>
            </a:r>
            <a:r>
              <a:rPr lang="ko-KR" altLang="en-US" dirty="0"/>
              <a:t>복소수의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EEA966-03FE-C2E0-BB5C-42F0E1661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복소수 덧셈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3"/>
            <a:endParaRPr lang="en-US" altLang="ko-KR" sz="1400" dirty="0"/>
          </a:p>
          <a:p>
            <a:pPr lvl="3"/>
            <a:endParaRPr lang="en-US" altLang="ko-KR" sz="14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결합 법칙</a:t>
            </a:r>
            <a:endParaRPr lang="en-US" altLang="ko-KR" sz="2400" dirty="0"/>
          </a:p>
          <a:p>
            <a:pPr lvl="3"/>
            <a:endParaRPr lang="en-US" altLang="ko-KR" sz="1400" dirty="0"/>
          </a:p>
          <a:p>
            <a:endParaRPr lang="en-US" altLang="ko-KR" sz="2400" dirty="0"/>
          </a:p>
          <a:p>
            <a:r>
              <a:rPr lang="ko-KR" altLang="en-US" sz="2400" dirty="0"/>
              <a:t>교환 법칙</a:t>
            </a:r>
            <a:endParaRPr lang="en-US" altLang="ko-KR" sz="2400" dirty="0"/>
          </a:p>
          <a:p>
            <a:pPr lvl="2"/>
            <a:endParaRPr lang="en-US" altLang="ko-KR" sz="1600" dirty="0"/>
          </a:p>
          <a:p>
            <a:endParaRPr lang="en-US" altLang="ko-KR" sz="2400" dirty="0"/>
          </a:p>
          <a:p>
            <a:r>
              <a:rPr lang="ko-KR" altLang="en-US" sz="2400" dirty="0"/>
              <a:t>항등원</a:t>
            </a:r>
            <a:endParaRPr lang="en-US" altLang="ko-KR" sz="24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역원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C88E57E-5607-4160-6158-EB916E933C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32A3AA-FA9C-16DF-F1D6-0DC585CA6BB6}"/>
                  </a:ext>
                </a:extLst>
              </p:cNvPr>
              <p:cNvSpPr txBox="1"/>
              <p:nvPr/>
            </p:nvSpPr>
            <p:spPr>
              <a:xfrm>
                <a:off x="683566" y="1124744"/>
                <a:ext cx="6237502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𝑏𝑖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32A3AA-FA9C-16DF-F1D6-0DC585CA6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6" y="1124744"/>
                <a:ext cx="6237502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298BDB-0ABD-1AEF-7795-84E581499688}"/>
                  </a:ext>
                </a:extLst>
              </p:cNvPr>
              <p:cNvSpPr txBox="1"/>
              <p:nvPr/>
            </p:nvSpPr>
            <p:spPr>
              <a:xfrm>
                <a:off x="683566" y="1599183"/>
                <a:ext cx="5103411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298BDB-0ABD-1AEF-7795-84E581499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6" y="1599183"/>
                <a:ext cx="510341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F709C2-D941-32BA-03DD-B7F65F9994FE}"/>
                  </a:ext>
                </a:extLst>
              </p:cNvPr>
              <p:cNvSpPr txBox="1"/>
              <p:nvPr/>
            </p:nvSpPr>
            <p:spPr>
              <a:xfrm>
                <a:off x="683566" y="2852936"/>
                <a:ext cx="7416826" cy="50917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F709C2-D941-32BA-03DD-B7F65F999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6" y="2852936"/>
                <a:ext cx="7416826" cy="509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872C95-C36C-AEA0-61AA-306CB83DB3D7}"/>
                  </a:ext>
                </a:extLst>
              </p:cNvPr>
              <p:cNvSpPr txBox="1"/>
              <p:nvPr/>
            </p:nvSpPr>
            <p:spPr>
              <a:xfrm>
                <a:off x="683566" y="3975447"/>
                <a:ext cx="4680519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872C95-C36C-AEA0-61AA-306CB83DB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6" y="3975447"/>
                <a:ext cx="468051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358A21-C485-1DBC-E51D-11917DC17681}"/>
                  </a:ext>
                </a:extLst>
              </p:cNvPr>
              <p:cNvSpPr txBox="1"/>
              <p:nvPr/>
            </p:nvSpPr>
            <p:spPr>
              <a:xfrm>
                <a:off x="683566" y="5127575"/>
                <a:ext cx="4680519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0, 0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358A21-C485-1DBC-E51D-11917DC17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6" y="5127575"/>
                <a:ext cx="468051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89A99D-1090-6561-1DDA-02D10F6EE3EF}"/>
                  </a:ext>
                </a:extLst>
              </p:cNvPr>
              <p:cNvSpPr txBox="1"/>
              <p:nvPr/>
            </p:nvSpPr>
            <p:spPr>
              <a:xfrm>
                <a:off x="683566" y="6063679"/>
                <a:ext cx="4680519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0, 0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89A99D-1090-6561-1DDA-02D10F6EE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6" y="6063679"/>
                <a:ext cx="4680519" cy="461665"/>
              </a:xfrm>
              <a:prstGeom prst="rect">
                <a:avLst/>
              </a:prstGeom>
              <a:blipFill>
                <a:blip r:embed="rId7"/>
                <a:stretch>
                  <a:fillRect b="-1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159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9386D-4FFD-6138-D068-D1BC7A0C1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A537EA-0B86-659B-806E-429C1541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14.1.2 </a:t>
            </a:r>
            <a:r>
              <a:rPr lang="ko-KR" altLang="en-US" dirty="0"/>
              <a:t>복소수의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7A93C8-A6B3-E294-B784-F5680D3C7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복소수</a:t>
            </a:r>
            <a:r>
              <a:rPr lang="en-US" altLang="ko-KR" sz="2400" dirty="0"/>
              <a:t> </a:t>
            </a:r>
            <a:r>
              <a:rPr lang="ko-KR" altLang="en-US" sz="2400" dirty="0"/>
              <a:t>덧셈 연산의 성질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5F1810-0077-C161-FA7E-89E9B0AAF7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1AA635-7372-F25F-0E7F-A24EEA88D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471716"/>
              </p:ext>
            </p:extLst>
          </p:nvPr>
        </p:nvGraphicFramePr>
        <p:xfrm>
          <a:off x="539750" y="1304765"/>
          <a:ext cx="7920682" cy="4248470"/>
        </p:xfrm>
        <a:graphic>
          <a:graphicData uri="http://schemas.openxmlformats.org/drawingml/2006/table">
            <a:tbl>
              <a:tblPr/>
              <a:tblGrid>
                <a:gridCol w="4959476">
                  <a:extLst>
                    <a:ext uri="{9D8B030D-6E8A-4147-A177-3AD203B41FA5}">
                      <a16:colId xmlns:a16="http://schemas.microsoft.com/office/drawing/2014/main" val="1421439240"/>
                    </a:ext>
                  </a:extLst>
                </a:gridCol>
                <a:gridCol w="2961206">
                  <a:extLst>
                    <a:ext uri="{9D8B030D-6E8A-4147-A177-3AD203B41FA5}">
                      <a16:colId xmlns:a16="http://schemas.microsoft.com/office/drawing/2014/main" val="1708122726"/>
                    </a:ext>
                  </a:extLst>
                </a:gridCol>
              </a:tblGrid>
              <a:tr h="57737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연산의 성질</a:t>
                      </a:r>
                      <a:endParaRPr lang="ko-KR" altLang="en-US" sz="3600" dirty="0">
                        <a:effectLst/>
                      </a:endParaRPr>
                    </a:p>
                  </a:txBody>
                  <a:tcPr marL="216000" marR="216000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만족의 여부</a:t>
                      </a:r>
                      <a:endParaRPr lang="ko-KR" altLang="en-US" sz="3600" dirty="0">
                        <a:effectLst/>
                      </a:endParaRPr>
                    </a:p>
                  </a:txBody>
                  <a:tcPr marL="216000" marR="216000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007753"/>
                  </a:ext>
                </a:extLst>
              </a:tr>
              <a:tr h="73422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덧셈에 대해 닫혀 있음</a:t>
                      </a:r>
                      <a:endParaRPr lang="ko-KR" altLang="en-US" sz="4400" dirty="0">
                        <a:effectLst/>
                      </a:endParaRPr>
                    </a:p>
                  </a:txBody>
                  <a:tcPr marL="216000" marR="216000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4400" dirty="0">
                        <a:effectLst/>
                      </a:endParaRPr>
                    </a:p>
                  </a:txBody>
                  <a:tcPr marL="216000" marR="216000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407884"/>
                  </a:ext>
                </a:extLst>
              </a:tr>
              <a:tr h="73422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덧셈에 대한 교환 법칙</a:t>
                      </a:r>
                      <a:endParaRPr lang="ko-KR" altLang="en-US" sz="4400" dirty="0">
                        <a:effectLst/>
                      </a:endParaRPr>
                    </a:p>
                  </a:txBody>
                  <a:tcPr marL="216000" marR="216000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4400" dirty="0">
                        <a:effectLst/>
                      </a:endParaRPr>
                    </a:p>
                  </a:txBody>
                  <a:tcPr marL="216000" marR="216000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120819"/>
                  </a:ext>
                </a:extLst>
              </a:tr>
              <a:tr h="73422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덧셈에 대한 결합 법칙</a:t>
                      </a:r>
                      <a:endParaRPr lang="ko-KR" altLang="en-US" sz="4400" dirty="0">
                        <a:effectLst/>
                      </a:endParaRPr>
                    </a:p>
                  </a:txBody>
                  <a:tcPr marL="216000" marR="216000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4400" dirty="0">
                        <a:effectLst/>
                      </a:endParaRPr>
                    </a:p>
                  </a:txBody>
                  <a:tcPr marL="216000" marR="216000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530566"/>
                  </a:ext>
                </a:extLst>
              </a:tr>
              <a:tr h="73422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덧셈에 대한 항등원</a:t>
                      </a:r>
                      <a:endParaRPr lang="ko-KR" altLang="en-US" sz="4400" dirty="0">
                        <a:effectLst/>
                      </a:endParaRPr>
                    </a:p>
                  </a:txBody>
                  <a:tcPr marL="216000" marR="216000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(0,0)</a:t>
                      </a:r>
                      <a:endParaRPr lang="en-US" sz="4400" dirty="0">
                        <a:effectLst/>
                      </a:endParaRPr>
                    </a:p>
                  </a:txBody>
                  <a:tcPr marL="216000" marR="216000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952163"/>
                  </a:ext>
                </a:extLst>
              </a:tr>
              <a:tr h="73422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덧셈에 대한 역원</a:t>
                      </a:r>
                      <a:endParaRPr lang="ko-KR" altLang="en-US" sz="4400" dirty="0">
                        <a:effectLst/>
                      </a:endParaRPr>
                    </a:p>
                  </a:txBody>
                  <a:tcPr marL="216000" marR="216000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-c</a:t>
                      </a:r>
                      <a:endParaRPr lang="en-US" sz="4400" dirty="0">
                        <a:effectLst/>
                      </a:endParaRPr>
                    </a:p>
                  </a:txBody>
                  <a:tcPr marL="216000" marR="216000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893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62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9C2F-D0CB-53D9-7EDE-F8F2BA974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C64B9-72BE-C0E8-F514-D4CB39485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14.1.2 </a:t>
            </a:r>
            <a:r>
              <a:rPr lang="ko-KR" altLang="en-US" dirty="0"/>
              <a:t>복소수의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93BB30-1038-84FE-C525-608B93546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복소수 곱셈</a:t>
            </a:r>
            <a:endParaRPr lang="en-US" altLang="ko-KR" sz="24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endParaRPr lang="en-US" altLang="ko-KR" sz="2400" dirty="0"/>
          </a:p>
          <a:p>
            <a:r>
              <a:rPr lang="ko-KR" altLang="en-US" sz="2400" dirty="0"/>
              <a:t>결합 법칙</a:t>
            </a:r>
            <a:endParaRPr lang="en-US" altLang="ko-KR" sz="2400" dirty="0"/>
          </a:p>
          <a:p>
            <a:pPr lvl="3"/>
            <a:endParaRPr lang="en-US" altLang="ko-KR" sz="1400" dirty="0"/>
          </a:p>
          <a:p>
            <a:endParaRPr lang="en-US" altLang="ko-KR" sz="2400" dirty="0"/>
          </a:p>
          <a:p>
            <a:r>
              <a:rPr lang="ko-KR" altLang="en-US" sz="2400" dirty="0"/>
              <a:t>교환 법칙</a:t>
            </a:r>
            <a:endParaRPr lang="en-US" altLang="ko-KR" sz="2400" dirty="0"/>
          </a:p>
          <a:p>
            <a:pPr lvl="2"/>
            <a:endParaRPr lang="en-US" altLang="ko-KR" sz="1600" dirty="0"/>
          </a:p>
          <a:p>
            <a:endParaRPr lang="en-US" altLang="ko-KR" sz="2400" dirty="0"/>
          </a:p>
          <a:p>
            <a:r>
              <a:rPr lang="ko-KR" altLang="en-US" sz="2400" dirty="0"/>
              <a:t>분배</a:t>
            </a:r>
            <a:r>
              <a:rPr lang="en-US" altLang="ko-KR" sz="2400" dirty="0"/>
              <a:t> </a:t>
            </a:r>
            <a:r>
              <a:rPr lang="ko-KR" altLang="en-US" sz="2400" dirty="0"/>
              <a:t>법칙</a:t>
            </a:r>
            <a:endParaRPr lang="en-US" altLang="ko-KR" sz="24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항등원</a:t>
            </a:r>
            <a:endParaRPr lang="en-US" altLang="ko-KR" sz="2400" dirty="0"/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148D2B-2A2D-5F06-D6A2-A1066A8AB8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39E2B9-5010-FB03-F2D7-64FFBB710EF5}"/>
                  </a:ext>
                </a:extLst>
              </p:cNvPr>
              <p:cNvSpPr txBox="1"/>
              <p:nvPr/>
            </p:nvSpPr>
            <p:spPr>
              <a:xfrm>
                <a:off x="683566" y="1124744"/>
                <a:ext cx="6840762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𝑏𝑖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𝑎𝑐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𝑏𝑑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𝑎𝑑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𝑏𝑐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39E2B9-5010-FB03-F2D7-64FFBB710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6" y="1124744"/>
                <a:ext cx="6840762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B33FF2-D494-5A9E-775A-91B1A6E79FAB}"/>
                  </a:ext>
                </a:extLst>
              </p:cNvPr>
              <p:cNvSpPr txBox="1"/>
              <p:nvPr/>
            </p:nvSpPr>
            <p:spPr>
              <a:xfrm>
                <a:off x="683566" y="1527175"/>
                <a:ext cx="7056786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𝑏𝑑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𝑎𝑑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𝑏𝑐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B33FF2-D494-5A9E-775A-91B1A6E79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6" y="1527175"/>
                <a:ext cx="7056786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022CD6-11D9-C99D-6B9D-6F572D1B3626}"/>
                  </a:ext>
                </a:extLst>
              </p:cNvPr>
              <p:cNvSpPr txBox="1"/>
              <p:nvPr/>
            </p:nvSpPr>
            <p:spPr>
              <a:xfrm>
                <a:off x="683566" y="3687415"/>
                <a:ext cx="4680519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022CD6-11D9-C99D-6B9D-6F572D1B3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6" y="3687415"/>
                <a:ext cx="468051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C3D348-7A64-5908-4986-2E93E2A5831E}"/>
                  </a:ext>
                </a:extLst>
              </p:cNvPr>
              <p:cNvSpPr txBox="1"/>
              <p:nvPr/>
            </p:nvSpPr>
            <p:spPr>
              <a:xfrm>
                <a:off x="683566" y="4839543"/>
                <a:ext cx="7992890" cy="50917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C3D348-7A64-5908-4986-2E93E2A58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6" y="4839543"/>
                <a:ext cx="7992890" cy="5091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1F303D-5E39-6DA9-22B0-9AA9FAAF5B08}"/>
                  </a:ext>
                </a:extLst>
              </p:cNvPr>
              <p:cNvSpPr txBox="1"/>
              <p:nvPr/>
            </p:nvSpPr>
            <p:spPr>
              <a:xfrm>
                <a:off x="683566" y="5919663"/>
                <a:ext cx="4680519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1, 0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1F303D-5E39-6DA9-22B0-9AA9FAAF5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6" y="5919663"/>
                <a:ext cx="468051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D2983F-C911-C06F-7F6E-D7470F405BBF}"/>
                  </a:ext>
                </a:extLst>
              </p:cNvPr>
              <p:cNvSpPr txBox="1"/>
              <p:nvPr/>
            </p:nvSpPr>
            <p:spPr>
              <a:xfrm>
                <a:off x="683566" y="2564904"/>
                <a:ext cx="7416826" cy="50917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D2983F-C911-C06F-7F6E-D7470F405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6" y="2564904"/>
                <a:ext cx="7416826" cy="5091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85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6C4A5-F488-C25B-FA66-502FA581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B80E6-6A47-8CA6-C320-F8A1A60C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14.1.2 </a:t>
            </a:r>
            <a:r>
              <a:rPr lang="ko-KR" altLang="en-US" dirty="0"/>
              <a:t>복소수의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A6FA3-EDAF-3E6C-BBC2-409A9C8E5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복소수</a:t>
            </a:r>
            <a:r>
              <a:rPr lang="en-US" altLang="ko-KR" sz="2400" dirty="0"/>
              <a:t> </a:t>
            </a:r>
            <a:r>
              <a:rPr lang="ko-KR" altLang="en-US" sz="2400" dirty="0"/>
              <a:t>곱셈 연산의  성질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2F28FC-E6AB-8CAF-A269-6DA64CE173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3AB407D8-B8A7-7B77-9168-9C6A4219B1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0468573"/>
                  </p:ext>
                </p:extLst>
              </p:nvPr>
            </p:nvGraphicFramePr>
            <p:xfrm>
              <a:off x="539750" y="1304764"/>
              <a:ext cx="7920682" cy="4500501"/>
            </p:xfrm>
            <a:graphic>
              <a:graphicData uri="http://schemas.openxmlformats.org/drawingml/2006/table">
                <a:tbl>
                  <a:tblPr/>
                  <a:tblGrid>
                    <a:gridCol w="4320282">
                      <a:extLst>
                        <a:ext uri="{9D8B030D-6E8A-4147-A177-3AD203B41FA5}">
                          <a16:colId xmlns:a16="http://schemas.microsoft.com/office/drawing/2014/main" val="1421439240"/>
                        </a:ext>
                      </a:extLst>
                    </a:gridCol>
                    <a:gridCol w="3600400">
                      <a:extLst>
                        <a:ext uri="{9D8B030D-6E8A-4147-A177-3AD203B41FA5}">
                          <a16:colId xmlns:a16="http://schemas.microsoft.com/office/drawing/2014/main" val="1708122726"/>
                        </a:ext>
                      </a:extLst>
                    </a:gridCol>
                  </a:tblGrid>
                  <a:tr h="582727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연산의 성질</a:t>
                          </a:r>
                          <a:endParaRPr lang="ko-KR" altLang="en-US" sz="36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만족의 여부</a:t>
                          </a:r>
                          <a:endParaRPr lang="ko-KR" altLang="en-US" sz="36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0007753"/>
                      </a:ext>
                    </a:extLst>
                  </a:tr>
                  <a:tr h="741031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대해 닫혀 있음</a:t>
                          </a:r>
                          <a:endParaRPr lang="ko-KR" alt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5407884"/>
                      </a:ext>
                    </a:extLst>
                  </a:tr>
                  <a:tr h="741031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교환 법칙</a:t>
                          </a:r>
                          <a:endParaRPr lang="ko-KR" alt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3120819"/>
                      </a:ext>
                    </a:extLst>
                  </a:tr>
                  <a:tr h="79216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분배 법칙</a:t>
                          </a:r>
                          <a:endParaRPr lang="ko-KR" alt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91530566"/>
                      </a:ext>
                    </a:extLst>
                  </a:tr>
                  <a:tr h="77596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항등원</a:t>
                          </a:r>
                          <a:endParaRPr lang="ko-KR" alt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(1,0)</a:t>
                          </a:r>
                          <a:endParaRPr 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1952163"/>
                      </a:ext>
                    </a:extLst>
                  </a:tr>
                  <a:tr h="86758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역원</a:t>
                          </a:r>
                          <a:endParaRPr lang="ko-KR" altLang="en-US" sz="28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켤레 사용</a:t>
                          </a:r>
                          <a:r>
                            <a:rPr lang="en-US" altLang="ko-KR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:</a:t>
                          </a:r>
                          <a:r>
                            <a:rPr lang="ko-KR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altLang="ko-KR" sz="2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ko-KR" sz="2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ko-KR" sz="28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2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en-US" sz="28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0607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3AB407D8-B8A7-7B77-9168-9C6A4219B1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0468573"/>
                  </p:ext>
                </p:extLst>
              </p:nvPr>
            </p:nvGraphicFramePr>
            <p:xfrm>
              <a:off x="539750" y="1304764"/>
              <a:ext cx="7920682" cy="4500501"/>
            </p:xfrm>
            <a:graphic>
              <a:graphicData uri="http://schemas.openxmlformats.org/drawingml/2006/table">
                <a:tbl>
                  <a:tblPr/>
                  <a:tblGrid>
                    <a:gridCol w="4320282">
                      <a:extLst>
                        <a:ext uri="{9D8B030D-6E8A-4147-A177-3AD203B41FA5}">
                          <a16:colId xmlns:a16="http://schemas.microsoft.com/office/drawing/2014/main" val="1421439240"/>
                        </a:ext>
                      </a:extLst>
                    </a:gridCol>
                    <a:gridCol w="3600400">
                      <a:extLst>
                        <a:ext uri="{9D8B030D-6E8A-4147-A177-3AD203B41FA5}">
                          <a16:colId xmlns:a16="http://schemas.microsoft.com/office/drawing/2014/main" val="1708122726"/>
                        </a:ext>
                      </a:extLst>
                    </a:gridCol>
                  </a:tblGrid>
                  <a:tr h="582727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연산의 성질</a:t>
                          </a:r>
                          <a:endParaRPr lang="ko-KR" altLang="en-US" sz="36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만족의 여부</a:t>
                          </a:r>
                          <a:endParaRPr lang="ko-KR" altLang="en-US" sz="36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0007753"/>
                      </a:ext>
                    </a:extLst>
                  </a:tr>
                  <a:tr h="741031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대해 닫혀 있음</a:t>
                          </a:r>
                          <a:endParaRPr lang="ko-KR" alt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5407884"/>
                      </a:ext>
                    </a:extLst>
                  </a:tr>
                  <a:tr h="741031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교환 법칙</a:t>
                          </a:r>
                          <a:endParaRPr lang="ko-KR" alt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3120819"/>
                      </a:ext>
                    </a:extLst>
                  </a:tr>
                  <a:tr h="79216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분배 법칙</a:t>
                          </a:r>
                          <a:endParaRPr lang="ko-KR" alt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91530566"/>
                      </a:ext>
                    </a:extLst>
                  </a:tr>
                  <a:tr h="77596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항등원</a:t>
                          </a:r>
                          <a:endParaRPr lang="ko-KR" alt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(1,0)</a:t>
                          </a:r>
                          <a:endParaRPr lang="en-US" sz="44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1952163"/>
                      </a:ext>
                    </a:extLst>
                  </a:tr>
                  <a:tr h="86758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역원</a:t>
                          </a:r>
                          <a:endParaRPr lang="ko-KR" altLang="en-US" sz="2800" dirty="0">
                            <a:effectLst/>
                          </a:endParaRPr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16000" marR="216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0135" t="-421831" r="-338" b="-14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06071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20082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F5478-A68B-FF6D-C0ED-6DBB0BC4C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49052-D586-2802-5FD7-6405764F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14.1.2 </a:t>
            </a:r>
            <a:r>
              <a:rPr lang="ko-KR" altLang="en-US" dirty="0"/>
              <a:t>복소수의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7C0D48-C1EF-2299-CFD5-56B15F776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복소수의 크기 → </a:t>
            </a:r>
            <a:r>
              <a:rPr lang="en-US" altLang="ko-KR" sz="2400" dirty="0"/>
              <a:t>Norm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단위 복소수</a:t>
            </a:r>
            <a:endParaRPr lang="en-US" altLang="ko-KR" sz="2400" dirty="0"/>
          </a:p>
          <a:p>
            <a:pPr lvl="1"/>
            <a:r>
              <a:rPr lang="ko-KR" altLang="en-US" sz="2000" dirty="0"/>
              <a:t>크기 </a:t>
            </a:r>
            <a:r>
              <a:rPr lang="en-US" altLang="ko-KR" sz="2000" dirty="0"/>
              <a:t>=1</a:t>
            </a:r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켤레</a:t>
            </a:r>
            <a:r>
              <a:rPr lang="en-US" altLang="ko-KR" sz="2400" dirty="0"/>
              <a:t>(Conjugate)</a:t>
            </a:r>
            <a:r>
              <a:rPr lang="ko-KR" altLang="en-US" sz="2400" dirty="0"/>
              <a:t> 복소수</a:t>
            </a:r>
            <a:endParaRPr lang="en-US" altLang="ko-KR" sz="2400" dirty="0"/>
          </a:p>
          <a:p>
            <a:pPr lvl="1"/>
            <a:r>
              <a:rPr lang="ko-KR" altLang="en-US" sz="2000" dirty="0" err="1"/>
              <a:t>허수부</a:t>
            </a:r>
            <a:r>
              <a:rPr lang="ko-KR" altLang="en-US" sz="2000" dirty="0"/>
              <a:t> 부호 바꾼 복소수</a:t>
            </a:r>
            <a:endParaRPr lang="en-US" altLang="ko-KR" sz="2000" dirty="0"/>
          </a:p>
          <a:p>
            <a:pPr lvl="1"/>
            <a:r>
              <a:rPr lang="en-US" altLang="ko-KR" sz="2000" dirty="0"/>
              <a:t>* </a:t>
            </a:r>
            <a:r>
              <a:rPr lang="ko-KR" altLang="en-US" sz="2000" dirty="0"/>
              <a:t>사용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복소수 역원</a:t>
            </a:r>
            <a:endParaRPr lang="en-US" altLang="ko-KR" sz="2400" dirty="0"/>
          </a:p>
          <a:p>
            <a:pPr lvl="1"/>
            <a:r>
              <a:rPr lang="ko-KR" altLang="en-US" sz="2000" dirty="0"/>
              <a:t>곱했을 때 </a:t>
            </a:r>
            <a:r>
              <a:rPr lang="en-US" altLang="ko-KR" sz="2000" dirty="0"/>
              <a:t>1</a:t>
            </a:r>
            <a:r>
              <a:rPr lang="ko-KR" altLang="en-US" sz="2000" dirty="0"/>
              <a:t>이 되는 복소수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B26CEC-2770-35CE-9726-C510E8284A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E08826-8B92-BDDA-530B-EA62D1D8681C}"/>
                  </a:ext>
                </a:extLst>
              </p:cNvPr>
              <p:cNvSpPr txBox="1"/>
              <p:nvPr/>
            </p:nvSpPr>
            <p:spPr>
              <a:xfrm>
                <a:off x="539750" y="1124744"/>
                <a:ext cx="6120482" cy="54976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, −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E08826-8B92-BDDA-530B-EA62D1D86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124744"/>
                <a:ext cx="6120482" cy="5497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1AE18C-D6C6-966E-018C-45D3071405CD}"/>
                  </a:ext>
                </a:extLst>
              </p:cNvPr>
              <p:cNvSpPr txBox="1"/>
              <p:nvPr/>
            </p:nvSpPr>
            <p:spPr>
              <a:xfrm>
                <a:off x="899592" y="4293096"/>
                <a:ext cx="2520280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1AE18C-D6C6-966E-018C-45D307140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4293096"/>
                <a:ext cx="252028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A55D68-9D3F-5E87-C439-A16E87142E66}"/>
                  </a:ext>
                </a:extLst>
              </p:cNvPr>
              <p:cNvSpPr txBox="1"/>
              <p:nvPr/>
            </p:nvSpPr>
            <p:spPr>
              <a:xfrm>
                <a:off x="2987824" y="4293096"/>
                <a:ext cx="2016224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 − 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A55D68-9D3F-5E87-C439-A16E87142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4293096"/>
                <a:ext cx="201622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7D277B-CA42-C6DE-A73A-203D334FB5A9}"/>
                  </a:ext>
                </a:extLst>
              </p:cNvPr>
              <p:cNvSpPr txBox="1"/>
              <p:nvPr/>
            </p:nvSpPr>
            <p:spPr>
              <a:xfrm>
                <a:off x="5004048" y="4293095"/>
                <a:ext cx="2016224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7D277B-CA42-C6DE-A73A-203D334FB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4293095"/>
                <a:ext cx="201622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2636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E1EAE-25C9-7694-5A84-5B5A3B10B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D67BA-DA6F-2A5F-26F9-96C593BAA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14.1.2 </a:t>
            </a:r>
            <a:r>
              <a:rPr lang="ko-KR" altLang="en-US" dirty="0"/>
              <a:t>복소수의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CD387-9EB9-4DC4-A85A-ABDA851A3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켤레 복소수 성질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복소수 역원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225B63-4168-B357-4536-BDFD13BB55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541269-2405-EDFA-DF4A-48F6F4E7E777}"/>
                  </a:ext>
                </a:extLst>
              </p:cNvPr>
              <p:cNvSpPr txBox="1"/>
              <p:nvPr/>
            </p:nvSpPr>
            <p:spPr>
              <a:xfrm>
                <a:off x="539750" y="1988840"/>
                <a:ext cx="3528194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𝑏𝑖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𝑏𝑖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541269-2405-EDFA-DF4A-48F6F4E7E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988840"/>
                <a:ext cx="3528194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59AE11-5DA9-06B5-A708-F251D718906E}"/>
                  </a:ext>
                </a:extLst>
              </p:cNvPr>
              <p:cNvSpPr txBox="1"/>
              <p:nvPr/>
            </p:nvSpPr>
            <p:spPr>
              <a:xfrm>
                <a:off x="539751" y="1241275"/>
                <a:ext cx="1655986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59AE11-5DA9-06B5-A708-F251D7189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1" y="1241275"/>
                <a:ext cx="165598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47E2F4-4EDD-D65E-069D-B7C2DF866A9B}"/>
                  </a:ext>
                </a:extLst>
              </p:cNvPr>
              <p:cNvSpPr txBox="1"/>
              <p:nvPr/>
            </p:nvSpPr>
            <p:spPr>
              <a:xfrm>
                <a:off x="2378398" y="1241275"/>
                <a:ext cx="1757567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47E2F4-4EDD-D65E-069D-B7C2DF866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398" y="1241275"/>
                <a:ext cx="175756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952ACC-915C-0E65-A224-75C2FBFBA7E8}"/>
                  </a:ext>
                </a:extLst>
              </p:cNvPr>
              <p:cNvSpPr txBox="1"/>
              <p:nvPr/>
            </p:nvSpPr>
            <p:spPr>
              <a:xfrm>
                <a:off x="4318626" y="1241275"/>
                <a:ext cx="2557630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952ACC-915C-0E65-A224-75C2FBFBA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626" y="1241275"/>
                <a:ext cx="2557630" cy="461665"/>
              </a:xfrm>
              <a:prstGeom prst="rect">
                <a:avLst/>
              </a:prstGeom>
              <a:blipFill>
                <a:blip r:embed="rId5"/>
                <a:stretch>
                  <a:fillRect b="-5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B74323-B054-AFFA-74B5-DC6EAF53B7FE}"/>
                  </a:ext>
                </a:extLst>
              </p:cNvPr>
              <p:cNvSpPr txBox="1"/>
              <p:nvPr/>
            </p:nvSpPr>
            <p:spPr>
              <a:xfrm>
                <a:off x="539750" y="3993332"/>
                <a:ext cx="4032250" cy="82298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B74323-B054-AFFA-74B5-DC6EAF53B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3993332"/>
                <a:ext cx="4032250" cy="8229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643C5A-46EF-F11F-7123-25F5A9A9550F}"/>
                  </a:ext>
                </a:extLst>
              </p:cNvPr>
              <p:cNvSpPr txBox="1"/>
              <p:nvPr/>
            </p:nvSpPr>
            <p:spPr>
              <a:xfrm>
                <a:off x="4716016" y="3987051"/>
                <a:ext cx="2736304" cy="80323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𝑏𝑖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643C5A-46EF-F11F-7123-25F5A9A95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3987051"/>
                <a:ext cx="2736304" cy="8032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CF856F-7D54-679E-4B46-BBCB0BBDE63E}"/>
                  </a:ext>
                </a:extLst>
              </p:cNvPr>
              <p:cNvSpPr txBox="1"/>
              <p:nvPr/>
            </p:nvSpPr>
            <p:spPr>
              <a:xfrm>
                <a:off x="539750" y="5085184"/>
                <a:ext cx="2736304" cy="109799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3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3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ko-KR" sz="3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sz="3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3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3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CF856F-7D54-679E-4B46-BBCB0BBDE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5085184"/>
                <a:ext cx="2736304" cy="10979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42B80F-5433-0963-344B-630DFC95B5C0}"/>
                  </a:ext>
                </a:extLst>
              </p:cNvPr>
              <p:cNvSpPr txBox="1"/>
              <p:nvPr/>
            </p:nvSpPr>
            <p:spPr>
              <a:xfrm>
                <a:off x="539750" y="2537965"/>
                <a:ext cx="3528194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sSup>
                        <m:sSup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42B80F-5433-0963-344B-630DFC95B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2537965"/>
                <a:ext cx="352819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180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4F15-AB23-8A09-3217-1B39BED6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26830-BD91-488C-1DAC-3331DC4EA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 </a:t>
            </a:r>
            <a:r>
              <a:rPr lang="ko-KR" altLang="en-US" dirty="0"/>
              <a:t>복소평면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9F475F4-1CE5-1E6D-C62A-BBC63BAB4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벡터 공간</a:t>
                </a:r>
                <a:r>
                  <a:rPr lang="en-US" altLang="ko-KR" dirty="0"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/>
                  <a:t>와 복소평면의 비교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9F475F4-1CE5-1E6D-C62A-BBC63BAB4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F9787E-CC65-A45C-D3FC-765C9A4B5E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3E1949-8AA6-709B-4C29-91A27877C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76" y="1371810"/>
            <a:ext cx="8428796" cy="456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87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AE2E8-FDB2-57CB-904D-CF393684F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F0E8A-F0A0-75CC-8A30-C063F8AB3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 </a:t>
            </a:r>
            <a:r>
              <a:rPr lang="ko-KR" altLang="en-US" dirty="0"/>
              <a:t>복소평면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5941F0-54FD-1B01-EA73-71C8FB1AF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복소평면에서 복소수 표현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946202-DC21-6168-6F96-20B2A5D710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6B2D5F-F70B-78C9-9AEB-05AF999D5D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0" t="4125" r="2667" b="3756"/>
          <a:stretch>
            <a:fillRect/>
          </a:stretch>
        </p:blipFill>
        <p:spPr>
          <a:xfrm>
            <a:off x="1187624" y="1412776"/>
            <a:ext cx="5184576" cy="496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80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4E22-947A-ACB5-20C1-51DD2D71E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5734F-4836-BD63-EE5E-08F852EC5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 </a:t>
            </a:r>
            <a:r>
              <a:rPr lang="ko-KR" altLang="en-US" dirty="0"/>
              <a:t>복소평면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6F533A-1170-6513-7357-C02B5B195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복소평면에서 단위 복소수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6C0195-D4E6-A46A-CCA4-B9FEDFE4AF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B40F71-5819-73AF-4AB5-866566A9A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3" t="4034" r="2820" b="3201"/>
          <a:stretch>
            <a:fillRect/>
          </a:stretch>
        </p:blipFill>
        <p:spPr>
          <a:xfrm>
            <a:off x="1259632" y="1412776"/>
            <a:ext cx="5184576" cy="496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42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8A88-CF6E-D2EE-F5F9-60A369E9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F1B255-8B84-9F40-F7F3-D6B0BB991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14.2.1 </a:t>
            </a:r>
            <a:r>
              <a:rPr lang="ko-KR" altLang="en-US" dirty="0"/>
              <a:t>단위 복소수와 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3F35766-B58A-E2B8-A541-5C13482AD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ko-KR" altLang="en-US" dirty="0"/>
                  <a:t>과</a:t>
                </a:r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ko-KR" altLang="en-US" dirty="0"/>
                  <a:t>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곱한 결과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3F35766-B58A-E2B8-A541-5C13482AD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C9641E-04CD-CC5C-CD04-684B54CA75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DF3214-B291-89AC-0415-04080265C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365759"/>
            <a:ext cx="6119904" cy="40886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72164D-C169-813A-DE23-263DD2253EAA}"/>
                  </a:ext>
                </a:extLst>
              </p:cNvPr>
              <p:cNvSpPr txBox="1"/>
              <p:nvPr/>
            </p:nvSpPr>
            <p:spPr>
              <a:xfrm>
                <a:off x="4062454" y="1311648"/>
                <a:ext cx="4680519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, 0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72164D-C169-813A-DE23-263DD2253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54" y="1311648"/>
                <a:ext cx="468051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04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6DD9F-D134-6654-79B9-827ECC1E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CCEC1-AA45-2A96-D7E3-7CFD3610B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14.2.1 </a:t>
            </a:r>
            <a:r>
              <a:rPr lang="ko-KR" altLang="en-US" dirty="0"/>
              <a:t>단위 복소수와 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1CF1925-6D53-C939-AA27-853D1214DF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복소수 </a:t>
                </a:r>
                <a14:m>
                  <m:oMath xmlns:m="http://schemas.openxmlformats.org/officeDocument/2006/math">
                    <m:r>
                      <a:rPr lang="en-US" altLang="ko-KR" b="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dirty="0"/>
                  <a:t>를 연속으로 곱한 결과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1CF1925-6D53-C939-AA27-853D1214DF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02946D-6FA2-23BD-0A43-E53CAF349F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FF9D9A-7FE0-842E-B0DE-0B5401B4E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344772"/>
            <a:ext cx="5246272" cy="50635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4C7511-FC52-07C0-3CDD-1718BC296113}"/>
                  </a:ext>
                </a:extLst>
              </p:cNvPr>
              <p:cNvSpPr txBox="1"/>
              <p:nvPr/>
            </p:nvSpPr>
            <p:spPr>
              <a:xfrm>
                <a:off x="4860032" y="2204864"/>
                <a:ext cx="4680519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4C7511-FC52-07C0-3CDD-1718BC296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2204864"/>
                <a:ext cx="4680519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223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ED2F6-5045-3BD3-FC23-B4A839027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69FF1E-AE6A-AA03-D436-E907F983E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14.2.1 </a:t>
            </a:r>
            <a:r>
              <a:rPr lang="ko-KR" altLang="en-US" dirty="0"/>
              <a:t>단위 복소수와 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71F9593-03E9-41F0-EE2D-84009A963A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복소수 </a:t>
                </a:r>
                <a14:m>
                  <m:oMath xmlns:m="http://schemas.openxmlformats.org/officeDocument/2006/math">
                    <m:r>
                      <a:rPr lang="en-US" altLang="ko-KR" b="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dirty="0"/>
                  <a:t>를 연속으로 곱한 결과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71F9593-03E9-41F0-EE2D-84009A963A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E81432-C361-6A78-75A4-B6E728AC1D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9702A1-88E1-1431-2472-D17271664D1B}"/>
                  </a:ext>
                </a:extLst>
              </p:cNvPr>
              <p:cNvSpPr txBox="1"/>
              <p:nvPr/>
            </p:nvSpPr>
            <p:spPr>
              <a:xfrm>
                <a:off x="539750" y="1412776"/>
                <a:ext cx="6768752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9702A1-88E1-1431-2472-D17271664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412776"/>
                <a:ext cx="6768752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B7ADB9-90AE-5DA0-87B2-640C4C96F9C1}"/>
                  </a:ext>
                </a:extLst>
              </p:cNvPr>
              <p:cNvSpPr txBox="1"/>
              <p:nvPr/>
            </p:nvSpPr>
            <p:spPr>
              <a:xfrm>
                <a:off x="539749" y="2040191"/>
                <a:ext cx="8208963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B7ADB9-90AE-5DA0-87B2-640C4C96F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49" y="2040191"/>
                <a:ext cx="8208963" cy="461665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B25BDB-29E1-6534-5B64-3CED4562EBDA}"/>
                  </a:ext>
                </a:extLst>
              </p:cNvPr>
              <p:cNvSpPr txBox="1"/>
              <p:nvPr/>
            </p:nvSpPr>
            <p:spPr>
              <a:xfrm>
                <a:off x="683568" y="2780928"/>
                <a:ext cx="4680520" cy="619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B25BDB-29E1-6534-5B64-3CED4562E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780928"/>
                <a:ext cx="4680520" cy="619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328619-92FA-DF17-939E-BBB667E85968}"/>
                  </a:ext>
                </a:extLst>
              </p:cNvPr>
              <p:cNvSpPr txBox="1"/>
              <p:nvPr/>
            </p:nvSpPr>
            <p:spPr>
              <a:xfrm>
                <a:off x="1223120" y="3571394"/>
                <a:ext cx="6877272" cy="6956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328619-92FA-DF17-939E-BBB667E85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120" y="3571394"/>
                <a:ext cx="6877272" cy="6956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468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7F53B-C836-5113-7B4F-4D792DA6D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689C6A-7394-303F-8521-916177919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14.2.1 </a:t>
            </a:r>
            <a:r>
              <a:rPr lang="ko-KR" altLang="en-US" dirty="0"/>
              <a:t>단위 복소수와 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E88987-617F-5768-7980-32A725590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복소수를 회전시키는 단위 복소수와의 곱셈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212BC6-4DD2-2FB5-7BED-23F9B461F7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C43E34-CBAA-B9F1-7330-C6F74B0C37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5" t="2751" r="3159" b="4264"/>
          <a:stretch>
            <a:fillRect/>
          </a:stretch>
        </p:blipFill>
        <p:spPr>
          <a:xfrm>
            <a:off x="755576" y="1412776"/>
            <a:ext cx="6912769" cy="487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63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E8544-13B7-3AF1-25D9-839F82CE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773F5-D348-3EE6-F314-E40201BA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14.2.1 </a:t>
            </a:r>
            <a:r>
              <a:rPr lang="ko-KR" altLang="en-US" dirty="0"/>
              <a:t>단위 복소수와 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FA9C33-101C-377E-A23A-56C0436F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개의 단위 복소수 곱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개의 각의 합 회전 변환 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복소수 곱셈 항등원 </a:t>
            </a:r>
            <a:r>
              <a:rPr lang="en-US" altLang="ko-KR" dirty="0"/>
              <a:t>(1, 0)</a:t>
            </a:r>
          </a:p>
          <a:p>
            <a:pPr lvl="1"/>
            <a:r>
              <a:rPr lang="en-US" altLang="ko-KR" dirty="0"/>
              <a:t>0</a:t>
            </a:r>
            <a:r>
              <a:rPr lang="ko-KR" altLang="en-US" dirty="0"/>
              <a:t>도</a:t>
            </a:r>
            <a:r>
              <a:rPr lang="en-US" altLang="ko-KR" baseline="30000" dirty="0"/>
              <a:t> </a:t>
            </a:r>
            <a:r>
              <a:rPr lang="ko-KR" altLang="en-US" dirty="0"/>
              <a:t>변환 회전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24C6C2-03ED-C068-F0B9-A99275E4C9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C4CCF4-975C-67BD-2116-A902B709C393}"/>
                  </a:ext>
                </a:extLst>
              </p:cNvPr>
              <p:cNvSpPr txBox="1"/>
              <p:nvPr/>
            </p:nvSpPr>
            <p:spPr>
              <a:xfrm>
                <a:off x="539552" y="1916832"/>
                <a:ext cx="4424676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C4CCF4-975C-67BD-2116-A902B709C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916832"/>
                <a:ext cx="4424676" cy="461665"/>
              </a:xfrm>
              <a:prstGeom prst="rect">
                <a:avLst/>
              </a:prstGeom>
              <a:blipFill>
                <a:blip r:embed="rId2"/>
                <a:stretch>
                  <a:fillRect b="-1973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B570BE-1F89-9143-1DEF-DC00D8CC7249}"/>
                  </a:ext>
                </a:extLst>
              </p:cNvPr>
              <p:cNvSpPr txBox="1"/>
              <p:nvPr/>
            </p:nvSpPr>
            <p:spPr>
              <a:xfrm>
                <a:off x="1426941" y="2549947"/>
                <a:ext cx="7344816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B570BE-1F89-9143-1DEF-DC00D8CC7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941" y="2549947"/>
                <a:ext cx="7344816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E9BFAE-E0AF-B03E-67C7-53269513CE37}"/>
                  </a:ext>
                </a:extLst>
              </p:cNvPr>
              <p:cNvSpPr txBox="1"/>
              <p:nvPr/>
            </p:nvSpPr>
            <p:spPr>
              <a:xfrm>
                <a:off x="1426940" y="3177362"/>
                <a:ext cx="4081164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E9BFAE-E0AF-B03E-67C7-53269513C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940" y="3177362"/>
                <a:ext cx="4081164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AA9C33-BC49-046C-0D63-833713E403B5}"/>
                  </a:ext>
                </a:extLst>
              </p:cNvPr>
              <p:cNvSpPr txBox="1"/>
              <p:nvPr/>
            </p:nvSpPr>
            <p:spPr>
              <a:xfrm>
                <a:off x="539552" y="5013176"/>
                <a:ext cx="3761073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AA9C33-BC49-046C-0D63-833713E40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5013176"/>
                <a:ext cx="376107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341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4F9F9-72CC-F7A3-8425-6707240DE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3E72B-BE56-CF1A-6F9B-5D135DE30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14.2.2 </a:t>
            </a:r>
            <a:r>
              <a:rPr lang="ko-KR" altLang="en-US" dirty="0"/>
              <a:t>켤레 복소수의 회전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A5EA69-8E79-C19B-CD57-19EB22482B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복소평면에서 켤레 복소수의 표현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반대 방향 </a:t>
                </a:r>
                <a14:m>
                  <m:oMath xmlns:m="http://schemas.openxmlformats.org/officeDocument/2006/math">
                    <m:r>
                      <a:rPr lang="en-US" altLang="ko-KR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만큼 회전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A5EA69-8E79-C19B-CD57-19EB22482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F19724-9A26-5307-CF33-E180023EFF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106D4E-B459-9A90-3BA1-BB6119641C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6" t="3887" r="3103" b="4885"/>
          <a:stretch>
            <a:fillRect/>
          </a:stretch>
        </p:blipFill>
        <p:spPr>
          <a:xfrm>
            <a:off x="505428" y="2147515"/>
            <a:ext cx="4392290" cy="37444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05F8D5-EA89-01D1-DA93-3C0ACB9D8CA9}"/>
                  </a:ext>
                </a:extLst>
              </p:cNvPr>
              <p:cNvSpPr txBox="1"/>
              <p:nvPr/>
            </p:nvSpPr>
            <p:spPr>
              <a:xfrm>
                <a:off x="5200898" y="2852936"/>
                <a:ext cx="3168154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05F8D5-EA89-01D1-DA93-3C0ACB9D8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898" y="2852936"/>
                <a:ext cx="316815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56A2DB-CB6B-6AF3-FCD0-D7EF8831C8FF}"/>
                  </a:ext>
                </a:extLst>
              </p:cNvPr>
              <p:cNvSpPr txBox="1"/>
              <p:nvPr/>
            </p:nvSpPr>
            <p:spPr>
              <a:xfrm>
                <a:off x="5200898" y="3400326"/>
                <a:ext cx="3168154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56A2DB-CB6B-6AF3-FCD0-D7EF8831C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898" y="3400326"/>
                <a:ext cx="316815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F51AEAD-D1D4-74C6-9051-6E122EF91F4B}"/>
                  </a:ext>
                </a:extLst>
              </p:cNvPr>
              <p:cNvSpPr txBox="1"/>
              <p:nvPr/>
            </p:nvSpPr>
            <p:spPr>
              <a:xfrm>
                <a:off x="5200898" y="3947716"/>
                <a:ext cx="3639046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F51AEAD-D1D4-74C6-9051-6E122EF91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898" y="3947716"/>
                <a:ext cx="363904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394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293C8-9A49-14B0-CD49-F9F1284D6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B3CB0-885B-D2CF-F232-2D7ED46F0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14.2.2 </a:t>
            </a:r>
            <a:r>
              <a:rPr lang="ko-KR" altLang="en-US" dirty="0"/>
              <a:t>켤레 복소수의 회전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EE0992-B75F-A92B-555A-AAA78F1FE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단위 복소수와 켤레 복소수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1B6420-5726-CBAA-1ED8-4E8F8F7C7A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322906-7494-4966-13F6-5656959E6F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1" t="4939" r="5660" b="6160"/>
          <a:stretch>
            <a:fillRect/>
          </a:stretch>
        </p:blipFill>
        <p:spPr>
          <a:xfrm>
            <a:off x="1691680" y="1556792"/>
            <a:ext cx="5184576" cy="424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28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167A9-7C16-E8A1-0A50-9097F02FE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7FDEB-4162-4E5F-9B19-FA7A1C207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14.2.2 </a:t>
            </a:r>
            <a:r>
              <a:rPr lang="ko-KR" altLang="en-US" dirty="0"/>
              <a:t>켤레 복소수의 회전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48FDF87-B22C-A5A4-D458-0E0679DA87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복소수에 단위 복소수를 곱한 결과와</a:t>
                </a:r>
                <a:br>
                  <a:rPr lang="en-US" altLang="ko-KR" dirty="0"/>
                </a:br>
                <a:r>
                  <a:rPr lang="ko-KR" altLang="en-US" dirty="0"/>
                  <a:t>그 켤레를 곱한 결과와의 비교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altLang="ko-KR" sz="2000" dirty="0"/>
                  <a:t> </a:t>
                </a:r>
                <a:r>
                  <a:rPr lang="ko-KR" altLang="en-US" sz="2000" dirty="0"/>
                  <a:t>→ </a:t>
                </a:r>
                <a14:m>
                  <m:oMath xmlns:m="http://schemas.openxmlformats.org/officeDocument/2006/math">
                    <m:r>
                      <a:rPr lang="en-US" altLang="ko-KR" sz="20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ko-KR" altLang="en-US" sz="2000" dirty="0"/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48FDF87-B22C-A5A4-D458-0E0679DA8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7C2F39-91F3-35A5-7B32-186AEC4672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FA7006-17E2-7CBD-4270-77339ED6D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" t="5791" r="275" b="2424"/>
          <a:stretch>
            <a:fillRect/>
          </a:stretch>
        </p:blipFill>
        <p:spPr>
          <a:xfrm>
            <a:off x="323528" y="2492896"/>
            <a:ext cx="8496944" cy="39604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7630DC-1E8E-F137-0B0F-25A6DAC5C622}"/>
                  </a:ext>
                </a:extLst>
              </p:cNvPr>
              <p:cNvSpPr txBox="1"/>
              <p:nvPr/>
            </p:nvSpPr>
            <p:spPr>
              <a:xfrm>
                <a:off x="0" y="2584674"/>
                <a:ext cx="3107357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7630DC-1E8E-F137-0B0F-25A6DAC5C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84674"/>
                <a:ext cx="310735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7D84C6-3CB5-F352-2CA1-34887E3566F1}"/>
                  </a:ext>
                </a:extLst>
              </p:cNvPr>
              <p:cNvSpPr txBox="1"/>
              <p:nvPr/>
            </p:nvSpPr>
            <p:spPr>
              <a:xfrm>
                <a:off x="5857131" y="3325316"/>
                <a:ext cx="3395389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, −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7D84C6-3CB5-F352-2CA1-34887E356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131" y="3325316"/>
                <a:ext cx="339538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676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71DC3-B4CD-99DB-6B53-01CC14C9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0531E-FAF1-7BE2-FFD2-267854302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14.3 </a:t>
            </a:r>
            <a:r>
              <a:rPr lang="ko-KR" altLang="en-US" dirty="0"/>
              <a:t>복소수와 행렬의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E1407-A50F-0D32-3A66-0C2DD8E95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복소평면 상의 복소수 → </a:t>
            </a:r>
            <a:r>
              <a:rPr lang="en-US" altLang="ko-KR" dirty="0"/>
              <a:t>2</a:t>
            </a:r>
            <a:r>
              <a:rPr lang="ko-KR" altLang="en-US" dirty="0"/>
              <a:t>차원 행렬에 대응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D4C233-2849-3ADE-24C5-4B03B0BE2D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8FC916-65FF-DD26-2569-DCC0EE9BB2EA}"/>
                  </a:ext>
                </a:extLst>
              </p:cNvPr>
              <p:cNvSpPr txBox="1"/>
              <p:nvPr/>
            </p:nvSpPr>
            <p:spPr>
              <a:xfrm>
                <a:off x="251520" y="1412776"/>
                <a:ext cx="6768752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8FC916-65FF-DD26-2569-DCC0EE9BB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412776"/>
                <a:ext cx="6768752" cy="461665"/>
              </a:xfrm>
              <a:prstGeom prst="rect">
                <a:avLst/>
              </a:prstGeom>
              <a:blipFill>
                <a:blip r:embed="rId2"/>
                <a:stretch>
                  <a:fillRect b="-1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5FA8D7-BC3A-DF52-A9E5-54458DE73210}"/>
                  </a:ext>
                </a:extLst>
              </p:cNvPr>
              <p:cNvSpPr txBox="1"/>
              <p:nvPr/>
            </p:nvSpPr>
            <p:spPr>
              <a:xfrm>
                <a:off x="251520" y="1916832"/>
                <a:ext cx="4680520" cy="619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5FA8D7-BC3A-DF52-A9E5-54458DE73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916832"/>
                <a:ext cx="4680520" cy="619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986E1C-7B2E-6F4B-B8BB-63FD323F4473}"/>
                  </a:ext>
                </a:extLst>
              </p:cNvPr>
              <p:cNvSpPr txBox="1"/>
              <p:nvPr/>
            </p:nvSpPr>
            <p:spPr>
              <a:xfrm>
                <a:off x="2123728" y="2669174"/>
                <a:ext cx="4680520" cy="615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986E1C-7B2E-6F4B-B8BB-63FD323F4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2669174"/>
                <a:ext cx="4680520" cy="6158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E1CA20-8D34-3FFB-3C29-E8D3C1E1CA2D}"/>
                  </a:ext>
                </a:extLst>
              </p:cNvPr>
              <p:cNvSpPr txBox="1"/>
              <p:nvPr/>
            </p:nvSpPr>
            <p:spPr>
              <a:xfrm>
                <a:off x="458391" y="3981089"/>
                <a:ext cx="1728192" cy="615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E1CA20-8D34-3FFB-3C29-E8D3C1E1C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91" y="3981089"/>
                <a:ext cx="1728192" cy="6158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A9FE8D-F5B9-998B-ED73-9187542320E7}"/>
                  </a:ext>
                </a:extLst>
              </p:cNvPr>
              <p:cNvSpPr txBox="1"/>
              <p:nvPr/>
            </p:nvSpPr>
            <p:spPr>
              <a:xfrm>
                <a:off x="2123728" y="3981089"/>
                <a:ext cx="1800200" cy="615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A9FE8D-F5B9-998B-ED73-918754232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3981089"/>
                <a:ext cx="1800200" cy="615810"/>
              </a:xfrm>
              <a:prstGeom prst="rect">
                <a:avLst/>
              </a:prstGeom>
              <a:blipFill>
                <a:blip r:embed="rId6"/>
                <a:stretch>
                  <a:fillRect l="-16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E7AB72-D4B6-CE25-5970-4DA8A5D2AA1F}"/>
                  </a:ext>
                </a:extLst>
              </p:cNvPr>
              <p:cNvSpPr txBox="1"/>
              <p:nvPr/>
            </p:nvSpPr>
            <p:spPr>
              <a:xfrm>
                <a:off x="458391" y="4758463"/>
                <a:ext cx="3249513" cy="615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E7AB72-D4B6-CE25-5970-4DA8A5D2A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91" y="4758463"/>
                <a:ext cx="3249513" cy="615810"/>
              </a:xfrm>
              <a:prstGeom prst="rect">
                <a:avLst/>
              </a:prstGeom>
              <a:blipFill>
                <a:blip r:embed="rId7"/>
                <a:stretch>
                  <a:fillRect l="-9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E399F9-9589-82E8-F22E-404CC41AF891}"/>
                  </a:ext>
                </a:extLst>
              </p:cNvPr>
              <p:cNvSpPr txBox="1"/>
              <p:nvPr/>
            </p:nvSpPr>
            <p:spPr>
              <a:xfrm>
                <a:off x="4102191" y="4835535"/>
                <a:ext cx="1659697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E399F9-9589-82E8-F22E-404CC41AF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191" y="4835535"/>
                <a:ext cx="1659697" cy="461665"/>
              </a:xfrm>
              <a:prstGeom prst="rect">
                <a:avLst/>
              </a:prstGeom>
              <a:blipFill>
                <a:blip r:embed="rId8"/>
                <a:stretch>
                  <a:fillRect l="-110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화살표: 왼쪽 13">
            <a:extLst>
              <a:ext uri="{FF2B5EF4-FFF2-40B4-BE49-F238E27FC236}">
                <a16:creationId xmlns:a16="http://schemas.microsoft.com/office/drawing/2014/main" id="{86B949D5-E9E6-783F-F5F9-8F9B438F5FC0}"/>
              </a:ext>
            </a:extLst>
          </p:cNvPr>
          <p:cNvSpPr/>
          <p:nvPr/>
        </p:nvSpPr>
        <p:spPr bwMode="auto">
          <a:xfrm>
            <a:off x="3571900" y="4892137"/>
            <a:ext cx="360040" cy="360040"/>
          </a:xfrm>
          <a:prstGeom prst="lef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0560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66D1-9F6D-D236-2BF7-5886BAD6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415D1-9135-6138-D8F1-4834A347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14.4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41D42E-2EAC-6330-ACEA-F6CAEF89F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복소수</a:t>
            </a:r>
            <a:endParaRPr lang="en-US" altLang="ko-KR" dirty="0"/>
          </a:p>
          <a:p>
            <a:pPr lvl="1"/>
            <a:r>
              <a:rPr lang="ko-KR" altLang="en-US" dirty="0"/>
              <a:t>실수 </a:t>
            </a:r>
            <a:r>
              <a:rPr lang="en-US" altLang="ko-KR" dirty="0"/>
              <a:t>+ i </a:t>
            </a:r>
            <a:r>
              <a:rPr lang="ko-KR" altLang="en-US" dirty="0"/>
              <a:t>허수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켤레 복소수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단위 복소수 와 회전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961EDB-FB5E-2DF3-AD6B-72B8EE6DD2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00787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A6DD4-3222-2DA4-41C5-F1EBC774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C08DD7F3-5D52-CC6D-4CD8-2D98BFE06B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15. </a:t>
            </a:r>
            <a:r>
              <a:rPr lang="ko-KR" altLang="en-US" dirty="0"/>
              <a:t>오일러 공식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F444734D-855F-6FC3-CB18-399A8F37B9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허수로 표현하는 회전 변환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1B82C9-DCA5-7482-F52E-197C0385A7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011755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E44F-A609-97E1-FA9B-299D44D6C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CBE5FA-0B90-4C1E-8849-B4CFF329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15.1.1 </a:t>
            </a:r>
            <a:r>
              <a:rPr lang="ko-KR" altLang="en-US" dirty="0"/>
              <a:t>무리수 </a:t>
            </a:r>
            <a:r>
              <a:rPr lang="en-US" altLang="ko-KR" dirty="0"/>
              <a:t>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B42AD15-5382-2700-8571-4B9EE7E08A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:r>
                  <a:rPr lang="ko-KR" altLang="en-US" dirty="0"/>
                  <a:t>오일러 공식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복소수의 회전을 지수 함수로 표현한 공식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지수함수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삼각함수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복소수를 하나로 연결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</m:ra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ko-KR" altLang="en-US" dirty="0"/>
              </a:p>
              <a:p>
                <a:endParaRPr lang="ko-KR" altLang="en-US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B42AD15-5382-2700-8571-4B9EE7E08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751" t="-1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4A7F14-47BC-8C69-E92B-4B3D55D161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93280A-733F-E711-9702-2ED137BB4A4D}"/>
                  </a:ext>
                </a:extLst>
              </p:cNvPr>
              <p:cNvSpPr txBox="1"/>
              <p:nvPr/>
            </p:nvSpPr>
            <p:spPr>
              <a:xfrm>
                <a:off x="1043608" y="2348880"/>
                <a:ext cx="3888432" cy="60651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3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3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93280A-733F-E711-9702-2ED137BB4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348880"/>
                <a:ext cx="3888432" cy="6065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B48AF7-2D53-B5AC-CB93-CD4D275D3B2A}"/>
                  </a:ext>
                </a:extLst>
              </p:cNvPr>
              <p:cNvSpPr txBox="1"/>
              <p:nvPr/>
            </p:nvSpPr>
            <p:spPr>
              <a:xfrm>
                <a:off x="753870" y="3981141"/>
                <a:ext cx="1584176" cy="51219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B48AF7-2D53-B5AC-CB93-CD4D275D3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70" y="3981141"/>
                <a:ext cx="1584176" cy="5121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C221FA-7A9E-319A-C77B-7E54EEB65DD1}"/>
                  </a:ext>
                </a:extLst>
              </p:cNvPr>
              <p:cNvSpPr txBox="1"/>
              <p:nvPr/>
            </p:nvSpPr>
            <p:spPr>
              <a:xfrm>
                <a:off x="753870" y="4467252"/>
                <a:ext cx="5688632" cy="68204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rad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f>
                                    <m:fPr>
                                      <m:ctrlPr>
                                        <a:rPr lang="ko-KR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C221FA-7A9E-319A-C77B-7E54EEB65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70" y="4467252"/>
                <a:ext cx="5688632" cy="6820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46CE19-DB9C-1672-A38B-68CD43FFA5EC}"/>
                  </a:ext>
                </a:extLst>
              </p:cNvPr>
              <p:cNvSpPr txBox="1"/>
              <p:nvPr/>
            </p:nvSpPr>
            <p:spPr>
              <a:xfrm>
                <a:off x="2312882" y="4565219"/>
                <a:ext cx="1584176" cy="51219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46CE19-DB9C-1672-A38B-68CD43FFA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882" y="4565219"/>
                <a:ext cx="1584176" cy="5121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5D4CBE0-FD78-AC74-6CE1-DC44B37C0680}"/>
                  </a:ext>
                </a:extLst>
              </p:cNvPr>
              <p:cNvSpPr txBox="1"/>
              <p:nvPr/>
            </p:nvSpPr>
            <p:spPr>
              <a:xfrm>
                <a:off x="1046407" y="5245325"/>
                <a:ext cx="2229449" cy="61529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5D4CBE0-FD78-AC74-6CE1-DC44B37C0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407" y="5245325"/>
                <a:ext cx="2229449" cy="6152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9F8888-BD7B-E50B-8EEC-72D6BA1D402B}"/>
                  </a:ext>
                </a:extLst>
              </p:cNvPr>
              <p:cNvSpPr txBox="1"/>
              <p:nvPr/>
            </p:nvSpPr>
            <p:spPr>
              <a:xfrm>
                <a:off x="3094130" y="5121830"/>
                <a:ext cx="4824536" cy="73879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9F8888-BD7B-E50B-8EEC-72D6BA1D4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130" y="5121830"/>
                <a:ext cx="4824536" cy="7387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5071C1-0BA0-47D9-8F98-3C1553A8D606}"/>
                  </a:ext>
                </a:extLst>
              </p:cNvPr>
              <p:cNvSpPr txBox="1"/>
              <p:nvPr/>
            </p:nvSpPr>
            <p:spPr>
              <a:xfrm>
                <a:off x="4932040" y="2427178"/>
                <a:ext cx="2760281" cy="84837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5071C1-0BA0-47D9-8F98-3C1553A8D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2427178"/>
                <a:ext cx="2760281" cy="84837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D97008-46DB-4192-811D-4EDF73FC72A3}"/>
                  </a:ext>
                </a:extLst>
              </p:cNvPr>
              <p:cNvSpPr txBox="1"/>
              <p:nvPr/>
            </p:nvSpPr>
            <p:spPr>
              <a:xfrm>
                <a:off x="4932040" y="3250301"/>
                <a:ext cx="2760281" cy="84837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</m:num>
                        <m:den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D97008-46DB-4192-811D-4EDF73FC7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3250301"/>
                <a:ext cx="2760281" cy="8483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776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F1335-CC27-016B-45A4-2D5CD7013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E1DF0-DFB3-8C19-5722-23E91E14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15.1.1 </a:t>
            </a:r>
            <a:r>
              <a:rPr lang="ko-KR" altLang="en-US" dirty="0"/>
              <a:t>무리수 </a:t>
            </a:r>
            <a:r>
              <a:rPr lang="en-US" altLang="ko-KR" dirty="0"/>
              <a:t>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633CB01-EF62-E74C-3708-A0172FA4A1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=</m:t>
                    </m:r>
                    <m:sSup>
                      <m:sSup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(1 +</m:t>
                        </m:r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)</m:t>
                        </m:r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𝑥</m:t>
                        </m:r>
                      </m:sup>
                    </m:sSup>
                  </m:oMath>
                </a14:m>
                <a:endParaRPr lang="en-US" altLang="ko-KR" dirty="0">
                  <a:latin typeface="Cambria Math" panose="02040503050406030204" pitchFamily="18" charset="0"/>
                  <a:ea typeface="Noto Sans CJK KR Medium" panose="020B0600000000000000" pitchFamily="34" charset="-127"/>
                </a:endParaRPr>
              </a:p>
              <a:p>
                <a:pPr lvl="1"/>
                <a:r>
                  <a:rPr lang="ko-KR" altLang="en-US" dirty="0"/>
                  <a:t>베르누이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복리 문제에서 발견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오일러</a:t>
                </a:r>
                <a:r>
                  <a:rPr lang="en-US" altLang="ko-KR" dirty="0"/>
                  <a:t>: e</a:t>
                </a:r>
                <a:r>
                  <a:rPr lang="ko-KR" altLang="en-US" dirty="0"/>
                  <a:t> 로 표기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지수함수</a:t>
                </a:r>
                <a:r>
                  <a:rPr lang="en-US" altLang="ko-KR" dirty="0"/>
                  <a:t>·</a:t>
                </a:r>
                <a:r>
                  <a:rPr lang="ko-KR" altLang="en-US" dirty="0"/>
                  <a:t>로그</a:t>
                </a:r>
                <a:r>
                  <a:rPr lang="en-US" altLang="ko-KR" dirty="0"/>
                  <a:t>·</a:t>
                </a:r>
                <a:r>
                  <a:rPr lang="ko-KR" altLang="en-US" dirty="0"/>
                  <a:t>복소수와 연결 체계화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633CB01-EF62-E74C-3708-A0172FA4A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76D34E-32A7-EE98-1328-E59435CCF0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7AFA8319-4362-C404-4CB0-E6CBF12CDA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1018969"/>
                  </p:ext>
                </p:extLst>
              </p:nvPr>
            </p:nvGraphicFramePr>
            <p:xfrm>
              <a:off x="899592" y="2420888"/>
              <a:ext cx="6505575" cy="3980236"/>
            </p:xfrm>
            <a:graphic>
              <a:graphicData uri="http://schemas.openxmlformats.org/drawingml/2006/table">
                <a:tbl>
                  <a:tblPr/>
                  <a:tblGrid>
                    <a:gridCol w="1368152">
                      <a:extLst>
                        <a:ext uri="{9D8B030D-6E8A-4147-A177-3AD203B41FA5}">
                          <a16:colId xmlns:a16="http://schemas.microsoft.com/office/drawing/2014/main" val="1018270208"/>
                        </a:ext>
                      </a:extLst>
                    </a:gridCol>
                    <a:gridCol w="2448272">
                      <a:extLst>
                        <a:ext uri="{9D8B030D-6E8A-4147-A177-3AD203B41FA5}">
                          <a16:colId xmlns:a16="http://schemas.microsoft.com/office/drawing/2014/main" val="937147058"/>
                        </a:ext>
                      </a:extLst>
                    </a:gridCol>
                    <a:gridCol w="2689151">
                      <a:extLst>
                        <a:ext uri="{9D8B030D-6E8A-4147-A177-3AD203B41FA5}">
                          <a16:colId xmlns:a16="http://schemas.microsoft.com/office/drawing/2014/main" val="2324985865"/>
                        </a:ext>
                      </a:extLst>
                    </a:gridCol>
                  </a:tblGrid>
                  <a:tr h="41990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x</a:t>
                          </a:r>
                          <a:endParaRPr lang="en-US" sz="1600" dirty="0">
                            <a:effectLst/>
                          </a:endParaRPr>
                        </a:p>
                      </a:txBody>
                      <a:tcPr marL="396000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                          y</a:t>
                          </a:r>
                          <a:endParaRPr lang="en-US" sz="1600" dirty="0">
                            <a:effectLst/>
                          </a:endParaRPr>
                        </a:p>
                      </a:txBody>
                      <a:tcPr marL="396000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514667"/>
                      </a:ext>
                    </a:extLst>
                  </a:tr>
                  <a:tr h="53318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1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8000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36000" marB="36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94558037"/>
                      </a:ext>
                    </a:extLst>
                  </a:tr>
                  <a:tr h="53318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36000" marB="36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2.25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49176593"/>
                      </a:ext>
                    </a:extLst>
                  </a:tr>
                  <a:tr h="53318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3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36000" marB="36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2.370370…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2539293"/>
                      </a:ext>
                    </a:extLst>
                  </a:tr>
                  <a:tr h="53318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100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100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36000" marB="36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2.704814…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23675575"/>
                      </a:ext>
                    </a:extLst>
                  </a:tr>
                  <a:tr h="53318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10,000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10000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10000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36000" marB="36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2.718146…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8759505"/>
                      </a:ext>
                    </a:extLst>
                  </a:tr>
                  <a:tr h="53318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1,000,000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1000000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1000000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36000" marB="36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2.718280…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71461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7AFA8319-4362-C404-4CB0-E6CBF12CDA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1018969"/>
                  </p:ext>
                </p:extLst>
              </p:nvPr>
            </p:nvGraphicFramePr>
            <p:xfrm>
              <a:off x="899592" y="2420888"/>
              <a:ext cx="6505575" cy="3980236"/>
            </p:xfrm>
            <a:graphic>
              <a:graphicData uri="http://schemas.openxmlformats.org/drawingml/2006/table">
                <a:tbl>
                  <a:tblPr/>
                  <a:tblGrid>
                    <a:gridCol w="1368152">
                      <a:extLst>
                        <a:ext uri="{9D8B030D-6E8A-4147-A177-3AD203B41FA5}">
                          <a16:colId xmlns:a16="http://schemas.microsoft.com/office/drawing/2014/main" val="1018270208"/>
                        </a:ext>
                      </a:extLst>
                    </a:gridCol>
                    <a:gridCol w="2448272">
                      <a:extLst>
                        <a:ext uri="{9D8B030D-6E8A-4147-A177-3AD203B41FA5}">
                          <a16:colId xmlns:a16="http://schemas.microsoft.com/office/drawing/2014/main" val="937147058"/>
                        </a:ext>
                      </a:extLst>
                    </a:gridCol>
                    <a:gridCol w="2689151">
                      <a:extLst>
                        <a:ext uri="{9D8B030D-6E8A-4147-A177-3AD203B41FA5}">
                          <a16:colId xmlns:a16="http://schemas.microsoft.com/office/drawing/2014/main" val="2324985865"/>
                        </a:ext>
                      </a:extLst>
                    </a:gridCol>
                  </a:tblGrid>
                  <a:tr h="41990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x</a:t>
                          </a:r>
                          <a:endParaRPr lang="en-US" sz="1600" dirty="0">
                            <a:effectLst/>
                          </a:endParaRPr>
                        </a:p>
                      </a:txBody>
                      <a:tcPr marL="396000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                          y</a:t>
                          </a:r>
                          <a:endParaRPr lang="en-US" sz="1600" dirty="0">
                            <a:effectLst/>
                          </a:endParaRPr>
                        </a:p>
                      </a:txBody>
                      <a:tcPr marL="396000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514667"/>
                      </a:ext>
                    </a:extLst>
                  </a:tr>
                  <a:tr h="59301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1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8000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7988" marR="107988" marT="36000" marB="36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19" t="-72165" r="-110199" b="-5051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94558037"/>
                      </a:ext>
                    </a:extLst>
                  </a:tr>
                  <a:tr h="59346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7988" marR="107988" marT="36000" marB="36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19" t="-170408" r="-110199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2.25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49176593"/>
                      </a:ext>
                    </a:extLst>
                  </a:tr>
                  <a:tr h="59346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3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7988" marR="107988" marT="36000" marB="36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19" t="-273196" r="-110199" b="-304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2.370370…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2539293"/>
                      </a:ext>
                    </a:extLst>
                  </a:tr>
                  <a:tr h="59346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100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7988" marR="107988" marT="36000" marB="36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19" t="-369388" r="-110199" b="-20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2.704814…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23675575"/>
                      </a:ext>
                    </a:extLst>
                  </a:tr>
                  <a:tr h="59346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10,000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7988" marR="107988" marT="36000" marB="36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19" t="-474227" r="-110199" b="-103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2.718146…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8759505"/>
                      </a:ext>
                    </a:extLst>
                  </a:tr>
                  <a:tr h="593462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1,000,000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7988" marR="107988" marT="36000" marB="36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19" t="-568367" r="-110199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2.718280…</a:t>
                          </a:r>
                          <a:endParaRPr lang="ko-KR" altLang="en-US" sz="1400" dirty="0">
                            <a:effectLst/>
                          </a:endParaRPr>
                        </a:p>
                      </a:txBody>
                      <a:tcPr marL="107988" marR="10798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71461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9035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EAC95-A6C8-86AD-93BE-93182CE7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7C086-CB3A-06B0-30DF-72351EF42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15.1.1 </a:t>
            </a:r>
            <a:r>
              <a:rPr lang="ko-KR" altLang="en-US" dirty="0"/>
              <a:t>무리수 </a:t>
            </a:r>
            <a:r>
              <a:rPr lang="en-US" altLang="ko-KR" dirty="0"/>
              <a:t>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D9A60F0-E9AA-B97F-6A81-103A752E38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𝑦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=</m:t>
                    </m:r>
                    <m:sSup>
                      <m:sSup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(1 +</m:t>
                        </m:r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)</m:t>
                        </m:r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D9A60F0-E9AA-B97F-6A81-103A752E38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A1A64C-C0FD-3F45-5D06-31B066FBE5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A630DA-67F4-25EB-8722-A12467FBE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76" y="1412776"/>
            <a:ext cx="7922786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45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FD872-F442-DE1A-664C-8C7BA6DF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DA386-2667-DF17-FD96-19B8FE88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15.1.1 </a:t>
            </a:r>
            <a:r>
              <a:rPr lang="ko-KR" altLang="en-US" dirty="0"/>
              <a:t>무리수 </a:t>
            </a:r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F7EAEE-81A1-B6E7-F3E1-1D5C56678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en-US" altLang="ko-KR" dirty="0"/>
              <a:t>Convergence </a:t>
            </a:r>
            <a:r>
              <a:rPr lang="ko-KR" altLang="en-US" dirty="0"/>
              <a:t>수렴</a:t>
            </a:r>
          </a:p>
          <a:p>
            <a:pPr lvl="1"/>
            <a:r>
              <a:rPr lang="ko-KR" altLang="en-US" dirty="0"/>
              <a:t>상태에서 특정 값에 가까워지는 현상</a:t>
            </a:r>
          </a:p>
          <a:p>
            <a:endParaRPr lang="ko-KR" altLang="en-US" dirty="0"/>
          </a:p>
          <a:p>
            <a:r>
              <a:rPr lang="en-US" altLang="ko-KR" dirty="0"/>
              <a:t>Divergence </a:t>
            </a:r>
            <a:r>
              <a:rPr lang="ko-KR" altLang="en-US" dirty="0"/>
              <a:t>발산</a:t>
            </a:r>
          </a:p>
          <a:p>
            <a:pPr lvl="1"/>
            <a:r>
              <a:rPr lang="ko-KR" altLang="en-US" dirty="0"/>
              <a:t>상태에서 특정 값에 가까워지지 않는 현상</a:t>
            </a:r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자연 상수 </a:t>
            </a:r>
            <a:r>
              <a:rPr lang="en-US" altLang="ko-KR" dirty="0"/>
              <a:t>e</a:t>
            </a:r>
          </a:p>
          <a:p>
            <a:pPr lvl="1"/>
            <a:r>
              <a:rPr lang="en-US" altLang="ko-KR" dirty="0"/>
              <a:t>2.xxx </a:t>
            </a:r>
            <a:r>
              <a:rPr lang="ko-KR" altLang="en-US" dirty="0"/>
              <a:t>에 수렴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92B23F-8C4F-A8D8-9DF0-9980AAFAA4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C9AF41-9BAD-D076-31BF-726B900386B6}"/>
                  </a:ext>
                </a:extLst>
              </p:cNvPr>
              <p:cNvSpPr txBox="1"/>
              <p:nvPr/>
            </p:nvSpPr>
            <p:spPr>
              <a:xfrm>
                <a:off x="899592" y="4935089"/>
                <a:ext cx="4824536" cy="125598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32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ko-KR" sz="3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3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en-US" altLang="ko-KR" sz="3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3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ko-KR" sz="3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ko-KR" sz="3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C9AF41-9BAD-D076-31BF-726B90038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4935089"/>
                <a:ext cx="4824536" cy="12559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19B305-DAE6-79B4-3AD8-E40D918DB386}"/>
                  </a:ext>
                </a:extLst>
              </p:cNvPr>
              <p:cNvSpPr txBox="1"/>
              <p:nvPr/>
            </p:nvSpPr>
            <p:spPr>
              <a:xfrm>
                <a:off x="5614616" y="1700808"/>
                <a:ext cx="3168352" cy="81342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36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19B305-DAE6-79B4-3AD8-E40D918DB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616" y="1700808"/>
                <a:ext cx="3168352" cy="8134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339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8C919-CC42-8509-D3CB-F91A28D8E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98C80-E342-6814-30C3-A2249515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15.1.2 </a:t>
            </a:r>
            <a:r>
              <a:rPr lang="ko-KR" altLang="en-US" dirty="0"/>
              <a:t>자연지수 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4F66652-6A7F-29D9-4AE3-8AB39F3803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:r>
                  <a:rPr lang="ko-KR" altLang="en-US" dirty="0"/>
                  <a:t>거듭 제곱 표현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곱셈 항등원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을 사용에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유도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지수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인 거듭 제곱 → </a:t>
                </a:r>
                <a:r>
                  <a:rPr lang="en-US" altLang="ko-KR" dirty="0"/>
                  <a:t>1</a:t>
                </a:r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4F66652-6A7F-29D9-4AE3-8AB39F3803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751" t="-1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3A44D3-806F-1B17-137D-490105D94D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25BEBC-AC92-27F7-2E23-CBEE3D5372ED}"/>
                  </a:ext>
                </a:extLst>
              </p:cNvPr>
              <p:cNvSpPr txBox="1"/>
              <p:nvPr/>
            </p:nvSpPr>
            <p:spPr>
              <a:xfrm>
                <a:off x="683568" y="1190656"/>
                <a:ext cx="2448272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25BEBC-AC92-27F7-2E23-CBEE3D537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190656"/>
                <a:ext cx="244827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1B3366-E53F-3B99-C027-3EAEBCFF5D67}"/>
                  </a:ext>
                </a:extLst>
              </p:cNvPr>
              <p:cNvSpPr txBox="1"/>
              <p:nvPr/>
            </p:nvSpPr>
            <p:spPr>
              <a:xfrm>
                <a:off x="683568" y="1661756"/>
                <a:ext cx="2448272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1B3366-E53F-3B99-C027-3EAEBCFF5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661756"/>
                <a:ext cx="244827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E27863-E96C-3089-8896-270983484196}"/>
                  </a:ext>
                </a:extLst>
              </p:cNvPr>
              <p:cNvSpPr txBox="1"/>
              <p:nvPr/>
            </p:nvSpPr>
            <p:spPr>
              <a:xfrm>
                <a:off x="683568" y="2132856"/>
                <a:ext cx="2448272" cy="41389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E27863-E96C-3089-8896-270983484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132856"/>
                <a:ext cx="2448272" cy="413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7276F1-A9BA-EBB7-9F2E-30AD344FC6F2}"/>
                  </a:ext>
                </a:extLst>
              </p:cNvPr>
              <p:cNvSpPr txBox="1"/>
              <p:nvPr/>
            </p:nvSpPr>
            <p:spPr>
              <a:xfrm>
                <a:off x="683568" y="3452242"/>
                <a:ext cx="3846276" cy="42101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+0</m:t>
                              </m:r>
                            </m:e>
                          </m:d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7276F1-A9BA-EBB7-9F2E-30AD344FC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452242"/>
                <a:ext cx="3846276" cy="4210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8C7D84-51C5-9902-8D6B-EC5C5E392380}"/>
                  </a:ext>
                </a:extLst>
              </p:cNvPr>
              <p:cNvSpPr txBox="1"/>
              <p:nvPr/>
            </p:nvSpPr>
            <p:spPr>
              <a:xfrm>
                <a:off x="5107614" y="3401137"/>
                <a:ext cx="1831522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8C7D84-51C5-9902-8D6B-EC5C5E392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614" y="3401137"/>
                <a:ext cx="183152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BC55246-5811-5307-7F8F-F12045E0A112}"/>
              </a:ext>
            </a:extLst>
          </p:cNvPr>
          <p:cNvSpPr/>
          <p:nvPr/>
        </p:nvSpPr>
        <p:spPr bwMode="auto">
          <a:xfrm>
            <a:off x="4660615" y="3517775"/>
            <a:ext cx="321246" cy="289945"/>
          </a:xfrm>
          <a:prstGeom prst="righ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742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65E98-E3F1-85C0-CFD8-7AAA80F20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7ADF7-1E1E-AA6A-AE97-7B7913CB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15.1.2 </a:t>
            </a:r>
            <a:r>
              <a:rPr lang="ko-KR" altLang="en-US" dirty="0"/>
              <a:t>자연지수 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BBBEB6D-B2D8-3649-2179-91DC4E1BAD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:r>
                  <a:rPr lang="ko-KR" altLang="en-US" dirty="0"/>
                  <a:t>지수 함수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X: 0 </a:t>
                </a:r>
                <a:r>
                  <a:rPr lang="ko-KR" altLang="en-US" dirty="0"/>
                  <a:t>→ </a:t>
                </a:r>
                <a:r>
                  <a:rPr lang="en-US" altLang="ko-KR" dirty="0"/>
                  <a:t>1</a:t>
                </a:r>
              </a:p>
              <a:p>
                <a:pPr lvl="2"/>
                <a:endParaRPr lang="en-US" altLang="ko-KR" dirty="0"/>
              </a:p>
              <a:p>
                <a:r>
                  <a:rPr lang="ko-KR" altLang="en-US" dirty="0"/>
                  <a:t>자연지수함수</a:t>
                </a:r>
                <a:r>
                  <a:rPr lang="en-US" altLang="ko-KR" dirty="0"/>
                  <a:t>(Natural exponential function)</a:t>
                </a: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pPr lvl="1"/>
                <a:r>
                  <a:rPr lang="ko-KR" altLang="en-US" dirty="0"/>
                  <a:t>항상 </a:t>
                </a:r>
                <a:r>
                  <a:rPr lang="en-US" altLang="ko-KR" dirty="0"/>
                  <a:t>(0,1) </a:t>
                </a:r>
                <a:r>
                  <a:rPr lang="ko-KR" altLang="en-US" dirty="0"/>
                  <a:t>값을 통과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BBBEB6D-B2D8-3649-2179-91DC4E1BAD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751" t="-10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7E9BD5-9D0D-7FF7-4001-1F805B203B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E20D86-25B6-0958-9D88-4DAC5EF369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79" r="19761"/>
          <a:stretch>
            <a:fillRect/>
          </a:stretch>
        </p:blipFill>
        <p:spPr>
          <a:xfrm>
            <a:off x="5004048" y="2440450"/>
            <a:ext cx="3888432" cy="41122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BA0229-0B28-5BFC-BE30-93CA85F2363F}"/>
                  </a:ext>
                </a:extLst>
              </p:cNvPr>
              <p:cNvSpPr txBox="1"/>
              <p:nvPr/>
            </p:nvSpPr>
            <p:spPr>
              <a:xfrm>
                <a:off x="827584" y="2636912"/>
                <a:ext cx="2664296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3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BA0229-0B28-5BFC-BE30-93CA85F23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636912"/>
                <a:ext cx="266429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287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C5B4-7ED5-1943-BDC6-F6308D48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9AD3B-4B89-B94C-99C4-F54071946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 </a:t>
            </a:r>
            <a:r>
              <a:rPr lang="ko-KR" altLang="en-US" dirty="0"/>
              <a:t>미분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339D1D-1449-F500-5590-396E5F711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할선 </a:t>
            </a:r>
            <a:r>
              <a:rPr lang="en-US" altLang="ko-KR" dirty="0"/>
              <a:t>(Secant Line)</a:t>
            </a:r>
          </a:p>
          <a:p>
            <a:pPr lvl="1"/>
            <a:r>
              <a:rPr lang="ko-KR" altLang="en-US" dirty="0"/>
              <a:t>곡선 위 두 점 연결 직선</a:t>
            </a:r>
            <a:endParaRPr lang="en-US" altLang="ko-KR" dirty="0"/>
          </a:p>
          <a:p>
            <a:pPr lvl="1"/>
            <a:r>
              <a:rPr lang="ko-KR" altLang="en-US" dirty="0"/>
              <a:t>두 점 사이 평균 변화율 표현</a:t>
            </a:r>
            <a:endParaRPr lang="en-US" altLang="ko-KR" dirty="0"/>
          </a:p>
          <a:p>
            <a:pPr lvl="1"/>
            <a:r>
              <a:rPr lang="ko-KR" altLang="en-US" dirty="0"/>
              <a:t>두 점이 가까워질수록 접선에 접근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A98769-37F3-2D5B-2269-C7EDFF7BE5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1D3CB9-C344-7644-6BD4-66660383BB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96" t="2981" r="2863" b="6100"/>
          <a:stretch>
            <a:fillRect/>
          </a:stretch>
        </p:blipFill>
        <p:spPr>
          <a:xfrm>
            <a:off x="1331640" y="2766534"/>
            <a:ext cx="4563790" cy="371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86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F6CD1-2C58-C59B-5B29-BEC907DBD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5DD89-10EF-D34E-9200-3991DCC1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 </a:t>
            </a:r>
            <a:r>
              <a:rPr lang="ko-KR" altLang="en-US" dirty="0"/>
              <a:t>미분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23020F4-A4A2-EA0E-D875-43DE5829D4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:r>
                  <a:rPr lang="ko-KR" altLang="en-US" dirty="0" err="1"/>
                  <a:t>할선의</a:t>
                </a:r>
                <a:r>
                  <a:rPr lang="ko-KR" altLang="en-US" dirty="0"/>
                  <a:t> 기울기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dirty="0"/>
                  <a:t>가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dirty="0"/>
                  <a:t>로 근접 할선 변화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23020F4-A4A2-EA0E-D875-43DE5829D4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751" t="-1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73FC82-57E3-CFC0-0354-58B39BDB0C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98D15F-F354-BF61-3ED7-D463FF9F98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83" t="3911" r="6484" b="9289"/>
          <a:stretch>
            <a:fillRect/>
          </a:stretch>
        </p:blipFill>
        <p:spPr>
          <a:xfrm>
            <a:off x="4496755" y="1700808"/>
            <a:ext cx="4576440" cy="46373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5172E5-E9B9-8800-E3D1-7BE5721671DB}"/>
                  </a:ext>
                </a:extLst>
              </p:cNvPr>
              <p:cNvSpPr txBox="1"/>
              <p:nvPr/>
            </p:nvSpPr>
            <p:spPr>
              <a:xfrm>
                <a:off x="681097" y="1700808"/>
                <a:ext cx="3240360" cy="8224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5172E5-E9B9-8800-E3D1-7BE572167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97" y="1700808"/>
                <a:ext cx="3240360" cy="8224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930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0391D-CB1D-4EE4-1124-05D3F4C1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C67C2-A571-0804-D37D-51202234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 </a:t>
            </a:r>
            <a:r>
              <a:rPr lang="ko-KR" altLang="en-US" dirty="0"/>
              <a:t>미분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EFB2B6C-7B81-F870-9535-D17760EB60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sz="2400" b="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2400" dirty="0"/>
                  <a:t> 에 한 없이 가까운 </a:t>
                </a:r>
                <a14:m>
                  <m:oMath xmlns:m="http://schemas.openxmlformats.org/officeDocument/2006/math">
                    <m:r>
                      <a:rPr lang="en-US" altLang="ko-KR" sz="2400" b="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2400" dirty="0"/>
                  <a:t>가 만들어내는 접선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/>
                  <a:t>미분 계수 </a:t>
                </a:r>
                <a:r>
                  <a:rPr lang="en-US" altLang="ko-KR" sz="2400" dirty="0"/>
                  <a:t>(Differential coefficient)</a:t>
                </a:r>
              </a:p>
              <a:p>
                <a:pPr lvl="1"/>
                <a:r>
                  <a:rPr lang="ko-KR" altLang="en-US" sz="2000" dirty="0"/>
                  <a:t>함수 </a:t>
                </a:r>
                <a:r>
                  <a:rPr lang="en-US" altLang="ko-KR" sz="2000" dirty="0"/>
                  <a:t>f(x)</a:t>
                </a:r>
                <a:r>
                  <a:rPr lang="ko-KR" altLang="en-US" sz="2000" dirty="0"/>
                  <a:t>에서 </a:t>
                </a:r>
                <a:r>
                  <a:rPr lang="en-US" altLang="ko-KR" sz="2000" dirty="0"/>
                  <a:t>x = a</a:t>
                </a:r>
                <a:r>
                  <a:rPr lang="ko-KR" altLang="en-US" sz="2000" dirty="0"/>
                  <a:t>일 때의 순간 변화율</a:t>
                </a:r>
                <a:endParaRPr lang="en-US" altLang="ko-KR" sz="2000" dirty="0"/>
              </a:p>
              <a:p>
                <a:pPr lvl="1"/>
                <a:r>
                  <a:rPr lang="en-US" altLang="ko-KR" sz="2000" dirty="0"/>
                  <a:t>x</a:t>
                </a:r>
                <a:r>
                  <a:rPr lang="ko-KR" altLang="en-US" sz="2000" dirty="0"/>
                  <a:t>가 </a:t>
                </a:r>
                <a:r>
                  <a:rPr lang="en-US" altLang="ko-KR" sz="2000" dirty="0"/>
                  <a:t>a</a:t>
                </a:r>
                <a:r>
                  <a:rPr lang="ko-KR" altLang="en-US" sz="2000" dirty="0"/>
                  <a:t>에 가까워질 때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평균 변화율의 극한으로 정의</a:t>
                </a:r>
                <a:endParaRPr lang="en-US" altLang="ko-KR" sz="2000" dirty="0"/>
              </a:p>
              <a:p>
                <a:pPr lvl="1"/>
                <a:r>
                  <a:rPr lang="en-US" altLang="ko-KR" sz="2000" dirty="0"/>
                  <a:t>Ex)</a:t>
                </a:r>
                <a:r>
                  <a:rPr lang="ko-KR" altLang="en-US" sz="2000" dirty="0"/>
                  <a:t> </a:t>
                </a:r>
                <a:r>
                  <a:rPr lang="en-US" altLang="ko-KR" sz="2000" dirty="0"/>
                  <a:t>a</a:t>
                </a:r>
                <a:r>
                  <a:rPr lang="ko-KR" altLang="en-US" sz="2000" dirty="0"/>
                  <a:t>에서 미분 계수</a:t>
                </a:r>
                <a:endParaRPr lang="en-US" altLang="ko-KR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EFB2B6C-7B81-F870-9535-D17760EB6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478" t="-7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DA11D2-8B39-353D-A8C9-2EA1B469C6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056018-1326-7381-1F3B-6307C6E4C81E}"/>
                  </a:ext>
                </a:extLst>
              </p:cNvPr>
              <p:cNvSpPr txBox="1"/>
              <p:nvPr/>
            </p:nvSpPr>
            <p:spPr>
              <a:xfrm>
                <a:off x="899592" y="1492818"/>
                <a:ext cx="3240360" cy="8224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056018-1326-7381-1F3B-6307C6E4C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92818"/>
                <a:ext cx="3240360" cy="8224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929096-D117-F789-BA57-E7A3D1687688}"/>
                  </a:ext>
                </a:extLst>
              </p:cNvPr>
              <p:cNvSpPr txBox="1"/>
              <p:nvPr/>
            </p:nvSpPr>
            <p:spPr>
              <a:xfrm>
                <a:off x="899591" y="5507026"/>
                <a:ext cx="3816425" cy="80906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929096-D117-F789-BA57-E7A3D1687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1" y="5507026"/>
                <a:ext cx="3816425" cy="8090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8BB050-828B-E971-C3E0-5640A318F5BE}"/>
                  </a:ext>
                </a:extLst>
              </p:cNvPr>
              <p:cNvSpPr txBox="1"/>
              <p:nvPr/>
            </p:nvSpPr>
            <p:spPr>
              <a:xfrm>
                <a:off x="899592" y="5055567"/>
                <a:ext cx="3240360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8BB050-828B-E971-C3E0-5640A318F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5055567"/>
                <a:ext cx="3240360" cy="461665"/>
              </a:xfrm>
              <a:prstGeom prst="rect">
                <a:avLst/>
              </a:prstGeom>
              <a:blipFill>
                <a:blip r:embed="rId5"/>
                <a:stretch>
                  <a:fillRect l="-56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5E41311C-B2D7-E07F-AD7D-2592E00BFE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"/>
          <a:stretch>
            <a:fillRect/>
          </a:stretch>
        </p:blipFill>
        <p:spPr>
          <a:xfrm>
            <a:off x="5220072" y="1052736"/>
            <a:ext cx="3862312" cy="286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430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9165-752E-38E4-05A9-35EAE46E6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19C59-3222-7ECD-4B99-80C3602F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15.2.1 </a:t>
            </a:r>
            <a:r>
              <a:rPr lang="ko-KR" altLang="en-US" dirty="0"/>
              <a:t>도함수 </a:t>
            </a:r>
            <a:r>
              <a:rPr lang="en-US" altLang="ko-KR" dirty="0"/>
              <a:t>(Derivative)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41DECF-7FDB-F9AC-02C9-4CEB63ABC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수학적 의미</a:t>
            </a:r>
            <a:endParaRPr lang="en-US" altLang="ko-KR" dirty="0"/>
          </a:p>
          <a:p>
            <a:pPr lvl="1"/>
            <a:r>
              <a:rPr lang="ko-KR" altLang="en-US" dirty="0"/>
              <a:t>함수 </a:t>
            </a:r>
            <a:r>
              <a:rPr lang="en-US" altLang="ko-KR" dirty="0"/>
              <a:t>f(x)</a:t>
            </a:r>
            <a:r>
              <a:rPr lang="ko-KR" altLang="en-US" dirty="0"/>
              <a:t>의 순간 변화율을 나타내는 함수</a:t>
            </a:r>
            <a:endParaRPr lang="en-US" altLang="ko-KR" dirty="0"/>
          </a:p>
          <a:p>
            <a:pPr lvl="4"/>
            <a:endParaRPr lang="en-US" altLang="ko-KR" dirty="0"/>
          </a:p>
          <a:p>
            <a:r>
              <a:rPr lang="ko-KR" altLang="en-US" dirty="0"/>
              <a:t>기하학적 의미</a:t>
            </a:r>
            <a:endParaRPr lang="en-US" altLang="ko-KR" dirty="0"/>
          </a:p>
          <a:p>
            <a:pPr lvl="1"/>
            <a:r>
              <a:rPr lang="ko-KR" altLang="en-US" dirty="0"/>
              <a:t>곡선 위 각 점에서 접선의 기울기를 나타내는 함수</a:t>
            </a:r>
            <a:endParaRPr lang="en-US" altLang="ko-KR" dirty="0"/>
          </a:p>
          <a:p>
            <a:pPr lvl="4"/>
            <a:endParaRPr lang="en-US" altLang="ko-KR" dirty="0"/>
          </a:p>
          <a:p>
            <a:r>
              <a:rPr lang="ko-KR" altLang="en-US" dirty="0"/>
              <a:t>미분 → 도함수를 구하는 과정</a:t>
            </a:r>
            <a:endParaRPr lang="en-US" altLang="ko-KR" dirty="0"/>
          </a:p>
          <a:p>
            <a:pPr lvl="4"/>
            <a:endParaRPr lang="en-US" altLang="ko-KR" dirty="0"/>
          </a:p>
          <a:p>
            <a:r>
              <a:rPr lang="ko-KR" altLang="en-US" dirty="0"/>
              <a:t>도함수 → 미분한 결과로 얻는 함수</a:t>
            </a:r>
            <a:endParaRPr lang="en-US" altLang="ko-KR" dirty="0"/>
          </a:p>
          <a:p>
            <a:pPr lvl="4"/>
            <a:endParaRPr lang="en-US" altLang="ko-KR" dirty="0"/>
          </a:p>
          <a:p>
            <a:r>
              <a:rPr lang="ko-KR" altLang="en-US" dirty="0"/>
              <a:t>미분계수 → 특정 점에서의 도함수 값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455065-45FA-2B07-9716-4CE399DF7B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6706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D016B-90BF-5DE6-64B7-BEA5408C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A9DC9-B567-EC53-549F-E48F83025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15.2.1 </a:t>
            </a:r>
            <a:r>
              <a:rPr lang="ko-KR" altLang="en-US" dirty="0"/>
              <a:t>도함수 </a:t>
            </a:r>
            <a:r>
              <a:rPr lang="en-US" altLang="ko-KR" dirty="0"/>
              <a:t>(Derivative)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251FD9-EC0C-EADC-BE2A-F4AD83049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도함수 정의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F779CF-EFA8-E564-E667-F580167B14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683E16-3FC1-0D19-E617-39D39260166B}"/>
                  </a:ext>
                </a:extLst>
              </p:cNvPr>
              <p:cNvSpPr txBox="1"/>
              <p:nvPr/>
            </p:nvSpPr>
            <p:spPr>
              <a:xfrm>
                <a:off x="539750" y="1556792"/>
                <a:ext cx="5906363" cy="104804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683E16-3FC1-0D19-E617-39D392601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556792"/>
                <a:ext cx="5906363" cy="10480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6122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C7F7-9311-336D-D46D-9F649AAC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098CFE-E159-CDEB-44AC-5CB5E7D8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15.2.1 </a:t>
            </a:r>
            <a:r>
              <a:rPr lang="ko-KR" altLang="en-US" dirty="0"/>
              <a:t>도함수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9279547-737E-3470-8BFE-21F1ECAF45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:r>
                  <a:rPr lang="ko-KR" altLang="en-US" dirty="0"/>
                  <a:t>상수 함수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𝑦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=</m:t>
                    </m:r>
                    <m:r>
                      <a:rPr lang="en-US" altLang="ko-KR" sz="2400" b="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𝑐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9279547-737E-3470-8BFE-21F1ECAF45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751" t="-1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2FAAD4-42D8-F199-0C06-46BD14193D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5C1BD4-ABE7-2B1D-F266-3537D263FD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595"/>
          <a:stretch>
            <a:fillRect/>
          </a:stretch>
        </p:blipFill>
        <p:spPr>
          <a:xfrm>
            <a:off x="2843808" y="2636912"/>
            <a:ext cx="6056346" cy="34563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FD9AA9-269F-4BE8-8092-4F5C422DDF40}"/>
                  </a:ext>
                </a:extLst>
              </p:cNvPr>
              <p:cNvSpPr txBox="1"/>
              <p:nvPr/>
            </p:nvSpPr>
            <p:spPr>
              <a:xfrm>
                <a:off x="539751" y="1340768"/>
                <a:ext cx="3816226" cy="94468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FD9AA9-269F-4BE8-8092-4F5C422DD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1" y="1340768"/>
                <a:ext cx="3816226" cy="9446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00AB3D-8023-42D0-B641-470BDEA1809C}"/>
                  </a:ext>
                </a:extLst>
              </p:cNvPr>
              <p:cNvSpPr txBox="1"/>
              <p:nvPr/>
            </p:nvSpPr>
            <p:spPr>
              <a:xfrm>
                <a:off x="539751" y="2356136"/>
                <a:ext cx="3816226" cy="90178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altLang="ko-K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00AB3D-8023-42D0-B641-470BDEA18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1" y="2356136"/>
                <a:ext cx="3816226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739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AD1C-6840-CF6D-FF29-1069CA200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2C8CA-8C81-E2A3-24D1-4F11079B2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15.2.1 </a:t>
            </a:r>
            <a:r>
              <a:rPr lang="ko-KR" altLang="en-US" dirty="0"/>
              <a:t>도함수</a:t>
            </a:r>
            <a:r>
              <a:rPr lang="en-US" altLang="ko-KR" dirty="0"/>
              <a:t>-</a:t>
            </a:r>
            <a:r>
              <a:rPr lang="ko-KR" altLang="en-US" dirty="0"/>
              <a:t>극한의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C6057-20BB-92BF-62E5-78FBC882D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sz="2400" dirty="0"/>
              <a:t>함수의 덧셈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상수 곱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함수의 곱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함수의 나눗셈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함수의 거듭제곱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대소 관계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E1077C-F4FC-1FAA-FE97-95EA844BFA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2B3E56-4AD1-0015-567C-B44BA65FB2B3}"/>
                  </a:ext>
                </a:extLst>
              </p:cNvPr>
              <p:cNvSpPr txBox="1"/>
              <p:nvPr/>
            </p:nvSpPr>
            <p:spPr>
              <a:xfrm>
                <a:off x="2699792" y="836712"/>
                <a:ext cx="5906363" cy="49289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2B3E56-4AD1-0015-567C-B44BA65FB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836712"/>
                <a:ext cx="5906363" cy="492892"/>
              </a:xfrm>
              <a:prstGeom prst="rect">
                <a:avLst/>
              </a:prstGeom>
              <a:blipFill>
                <a:blip r:embed="rId2"/>
                <a:stretch>
                  <a:fillRect b="-123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14D44D-1CF2-E607-DCA9-A51309915CD1}"/>
                  </a:ext>
                </a:extLst>
              </p:cNvPr>
              <p:cNvSpPr txBox="1"/>
              <p:nvPr/>
            </p:nvSpPr>
            <p:spPr>
              <a:xfrm>
                <a:off x="2699792" y="1726799"/>
                <a:ext cx="5906363" cy="49289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𝑐𝑓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func>
                        <m:func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14D44D-1CF2-E607-DCA9-A51309915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1726799"/>
                <a:ext cx="5906363" cy="492892"/>
              </a:xfrm>
              <a:prstGeom prst="rect">
                <a:avLst/>
              </a:prstGeom>
              <a:blipFill>
                <a:blip r:embed="rId3"/>
                <a:stretch>
                  <a:fillRect b="-123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4535BD-94D5-5387-7B63-1D2DCD9A8E98}"/>
                  </a:ext>
                </a:extLst>
              </p:cNvPr>
              <p:cNvSpPr txBox="1"/>
              <p:nvPr/>
            </p:nvSpPr>
            <p:spPr>
              <a:xfrm>
                <a:off x="2702057" y="2616886"/>
                <a:ext cx="5906363" cy="49289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4535BD-94D5-5387-7B63-1D2DCD9A8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057" y="2616886"/>
                <a:ext cx="5906363" cy="492892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559FE5-3773-69F4-27E1-CC7341DA8A9B}"/>
                  </a:ext>
                </a:extLst>
              </p:cNvPr>
              <p:cNvSpPr txBox="1"/>
              <p:nvPr/>
            </p:nvSpPr>
            <p:spPr>
              <a:xfrm>
                <a:off x="2771800" y="3413459"/>
                <a:ext cx="5906363" cy="92153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559FE5-3773-69F4-27E1-CC7341DA8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413459"/>
                <a:ext cx="5906363" cy="9215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6D573A-B893-31AA-B928-C2557EBF259D}"/>
                  </a:ext>
                </a:extLst>
              </p:cNvPr>
              <p:cNvSpPr txBox="1"/>
              <p:nvPr/>
            </p:nvSpPr>
            <p:spPr>
              <a:xfrm>
                <a:off x="2747297" y="4562323"/>
                <a:ext cx="5906363" cy="60625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i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6D573A-B893-31AA-B928-C2557EBF2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297" y="4562323"/>
                <a:ext cx="5906363" cy="6062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DEDCEA-75AE-E64B-1D59-28DA6E8BBA58}"/>
                  </a:ext>
                </a:extLst>
              </p:cNvPr>
              <p:cNvSpPr txBox="1"/>
              <p:nvPr/>
            </p:nvSpPr>
            <p:spPr>
              <a:xfrm>
                <a:off x="395537" y="5598678"/>
                <a:ext cx="252028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DEDCEA-75AE-E64B-1D59-28DA6E8BB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7" y="5598678"/>
                <a:ext cx="2520280" cy="400110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73ECA6-1149-E897-1C05-86F88846CE30}"/>
                  </a:ext>
                </a:extLst>
              </p:cNvPr>
              <p:cNvSpPr txBox="1"/>
              <p:nvPr/>
            </p:nvSpPr>
            <p:spPr>
              <a:xfrm>
                <a:off x="2915817" y="5505896"/>
                <a:ext cx="5256583" cy="49289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⇒</m:t>
                      </m:r>
                      <m:func>
                        <m:func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73ECA6-1149-E897-1C05-86F88846C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7" y="5505896"/>
                <a:ext cx="5256583" cy="492892"/>
              </a:xfrm>
              <a:prstGeom prst="rect">
                <a:avLst/>
              </a:prstGeom>
              <a:blipFill>
                <a:blip r:embed="rId8"/>
                <a:stretch>
                  <a:fillRect b="-123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54523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F7989-49B7-E5C3-3EC1-9371649A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7EBD5-CE2F-6B43-4FAE-E9182C46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15.2.1 </a:t>
            </a:r>
            <a:r>
              <a:rPr lang="ko-KR" altLang="en-US" dirty="0"/>
              <a:t>도함수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96BDF2-3A10-FF34-DCBB-1A027AB22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sz="2400" dirty="0"/>
              <a:t>거듭 제곱 도함수</a:t>
            </a:r>
            <a:endParaRPr lang="en-US" altLang="ko-KR" sz="2400" dirty="0"/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FCF4CE-465C-7A7C-ED97-B28EFC5049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907165-68F0-AD6A-6952-0C7F79B0177B}"/>
                  </a:ext>
                </a:extLst>
              </p:cNvPr>
              <p:cNvSpPr txBox="1"/>
              <p:nvPr/>
            </p:nvSpPr>
            <p:spPr>
              <a:xfrm>
                <a:off x="526444" y="1193647"/>
                <a:ext cx="5906363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907165-68F0-AD6A-6952-0C7F79B01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44" y="1193647"/>
                <a:ext cx="5906363" cy="400110"/>
              </a:xfrm>
              <a:prstGeom prst="rect">
                <a:avLst/>
              </a:prstGeom>
              <a:blipFill>
                <a:blip r:embed="rId2"/>
                <a:stretch>
                  <a:fillRect l="-413" b="-1846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2C7848-3F06-5D25-EB4E-461012F096AA}"/>
                  </a:ext>
                </a:extLst>
              </p:cNvPr>
              <p:cNvSpPr txBox="1"/>
              <p:nvPr/>
            </p:nvSpPr>
            <p:spPr>
              <a:xfrm>
                <a:off x="610706" y="5302954"/>
                <a:ext cx="5906363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2C7848-3F06-5D25-EB4E-461012F09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06" y="5302954"/>
                <a:ext cx="590636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51E6E9-9B29-4294-F298-E02F739319D9}"/>
                  </a:ext>
                </a:extLst>
              </p:cNvPr>
              <p:cNvSpPr txBox="1"/>
              <p:nvPr/>
            </p:nvSpPr>
            <p:spPr>
              <a:xfrm>
                <a:off x="526444" y="1524557"/>
                <a:ext cx="3816226" cy="68961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51E6E9-9B29-4294-F298-E02F73931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44" y="1524557"/>
                <a:ext cx="3816226" cy="689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7CEB49-0AE3-0CCB-3A90-6C2359A98923}"/>
                  </a:ext>
                </a:extLst>
              </p:cNvPr>
              <p:cNvSpPr txBox="1"/>
              <p:nvPr/>
            </p:nvSpPr>
            <p:spPr>
              <a:xfrm>
                <a:off x="775172" y="2223790"/>
                <a:ext cx="4680520" cy="7011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7CEB49-0AE3-0CCB-3A90-6C2359A98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72" y="2223790"/>
                <a:ext cx="4680520" cy="701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B83DF07-5ECC-E0EB-E473-A60AAA558D7B}"/>
                  </a:ext>
                </a:extLst>
              </p:cNvPr>
              <p:cNvSpPr txBox="1"/>
              <p:nvPr/>
            </p:nvSpPr>
            <p:spPr>
              <a:xfrm>
                <a:off x="775172" y="2914777"/>
                <a:ext cx="4444900" cy="70923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+…+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B83DF07-5ECC-E0EB-E473-A60AAA558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72" y="2914777"/>
                <a:ext cx="4444900" cy="7092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7683A6-3AAC-32CE-B816-43D88649E359}"/>
                  </a:ext>
                </a:extLst>
              </p:cNvPr>
              <p:cNvSpPr txBox="1"/>
              <p:nvPr/>
            </p:nvSpPr>
            <p:spPr>
              <a:xfrm>
                <a:off x="775172" y="3583863"/>
                <a:ext cx="4444900" cy="70923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+…+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7683A6-3AAC-32CE-B816-43D88649E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72" y="3583863"/>
                <a:ext cx="4444900" cy="7092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B486305-0F90-E2A4-BECE-37E7E3A84FF8}"/>
                  </a:ext>
                </a:extLst>
              </p:cNvPr>
              <p:cNvSpPr txBox="1"/>
              <p:nvPr/>
            </p:nvSpPr>
            <p:spPr>
              <a:xfrm>
                <a:off x="775172" y="4420836"/>
                <a:ext cx="4444900" cy="49879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B486305-0F90-E2A4-BECE-37E7E3A84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72" y="4420836"/>
                <a:ext cx="4444900" cy="498791"/>
              </a:xfrm>
              <a:prstGeom prst="rect">
                <a:avLst/>
              </a:prstGeom>
              <a:blipFill>
                <a:blip r:embed="rId8"/>
                <a:stretch>
                  <a:fillRect b="-243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D0CAFD-2B2E-5735-DBD0-88B6E8B89DBD}"/>
                  </a:ext>
                </a:extLst>
              </p:cNvPr>
              <p:cNvSpPr txBox="1"/>
              <p:nvPr/>
            </p:nvSpPr>
            <p:spPr>
              <a:xfrm>
                <a:off x="3563888" y="4420836"/>
                <a:ext cx="444490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D0CAFD-2B2E-5735-DBD0-88B6E8B89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4420836"/>
                <a:ext cx="4444900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550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134F-2C68-1E14-3793-E5A7A1D99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A9FA6-4060-0F76-3C67-240F4952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15.2.2 </a:t>
            </a:r>
            <a:r>
              <a:rPr lang="ko-KR" altLang="en-US" dirty="0"/>
              <a:t>자연지수의 도함수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8A453-21EE-758A-C4AB-9CBA18C96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지수 함수 도함수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91BCAC-595B-70FF-5F45-6022534189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7AE645-43DB-56AB-5F62-DF5FA1CCDCB7}"/>
                  </a:ext>
                </a:extLst>
              </p:cNvPr>
              <p:cNvSpPr txBox="1"/>
              <p:nvPr/>
            </p:nvSpPr>
            <p:spPr>
              <a:xfrm>
                <a:off x="4788025" y="1271091"/>
                <a:ext cx="1957324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7AE645-43DB-56AB-5F62-DF5FA1CCD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5" y="1271091"/>
                <a:ext cx="1957324" cy="400110"/>
              </a:xfrm>
              <a:prstGeom prst="rect">
                <a:avLst/>
              </a:prstGeom>
              <a:blipFill>
                <a:blip r:embed="rId2"/>
                <a:stretch>
                  <a:fillRect l="-1242" b="-1846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86D5B2-8D2F-895F-EFE1-38EF6C6A3D92}"/>
                  </a:ext>
                </a:extLst>
              </p:cNvPr>
              <p:cNvSpPr txBox="1"/>
              <p:nvPr/>
            </p:nvSpPr>
            <p:spPr>
              <a:xfrm>
                <a:off x="4499992" y="4833512"/>
                <a:ext cx="3262221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86D5B2-8D2F-895F-EFE1-38EF6C6A3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4833512"/>
                <a:ext cx="326222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222BF4-66A0-A6B5-9E9B-CF1ECBA3193C}"/>
                  </a:ext>
                </a:extLst>
              </p:cNvPr>
              <p:cNvSpPr txBox="1"/>
              <p:nvPr/>
            </p:nvSpPr>
            <p:spPr>
              <a:xfrm>
                <a:off x="4788024" y="1725053"/>
                <a:ext cx="2893428" cy="71628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222BF4-66A0-A6B5-9E9B-CF1ECBA31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1725053"/>
                <a:ext cx="2893428" cy="716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98DB25-4B08-BD5F-2A57-D90EFF5E4CDA}"/>
                  </a:ext>
                </a:extLst>
              </p:cNvPr>
              <p:cNvSpPr txBox="1"/>
              <p:nvPr/>
            </p:nvSpPr>
            <p:spPr>
              <a:xfrm>
                <a:off x="5449204" y="2495191"/>
                <a:ext cx="2376264" cy="72750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sup>
                                  </m:s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98DB25-4B08-BD5F-2A57-D90EFF5E4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204" y="2495191"/>
                <a:ext cx="2376264" cy="7275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BA9C0B-C2EE-7DE7-3803-7ECB4BE979EB}"/>
                  </a:ext>
                </a:extLst>
              </p:cNvPr>
              <p:cNvSpPr txBox="1"/>
              <p:nvPr/>
            </p:nvSpPr>
            <p:spPr>
              <a:xfrm>
                <a:off x="5452942" y="3276550"/>
                <a:ext cx="3072167" cy="72750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sup>
                                  </m:s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  = </m:t>
                          </m:r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ko-KR" altLang="en-US" sz="20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BA9C0B-C2EE-7DE7-3803-7ECB4BE97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942" y="3276550"/>
                <a:ext cx="3072167" cy="7275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748C43-177C-DB92-20A1-0C6541A99B82}"/>
                  </a:ext>
                </a:extLst>
              </p:cNvPr>
              <p:cNvSpPr txBox="1"/>
              <p:nvPr/>
            </p:nvSpPr>
            <p:spPr>
              <a:xfrm>
                <a:off x="467544" y="1124744"/>
                <a:ext cx="3672408" cy="74680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sup>
                          </m:sSup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748C43-177C-DB92-20A1-0C6541A99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124744"/>
                <a:ext cx="3672408" cy="7468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7811AB-6861-31F6-B20F-3EF44A240AA2}"/>
                  </a:ext>
                </a:extLst>
              </p:cNvPr>
              <p:cNvSpPr txBox="1"/>
              <p:nvPr/>
            </p:nvSpPr>
            <p:spPr>
              <a:xfrm>
                <a:off x="467544" y="2763830"/>
                <a:ext cx="4464496" cy="46448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8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e>
                    </m:func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</m:func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func>
                    <m:r>
                      <a:rPr lang="en-US" altLang="ko-KR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altLang="ko-KR" sz="1800" dirty="0"/>
                  <a:t>+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8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</m:func>
                  </m:oMath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7811AB-6861-31F6-B20F-3EF44A240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763830"/>
                <a:ext cx="4464496" cy="464486"/>
              </a:xfrm>
              <a:prstGeom prst="rect">
                <a:avLst/>
              </a:prstGeom>
              <a:blipFill>
                <a:blip r:embed="rId8"/>
                <a:stretch>
                  <a:fillRect t="-7792" b="-129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ABFD2A-55A1-437A-EEB6-0B84C4E7D68D}"/>
                  </a:ext>
                </a:extLst>
              </p:cNvPr>
              <p:cNvSpPr txBox="1"/>
              <p:nvPr/>
            </p:nvSpPr>
            <p:spPr>
              <a:xfrm>
                <a:off x="467544" y="2025207"/>
                <a:ext cx="3024336" cy="58496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</m:fun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sup>
                          </m:sSup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ABFD2A-55A1-437A-EEB6-0B84C4E7D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025207"/>
                <a:ext cx="3024336" cy="5849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33A22D-EB36-FBCF-C8CC-784FE1EA915A}"/>
                  </a:ext>
                </a:extLst>
              </p:cNvPr>
              <p:cNvSpPr txBox="1"/>
              <p:nvPr/>
            </p:nvSpPr>
            <p:spPr>
              <a:xfrm>
                <a:off x="467544" y="4000113"/>
                <a:ext cx="2613495" cy="47295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p>
                              </m:s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33A22D-EB36-FBCF-C8CC-784FE1EA9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000113"/>
                <a:ext cx="2613495" cy="472950"/>
              </a:xfrm>
              <a:prstGeom prst="rect">
                <a:avLst/>
              </a:prstGeom>
              <a:blipFill>
                <a:blip r:embed="rId10"/>
                <a:stretch>
                  <a:fillRect b="-128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39F7C9D-B6EF-2E0C-964C-C8739A729618}"/>
                  </a:ext>
                </a:extLst>
              </p:cNvPr>
              <p:cNvSpPr txBox="1"/>
              <p:nvPr/>
            </p:nvSpPr>
            <p:spPr>
              <a:xfrm>
                <a:off x="467544" y="3381971"/>
                <a:ext cx="3277218" cy="46448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p>
                          </m:sSup>
                        </m:e>
                      </m:fun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39F7C9D-B6EF-2E0C-964C-C8739A729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381971"/>
                <a:ext cx="3277218" cy="464486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7CE331E-6CC7-86C2-E5B9-B6E8D562B91A}"/>
                  </a:ext>
                </a:extLst>
              </p:cNvPr>
              <p:cNvSpPr txBox="1"/>
              <p:nvPr/>
            </p:nvSpPr>
            <p:spPr>
              <a:xfrm>
                <a:off x="5452942" y="4054837"/>
                <a:ext cx="3072167" cy="7786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= 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→0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</m:s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→0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r>
                  <a:rPr lang="en-US" altLang="ko-KR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   = </m:t>
                    </m:r>
                    <m:sSup>
                      <m:sSup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7CE331E-6CC7-86C2-E5B9-B6E8D562B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942" y="4054837"/>
                <a:ext cx="3072167" cy="7786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518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16A26-02F3-F57E-0A03-3FD62442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4AC08-D992-A61B-C26F-75D32E81E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15.2.3 sin </a:t>
            </a:r>
            <a:r>
              <a:rPr lang="ko-KR" altLang="en-US" dirty="0"/>
              <a:t>함수와 </a:t>
            </a:r>
            <a:r>
              <a:rPr lang="en-US" altLang="ko-KR" dirty="0"/>
              <a:t>cos </a:t>
            </a:r>
            <a:r>
              <a:rPr lang="ko-KR" altLang="en-US" dirty="0"/>
              <a:t>함수의 도함수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BAEF72-B8B1-551B-4D8F-2ADBF8659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en-US" altLang="ko-KR" dirty="0"/>
              <a:t>sin </a:t>
            </a:r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도함수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33F2FD-8DA0-082B-DA87-CABD305AC5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D45AE6-872E-64A6-B9FE-CB549890B20F}"/>
                  </a:ext>
                </a:extLst>
              </p:cNvPr>
              <p:cNvSpPr txBox="1"/>
              <p:nvPr/>
            </p:nvSpPr>
            <p:spPr>
              <a:xfrm>
                <a:off x="611560" y="1261892"/>
                <a:ext cx="5976664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2⋅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D45AE6-872E-64A6-B9FE-CB549890B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261892"/>
                <a:ext cx="5976664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D2A645-FD30-EBB3-7C08-E0A8689C9A3B}"/>
                  </a:ext>
                </a:extLst>
              </p:cNvPr>
              <p:cNvSpPr txBox="1"/>
              <p:nvPr/>
            </p:nvSpPr>
            <p:spPr>
              <a:xfrm>
                <a:off x="611560" y="1695570"/>
                <a:ext cx="2592288" cy="7255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D2A645-FD30-EBB3-7C08-E0A8689C9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695570"/>
                <a:ext cx="2592288" cy="725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45E626-5AA9-E215-F755-8D0B3692C2E5}"/>
                  </a:ext>
                </a:extLst>
              </p:cNvPr>
              <p:cNvSpPr txBox="1"/>
              <p:nvPr/>
            </p:nvSpPr>
            <p:spPr>
              <a:xfrm>
                <a:off x="611560" y="3861048"/>
                <a:ext cx="2592288" cy="7255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45E626-5AA9-E215-F755-8D0B3692C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861048"/>
                <a:ext cx="2592288" cy="725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178C80F-D977-A13C-6682-0944771AD8AA}"/>
                  </a:ext>
                </a:extLst>
              </p:cNvPr>
              <p:cNvSpPr txBox="1"/>
              <p:nvPr/>
            </p:nvSpPr>
            <p:spPr>
              <a:xfrm>
                <a:off x="611560" y="3305227"/>
                <a:ext cx="5976664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2⋅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178C80F-D977-A13C-6682-0944771AD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305227"/>
                <a:ext cx="597666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7569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B4C37-EC8C-7E1D-4574-9CDD1F060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D8605-FDF6-1135-4492-2259BAC2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15.2.3 sin </a:t>
            </a:r>
            <a:r>
              <a:rPr lang="ko-KR" altLang="en-US" dirty="0"/>
              <a:t>함수와 </a:t>
            </a:r>
            <a:r>
              <a:rPr lang="en-US" altLang="ko-KR" dirty="0"/>
              <a:t>cos </a:t>
            </a:r>
            <a:r>
              <a:rPr lang="ko-KR" altLang="en-US" dirty="0"/>
              <a:t>함수의 도함수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CFA85F-4C9B-107D-0B61-32DA75205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en-US" altLang="ko-KR" dirty="0"/>
              <a:t>sin </a:t>
            </a:r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도함수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4AA177-E8FE-63E1-CB57-E3445B1253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A05797-A191-251E-F224-19FD3439910D}"/>
                  </a:ext>
                </a:extLst>
              </p:cNvPr>
              <p:cNvSpPr txBox="1"/>
              <p:nvPr/>
            </p:nvSpPr>
            <p:spPr>
              <a:xfrm>
                <a:off x="755576" y="1283930"/>
                <a:ext cx="2350835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A05797-A191-251E-F224-19FD34399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283930"/>
                <a:ext cx="2350835" cy="400110"/>
              </a:xfrm>
              <a:prstGeom prst="rect">
                <a:avLst/>
              </a:prstGeom>
              <a:blipFill>
                <a:blip r:embed="rId2"/>
                <a:stretch>
                  <a:fillRect l="-1295" b="-1846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E189CA-5A4E-55E4-2F5B-3A20E0D88A4A}"/>
                  </a:ext>
                </a:extLst>
              </p:cNvPr>
              <p:cNvSpPr txBox="1"/>
              <p:nvPr/>
            </p:nvSpPr>
            <p:spPr>
              <a:xfrm>
                <a:off x="755576" y="1871769"/>
                <a:ext cx="5184576" cy="72750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−−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E189CA-5A4E-55E4-2F5B-3A20E0D88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871769"/>
                <a:ext cx="5184576" cy="7275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D825E9-A52B-370B-A47E-F2DB1DA57A4D}"/>
                  </a:ext>
                </a:extLst>
              </p:cNvPr>
              <p:cNvSpPr txBox="1"/>
              <p:nvPr/>
            </p:nvSpPr>
            <p:spPr>
              <a:xfrm>
                <a:off x="755576" y="2852936"/>
                <a:ext cx="2746163" cy="72750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D825E9-A52B-370B-A47E-F2DB1DA57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852936"/>
                <a:ext cx="2746163" cy="7275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50B8C-0503-93ED-57FB-D3BDBB679D5E}"/>
                  </a:ext>
                </a:extLst>
              </p:cNvPr>
              <p:cNvSpPr txBox="1"/>
              <p:nvPr/>
            </p:nvSpPr>
            <p:spPr>
              <a:xfrm>
                <a:off x="755576" y="3757723"/>
                <a:ext cx="2746163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50B8C-0503-93ED-57FB-D3BDBB679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757723"/>
                <a:ext cx="274616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6063E4-F945-DA25-F304-7E1143729C8A}"/>
                  </a:ext>
                </a:extLst>
              </p:cNvPr>
              <p:cNvSpPr txBox="1"/>
              <p:nvPr/>
            </p:nvSpPr>
            <p:spPr>
              <a:xfrm>
                <a:off x="755576" y="4460909"/>
                <a:ext cx="3312368" cy="55226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6063E4-F945-DA25-F304-7E1143729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460909"/>
                <a:ext cx="3312368" cy="5522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4263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C5488-43AD-386F-014C-B8DE5300F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5906F-AC2D-795E-C509-B024CB06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15.2.3 sin </a:t>
            </a:r>
            <a:r>
              <a:rPr lang="ko-KR" altLang="en-US" dirty="0"/>
              <a:t>함수와 </a:t>
            </a:r>
            <a:r>
              <a:rPr lang="en-US" altLang="ko-KR" dirty="0"/>
              <a:t>cos </a:t>
            </a:r>
            <a:r>
              <a:rPr lang="ko-KR" altLang="en-US" dirty="0"/>
              <a:t>함수의 도함수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4FD47A-4E01-06DB-16D5-B688F3680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en-US" altLang="ko-KR" dirty="0"/>
              <a:t>cos </a:t>
            </a:r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도함수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sin, cos  </a:t>
            </a:r>
            <a:r>
              <a:rPr lang="ko-KR" altLang="en-US" dirty="0"/>
              <a:t>도함수 특징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435C6A-7E97-0CC8-5244-DE83E6484B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69B0B5-3222-1FF8-91F4-EB9047932AE1}"/>
                  </a:ext>
                </a:extLst>
              </p:cNvPr>
              <p:cNvSpPr txBox="1"/>
              <p:nvPr/>
            </p:nvSpPr>
            <p:spPr>
              <a:xfrm>
                <a:off x="539750" y="1348381"/>
                <a:ext cx="2350835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69B0B5-3222-1FF8-91F4-EB9047932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348381"/>
                <a:ext cx="2350835" cy="400110"/>
              </a:xfrm>
              <a:prstGeom prst="rect">
                <a:avLst/>
              </a:prstGeom>
              <a:blipFill>
                <a:blip r:embed="rId2"/>
                <a:stretch>
                  <a:fillRect l="-1299" b="-1666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D1CAE7-B813-BE9A-1CD4-F43577C614F4}"/>
                  </a:ext>
                </a:extLst>
              </p:cNvPr>
              <p:cNvSpPr txBox="1"/>
              <p:nvPr/>
            </p:nvSpPr>
            <p:spPr>
              <a:xfrm>
                <a:off x="539750" y="1936220"/>
                <a:ext cx="2880122" cy="7255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D1CAE7-B813-BE9A-1CD4-F43577C61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936220"/>
                <a:ext cx="2880122" cy="725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02BC4C-8988-8043-5AD0-6D2E91DD23A3}"/>
                  </a:ext>
                </a:extLst>
              </p:cNvPr>
              <p:cNvSpPr txBox="1"/>
              <p:nvPr/>
            </p:nvSpPr>
            <p:spPr>
              <a:xfrm>
                <a:off x="539750" y="2678220"/>
                <a:ext cx="2880122" cy="72750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02BC4C-8988-8043-5AD0-6D2E91DD2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2678220"/>
                <a:ext cx="2880122" cy="7275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8A157C-40B7-BB35-3833-7B2231F743CA}"/>
                  </a:ext>
                </a:extLst>
              </p:cNvPr>
              <p:cNvSpPr txBox="1"/>
              <p:nvPr/>
            </p:nvSpPr>
            <p:spPr>
              <a:xfrm>
                <a:off x="539750" y="3439295"/>
                <a:ext cx="2880122" cy="72750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8A157C-40B7-BB35-3833-7B2231F74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3439295"/>
                <a:ext cx="2880122" cy="7275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AA42D6-B14E-4904-1844-8EB468ABA554}"/>
                  </a:ext>
                </a:extLst>
              </p:cNvPr>
              <p:cNvSpPr txBox="1"/>
              <p:nvPr/>
            </p:nvSpPr>
            <p:spPr>
              <a:xfrm>
                <a:off x="4640896" y="2932811"/>
                <a:ext cx="2692535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AA42D6-B14E-4904-1844-8EB468ABA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896" y="2932811"/>
                <a:ext cx="269253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C3EF80-DD8C-1FA1-C241-C69A22C71F72}"/>
                  </a:ext>
                </a:extLst>
              </p:cNvPr>
              <p:cNvSpPr txBox="1"/>
              <p:nvPr/>
            </p:nvSpPr>
            <p:spPr>
              <a:xfrm>
                <a:off x="539750" y="4203543"/>
                <a:ext cx="2880122" cy="72750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C3EF80-DD8C-1FA1-C241-C69A22C71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4203543"/>
                <a:ext cx="2880122" cy="7275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90BC62-68D8-C03B-BC56-A4738986DDDF}"/>
                  </a:ext>
                </a:extLst>
              </p:cNvPr>
              <p:cNvSpPr txBox="1"/>
              <p:nvPr/>
            </p:nvSpPr>
            <p:spPr>
              <a:xfrm>
                <a:off x="4640896" y="1124744"/>
                <a:ext cx="3165331" cy="72750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90BC62-68D8-C03B-BC56-A4738986D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896" y="1124744"/>
                <a:ext cx="3165331" cy="7275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A013B0-544D-DA0E-D781-4DEBF1D8AC16}"/>
                  </a:ext>
                </a:extLst>
              </p:cNvPr>
              <p:cNvSpPr txBox="1"/>
              <p:nvPr/>
            </p:nvSpPr>
            <p:spPr>
              <a:xfrm>
                <a:off x="4640896" y="2028778"/>
                <a:ext cx="3165331" cy="72750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=−1⋅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A013B0-544D-DA0E-D781-4DEBF1D8A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896" y="2028778"/>
                <a:ext cx="3165331" cy="7275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15FE42-0EF6-8E81-74F5-A983480CC736}"/>
                  </a:ext>
                </a:extLst>
              </p:cNvPr>
              <p:cNvSpPr txBox="1"/>
              <p:nvPr/>
            </p:nvSpPr>
            <p:spPr>
              <a:xfrm>
                <a:off x="572746" y="5906581"/>
                <a:ext cx="4143270" cy="55226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15FE42-0EF6-8E81-74F5-A983480CC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46" y="5906581"/>
                <a:ext cx="4143270" cy="55226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727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F73D-868E-543E-6F7C-898CE2192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5D3C3-A273-3DC2-33F3-9A7396435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15.2.3 sin </a:t>
            </a:r>
            <a:r>
              <a:rPr lang="ko-KR" altLang="en-US" dirty="0"/>
              <a:t>함수와 </a:t>
            </a:r>
            <a:r>
              <a:rPr lang="en-US" altLang="ko-KR" dirty="0"/>
              <a:t>cos </a:t>
            </a:r>
            <a:r>
              <a:rPr lang="ko-KR" altLang="en-US" dirty="0"/>
              <a:t>함수의 도함수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8A5488-2352-122A-6E95-209ED8EEC7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:r>
                  <a:rPr lang="ko-KR" altLang="en-US" dirty="0"/>
                  <a:t>반지름이 </a:t>
                </a:r>
                <a:r>
                  <a:rPr lang="en-US" altLang="ko-KR" dirty="0"/>
                  <a:t>1,</a:t>
                </a:r>
                <a:br>
                  <a:rPr lang="en-US" altLang="ko-KR" dirty="0"/>
                </a:br>
                <a:r>
                  <a:rPr lang="ko-KR" altLang="en-US" dirty="0"/>
                  <a:t>중심각이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/>
                  <a:t>인 부채꼴의 넓이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부채꼴에 포함된</a:t>
                </a:r>
                <a:br>
                  <a:rPr lang="en-US" altLang="ko-KR" dirty="0"/>
                </a:br>
                <a:r>
                  <a:rPr lang="ko-KR" altLang="en-US" dirty="0"/>
                  <a:t>삼각형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ko-KR" altLang="en-US" dirty="0"/>
                  <a:t>의 넓이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8A5488-2352-122A-6E95-209ED8EEC7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751" t="-1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EE12C2-32C6-DA90-2722-CEFFCF6A5F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EA2B95-A06C-3375-2999-A90D40AEB9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33" t="7691" r="7981" b="7693"/>
          <a:stretch>
            <a:fillRect/>
          </a:stretch>
        </p:blipFill>
        <p:spPr>
          <a:xfrm>
            <a:off x="4821238" y="677536"/>
            <a:ext cx="3168352" cy="27514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EEAA17-38C5-9171-C60D-7F2F642224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77" t="2243" r="8044" b="3552"/>
          <a:stretch>
            <a:fillRect/>
          </a:stretch>
        </p:blipFill>
        <p:spPr>
          <a:xfrm>
            <a:off x="4427984" y="3518890"/>
            <a:ext cx="3456384" cy="30243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998768-F6B7-D582-0119-F11FE54B7174}"/>
                  </a:ext>
                </a:extLst>
              </p:cNvPr>
              <p:cNvSpPr txBox="1"/>
              <p:nvPr/>
            </p:nvSpPr>
            <p:spPr>
              <a:xfrm>
                <a:off x="755576" y="1988840"/>
                <a:ext cx="3168352" cy="78694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𝐴𝑟𝑒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998768-F6B7-D582-0119-F11FE54B7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988840"/>
                <a:ext cx="3168352" cy="7869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A901E4-DE39-1DB2-38AB-2D7B3CD84EA7}"/>
                  </a:ext>
                </a:extLst>
              </p:cNvPr>
              <p:cNvSpPr txBox="1"/>
              <p:nvPr/>
            </p:nvSpPr>
            <p:spPr>
              <a:xfrm>
                <a:off x="567815" y="4941168"/>
                <a:ext cx="3168352" cy="78694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𝐴𝑟𝑒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A901E4-DE39-1DB2-38AB-2D7B3CD84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15" y="4941168"/>
                <a:ext cx="3168352" cy="7869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69588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BAFFC-B27F-5D66-502D-2B3971E3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2D441-5699-3903-0F51-2195ADC55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15.2.3 sin </a:t>
            </a:r>
            <a:r>
              <a:rPr lang="ko-KR" altLang="en-US" dirty="0"/>
              <a:t>함수와 </a:t>
            </a:r>
            <a:r>
              <a:rPr lang="en-US" altLang="ko-KR" dirty="0"/>
              <a:t>cos </a:t>
            </a:r>
            <a:r>
              <a:rPr lang="ko-KR" altLang="en-US" dirty="0"/>
              <a:t>함수의 도함수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0D5BAB-A90C-274A-E32C-769F7E856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삼각형에 포함된 부채꼴의 넓이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899B5E-814E-1765-0E27-53262DD285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8B1D7D-6885-61E3-88E8-C7D91DB8A4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69" t="3320" r="7452" b="1136"/>
          <a:stretch>
            <a:fillRect/>
          </a:stretch>
        </p:blipFill>
        <p:spPr>
          <a:xfrm>
            <a:off x="5043258" y="520700"/>
            <a:ext cx="3888433" cy="34563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3C2527-4624-9222-2120-5F8FBA96E6FD}"/>
                  </a:ext>
                </a:extLst>
              </p:cNvPr>
              <p:cNvSpPr txBox="1"/>
              <p:nvPr/>
            </p:nvSpPr>
            <p:spPr>
              <a:xfrm>
                <a:off x="921069" y="1196752"/>
                <a:ext cx="2821113" cy="78694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𝐴𝑟𝑒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3C2527-4624-9222-2120-5F8FBA96E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69" y="1196752"/>
                <a:ext cx="2821113" cy="7869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C73502-F762-CDEE-5475-C92E1E0AEB6A}"/>
                  </a:ext>
                </a:extLst>
              </p:cNvPr>
              <p:cNvSpPr txBox="1"/>
              <p:nvPr/>
            </p:nvSpPr>
            <p:spPr>
              <a:xfrm>
                <a:off x="416579" y="2132856"/>
                <a:ext cx="3156130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𝐴𝑟𝑒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𝐴𝑟𝑒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𝐴𝑟𝑒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C73502-F762-CDEE-5475-C92E1E0AE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79" y="2132856"/>
                <a:ext cx="3156130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5FED88-1A96-F4A9-3744-841D42DF95DA}"/>
                  </a:ext>
                </a:extLst>
              </p:cNvPr>
              <p:cNvSpPr txBox="1"/>
              <p:nvPr/>
            </p:nvSpPr>
            <p:spPr>
              <a:xfrm>
                <a:off x="416579" y="3356992"/>
                <a:ext cx="2427229" cy="61510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ko-KR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ko-KR" alt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5FED88-1A96-F4A9-3744-841D42DF9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79" y="3356992"/>
                <a:ext cx="2427229" cy="6151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6ADF42-2980-C4B6-2D2A-4773DCF36794}"/>
                  </a:ext>
                </a:extLst>
              </p:cNvPr>
              <p:cNvSpPr txBox="1"/>
              <p:nvPr/>
            </p:nvSpPr>
            <p:spPr>
              <a:xfrm>
                <a:off x="416579" y="2636912"/>
                <a:ext cx="3156130" cy="61324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ko-KR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ko-KR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6ADF42-2980-C4B6-2D2A-4773DCF36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79" y="2636912"/>
                <a:ext cx="3156130" cy="6132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8B951C-0B3E-FB31-8216-C5A133DB20C2}"/>
                  </a:ext>
                </a:extLst>
              </p:cNvPr>
              <p:cNvSpPr txBox="1"/>
              <p:nvPr/>
            </p:nvSpPr>
            <p:spPr>
              <a:xfrm>
                <a:off x="416579" y="3959759"/>
                <a:ext cx="3651365" cy="61510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ko-KR" alt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ko-KR" alt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fun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</m:e>
                      </m:fun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8B951C-0B3E-FB31-8216-C5A133DB2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79" y="3959759"/>
                <a:ext cx="3651365" cy="6151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DF84C3-9221-EF5F-9945-0F873983E5B6}"/>
                  </a:ext>
                </a:extLst>
              </p:cNvPr>
              <p:cNvSpPr txBox="1"/>
              <p:nvPr/>
            </p:nvSpPr>
            <p:spPr>
              <a:xfrm>
                <a:off x="440055" y="5368727"/>
                <a:ext cx="1912715" cy="78931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ko-KR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DF84C3-9221-EF5F-9945-0F873983E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55" y="5368727"/>
                <a:ext cx="1912715" cy="7893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5A39BA-9B44-8E2F-4D31-B93BF313DBDD}"/>
                  </a:ext>
                </a:extLst>
              </p:cNvPr>
              <p:cNvSpPr txBox="1"/>
              <p:nvPr/>
            </p:nvSpPr>
            <p:spPr>
              <a:xfrm>
                <a:off x="416579" y="4670707"/>
                <a:ext cx="3651365" cy="61510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</m:e>
                      </m:fun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5A39BA-9B44-8E2F-4D31-B93BF313D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79" y="4670707"/>
                <a:ext cx="3651365" cy="6151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01314E5-66D4-6294-E6FA-A3C7F97ADB83}"/>
                  </a:ext>
                </a:extLst>
              </p:cNvPr>
              <p:cNvSpPr txBox="1"/>
              <p:nvPr/>
            </p:nvSpPr>
            <p:spPr>
              <a:xfrm>
                <a:off x="4193987" y="4093171"/>
                <a:ext cx="4882817" cy="72032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ko-KR" alt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ko-KR" alt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ko-KR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8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ko-KR" alt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ko-KR" alt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limLow>
                            <m:limLow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800" b="0" i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ko-KR" alt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ko-KR" alt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01314E5-66D4-6294-E6FA-A3C7F97AD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987" y="4093171"/>
                <a:ext cx="4882817" cy="7203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2BB693-B289-4663-89AA-8AB5DAFA3EFE}"/>
                  </a:ext>
                </a:extLst>
              </p:cNvPr>
              <p:cNvSpPr txBox="1"/>
              <p:nvPr/>
            </p:nvSpPr>
            <p:spPr>
              <a:xfrm>
                <a:off x="4214994" y="4813496"/>
                <a:ext cx="4882817" cy="61510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func>
                                <m:func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</m:e>
                      </m:func>
                      <m:r>
                        <a:rPr lang="en-US" altLang="ko-KR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800" b="0" i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ko-KR" altLang="en-US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2BB693-B289-4663-89AA-8AB5DAFA3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994" y="4813496"/>
                <a:ext cx="4882817" cy="6151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B911BFA-860E-4C43-9DAA-7BEE26625379}"/>
                  </a:ext>
                </a:extLst>
              </p:cNvPr>
              <p:cNvSpPr txBox="1"/>
              <p:nvPr/>
            </p:nvSpPr>
            <p:spPr>
              <a:xfrm>
                <a:off x="4202205" y="5445617"/>
                <a:ext cx="4428996" cy="45320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fun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</m:t>
                              </m:r>
                              <m:d>
                                <m:d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B911BFA-860E-4C43-9DAA-7BEE26625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205" y="5445617"/>
                <a:ext cx="4428996" cy="453201"/>
              </a:xfrm>
              <a:prstGeom prst="rect">
                <a:avLst/>
              </a:prstGeom>
              <a:blipFill>
                <a:blip r:embed="rId12"/>
                <a:stretch>
                  <a:fillRect b="-4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00134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CE4AE-843B-A161-F0E4-E73A37DF5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803DC-EB73-F6C9-F449-91084142C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15.2.3 sin </a:t>
            </a:r>
            <a:r>
              <a:rPr lang="ko-KR" altLang="en-US" dirty="0"/>
              <a:t>함수와 </a:t>
            </a:r>
            <a:r>
              <a:rPr lang="en-US" altLang="ko-KR" dirty="0"/>
              <a:t>cos </a:t>
            </a:r>
            <a:r>
              <a:rPr lang="ko-KR" altLang="en-US" dirty="0"/>
              <a:t>함수의 도함수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7FC8D1-6257-5456-6D70-3387493CC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en-US" altLang="ko-KR" dirty="0"/>
              <a:t>sin </a:t>
            </a:r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도함수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A5FC9F-A838-E48F-84F8-49AC43BE6A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E70B19-D862-8AFC-2064-69CBF586963A}"/>
                  </a:ext>
                </a:extLst>
              </p:cNvPr>
              <p:cNvSpPr txBox="1"/>
              <p:nvPr/>
            </p:nvSpPr>
            <p:spPr>
              <a:xfrm>
                <a:off x="539552" y="1340768"/>
                <a:ext cx="2920825" cy="66646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E70B19-D862-8AFC-2064-69CBF5869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340768"/>
                <a:ext cx="2920825" cy="6664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CBEA30-E38D-4921-D53E-408F1C8B4403}"/>
                  </a:ext>
                </a:extLst>
              </p:cNvPr>
              <p:cNvSpPr txBox="1"/>
              <p:nvPr/>
            </p:nvSpPr>
            <p:spPr>
              <a:xfrm>
                <a:off x="2653213" y="1473945"/>
                <a:ext cx="2350835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CBEA30-E38D-4921-D53E-408F1C8B4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213" y="1473945"/>
                <a:ext cx="2350835" cy="400110"/>
              </a:xfrm>
              <a:prstGeom prst="rect">
                <a:avLst/>
              </a:prstGeom>
              <a:blipFill>
                <a:blip r:embed="rId3"/>
                <a:stretch>
                  <a:fillRect l="-1036" b="-1846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8D27F0-12E6-17ED-434B-B69E58D4ABA0}"/>
                  </a:ext>
                </a:extLst>
              </p:cNvPr>
              <p:cNvSpPr txBox="1"/>
              <p:nvPr/>
            </p:nvSpPr>
            <p:spPr>
              <a:xfrm>
                <a:off x="611560" y="2196938"/>
                <a:ext cx="4248472" cy="62985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8D27F0-12E6-17ED-434B-B69E58D4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196938"/>
                <a:ext cx="4248472" cy="629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156D6CD-AD8D-223C-0E1D-9D9993FBC51F}"/>
                  </a:ext>
                </a:extLst>
              </p:cNvPr>
              <p:cNvSpPr txBox="1"/>
              <p:nvPr/>
            </p:nvSpPr>
            <p:spPr>
              <a:xfrm>
                <a:off x="5076615" y="2983993"/>
                <a:ext cx="2880122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156D6CD-AD8D-223C-0E1D-9D9993FBC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615" y="2983993"/>
                <a:ext cx="288012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10EC73-A500-75A6-6C8F-5460F0DA1832}"/>
                  </a:ext>
                </a:extLst>
              </p:cNvPr>
              <p:cNvSpPr txBox="1"/>
              <p:nvPr/>
            </p:nvSpPr>
            <p:spPr>
              <a:xfrm>
                <a:off x="611560" y="2926144"/>
                <a:ext cx="4248472" cy="61824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10EC73-A500-75A6-6C8F-5460F0DA1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926144"/>
                <a:ext cx="4248472" cy="6182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A005E1-A453-37C7-A5A4-E54FA69F6A4D}"/>
                  </a:ext>
                </a:extLst>
              </p:cNvPr>
              <p:cNvSpPr txBox="1"/>
              <p:nvPr/>
            </p:nvSpPr>
            <p:spPr>
              <a:xfrm>
                <a:off x="611560" y="3643744"/>
                <a:ext cx="4248472" cy="61824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limLow>
                            <m:limLow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A005E1-A453-37C7-A5A4-E54FA69F6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643744"/>
                <a:ext cx="4248472" cy="6182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786933-718E-4D51-9FE8-89567D8140A9}"/>
                  </a:ext>
                </a:extLst>
              </p:cNvPr>
              <p:cNvSpPr txBox="1"/>
              <p:nvPr/>
            </p:nvSpPr>
            <p:spPr>
              <a:xfrm>
                <a:off x="611560" y="4361344"/>
                <a:ext cx="4248472" cy="66909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func>
                                <m:func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func>
                                <m:func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1)</m:t>
                              </m:r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func>
                                <m:func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1)</m:t>
                              </m:r>
                            </m:den>
                          </m:f>
                        </m:e>
                      </m:fun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786933-718E-4D51-9FE8-89567D814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361344"/>
                <a:ext cx="4248472" cy="6690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FAA97C-77D8-4365-B9B9-E968A81394C1}"/>
                  </a:ext>
                </a:extLst>
              </p:cNvPr>
              <p:cNvSpPr txBox="1"/>
              <p:nvPr/>
            </p:nvSpPr>
            <p:spPr>
              <a:xfrm>
                <a:off x="595205" y="5129792"/>
                <a:ext cx="4248472" cy="64812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func>
                                <m:func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8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FAA97C-77D8-4365-B9B9-E968A8139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05" y="5129792"/>
                <a:ext cx="4248472" cy="6481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2ABCA6-CD8B-F451-2028-04725B535BD4}"/>
                  </a:ext>
                </a:extLst>
              </p:cNvPr>
              <p:cNvSpPr txBox="1"/>
              <p:nvPr/>
            </p:nvSpPr>
            <p:spPr>
              <a:xfrm>
                <a:off x="611560" y="5777918"/>
                <a:ext cx="4248472" cy="64812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800" b="0" i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func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 </m:t>
                              </m:r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2ABCA6-CD8B-F451-2028-04725B535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5777918"/>
                <a:ext cx="4248472" cy="6481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39C04F-E72D-D248-A9F6-C7F2129E6056}"/>
                  </a:ext>
                </a:extLst>
              </p:cNvPr>
              <p:cNvSpPr txBox="1"/>
              <p:nvPr/>
            </p:nvSpPr>
            <p:spPr>
              <a:xfrm>
                <a:off x="5076615" y="2263181"/>
                <a:ext cx="4248472" cy="60721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0+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39C04F-E72D-D248-A9F6-C7F2129E6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615" y="2263181"/>
                <a:ext cx="4248472" cy="6072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7099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F9CC3-F8D6-3160-FCAA-A6BDF3CD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C6E88-8109-89A6-60F9-4C19FAE3F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15.2.3 sin </a:t>
            </a:r>
            <a:r>
              <a:rPr lang="ko-KR" altLang="en-US" dirty="0"/>
              <a:t>함수와 </a:t>
            </a:r>
            <a:r>
              <a:rPr lang="en-US" altLang="ko-KR" dirty="0"/>
              <a:t>cos </a:t>
            </a:r>
            <a:r>
              <a:rPr lang="ko-KR" altLang="en-US" dirty="0"/>
              <a:t>함수의 도함수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92315-20F6-3F3C-68AC-DFA78DEE8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en-US" altLang="ko-KR" dirty="0"/>
              <a:t>cos </a:t>
            </a:r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도함수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91C6BB-ACC4-9375-D26B-EDDF5F2D64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C5A95D-E81B-B25B-3D02-9D0D5A818375}"/>
                  </a:ext>
                </a:extLst>
              </p:cNvPr>
              <p:cNvSpPr txBox="1"/>
              <p:nvPr/>
            </p:nvSpPr>
            <p:spPr>
              <a:xfrm>
                <a:off x="539750" y="1398435"/>
                <a:ext cx="2350835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C5A95D-E81B-B25B-3D02-9D0D5A818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398435"/>
                <a:ext cx="2350835" cy="461665"/>
              </a:xfrm>
              <a:prstGeom prst="rect">
                <a:avLst/>
              </a:prstGeom>
              <a:blipFill>
                <a:blip r:embed="rId2"/>
                <a:stretch>
                  <a:fillRect l="-2338" b="-1973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B99392-DE80-E70D-5AEF-B7370B4FAEF9}"/>
                  </a:ext>
                </a:extLst>
              </p:cNvPr>
              <p:cNvSpPr txBox="1"/>
              <p:nvPr/>
            </p:nvSpPr>
            <p:spPr>
              <a:xfrm>
                <a:off x="558024" y="2060848"/>
                <a:ext cx="4248472" cy="62985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B99392-DE80-E70D-5AEF-B7370B4FA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24" y="2060848"/>
                <a:ext cx="4248472" cy="6298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57BD75-C006-9813-351F-F96A5F7A156A}"/>
                  </a:ext>
                </a:extLst>
              </p:cNvPr>
              <p:cNvSpPr txBox="1"/>
              <p:nvPr/>
            </p:nvSpPr>
            <p:spPr>
              <a:xfrm>
                <a:off x="558024" y="5373216"/>
                <a:ext cx="2880122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57BD75-C006-9813-351F-F96A5F7A1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24" y="5373216"/>
                <a:ext cx="28801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214EAF6-9FE4-DEB0-F5E9-2D7F78AA8DEF}"/>
                  </a:ext>
                </a:extLst>
              </p:cNvPr>
              <p:cNvSpPr txBox="1"/>
              <p:nvPr/>
            </p:nvSpPr>
            <p:spPr>
              <a:xfrm>
                <a:off x="558024" y="2773612"/>
                <a:ext cx="4248472" cy="61824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214EAF6-9FE4-DEB0-F5E9-2D7F78AA8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24" y="2773612"/>
                <a:ext cx="4248472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986C53-E1D0-8682-8332-90B4350E08BB}"/>
                  </a:ext>
                </a:extLst>
              </p:cNvPr>
              <p:cNvSpPr txBox="1"/>
              <p:nvPr/>
            </p:nvSpPr>
            <p:spPr>
              <a:xfrm>
                <a:off x="558024" y="4175928"/>
                <a:ext cx="4248472" cy="61824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986C53-E1D0-8682-8332-90B4350E0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24" y="4175928"/>
                <a:ext cx="4248472" cy="6182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108453-145B-82E9-88AD-5AD7C712D6D6}"/>
                  </a:ext>
                </a:extLst>
              </p:cNvPr>
              <p:cNvSpPr txBox="1"/>
              <p:nvPr/>
            </p:nvSpPr>
            <p:spPr>
              <a:xfrm>
                <a:off x="558024" y="4877086"/>
                <a:ext cx="4896544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0−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⋅1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=0−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108453-145B-82E9-88AD-5AD7C712D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24" y="4877086"/>
                <a:ext cx="489654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719233-EF25-1B03-5168-D56B467F5E58}"/>
                  </a:ext>
                </a:extLst>
              </p:cNvPr>
              <p:cNvSpPr txBox="1"/>
              <p:nvPr/>
            </p:nvSpPr>
            <p:spPr>
              <a:xfrm>
                <a:off x="558024" y="3474770"/>
                <a:ext cx="4392488" cy="61824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719233-EF25-1B03-5168-D56B467F5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24" y="3474770"/>
                <a:ext cx="4392488" cy="6182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58272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39BB2-01BF-7200-67ED-B8025B5F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9FB8E0-8396-92C7-F991-08271AC8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15.3.1 </a:t>
            </a:r>
            <a:r>
              <a:rPr lang="ko-KR" altLang="en-US" dirty="0"/>
              <a:t>등비수열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6DF49C-AF62-A8FE-840A-0220D443A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등비수열</a:t>
            </a:r>
          </a:p>
          <a:p>
            <a:pPr lvl="1"/>
            <a:r>
              <a:rPr lang="ko-KR" altLang="en-US" dirty="0"/>
              <a:t>같은 수를 계속 곱해 만든 수열</a:t>
            </a:r>
          </a:p>
          <a:p>
            <a:pPr lvl="2"/>
            <a:r>
              <a:rPr lang="en-US" altLang="ko-KR" dirty="0"/>
              <a:t>a, </a:t>
            </a:r>
            <a:r>
              <a:rPr lang="en-US" altLang="ko-KR" dirty="0" err="1"/>
              <a:t>ar</a:t>
            </a:r>
            <a:r>
              <a:rPr lang="en-US" altLang="ko-KR" dirty="0"/>
              <a:t>, ar², ar³, …</a:t>
            </a:r>
          </a:p>
          <a:p>
            <a:pPr lvl="3"/>
            <a:endParaRPr lang="en-US" altLang="ko-KR" dirty="0"/>
          </a:p>
          <a:p>
            <a:pPr lvl="1"/>
            <a:r>
              <a:rPr lang="en-US" altLang="ko-KR" dirty="0"/>
              <a:t>a : </a:t>
            </a:r>
            <a:r>
              <a:rPr lang="ko-KR" altLang="en-US" dirty="0" err="1"/>
              <a:t>첫째항</a:t>
            </a:r>
            <a:r>
              <a:rPr lang="en-US" altLang="ko-KR" dirty="0"/>
              <a:t>, r : </a:t>
            </a:r>
            <a:r>
              <a:rPr lang="ko-KR" altLang="en-US" dirty="0"/>
              <a:t>공비</a:t>
            </a:r>
          </a:p>
          <a:p>
            <a:pPr lvl="1"/>
            <a:r>
              <a:rPr lang="ko-KR" altLang="en-US" dirty="0"/>
              <a:t>일반항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3"/>
            <a:endParaRPr lang="en-US" altLang="ko-KR" dirty="0"/>
          </a:p>
          <a:p>
            <a:pPr lvl="1"/>
            <a:r>
              <a:rPr lang="ko-KR" altLang="en-US" dirty="0"/>
              <a:t>예</a:t>
            </a:r>
          </a:p>
          <a:p>
            <a:pPr lvl="2"/>
            <a:r>
              <a:rPr lang="en-US" altLang="ko-KR" dirty="0"/>
              <a:t>2, 6, 18, 54, …</a:t>
            </a:r>
          </a:p>
          <a:p>
            <a:pPr lvl="2"/>
            <a:r>
              <a:rPr lang="en-US" altLang="ko-KR" dirty="0"/>
              <a:t>a₁ = 2</a:t>
            </a:r>
          </a:p>
          <a:p>
            <a:pPr lvl="2"/>
            <a:r>
              <a:rPr lang="en-US" altLang="ko-KR" dirty="0"/>
              <a:t>r = 3</a:t>
            </a:r>
          </a:p>
          <a:p>
            <a:pPr lvl="2"/>
            <a:r>
              <a:rPr lang="en-US" altLang="ko-KR" dirty="0"/>
              <a:t>aₙ = 2 × 3ⁿ⁻¹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E2DB57-E95E-758E-5ABD-F13ECD9489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0D6758-1B3D-C6DD-DB95-010AA2EAF7D2}"/>
                  </a:ext>
                </a:extLst>
              </p:cNvPr>
              <p:cNvSpPr txBox="1"/>
              <p:nvPr/>
            </p:nvSpPr>
            <p:spPr>
              <a:xfrm>
                <a:off x="1187624" y="3284984"/>
                <a:ext cx="2162526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0D6758-1B3D-C6DD-DB95-010AA2EAF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284984"/>
                <a:ext cx="216252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BF1FC8-8322-07E6-9B46-4D4F569A1FC6}"/>
                  </a:ext>
                </a:extLst>
              </p:cNvPr>
              <p:cNvSpPr txBox="1"/>
              <p:nvPr/>
            </p:nvSpPr>
            <p:spPr>
              <a:xfrm>
                <a:off x="1187624" y="3670401"/>
                <a:ext cx="1944216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BF1FC8-8322-07E6-9B46-4D4F569A1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670401"/>
                <a:ext cx="1944216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98962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10C7A-FA62-E950-F8BF-4F0F1E39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4F82A1-65D3-4942-0999-A7F878EE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15.3.2 </a:t>
            </a:r>
            <a:r>
              <a:rPr lang="ko-KR" altLang="en-US" dirty="0"/>
              <a:t>급수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6FEAB2-09C7-9B1D-1AB6-23CFDB347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sz="2400" dirty="0"/>
              <a:t>급수 → 수열의 모든 항을 더한 값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등비 수열 급수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Ex)</a:t>
            </a:r>
            <a:r>
              <a:rPr lang="ko-KR" altLang="en-US" sz="2000" dirty="0"/>
              <a:t> 공비 → </a:t>
            </a:r>
            <a:r>
              <a:rPr lang="en-US" altLang="ko-KR" sz="2000" dirty="0"/>
              <a:t>1/2</a:t>
            </a:r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CCE5BC-1094-2F08-1503-848F637B1A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4ED614-2D16-7831-0C68-E50C1CF21282}"/>
                  </a:ext>
                </a:extLst>
              </p:cNvPr>
              <p:cNvSpPr txBox="1"/>
              <p:nvPr/>
            </p:nvSpPr>
            <p:spPr>
              <a:xfrm>
                <a:off x="539750" y="1134042"/>
                <a:ext cx="3861566" cy="93288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</m:ctrlPr>
                        </m:naryPr>
                        <m:sub>
                          <m:r>
                            <a:rPr lang="pt-BR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𝑘</m:t>
                          </m:r>
                          <m:r>
                            <a:rPr lang="pt-BR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=0</m:t>
                          </m:r>
                        </m:sub>
                        <m:sup>
                          <m:r>
                            <a:rPr lang="pt-BR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D2Coding" panose="020B0609020101020101" pitchFamily="49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D2Coding" panose="020B0609020101020101" pitchFamily="49" charset="-127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D2Coding" panose="020B0609020101020101" pitchFamily="49" charset="-127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4ED614-2D16-7831-0C68-E50C1CF21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134042"/>
                <a:ext cx="3861566" cy="9328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D558F1-9BA0-6E09-D177-8F2EE1A3C460}"/>
                  </a:ext>
                </a:extLst>
              </p:cNvPr>
              <p:cNvSpPr txBox="1"/>
              <p:nvPr/>
            </p:nvSpPr>
            <p:spPr>
              <a:xfrm>
                <a:off x="539750" y="2962558"/>
                <a:ext cx="4476424" cy="93288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</m:ctrlPr>
                        </m:naryPr>
                        <m:sub>
                          <m:r>
                            <a:rPr lang="pt-BR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𝑘</m:t>
                          </m:r>
                          <m:r>
                            <a:rPr lang="pt-BR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=0</m:t>
                          </m:r>
                        </m:sub>
                        <m:sup>
                          <m:r>
                            <a:rPr lang="pt-BR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𝑛</m:t>
                          </m:r>
                        </m:sup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D558F1-9BA0-6E09-D177-8F2EE1A3C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2962558"/>
                <a:ext cx="4476424" cy="9328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60E61C-4924-DF96-F17D-8FE1D42C8E20}"/>
                  </a:ext>
                </a:extLst>
              </p:cNvPr>
              <p:cNvSpPr txBox="1"/>
              <p:nvPr/>
            </p:nvSpPr>
            <p:spPr>
              <a:xfrm>
                <a:off x="3995936" y="3068960"/>
                <a:ext cx="3861566" cy="69506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60E61C-4924-DF96-F17D-8FE1D42C8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3068960"/>
                <a:ext cx="3861566" cy="6950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6AAC18-D302-546D-AF5B-8F19FD6B1C87}"/>
                  </a:ext>
                </a:extLst>
              </p:cNvPr>
              <p:cNvSpPr txBox="1"/>
              <p:nvPr/>
            </p:nvSpPr>
            <p:spPr>
              <a:xfrm>
                <a:off x="3995936" y="3789040"/>
                <a:ext cx="3861566" cy="7838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6AAC18-D302-546D-AF5B-8F19FD6B1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3789040"/>
                <a:ext cx="3861566" cy="7838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FA6D898-7C57-F112-5A79-532A3D92885F}"/>
                  </a:ext>
                </a:extLst>
              </p:cNvPr>
              <p:cNvSpPr txBox="1"/>
              <p:nvPr/>
            </p:nvSpPr>
            <p:spPr>
              <a:xfrm>
                <a:off x="3995936" y="4560684"/>
                <a:ext cx="1800200" cy="66851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FA6D898-7C57-F112-5A79-532A3D928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4560684"/>
                <a:ext cx="1800200" cy="6685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353897-2786-0A73-2DB4-29D33AE9FA6E}"/>
                  </a:ext>
                </a:extLst>
              </p:cNvPr>
              <p:cNvSpPr txBox="1"/>
              <p:nvPr/>
            </p:nvSpPr>
            <p:spPr>
              <a:xfrm>
                <a:off x="5428401" y="4560684"/>
                <a:ext cx="1800200" cy="66851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353897-2786-0A73-2DB4-29D33AE9F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401" y="4560684"/>
                <a:ext cx="1800200" cy="6685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5ACCF8-CEEA-A6FA-1A9B-671A3A025BA5}"/>
                  </a:ext>
                </a:extLst>
              </p:cNvPr>
              <p:cNvSpPr txBox="1"/>
              <p:nvPr/>
            </p:nvSpPr>
            <p:spPr>
              <a:xfrm>
                <a:off x="7012577" y="4563152"/>
                <a:ext cx="1224136" cy="66851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5ACCF8-CEEA-A6FA-1A9B-671A3A025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577" y="4563152"/>
                <a:ext cx="1224136" cy="6685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21B55E-DE7C-A52D-7262-06B4C967BE50}"/>
                  </a:ext>
                </a:extLst>
              </p:cNvPr>
              <p:cNvSpPr txBox="1"/>
              <p:nvPr/>
            </p:nvSpPr>
            <p:spPr>
              <a:xfrm>
                <a:off x="3995936" y="5383785"/>
                <a:ext cx="1224136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21B55E-DE7C-A52D-7262-06B4C967B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5383785"/>
                <a:ext cx="1224136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7950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9EFB6-AA5D-D679-479D-279CA1491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4BE7A-D851-7D8A-D3DC-66F202ED1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15.3.2 </a:t>
            </a:r>
            <a:r>
              <a:rPr lang="ko-KR" altLang="en-US" dirty="0"/>
              <a:t>급수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850BD4-83B1-E767-DAAE-35776B259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무한한 기하급수의 수렴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BE612A-083A-E717-5944-2827FA3E1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0758FB-C5E3-7055-1A70-524A2FFAC4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5" t="1047"/>
          <a:stretch>
            <a:fillRect/>
          </a:stretch>
        </p:blipFill>
        <p:spPr>
          <a:xfrm>
            <a:off x="1903417" y="1412776"/>
            <a:ext cx="4858678" cy="486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181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F7893-E802-68E9-EBA5-66686300C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2E8A6-4365-C39E-B5F5-EF511CBE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15.3.2 </a:t>
            </a:r>
            <a:r>
              <a:rPr lang="ko-KR" altLang="en-US" dirty="0"/>
              <a:t>급수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42AB32-9670-1716-3C9E-EBCF904CA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sz="2400" dirty="0"/>
              <a:t>초항</a:t>
            </a:r>
            <a:r>
              <a:rPr lang="en-US" altLang="ko-KR" sz="2400" dirty="0"/>
              <a:t>: a, </a:t>
            </a:r>
            <a:r>
              <a:rPr lang="ko-KR" altLang="en-US" sz="2400" dirty="0"/>
              <a:t>공비</a:t>
            </a:r>
            <a:r>
              <a:rPr lang="en-US" altLang="ko-KR" sz="2400" dirty="0"/>
              <a:t> r, n</a:t>
            </a:r>
            <a:r>
              <a:rPr lang="ko-KR" altLang="en-US" sz="2400" dirty="0"/>
              <a:t>개의 유한한 등비 급수 </a:t>
            </a:r>
            <a:r>
              <a:rPr lang="en-US" altLang="ko-KR" sz="2400" dirty="0" err="1"/>
              <a:t>s</a:t>
            </a:r>
            <a:r>
              <a:rPr lang="en-US" altLang="ko-KR" sz="2400" baseline="-25000" dirty="0" err="1"/>
              <a:t>n</a:t>
            </a:r>
            <a:endParaRPr lang="en-US" altLang="ko-KR" sz="2000" baseline="-25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67D169-2B7F-3E87-0158-9136AFACE9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D3FA33-C5B1-169D-B3E8-A90EFE0E49F8}"/>
                  </a:ext>
                </a:extLst>
              </p:cNvPr>
              <p:cNvSpPr txBox="1"/>
              <p:nvPr/>
            </p:nvSpPr>
            <p:spPr>
              <a:xfrm>
                <a:off x="611560" y="1268760"/>
                <a:ext cx="576064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D3FA33-C5B1-169D-B3E8-A90EFE0E4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268760"/>
                <a:ext cx="5760640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0A029B-7E24-5776-21B9-ECB3AC8231E7}"/>
                  </a:ext>
                </a:extLst>
              </p:cNvPr>
              <p:cNvSpPr txBox="1"/>
              <p:nvPr/>
            </p:nvSpPr>
            <p:spPr>
              <a:xfrm>
                <a:off x="611560" y="1724582"/>
                <a:ext cx="576064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D2Coding" panose="020B0609020101020101" pitchFamily="49" charset="-127"/>
                        </a:rPr>
                        <m:t>𝑟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0A029B-7E24-5776-21B9-ECB3AC823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724582"/>
                <a:ext cx="576064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7A48BC-DD5D-4B66-72F4-0F6E95EC2CF6}"/>
                  </a:ext>
                </a:extLst>
              </p:cNvPr>
              <p:cNvSpPr txBox="1"/>
              <p:nvPr/>
            </p:nvSpPr>
            <p:spPr>
              <a:xfrm>
                <a:off x="611560" y="2214582"/>
                <a:ext cx="576064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D2Coding" panose="020B0609020101020101" pitchFamily="49" charset="-127"/>
                        </a:rPr>
                        <m:t>−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D2Coding" panose="020B0609020101020101" pitchFamily="49" charset="-127"/>
                        </a:rPr>
                        <m:t>𝑟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7A48BC-DD5D-4B66-72F4-0F6E95EC2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214582"/>
                <a:ext cx="576064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3B6CDE-EF32-730A-1B85-AE1BCBB24CBE}"/>
                  </a:ext>
                </a:extLst>
              </p:cNvPr>
              <p:cNvSpPr txBox="1"/>
              <p:nvPr/>
            </p:nvSpPr>
            <p:spPr>
              <a:xfrm>
                <a:off x="611560" y="2614692"/>
                <a:ext cx="576064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1−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𝑟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3B6CDE-EF32-730A-1B85-AE1BCBB24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614692"/>
                <a:ext cx="576064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DA1E77-E05D-915A-AE1E-897D6987B661}"/>
                  </a:ext>
                </a:extLst>
              </p:cNvPr>
              <p:cNvSpPr txBox="1"/>
              <p:nvPr/>
            </p:nvSpPr>
            <p:spPr>
              <a:xfrm>
                <a:off x="611560" y="3038714"/>
                <a:ext cx="5760640" cy="104092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ko-KR" altLang="en-US" sz="2000" i="1" dirty="0"/>
              </a:p>
              <a:p>
                <a:endParaRPr lang="ko-KR" altLang="en-US" sz="2000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DA1E77-E05D-915A-AE1E-897D6987B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038714"/>
                <a:ext cx="5760640" cy="10409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1575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40F88-04E5-F101-AD5C-0B3DD7AD1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AF433-9ACD-9EAA-F9DF-85EE7DA8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15.3.2 </a:t>
            </a:r>
            <a:r>
              <a:rPr lang="ko-KR" altLang="en-US" dirty="0"/>
              <a:t>급수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BD8E60-6409-94A7-FA19-9748309CB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sz="2400" dirty="0"/>
              <a:t>극한 </a:t>
            </a:r>
            <a:r>
              <a:rPr lang="en-US" altLang="ko-KR" sz="2400" dirty="0" err="1"/>
              <a:t>s</a:t>
            </a:r>
            <a:r>
              <a:rPr lang="en-US" altLang="ko-KR" sz="2400" baseline="-25000" dirty="0" err="1"/>
              <a:t>n</a:t>
            </a:r>
            <a:endParaRPr lang="en-US" altLang="ko-KR" sz="2400" baseline="-25000" dirty="0"/>
          </a:p>
          <a:p>
            <a:endParaRPr lang="en-US" altLang="ko-KR" sz="2400" baseline="-25000" dirty="0"/>
          </a:p>
          <a:p>
            <a:endParaRPr lang="en-US" altLang="ko-KR" sz="2400" baseline="-25000" dirty="0"/>
          </a:p>
          <a:p>
            <a:pPr lvl="1"/>
            <a:r>
              <a:rPr lang="en-US" altLang="ko-KR" sz="2000" dirty="0"/>
              <a:t>|r|&lt;1 </a:t>
            </a:r>
            <a:r>
              <a:rPr lang="ko-KR" altLang="en-US" sz="2000" dirty="0"/>
              <a:t>수렴</a:t>
            </a:r>
            <a:endParaRPr lang="en-US" altLang="ko-KR" sz="2000" dirty="0"/>
          </a:p>
          <a:p>
            <a:pPr lvl="1"/>
            <a:r>
              <a:rPr lang="ko-KR" altLang="en-US" sz="2000" dirty="0"/>
              <a:t>이외 발산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 err="1"/>
              <a:t>멱급수</a:t>
            </a:r>
            <a:r>
              <a:rPr lang="en-US" altLang="ko-KR" sz="2400" dirty="0"/>
              <a:t>(Power series)</a:t>
            </a:r>
          </a:p>
          <a:p>
            <a:endParaRPr lang="en-US" altLang="ko-KR" sz="2400" dirty="0"/>
          </a:p>
          <a:p>
            <a:r>
              <a:rPr lang="ko-KR" altLang="en-US" sz="2400" dirty="0"/>
              <a:t>수렴</a:t>
            </a:r>
            <a:r>
              <a:rPr lang="en-US" altLang="ko-KR" sz="2400" dirty="0"/>
              <a:t> </a:t>
            </a:r>
            <a:r>
              <a:rPr lang="ko-KR" altLang="en-US" sz="2400" dirty="0"/>
              <a:t>판정</a:t>
            </a:r>
            <a:endParaRPr lang="en-US" altLang="ko-KR" sz="2400" dirty="0"/>
          </a:p>
          <a:p>
            <a:endParaRPr lang="en-US" altLang="ko-KR" sz="2400" dirty="0"/>
          </a:p>
          <a:p>
            <a:pPr lvl="1"/>
            <a:r>
              <a:rPr lang="en-US" altLang="ko-KR" sz="2000" dirty="0"/>
              <a:t>L &lt;1 </a:t>
            </a:r>
            <a:r>
              <a:rPr lang="ko-KR" altLang="en-US" sz="2000" dirty="0"/>
              <a:t>수렴</a:t>
            </a:r>
            <a:endParaRPr lang="en-US" altLang="ko-KR" sz="2000" dirty="0"/>
          </a:p>
          <a:p>
            <a:pPr lvl="1"/>
            <a:r>
              <a:rPr lang="en-US" altLang="ko-KR" sz="2000" dirty="0"/>
              <a:t>L</a:t>
            </a:r>
            <a:r>
              <a:rPr lang="ko-KR" altLang="en-US" sz="2000" dirty="0"/>
              <a:t> </a:t>
            </a:r>
            <a:r>
              <a:rPr lang="en-US" altLang="ko-KR" sz="2000" dirty="0"/>
              <a:t>==</a:t>
            </a:r>
            <a:r>
              <a:rPr lang="ko-KR" altLang="en-US" sz="2000" dirty="0"/>
              <a:t> </a:t>
            </a:r>
            <a:r>
              <a:rPr lang="en-US" altLang="ko-KR" sz="2000" dirty="0"/>
              <a:t>0</a:t>
            </a:r>
            <a:r>
              <a:rPr lang="ko-KR" altLang="en-US" sz="2000" dirty="0"/>
              <a:t> 수렴 </a:t>
            </a:r>
            <a:r>
              <a:rPr lang="en-US" altLang="ko-KR" sz="2000" dirty="0"/>
              <a:t>or</a:t>
            </a:r>
            <a:r>
              <a:rPr lang="ko-KR" altLang="en-US" sz="2000" dirty="0"/>
              <a:t> 발산</a:t>
            </a:r>
            <a:endParaRPr lang="en-US" altLang="ko-KR" sz="2000" dirty="0"/>
          </a:p>
          <a:p>
            <a:pPr lvl="1"/>
            <a:r>
              <a:rPr lang="en-US" altLang="ko-KR" sz="2000" dirty="0"/>
              <a:t>L &gt; 1 </a:t>
            </a:r>
            <a:r>
              <a:rPr lang="ko-KR" altLang="en-US" sz="2000" dirty="0"/>
              <a:t>발산</a:t>
            </a:r>
            <a:endParaRPr lang="en-US" altLang="ko-KR" sz="2000" dirty="0"/>
          </a:p>
          <a:p>
            <a:pPr lvl="1"/>
            <a:r>
              <a:rPr lang="ko-KR" altLang="en-US" sz="2000" dirty="0"/>
              <a:t>수렴구간</a:t>
            </a:r>
            <a:r>
              <a:rPr lang="en-US" altLang="ko-KR" sz="2000" dirty="0"/>
              <a:t>: </a:t>
            </a:r>
            <a:r>
              <a:rPr lang="ko-KR" altLang="en-US" sz="2000" dirty="0"/>
              <a:t>멱급수가 수렴하기 위한 공비 </a:t>
            </a:r>
            <a:r>
              <a:rPr lang="en-US" altLang="ko-KR" sz="2000" dirty="0"/>
              <a:t>r </a:t>
            </a:r>
            <a:r>
              <a:rPr lang="ko-KR" altLang="en-US" sz="2000" dirty="0"/>
              <a:t>의</a:t>
            </a:r>
            <a:r>
              <a:rPr lang="en-US" altLang="ko-KR" sz="2000" dirty="0"/>
              <a:t> </a:t>
            </a:r>
            <a:r>
              <a:rPr lang="ko-KR" altLang="en-US" sz="2000" dirty="0"/>
              <a:t>범위</a:t>
            </a:r>
            <a:endParaRPr lang="en-US" altLang="ko-KR" sz="2000" dirty="0"/>
          </a:p>
          <a:p>
            <a:pPr lvl="1"/>
            <a:r>
              <a:rPr lang="ko-KR" altLang="en-US" sz="2000" dirty="0"/>
              <a:t>수렴 반지름 </a:t>
            </a:r>
            <a:r>
              <a:rPr lang="en-US" altLang="ko-KR" sz="2000" dirty="0"/>
              <a:t>(Radius</a:t>
            </a:r>
            <a:r>
              <a:rPr lang="ko-KR" altLang="en-US" sz="2000" dirty="0"/>
              <a:t> </a:t>
            </a:r>
            <a:r>
              <a:rPr lang="en-US" altLang="ko-KR" sz="2000" dirty="0"/>
              <a:t>of</a:t>
            </a:r>
            <a:r>
              <a:rPr lang="ko-KR" altLang="en-US" sz="2000" dirty="0"/>
              <a:t> </a:t>
            </a:r>
            <a:r>
              <a:rPr lang="en-US" altLang="ko-KR" sz="2000" dirty="0"/>
              <a:t>convergence):</a:t>
            </a:r>
            <a:r>
              <a:rPr lang="ko-KR" altLang="en-US" sz="2000" dirty="0"/>
              <a:t>  수렴 구간 </a:t>
            </a:r>
            <a:r>
              <a:rPr lang="en-US" altLang="ko-KR" sz="2000" dirty="0"/>
              <a:t>½ </a:t>
            </a:r>
            <a:r>
              <a:rPr lang="ko-KR" altLang="en-US" sz="2000" dirty="0"/>
              <a:t>값</a:t>
            </a:r>
            <a:endParaRPr lang="en-US" altLang="ko-KR" sz="2000" dirty="0"/>
          </a:p>
          <a:p>
            <a:endParaRPr lang="en-US" altLang="ko-KR" sz="2400" baseline="-25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FAD2FB-151F-C628-1CA0-5883806C2B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0FC4ED-FEBF-F9BB-EC19-B210DAF4BA8B}"/>
                  </a:ext>
                </a:extLst>
              </p:cNvPr>
              <p:cNvSpPr txBox="1"/>
              <p:nvPr/>
            </p:nvSpPr>
            <p:spPr>
              <a:xfrm>
                <a:off x="1619672" y="851677"/>
                <a:ext cx="6840760" cy="62376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f>
                            <m:f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fun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ko-KR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0FC4ED-FEBF-F9BB-EC19-B210DAF4B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851677"/>
                <a:ext cx="6840760" cy="623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BEE182-2534-E753-21A5-1EAE65CAE367}"/>
                  </a:ext>
                </a:extLst>
              </p:cNvPr>
              <p:cNvSpPr txBox="1"/>
              <p:nvPr/>
            </p:nvSpPr>
            <p:spPr>
              <a:xfrm>
                <a:off x="3581675" y="2780928"/>
                <a:ext cx="4374701" cy="84786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</m:ctrlPr>
                        </m:naryPr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𝑛</m:t>
                          </m:r>
                          <m:r>
                            <a:rPr lang="pt-BR" altLang="ko-KR" sz="18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D2Coding" panose="020B0609020101020101" pitchFamily="49" charset="-127"/>
                        </a:rPr>
                        <m:t>⋅</m:t>
                      </m:r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ko-KR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ko-KR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8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BEE182-2534-E753-21A5-1EAE65CAE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675" y="2780928"/>
                <a:ext cx="4374701" cy="8478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C45CB8-0DDE-8922-B12A-4F4A461FD369}"/>
                  </a:ext>
                </a:extLst>
              </p:cNvPr>
              <p:cNvSpPr txBox="1"/>
              <p:nvPr/>
            </p:nvSpPr>
            <p:spPr>
              <a:xfrm>
                <a:off x="2057649" y="3872536"/>
                <a:ext cx="2082303" cy="70859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C45CB8-0DDE-8922-B12A-4F4A461FD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649" y="3872536"/>
                <a:ext cx="2082303" cy="7085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511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E1AB9-86D2-BEDC-F147-3A2CDD122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FF116-4117-47AE-E847-C7FFD235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15.3.2 </a:t>
            </a:r>
            <a:r>
              <a:rPr lang="ko-KR" altLang="en-US" dirty="0"/>
              <a:t>급수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BF83BE-4FCC-D21E-1B8B-57C9F31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sz="2400" dirty="0"/>
              <a:t>수렴 조건 분석 예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FF9690-146A-090E-13FB-2AE95B0427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C4234F-A2C3-93B1-FD17-BAED3A50D63F}"/>
                  </a:ext>
                </a:extLst>
              </p:cNvPr>
              <p:cNvSpPr txBox="1"/>
              <p:nvPr/>
            </p:nvSpPr>
            <p:spPr>
              <a:xfrm>
                <a:off x="631891" y="1196752"/>
                <a:ext cx="5544616" cy="84760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</m:ctrlPr>
                        </m:naryPr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𝑛</m:t>
                          </m:r>
                          <m:r>
                            <a:rPr lang="pt-BR" altLang="ko-KR" sz="18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=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8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C4234F-A2C3-93B1-FD17-BAED3A50D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91" y="1196752"/>
                <a:ext cx="5544616" cy="847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8AFFB0-CD70-4E66-109D-8C4E571B481D}"/>
                  </a:ext>
                </a:extLst>
              </p:cNvPr>
              <p:cNvSpPr txBox="1"/>
              <p:nvPr/>
            </p:nvSpPr>
            <p:spPr>
              <a:xfrm>
                <a:off x="683568" y="2044356"/>
                <a:ext cx="1779869" cy="111293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ko-KR" sz="1800" b="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ko-KR" sz="1800" b="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800" b="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0" b="0" i="1" dirty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altLang="ko-KR" sz="1800" b="0" i="1" dirty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altLang="ko-KR" sz="1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ko-KR" sz="1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ko-KR" sz="1800" b="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ko-KR" sz="1800" b="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800" b="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0" b="0" i="1" dirty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altLang="ko-KR" sz="18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8AFFB0-CD70-4E66-109D-8C4E571B4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044356"/>
                <a:ext cx="1779869" cy="11129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6B5076-6CCD-6E1E-206E-F2718F02A9FB}"/>
                  </a:ext>
                </a:extLst>
              </p:cNvPr>
              <p:cNvSpPr txBox="1"/>
              <p:nvPr/>
            </p:nvSpPr>
            <p:spPr>
              <a:xfrm>
                <a:off x="2463437" y="2308178"/>
                <a:ext cx="1779869" cy="58528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6B5076-6CCD-6E1E-206E-F2718F02A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437" y="2308178"/>
                <a:ext cx="1779869" cy="5852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6DF16A-1EB2-A51B-09D9-7C32D0C55DB2}"/>
                  </a:ext>
                </a:extLst>
              </p:cNvPr>
              <p:cNvSpPr txBox="1"/>
              <p:nvPr/>
            </p:nvSpPr>
            <p:spPr>
              <a:xfrm>
                <a:off x="4243306" y="2308178"/>
                <a:ext cx="2560942" cy="58528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func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ko-KR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ko-KR" altLang="en-US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ko-KR" sz="18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sz="18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6DF16A-1EB2-A51B-09D9-7C32D0C55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306" y="2308178"/>
                <a:ext cx="2560942" cy="5852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481590-FE3B-80CF-3CE5-4BD670BCABBC}"/>
                  </a:ext>
                </a:extLst>
              </p:cNvPr>
              <p:cNvSpPr txBox="1"/>
              <p:nvPr/>
            </p:nvSpPr>
            <p:spPr>
              <a:xfrm>
                <a:off x="858930" y="3120071"/>
                <a:ext cx="3497046" cy="45294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func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481590-FE3B-80CF-3CE5-4BD670BCA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30" y="3120071"/>
                <a:ext cx="3497046" cy="452945"/>
              </a:xfrm>
              <a:prstGeom prst="rect">
                <a:avLst/>
              </a:prstGeom>
              <a:blipFill>
                <a:blip r:embed="rId6"/>
                <a:stretch>
                  <a:fillRect b="-135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772F3A-BB39-8A53-C7A5-A3672A2D1FC1}"/>
                  </a:ext>
                </a:extLst>
              </p:cNvPr>
              <p:cNvSpPr txBox="1"/>
              <p:nvPr/>
            </p:nvSpPr>
            <p:spPr>
              <a:xfrm>
                <a:off x="858930" y="3624127"/>
                <a:ext cx="904758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772F3A-BB39-8A53-C7A5-A3672A2D1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30" y="3624127"/>
                <a:ext cx="90475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3707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6DB99-10AD-2AA8-703A-2355299BD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69105-1628-DEA9-E986-A42809E6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15.3.3 </a:t>
            </a:r>
            <a:r>
              <a:rPr lang="ko-KR" altLang="en-US" dirty="0" err="1"/>
              <a:t>매클로린</a:t>
            </a:r>
            <a:r>
              <a:rPr lang="ko-KR" altLang="en-US" dirty="0"/>
              <a:t> 급수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4BB9B8-057B-C01A-7CBD-1D67CDF1E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테일러 급수</a:t>
            </a:r>
            <a:r>
              <a:rPr lang="en-US" altLang="ko-KR" dirty="0"/>
              <a:t>(Tayler series)</a:t>
            </a:r>
          </a:p>
          <a:p>
            <a:pPr lvl="1"/>
            <a:r>
              <a:rPr lang="ko-KR" altLang="en-US" dirty="0"/>
              <a:t>특정 점 근처에서 함수를 다항식의</a:t>
            </a:r>
            <a:r>
              <a:rPr lang="en-US" altLang="ko-KR" dirty="0"/>
              <a:t> </a:t>
            </a:r>
            <a:r>
              <a:rPr lang="ko-KR" altLang="en-US" dirty="0"/>
              <a:t>급수로 표현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특정 점 근처에서 함수를 </a:t>
            </a:r>
            <a:r>
              <a:rPr lang="ko-KR" altLang="en-US" dirty="0" err="1"/>
              <a:t>멱급수</a:t>
            </a:r>
            <a:r>
              <a:rPr lang="ko-KR" altLang="en-US" dirty="0"/>
              <a:t> 형태로 표현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BDC5C3-A6E5-822A-7BA1-F82DC7F3AB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292DF8-9D07-17DC-8C0E-46B7D66CAAF0}"/>
                  </a:ext>
                </a:extLst>
              </p:cNvPr>
              <p:cNvSpPr txBox="1"/>
              <p:nvPr/>
            </p:nvSpPr>
            <p:spPr>
              <a:xfrm>
                <a:off x="827584" y="4369350"/>
                <a:ext cx="6175875" cy="76392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𝑛</m:t>
                          </m:r>
                          <m:r>
                            <a:rPr lang="pt-BR" altLang="ko-KR" sz="1600" b="0" i="1" smtClean="0">
                              <a:latin typeface="Cambria Math" panose="02040503050406030204" pitchFamily="18" charset="0"/>
                              <a:ea typeface="D2Coding" panose="020B0609020101020101" pitchFamily="49" charset="-127"/>
                            </a:rPr>
                            <m:t>=0</m:t>
                          </m:r>
                        </m:sub>
                        <m:sup>
                          <m:r>
                            <a:rPr lang="pt-BR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292DF8-9D07-17DC-8C0E-46B7D66CA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369350"/>
                <a:ext cx="6175875" cy="7639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8E7216-BDBA-4987-A30E-AA2646D0FA75}"/>
                  </a:ext>
                </a:extLst>
              </p:cNvPr>
              <p:cNvSpPr txBox="1"/>
              <p:nvPr/>
            </p:nvSpPr>
            <p:spPr>
              <a:xfrm>
                <a:off x="755576" y="1804361"/>
                <a:ext cx="3096344" cy="76392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8E7216-BDBA-4987-A30E-AA2646D0F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804361"/>
                <a:ext cx="3096344" cy="7639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B9964E-27E5-DA84-5A0C-012ABE3AF10F}"/>
                  </a:ext>
                </a:extLst>
              </p:cNvPr>
              <p:cNvSpPr txBox="1"/>
              <p:nvPr/>
            </p:nvSpPr>
            <p:spPr>
              <a:xfrm>
                <a:off x="1187625" y="2636912"/>
                <a:ext cx="6408712" cy="6038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0!</m:t>
                          </m:r>
                        </m:den>
                      </m:f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d>
                            <m:d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ko-KR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US" altLang="ko-K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B9964E-27E5-DA84-5A0C-012ABE3AF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5" y="2636912"/>
                <a:ext cx="6408712" cy="6038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5348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542E0-4796-E8B9-F78B-2036E6877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A9352-77F3-308D-41E7-184D5F7E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15.3.3 </a:t>
            </a:r>
            <a:r>
              <a:rPr lang="ko-KR" altLang="en-US" dirty="0" err="1"/>
              <a:t>매클로린</a:t>
            </a:r>
            <a:r>
              <a:rPr lang="ko-KR" altLang="en-US" dirty="0"/>
              <a:t> 급수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A3AEB1-1C7C-5FD4-5BC3-DAD48DA9F1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:r>
                  <a:rPr lang="ko-KR" altLang="en-US" dirty="0" err="1"/>
                  <a:t>매클로린</a:t>
                </a:r>
                <a:r>
                  <a:rPr lang="ko-KR" altLang="en-US" dirty="0"/>
                  <a:t> 급수</a:t>
                </a:r>
                <a:r>
                  <a:rPr lang="en-US" altLang="ko-KR" dirty="0"/>
                  <a:t>(Maclaurin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series)</a:t>
                </a:r>
              </a:p>
              <a:p>
                <a:pPr lvl="1"/>
                <a:r>
                  <a:rPr lang="en-US" altLang="ko-KR" dirty="0"/>
                  <a:t>a=0 </a:t>
                </a:r>
                <a:r>
                  <a:rPr lang="ko-KR" altLang="en-US" dirty="0"/>
                  <a:t>인 테일러 급수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ko-KR" altLang="en-US" dirty="0"/>
                  <a:t>  매클로린 급수표현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A3AEB1-1C7C-5FD4-5BC3-DAD48DA9F1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751" t="-1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9776BA-6372-AB39-1B58-A95BC41B3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B46FF-B838-EE0B-C593-F6190D0AC330}"/>
                  </a:ext>
                </a:extLst>
              </p:cNvPr>
              <p:cNvSpPr txBox="1"/>
              <p:nvPr/>
            </p:nvSpPr>
            <p:spPr>
              <a:xfrm>
                <a:off x="827585" y="4369350"/>
                <a:ext cx="3849638" cy="60824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0!</m:t>
                          </m:r>
                        </m:den>
                      </m:f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ko-KR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B46FF-B838-EE0B-C593-F6190D0AC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5" y="4369350"/>
                <a:ext cx="3849638" cy="608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4C9584-B11F-3EF2-523B-142661ED55DD}"/>
                  </a:ext>
                </a:extLst>
              </p:cNvPr>
              <p:cNvSpPr txBox="1"/>
              <p:nvPr/>
            </p:nvSpPr>
            <p:spPr>
              <a:xfrm>
                <a:off x="755575" y="1992629"/>
                <a:ext cx="2304257" cy="76392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4C9584-B11F-3EF2-523B-142661ED5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1992629"/>
                <a:ext cx="2304257" cy="7639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467849-0FE8-6825-DD17-2B2AF169643D}"/>
                  </a:ext>
                </a:extLst>
              </p:cNvPr>
              <p:cNvSpPr txBox="1"/>
              <p:nvPr/>
            </p:nvSpPr>
            <p:spPr>
              <a:xfrm>
                <a:off x="1187625" y="2825180"/>
                <a:ext cx="4896543" cy="6038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0!</m:t>
                          </m:r>
                        </m:den>
                      </m:f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d>
                            <m:d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ko-KR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ko-KR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US" altLang="ko-K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467849-0FE8-6825-DD17-2B2AF1696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5" y="2825180"/>
                <a:ext cx="4896543" cy="6038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529CDB-C6AD-2649-0BCA-753D1549A64A}"/>
                  </a:ext>
                </a:extLst>
              </p:cNvPr>
              <p:cNvSpPr txBox="1"/>
              <p:nvPr/>
            </p:nvSpPr>
            <p:spPr>
              <a:xfrm>
                <a:off x="1115617" y="5002700"/>
                <a:ext cx="3849638" cy="55496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0!</m:t>
                          </m:r>
                        </m:den>
                      </m:f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ko-KR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529CDB-C6AD-2649-0BCA-753D1549A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7" y="5002700"/>
                <a:ext cx="3849638" cy="5549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58BE2C-7E3C-7244-D21B-E5EEAB172557}"/>
                  </a:ext>
                </a:extLst>
              </p:cNvPr>
              <p:cNvSpPr txBox="1"/>
              <p:nvPr/>
            </p:nvSpPr>
            <p:spPr>
              <a:xfrm>
                <a:off x="971601" y="5599610"/>
                <a:ext cx="3849638" cy="93185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58BE2C-7E3C-7244-D21B-E5EEAB172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1" y="5599610"/>
                <a:ext cx="3849638" cy="9318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8538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0C808-979D-4F1E-67D2-5F857C460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B1F8D-BD2D-A28B-3BE4-0F471C72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15.3.3 </a:t>
            </a:r>
            <a:r>
              <a:rPr lang="ko-KR" altLang="en-US" dirty="0" err="1"/>
              <a:t>매클로린</a:t>
            </a:r>
            <a:r>
              <a:rPr lang="ko-KR" altLang="en-US" dirty="0"/>
              <a:t> 급수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3BD2E62-FE85-2D94-F13A-5D3D2FBC11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ko-KR" altLang="en-US" sz="2400" dirty="0"/>
                  <a:t>  </a:t>
                </a:r>
                <a:r>
                  <a:rPr lang="ko-KR" altLang="en-US" sz="2400" dirty="0" err="1"/>
                  <a:t>매클로린</a:t>
                </a:r>
                <a:r>
                  <a:rPr lang="ko-KR" altLang="en-US" sz="2400" dirty="0"/>
                  <a:t> 급수표현</a:t>
                </a:r>
                <a:endParaRPr lang="en-US" altLang="ko-KR" sz="2400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endParaRPr lang="en-US" altLang="ko-KR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2400" dirty="0"/>
                  <a:t>x~0</a:t>
                </a:r>
                <a:r>
                  <a:rPr lang="ko-KR" altLang="en-US" sz="2400" dirty="0"/>
                  <a:t>에서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ko-KR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3BD2E62-FE85-2D94-F13A-5D3D2FBC11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478" t="-7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AD244B-EFD6-530A-FF97-8F4D78C081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B9D31C-96AD-84E3-729F-B5A6634C0B6E}"/>
                  </a:ext>
                </a:extLst>
              </p:cNvPr>
              <p:cNvSpPr txBox="1"/>
              <p:nvPr/>
            </p:nvSpPr>
            <p:spPr>
              <a:xfrm>
                <a:off x="827584" y="1196752"/>
                <a:ext cx="4896544" cy="55496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0!</m:t>
                          </m:r>
                        </m:den>
                      </m:f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ko-KR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B9D31C-96AD-84E3-729F-B5A6634C0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196752"/>
                <a:ext cx="4896544" cy="554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2313D4-6C3B-E381-E5FA-7704B9FE35E1}"/>
                  </a:ext>
                </a:extLst>
              </p:cNvPr>
              <p:cNvSpPr txBox="1"/>
              <p:nvPr/>
            </p:nvSpPr>
            <p:spPr>
              <a:xfrm>
                <a:off x="1259632" y="1828387"/>
                <a:ext cx="3888432" cy="62074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ko-KR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2313D4-6C3B-E381-E5FA-7704B9FE3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1828387"/>
                <a:ext cx="3888432" cy="6207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FC2E30-D4DC-D2B8-7CD3-C3BFC608EEA6}"/>
                  </a:ext>
                </a:extLst>
              </p:cNvPr>
              <p:cNvSpPr txBox="1"/>
              <p:nvPr/>
            </p:nvSpPr>
            <p:spPr>
              <a:xfrm>
                <a:off x="755576" y="2599896"/>
                <a:ext cx="3491532" cy="93185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altLang="ko-KR" sz="20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20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sz="20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FC2E30-D4DC-D2B8-7CD3-C3BFC608E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599896"/>
                <a:ext cx="3491532" cy="9318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D31E4D-F0D0-CC00-6A3B-F2F8C9B640AB}"/>
                  </a:ext>
                </a:extLst>
              </p:cNvPr>
              <p:cNvSpPr txBox="1"/>
              <p:nvPr/>
            </p:nvSpPr>
            <p:spPr>
              <a:xfrm>
                <a:off x="558630" y="4690294"/>
                <a:ext cx="2232248" cy="55496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D31E4D-F0D0-CC00-6A3B-F2F8C9B64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30" y="4690294"/>
                <a:ext cx="2232248" cy="5549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ECCF3F6-45C1-54EC-82F1-61AF2BA78252}"/>
                  </a:ext>
                </a:extLst>
              </p:cNvPr>
              <p:cNvSpPr txBox="1"/>
              <p:nvPr/>
            </p:nvSpPr>
            <p:spPr>
              <a:xfrm>
                <a:off x="558630" y="5396016"/>
                <a:ext cx="2232248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ECCF3F6-45C1-54EC-82F1-61AF2BA78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30" y="5396016"/>
                <a:ext cx="2232248" cy="461665"/>
              </a:xfrm>
              <a:prstGeom prst="rect">
                <a:avLst/>
              </a:prstGeom>
              <a:blipFill>
                <a:blip r:embed="rId7"/>
                <a:stretch>
                  <a:fillRect l="-54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0E6CD5-5FD9-7209-5ECF-F70CC9A7807F}"/>
                  </a:ext>
                </a:extLst>
              </p:cNvPr>
              <p:cNvSpPr txBox="1"/>
              <p:nvPr/>
            </p:nvSpPr>
            <p:spPr>
              <a:xfrm>
                <a:off x="6076683" y="1340768"/>
                <a:ext cx="1375638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fName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0E6CD5-5FD9-7209-5ECF-F70CC9A78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683" y="1340768"/>
                <a:ext cx="137563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ECFBD4-CEB3-E7B8-CF8A-2CD4B4CEE6AB}"/>
                  </a:ext>
                </a:extLst>
              </p:cNvPr>
              <p:cNvSpPr txBox="1"/>
              <p:nvPr/>
            </p:nvSpPr>
            <p:spPr>
              <a:xfrm>
                <a:off x="7487816" y="1340768"/>
                <a:ext cx="1546974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fName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ECFBD4-CEB3-E7B8-CF8A-2CD4B4CEE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816" y="1340768"/>
                <a:ext cx="1546974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41031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42703-D2AD-B2DC-922C-8076C58D4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D1E93-DDBE-48BA-47AA-13E5DC4A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15.3.3 </a:t>
            </a:r>
            <a:r>
              <a:rPr lang="ko-KR" altLang="en-US" dirty="0" err="1"/>
              <a:t>매클로린</a:t>
            </a:r>
            <a:r>
              <a:rPr lang="ko-KR" altLang="en-US" dirty="0"/>
              <a:t> 급수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2CD98E7-F12D-E449-A8B7-42599BED6F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ko-KR" altLang="en-US" sz="2400" dirty="0"/>
                  <a:t>  </a:t>
                </a:r>
                <a:r>
                  <a:rPr lang="ko-KR" altLang="en-US" sz="2400" dirty="0" err="1"/>
                  <a:t>매클로린</a:t>
                </a:r>
                <a:r>
                  <a:rPr lang="ko-KR" altLang="en-US" sz="2400" dirty="0"/>
                  <a:t> 급수표현</a:t>
                </a:r>
                <a:endParaRPr lang="en-US" altLang="ko-KR" sz="2400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endParaRPr lang="en-US" altLang="ko-KR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2400" dirty="0"/>
                  <a:t>x~0</a:t>
                </a:r>
                <a:r>
                  <a:rPr lang="ko-KR" altLang="en-US" sz="2400" dirty="0"/>
                  <a:t>에서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2CD98E7-F12D-E449-A8B7-42599BED6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478" t="-7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66BF74-07C6-5549-5151-4D4747F356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B07400-0DAE-6ADF-927E-0057AC3A7EC3}"/>
                  </a:ext>
                </a:extLst>
              </p:cNvPr>
              <p:cNvSpPr txBox="1"/>
              <p:nvPr/>
            </p:nvSpPr>
            <p:spPr>
              <a:xfrm>
                <a:off x="827584" y="1196752"/>
                <a:ext cx="4896544" cy="55496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0!</m:t>
                          </m:r>
                        </m:den>
                      </m:f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ko-KR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B07400-0DAE-6ADF-927E-0057AC3A7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196752"/>
                <a:ext cx="4896544" cy="554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D52112-570D-DAB6-4621-C99EADC76EC7}"/>
                  </a:ext>
                </a:extLst>
              </p:cNvPr>
              <p:cNvSpPr txBox="1"/>
              <p:nvPr/>
            </p:nvSpPr>
            <p:spPr>
              <a:xfrm>
                <a:off x="1259632" y="1828387"/>
                <a:ext cx="3491532" cy="60503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D52112-570D-DAB6-4621-C99EADC76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1828387"/>
                <a:ext cx="3491532" cy="6050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CE7926-77CE-339D-BFC2-432E2F920ABD}"/>
                  </a:ext>
                </a:extLst>
              </p:cNvPr>
              <p:cNvSpPr txBox="1"/>
              <p:nvPr/>
            </p:nvSpPr>
            <p:spPr>
              <a:xfrm>
                <a:off x="792436" y="2564904"/>
                <a:ext cx="3491532" cy="93185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altLang="ko-KR" sz="20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20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CE7926-77CE-339D-BFC2-432E2F920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36" y="2564904"/>
                <a:ext cx="3491532" cy="9318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B80939-5CA8-3DBA-E718-B3A66ABD2B81}"/>
                  </a:ext>
                </a:extLst>
              </p:cNvPr>
              <p:cNvSpPr txBox="1"/>
              <p:nvPr/>
            </p:nvSpPr>
            <p:spPr>
              <a:xfrm>
                <a:off x="558630" y="4690294"/>
                <a:ext cx="2232248" cy="55335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B80939-5CA8-3DBA-E718-B3A66ABD2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30" y="4690294"/>
                <a:ext cx="2232248" cy="5533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A6AB89-B159-BA95-E807-8EA35B18F28F}"/>
                  </a:ext>
                </a:extLst>
              </p:cNvPr>
              <p:cNvSpPr txBox="1"/>
              <p:nvPr/>
            </p:nvSpPr>
            <p:spPr>
              <a:xfrm>
                <a:off x="558630" y="5322694"/>
                <a:ext cx="2933250" cy="78380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A6AB89-B159-BA95-E807-8EA35B18F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30" y="5322694"/>
                <a:ext cx="2933250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4EA32E-3923-FB26-6C01-B79F84FAE887}"/>
                  </a:ext>
                </a:extLst>
              </p:cNvPr>
              <p:cNvSpPr txBox="1"/>
              <p:nvPr/>
            </p:nvSpPr>
            <p:spPr>
              <a:xfrm>
                <a:off x="6076683" y="1340768"/>
                <a:ext cx="1375638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fName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4EA32E-3923-FB26-6C01-B79F84FAE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683" y="1340768"/>
                <a:ext cx="1375638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A67AFD-A1AA-C168-B290-260C320ED525}"/>
                  </a:ext>
                </a:extLst>
              </p:cNvPr>
              <p:cNvSpPr txBox="1"/>
              <p:nvPr/>
            </p:nvSpPr>
            <p:spPr>
              <a:xfrm>
                <a:off x="7487816" y="1340768"/>
                <a:ext cx="1546974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fName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A67AFD-A1AA-C168-B290-260C320ED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816" y="1340768"/>
                <a:ext cx="1546974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746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2DBE-5C64-412B-F3B4-84E621760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58DFE-62AD-9A9E-4FB0-008EEDE96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15.3.3 </a:t>
            </a:r>
            <a:r>
              <a:rPr lang="ko-KR" altLang="en-US" dirty="0" err="1"/>
              <a:t>매클로린</a:t>
            </a:r>
            <a:r>
              <a:rPr lang="ko-KR" altLang="en-US" dirty="0"/>
              <a:t> 급수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AB6AD6-CA9F-0336-B477-392292432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en-US" altLang="ko-KR" dirty="0"/>
              <a:t>sin </a:t>
            </a:r>
            <a:r>
              <a:rPr lang="ko-KR" altLang="en-US" dirty="0"/>
              <a:t>함수와 </a:t>
            </a:r>
            <a:r>
              <a:rPr lang="ko-KR" altLang="en-US" dirty="0" err="1"/>
              <a:t>매클로린</a:t>
            </a:r>
            <a:r>
              <a:rPr lang="ko-KR" altLang="en-US" dirty="0"/>
              <a:t> 급수의 비교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6A03EC-2F44-9BC2-05FB-E26A09639B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35C960-A72D-37F5-3422-7EE64CAC8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700808"/>
            <a:ext cx="8238905" cy="458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369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BC2F4-8234-F358-A3FE-821F545D1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B8789-DCBC-ADAF-CF98-08386C4D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15.4 </a:t>
            </a:r>
            <a:r>
              <a:rPr lang="ko-KR" altLang="en-US" dirty="0"/>
              <a:t>오일러 공식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2C11121-3BC0-729F-1EB4-6149D29C9B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𝑖𝑥</m:t>
                        </m:r>
                      </m:sup>
                    </m:sSup>
                  </m:oMath>
                </a14:m>
                <a:r>
                  <a:rPr lang="ko-KR" altLang="en-US" sz="2400" dirty="0"/>
                  <a:t>  </a:t>
                </a:r>
                <a:r>
                  <a:rPr lang="ko-KR" altLang="en-US" sz="2400" dirty="0" err="1"/>
                  <a:t>매클로린</a:t>
                </a:r>
                <a:r>
                  <a:rPr lang="ko-KR" altLang="en-US" sz="2400" dirty="0"/>
                  <a:t> 급수표현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2C11121-3BC0-729F-1EB4-6149D29C9B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478" t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0B5FBE-DDD9-8F9C-0D79-3284039EC3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B83545-E5F4-981D-B316-335D8070411D}"/>
                  </a:ext>
                </a:extLst>
              </p:cNvPr>
              <p:cNvSpPr txBox="1"/>
              <p:nvPr/>
            </p:nvSpPr>
            <p:spPr>
              <a:xfrm>
                <a:off x="827584" y="1196752"/>
                <a:ext cx="5904656" cy="59516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𝑖𝑥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0!</m:t>
                          </m:r>
                        </m:den>
                      </m:f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ko-KR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B83545-E5F4-981D-B316-335D80704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196752"/>
                <a:ext cx="5904656" cy="5951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256586-41DB-9F86-8D31-DDF70D637D8F}"/>
                  </a:ext>
                </a:extLst>
              </p:cNvPr>
              <p:cNvSpPr txBox="1"/>
              <p:nvPr/>
            </p:nvSpPr>
            <p:spPr>
              <a:xfrm>
                <a:off x="1115616" y="1870958"/>
                <a:ext cx="3600400" cy="55496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ko-KR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256586-41DB-9F86-8D31-DDF70D637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1870958"/>
                <a:ext cx="3600400" cy="554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4224C5-AE2D-516B-AE77-B33B512B3C52}"/>
                  </a:ext>
                </a:extLst>
              </p:cNvPr>
              <p:cNvSpPr txBox="1"/>
              <p:nvPr/>
            </p:nvSpPr>
            <p:spPr>
              <a:xfrm>
                <a:off x="1104064" y="2425918"/>
                <a:ext cx="4836088" cy="64556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sSup>
                        <m:sSup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1!</m:t>
                              </m:r>
                            </m:den>
                          </m:f>
                          <m:r>
                            <a:rPr lang="en-US" altLang="ko-KR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4224C5-AE2D-516B-AE77-B33B512B3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064" y="2425918"/>
                <a:ext cx="4836088" cy="6455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2BFED3-029F-57B6-ADC9-3919ABF11AB3}"/>
                  </a:ext>
                </a:extLst>
              </p:cNvPr>
              <p:cNvSpPr txBox="1"/>
              <p:nvPr/>
            </p:nvSpPr>
            <p:spPr>
              <a:xfrm>
                <a:off x="1104064" y="3078254"/>
                <a:ext cx="3107896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2BFED3-029F-57B6-ADC9-3919ABF11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064" y="3078254"/>
                <a:ext cx="3107896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51B553-5EBF-DE58-2218-D8672B8F08CA}"/>
                  </a:ext>
                </a:extLst>
              </p:cNvPr>
              <p:cNvSpPr txBox="1"/>
              <p:nvPr/>
            </p:nvSpPr>
            <p:spPr>
              <a:xfrm>
                <a:off x="592059" y="3912659"/>
                <a:ext cx="2766028" cy="47359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𝑖𝑥</m:t>
                          </m:r>
                        </m:sup>
                      </m:sSup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51B553-5EBF-DE58-2218-D8672B8F0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59" y="3912659"/>
                <a:ext cx="2766028" cy="4735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0887CD-9605-FE84-469A-0B7745C212F3}"/>
                  </a:ext>
                </a:extLst>
              </p:cNvPr>
              <p:cNvSpPr txBox="1"/>
              <p:nvPr/>
            </p:nvSpPr>
            <p:spPr>
              <a:xfrm>
                <a:off x="3336796" y="3924585"/>
                <a:ext cx="2340260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0887CD-9605-FE84-469A-0B7745C21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796" y="3924585"/>
                <a:ext cx="234026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31076-789B-16D1-7181-918E798A10C6}"/>
                  </a:ext>
                </a:extLst>
              </p:cNvPr>
              <p:cNvSpPr txBox="1"/>
              <p:nvPr/>
            </p:nvSpPr>
            <p:spPr>
              <a:xfrm>
                <a:off x="5652120" y="3861095"/>
                <a:ext cx="2534993" cy="619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31076-789B-16D1-7181-918E798A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3861095"/>
                <a:ext cx="2534993" cy="6190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94004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07B51-A50A-8861-AB41-AC621664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00E1C-9CF1-6FCB-EDD2-628EF673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15.4 </a:t>
            </a:r>
            <a:r>
              <a:rPr lang="ko-KR" altLang="en-US" dirty="0"/>
              <a:t>오일러 공식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9AB9E4-C3BA-2BE0-EC0A-57C3DE747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sz="2400" dirty="0"/>
              <a:t>오일러 공식으로 복소수 표현</a:t>
            </a:r>
            <a:endParaRPr lang="en-US" altLang="ko-KR" sz="2400" b="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E8DE4E-0E82-33BC-5975-041EB0AD3E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18C9A8-4026-5494-765D-0EDEE768B048}"/>
                  </a:ext>
                </a:extLst>
              </p:cNvPr>
              <p:cNvSpPr txBox="1"/>
              <p:nvPr/>
            </p:nvSpPr>
            <p:spPr>
              <a:xfrm>
                <a:off x="534458" y="1196752"/>
                <a:ext cx="6125774" cy="7838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rad>
                        <m:radPr>
                          <m:deg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18C9A8-4026-5494-765D-0EDEE768B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58" y="1196752"/>
                <a:ext cx="6125774" cy="7838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29133C-0FCA-C058-CAFE-1EF57F2A0D44}"/>
                  </a:ext>
                </a:extLst>
              </p:cNvPr>
              <p:cNvSpPr txBox="1"/>
              <p:nvPr/>
            </p:nvSpPr>
            <p:spPr>
              <a:xfrm>
                <a:off x="755576" y="1987604"/>
                <a:ext cx="3672408" cy="47359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rad>
                        <m:radPr>
                          <m:degHide m:val="on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29133C-0FCA-C058-CAFE-1EF57F2A0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987604"/>
                <a:ext cx="3672408" cy="4735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A31A14-386B-528E-CD80-9FEF163B7B1D}"/>
                  </a:ext>
                </a:extLst>
              </p:cNvPr>
              <p:cNvSpPr txBox="1"/>
              <p:nvPr/>
            </p:nvSpPr>
            <p:spPr>
              <a:xfrm>
                <a:off x="755576" y="2573069"/>
                <a:ext cx="6480522" cy="47359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A31A14-386B-528E-CD80-9FEF163B7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573069"/>
                <a:ext cx="6480522" cy="4735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68741C-BC31-E63D-44C8-BD462EA327CD}"/>
                  </a:ext>
                </a:extLst>
              </p:cNvPr>
              <p:cNvSpPr txBox="1"/>
              <p:nvPr/>
            </p:nvSpPr>
            <p:spPr>
              <a:xfrm>
                <a:off x="1475656" y="3811341"/>
                <a:ext cx="2304256" cy="60651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3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3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68741C-BC31-E63D-44C8-BD462EA32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811341"/>
                <a:ext cx="2304256" cy="6065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FD75AE-CCF0-37E7-D47D-07CC317BBBA1}"/>
                  </a:ext>
                </a:extLst>
              </p:cNvPr>
              <p:cNvSpPr txBox="1"/>
              <p:nvPr/>
            </p:nvSpPr>
            <p:spPr>
              <a:xfrm>
                <a:off x="3706198" y="3553809"/>
                <a:ext cx="1728192" cy="43544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FD75AE-CCF0-37E7-D47D-07CC317BB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198" y="3553809"/>
                <a:ext cx="1728192" cy="4354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0B7493-0688-869F-61B9-9F74F4A9F070}"/>
                  </a:ext>
                </a:extLst>
              </p:cNvPr>
              <p:cNvSpPr txBox="1"/>
              <p:nvPr/>
            </p:nvSpPr>
            <p:spPr>
              <a:xfrm>
                <a:off x="3706198" y="4034569"/>
                <a:ext cx="2160240" cy="61856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0B7493-0688-869F-61B9-9F74F4A9F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198" y="4034569"/>
                <a:ext cx="2160240" cy="6185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46D05FD-4AA1-0390-A007-1FD0D755918B}"/>
                  </a:ext>
                </a:extLst>
              </p:cNvPr>
              <p:cNvSpPr txBox="1"/>
              <p:nvPr/>
            </p:nvSpPr>
            <p:spPr>
              <a:xfrm>
                <a:off x="3706198" y="4607643"/>
                <a:ext cx="2454429" cy="67018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46D05FD-4AA1-0390-A007-1FD0D7559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198" y="4607643"/>
                <a:ext cx="2454429" cy="6701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6CB526-5401-4BC4-6C15-4A63A2F2D92E}"/>
                  </a:ext>
                </a:extLst>
              </p:cNvPr>
              <p:cNvSpPr txBox="1"/>
              <p:nvPr/>
            </p:nvSpPr>
            <p:spPr>
              <a:xfrm>
                <a:off x="1475656" y="4334655"/>
                <a:ext cx="2304256" cy="60651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ko-KR" alt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3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3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6CB526-5401-4BC4-6C15-4A63A2F2D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4334655"/>
                <a:ext cx="2304256" cy="6065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093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FD3B-78A4-0DAC-4FC2-BFDBFF66A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D830E-4A07-9876-770C-7E92F0F64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15.4 </a:t>
            </a:r>
            <a:r>
              <a:rPr lang="ko-KR" altLang="en-US" dirty="0"/>
              <a:t>오일러 공식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1B356E-047B-945D-B55F-A7190A936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복소수 곱셈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회전과 크기 변환</a:t>
            </a:r>
            <a:endParaRPr lang="en-US" altLang="ko-KR" b="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73F2AD-49FF-69CA-150C-B2C30A90D3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B413E7-E4E2-0BAD-A5BE-E38B4DA36031}"/>
                  </a:ext>
                </a:extLst>
              </p:cNvPr>
              <p:cNvSpPr txBox="1"/>
              <p:nvPr/>
            </p:nvSpPr>
            <p:spPr>
              <a:xfrm>
                <a:off x="559063" y="1268760"/>
                <a:ext cx="2057448" cy="41370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B413E7-E4E2-0BAD-A5BE-E38B4DA36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63" y="1268760"/>
                <a:ext cx="2057448" cy="413703"/>
              </a:xfrm>
              <a:prstGeom prst="rect">
                <a:avLst/>
              </a:prstGeom>
              <a:blipFill>
                <a:blip r:embed="rId2"/>
                <a:stretch>
                  <a:fillRect b="-294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DCC011-A2F7-0139-06D8-55AC175C3EED}"/>
                  </a:ext>
                </a:extLst>
              </p:cNvPr>
              <p:cNvSpPr txBox="1"/>
              <p:nvPr/>
            </p:nvSpPr>
            <p:spPr>
              <a:xfrm>
                <a:off x="559063" y="1693627"/>
                <a:ext cx="2057448" cy="41370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DCC011-A2F7-0139-06D8-55AC175C3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63" y="1693627"/>
                <a:ext cx="2057448" cy="413703"/>
              </a:xfrm>
              <a:prstGeom prst="rect">
                <a:avLst/>
              </a:prstGeom>
              <a:blipFill>
                <a:blip r:embed="rId3"/>
                <a:stretch>
                  <a:fillRect b="-147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005316-40A2-B120-6177-33DF5AEFB78C}"/>
                  </a:ext>
                </a:extLst>
              </p:cNvPr>
              <p:cNvSpPr txBox="1"/>
              <p:nvPr/>
            </p:nvSpPr>
            <p:spPr>
              <a:xfrm>
                <a:off x="559062" y="2132856"/>
                <a:ext cx="3724906" cy="42101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005316-40A2-B120-6177-33DF5AEFB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62" y="2132856"/>
                <a:ext cx="3724906" cy="421013"/>
              </a:xfrm>
              <a:prstGeom prst="rect">
                <a:avLst/>
              </a:prstGeom>
              <a:blipFill>
                <a:blip r:embed="rId4"/>
                <a:stretch>
                  <a:fillRect b="-144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원호 14">
            <a:extLst>
              <a:ext uri="{FF2B5EF4-FFF2-40B4-BE49-F238E27FC236}">
                <a16:creationId xmlns:a16="http://schemas.microsoft.com/office/drawing/2014/main" id="{AB79B31A-3884-BD0F-09EE-729279D16061}"/>
              </a:ext>
            </a:extLst>
          </p:cNvPr>
          <p:cNvSpPr/>
          <p:nvPr/>
        </p:nvSpPr>
        <p:spPr bwMode="auto">
          <a:xfrm rot="1068315">
            <a:off x="3227656" y="4037261"/>
            <a:ext cx="3019147" cy="2504429"/>
          </a:xfrm>
          <a:prstGeom prst="arc">
            <a:avLst>
              <a:gd name="adj1" fmla="val 17646531"/>
              <a:gd name="adj2" fmla="val 21134821"/>
            </a:avLst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BABAB7E-CC00-313A-444C-CB2CD6CE42E3}"/>
              </a:ext>
            </a:extLst>
          </p:cNvPr>
          <p:cNvGrpSpPr/>
          <p:nvPr/>
        </p:nvGrpSpPr>
        <p:grpSpPr>
          <a:xfrm>
            <a:off x="4211960" y="1707603"/>
            <a:ext cx="4413704" cy="4605706"/>
            <a:chOff x="4211960" y="1707603"/>
            <a:chExt cx="4413704" cy="4605706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75B5C55-802A-2074-1099-2E146FFBF3C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49200" y="2708919"/>
              <a:ext cx="0" cy="3456384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C349D75-971E-BFCE-A5F7-2D78588A1C3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49200" y="5467671"/>
              <a:ext cx="1753398" cy="486834"/>
            </a:xfrm>
            <a:prstGeom prst="line">
              <a:avLst/>
            </a:prstGeom>
            <a:ln w="25400">
              <a:solidFill>
                <a:srgbClr val="008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원호 11">
              <a:extLst>
                <a:ext uri="{FF2B5EF4-FFF2-40B4-BE49-F238E27FC236}">
                  <a16:creationId xmlns:a16="http://schemas.microsoft.com/office/drawing/2014/main" id="{8579F98D-B078-D641-93CF-A942AEF21CCD}"/>
                </a:ext>
              </a:extLst>
            </p:cNvPr>
            <p:cNvSpPr/>
            <p:nvPr/>
          </p:nvSpPr>
          <p:spPr bwMode="auto">
            <a:xfrm rot="677830">
              <a:off x="5128506" y="5729601"/>
              <a:ext cx="282474" cy="389797"/>
            </a:xfrm>
            <a:prstGeom prst="arc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" name="원호 12">
              <a:extLst>
                <a:ext uri="{FF2B5EF4-FFF2-40B4-BE49-F238E27FC236}">
                  <a16:creationId xmlns:a16="http://schemas.microsoft.com/office/drawing/2014/main" id="{97FF612F-2CBA-B03A-65A7-4D0FC039F323}"/>
                </a:ext>
              </a:extLst>
            </p:cNvPr>
            <p:cNvSpPr/>
            <p:nvPr/>
          </p:nvSpPr>
          <p:spPr bwMode="auto">
            <a:xfrm rot="824128">
              <a:off x="4953871" y="5441233"/>
              <a:ext cx="677964" cy="872076"/>
            </a:xfrm>
            <a:prstGeom prst="arc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9E0E2664-9BA5-2C95-0A53-081E9A93D75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49199" y="1963044"/>
              <a:ext cx="2736306" cy="3986236"/>
            </a:xfrm>
            <a:prstGeom prst="line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8B26DAFB-BF99-2F21-1098-79D0C3B9056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11960" y="5949279"/>
              <a:ext cx="4413704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E74F9D25-D81A-410C-E688-8ED6494FCE3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49200" y="4581127"/>
              <a:ext cx="2520278" cy="1368152"/>
            </a:xfrm>
            <a:prstGeom prst="line">
              <a:avLst/>
            </a:prstGeom>
            <a:ln w="254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8C0469-4297-1EDF-B19F-DD95B994A7A5}"/>
                </a:ext>
              </a:extLst>
            </p:cNvPr>
            <p:cNvSpPr txBox="1"/>
            <p:nvPr/>
          </p:nvSpPr>
          <p:spPr>
            <a:xfrm>
              <a:off x="4247457" y="2734606"/>
              <a:ext cx="649089" cy="461665"/>
            </a:xfrm>
            <a:prstGeom prst="rect">
              <a:avLst/>
            </a:prstGeom>
            <a:noFill/>
            <a:ln w="25400">
              <a:noFill/>
              <a:prstDash val="sys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</a:t>
              </a:r>
              <a:endParaRPr lang="ko-KR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mbria Math" panose="02040503050406030204" pitchFamily="18" charset="0"/>
                <a:ea typeface="+mn-e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B644F5A-4F4F-3229-DBEF-B33F832CC4C0}"/>
                </a:ext>
              </a:extLst>
            </p:cNvPr>
            <p:cNvSpPr txBox="1"/>
            <p:nvPr/>
          </p:nvSpPr>
          <p:spPr>
            <a:xfrm>
              <a:off x="7954363" y="5589239"/>
              <a:ext cx="649089" cy="461665"/>
            </a:xfrm>
            <a:prstGeom prst="rect">
              <a:avLst/>
            </a:prstGeom>
            <a:noFill/>
            <a:ln w="25400">
              <a:noFill/>
              <a:prstDash val="sys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ko-KR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mbria Math" panose="02040503050406030204" pitchFamily="18" charset="0"/>
                <a:ea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9186B19-91F8-A3DF-50BA-64EAC55D312F}"/>
                    </a:ext>
                  </a:extLst>
                </p:cNvPr>
                <p:cNvSpPr txBox="1"/>
                <p:nvPr/>
              </p:nvSpPr>
              <p:spPr>
                <a:xfrm>
                  <a:off x="5462301" y="2871976"/>
                  <a:ext cx="919098" cy="400110"/>
                </a:xfrm>
                <a:prstGeom prst="rect">
                  <a:avLst/>
                </a:prstGeom>
                <a:noFill/>
                <a:ln w="25400">
                  <a:noFill/>
                  <a:prstDash val="sysDot"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9186B19-91F8-A3DF-50BA-64EAC55D31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301" y="2871976"/>
                  <a:ext cx="919098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3030"/>
                  </a:stretch>
                </a:blipFill>
                <a:ln w="25400">
                  <a:noFill/>
                  <a:prstDash val="sysDot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22A263A-6170-6505-1518-DACE2459420C}"/>
                    </a:ext>
                  </a:extLst>
                </p:cNvPr>
                <p:cNvSpPr txBox="1"/>
                <p:nvPr/>
              </p:nvSpPr>
              <p:spPr>
                <a:xfrm>
                  <a:off x="7201499" y="1707603"/>
                  <a:ext cx="441137" cy="400110"/>
                </a:xfrm>
                <a:prstGeom prst="rect">
                  <a:avLst/>
                </a:prstGeom>
                <a:noFill/>
                <a:ln w="25400">
                  <a:noFill/>
                  <a:prstDash val="sysDot"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22A263A-6170-6505-1518-DACE24594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1499" y="1707603"/>
                  <a:ext cx="441137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5400">
                  <a:noFill/>
                  <a:prstDash val="sysDot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A2F6B2E-20C6-8F79-CDC0-995080FB06A9}"/>
                    </a:ext>
                  </a:extLst>
                </p:cNvPr>
                <p:cNvSpPr txBox="1"/>
                <p:nvPr/>
              </p:nvSpPr>
              <p:spPr>
                <a:xfrm>
                  <a:off x="5041777" y="5848907"/>
                  <a:ext cx="455931" cy="400110"/>
                </a:xfrm>
                <a:prstGeom prst="rect">
                  <a:avLst/>
                </a:prstGeom>
                <a:noFill/>
                <a:ln w="25400">
                  <a:noFill/>
                  <a:prstDash val="sysDot"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A2F6B2E-20C6-8F79-CDC0-995080FB0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1777" y="5848907"/>
                  <a:ext cx="455931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3030"/>
                  </a:stretch>
                </a:blipFill>
                <a:ln w="25400">
                  <a:noFill/>
                  <a:prstDash val="sysDot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CE680D0-BAE8-8D9C-A24A-304BCF8AFDE9}"/>
                    </a:ext>
                  </a:extLst>
                </p:cNvPr>
                <p:cNvSpPr txBox="1"/>
                <p:nvPr/>
              </p:nvSpPr>
              <p:spPr>
                <a:xfrm>
                  <a:off x="5446424" y="5885107"/>
                  <a:ext cx="504547" cy="400110"/>
                </a:xfrm>
                <a:prstGeom prst="rect">
                  <a:avLst/>
                </a:prstGeom>
                <a:noFill/>
                <a:ln w="25400">
                  <a:noFill/>
                  <a:prstDash val="sysDot"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CE680D0-BAE8-8D9C-A24A-304BCF8AF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6424" y="5885107"/>
                  <a:ext cx="504547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3030"/>
                  </a:stretch>
                </a:blipFill>
                <a:ln w="25400">
                  <a:noFill/>
                  <a:prstDash val="sysDot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83304B2-680B-C883-0B21-287413DE1C9B}"/>
                    </a:ext>
                  </a:extLst>
                </p:cNvPr>
                <p:cNvSpPr txBox="1"/>
                <p:nvPr/>
              </p:nvSpPr>
              <p:spPr>
                <a:xfrm>
                  <a:off x="5413199" y="4546554"/>
                  <a:ext cx="1075543" cy="400110"/>
                </a:xfrm>
                <a:prstGeom prst="rect">
                  <a:avLst/>
                </a:prstGeom>
                <a:noFill/>
                <a:ln w="25400">
                  <a:noFill/>
                  <a:prstDash val="sysDot"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83304B2-680B-C883-0B21-287413DE1C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199" y="4546554"/>
                  <a:ext cx="1075543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3077"/>
                  </a:stretch>
                </a:blipFill>
                <a:ln w="25400">
                  <a:noFill/>
                  <a:prstDash val="sysDot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8636D61-2A15-C29F-030F-350D86CAC13D}"/>
                    </a:ext>
                  </a:extLst>
                </p:cNvPr>
                <p:cNvSpPr txBox="1"/>
                <p:nvPr/>
              </p:nvSpPr>
              <p:spPr>
                <a:xfrm>
                  <a:off x="6173610" y="5356822"/>
                  <a:ext cx="419187" cy="413703"/>
                </a:xfrm>
                <a:prstGeom prst="rect">
                  <a:avLst/>
                </a:prstGeom>
                <a:noFill/>
                <a:ln w="25400">
                  <a:noFill/>
                  <a:prstDash val="sysDot"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8636D61-2A15-C29F-030F-350D86CAC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3610" y="5356822"/>
                  <a:ext cx="419187" cy="41370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5400">
                  <a:noFill/>
                  <a:prstDash val="sysDot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53BAF1C-5426-DE89-73D9-9885C4191E74}"/>
                    </a:ext>
                  </a:extLst>
                </p:cNvPr>
                <p:cNvSpPr txBox="1"/>
                <p:nvPr/>
              </p:nvSpPr>
              <p:spPr>
                <a:xfrm>
                  <a:off x="6948232" y="4341373"/>
                  <a:ext cx="441137" cy="413703"/>
                </a:xfrm>
                <a:prstGeom prst="rect">
                  <a:avLst/>
                </a:prstGeom>
                <a:noFill/>
                <a:ln w="25400">
                  <a:noFill/>
                  <a:prstDash val="sysDot"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53BAF1C-5426-DE89-73D9-9885C4191E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8232" y="4341373"/>
                  <a:ext cx="441137" cy="41370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5400">
                  <a:noFill/>
                  <a:prstDash val="sysDot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382776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A7B94-A50D-ECD4-486B-78382AB7C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8214E-2065-390D-9890-75C78998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15.4 </a:t>
            </a:r>
            <a:r>
              <a:rPr lang="ko-KR" altLang="en-US" dirty="0"/>
              <a:t>오일러 공식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94ED1C-BDCB-F235-931C-31A3CD17E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세상에서 가장 아름다운 공식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882677-B252-9A24-0909-8BE53E6A13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B8275B-52CE-E4D2-35E9-A8025D2A0916}"/>
                  </a:ext>
                </a:extLst>
              </p:cNvPr>
              <p:cNvSpPr txBox="1"/>
              <p:nvPr/>
            </p:nvSpPr>
            <p:spPr>
              <a:xfrm>
                <a:off x="683568" y="1412776"/>
                <a:ext cx="4320480" cy="47359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B8275B-52CE-E4D2-35E9-A8025D2A0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12776"/>
                <a:ext cx="4320480" cy="4735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DBA6D1-7773-F053-7E06-273BBB6FDDEC}"/>
                  </a:ext>
                </a:extLst>
              </p:cNvPr>
              <p:cNvSpPr txBox="1"/>
              <p:nvPr/>
            </p:nvSpPr>
            <p:spPr>
              <a:xfrm>
                <a:off x="683568" y="1904121"/>
                <a:ext cx="4320480" cy="47359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1+0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DBA6D1-7773-F053-7E06-273BBB6FD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904121"/>
                <a:ext cx="4320480" cy="4735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740D09-A7E2-F9C1-D64B-E000878028C7}"/>
                  </a:ext>
                </a:extLst>
              </p:cNvPr>
              <p:cNvSpPr txBox="1"/>
              <p:nvPr/>
            </p:nvSpPr>
            <p:spPr>
              <a:xfrm>
                <a:off x="2987824" y="3123756"/>
                <a:ext cx="3024336" cy="935532"/>
              </a:xfrm>
              <a:prstGeom prst="rect">
                <a:avLst/>
              </a:prstGeom>
              <a:noFill/>
              <a:ln w="254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txBody>
              <a:bodyPr wrap="square" lIns="360000" tIns="180000" rIns="360000" bIns="18000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altLang="ko-KR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  <m:r>
                        <a:rPr lang="en-US" altLang="ko-KR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36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740D09-A7E2-F9C1-D64B-E00087802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3123756"/>
                <a:ext cx="3024336" cy="9355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3755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67692-3CD6-9F3C-6EAC-2E97810F9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98427-FF4F-101F-34A9-75794D1D4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15.5 </a:t>
            </a:r>
            <a:r>
              <a:rPr lang="ko-KR" altLang="en-US" dirty="0"/>
              <a:t>정리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2D1A7E2-0C1C-5482-95FA-44C21FC942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:r>
                  <a:rPr lang="ko-KR" altLang="en-US" dirty="0"/>
                  <a:t>미분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도함수</a:t>
                </a:r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미분 →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altLang="ko-KR" dirty="0"/>
                  <a:t> 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테일러 급수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맥클로린</a:t>
                </a:r>
                <a:r>
                  <a:rPr lang="ko-KR" altLang="en-US" dirty="0"/>
                  <a:t> 급수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오일러 공식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ko-KR" altLang="en-US" i="1" dirty="0"/>
              </a:p>
              <a:p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2D1A7E2-0C1C-5482-95FA-44C21FC942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751" t="-1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7DD737-11E3-BC1A-7B54-201CE6D742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395074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buNone/>
          <a:defRPr sz="1400" b="1" dirty="0">
            <a:solidFill>
              <a:srgbClr val="6F008A"/>
            </a:solidFill>
            <a:effectLst/>
            <a:latin typeface="D2Coding" panose="020B0609020101020101" pitchFamily="49" charset="-127"/>
            <a:ea typeface="D2Coding" panose="020B0609020101020101" pitchFamily="49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9803</TotalTime>
  <Words>2324</Words>
  <Application>Microsoft Office PowerPoint</Application>
  <PresentationFormat>화면 슬라이드 쇼(4:3)</PresentationFormat>
  <Paragraphs>696</Paragraphs>
  <Slides>61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HeadingPairs>
  <TitlesOfParts>
    <vt:vector size="71" baseType="lpstr">
      <vt:lpstr>Cambria Math</vt:lpstr>
      <vt:lpstr>HY견고딕</vt:lpstr>
      <vt:lpstr>나눔바른고딕</vt:lpstr>
      <vt:lpstr>굴림</vt:lpstr>
      <vt:lpstr>Arial</vt:lpstr>
      <vt:lpstr>Wingdings</vt:lpstr>
      <vt:lpstr>맑은 고딕</vt:lpstr>
      <vt:lpstr>D2Coding</vt:lpstr>
      <vt:lpstr>가을체</vt:lpstr>
      <vt:lpstr>기본 디자인</vt:lpstr>
      <vt:lpstr>14. 복소수</vt:lpstr>
      <vt:lpstr>14.1 복소수</vt:lpstr>
      <vt:lpstr>14.1.1 허수</vt:lpstr>
      <vt:lpstr>14.1.2 복소수의 구조</vt:lpstr>
      <vt:lpstr>14.1.2 복소수의 구조</vt:lpstr>
      <vt:lpstr>14.1.2 복소수의 구조</vt:lpstr>
      <vt:lpstr>14.1.2 복소수의 구조</vt:lpstr>
      <vt:lpstr>14.1.2 복소수의 구조</vt:lpstr>
      <vt:lpstr>14.1.2 복소수의 구조</vt:lpstr>
      <vt:lpstr>14.2 복소평면</vt:lpstr>
      <vt:lpstr>14.2 복소평면</vt:lpstr>
      <vt:lpstr>14.2 복소평면</vt:lpstr>
      <vt:lpstr>14.2.1 단위 복소수와 곱</vt:lpstr>
      <vt:lpstr>14.2.1 단위 복소수와 곱</vt:lpstr>
      <vt:lpstr>14.2.1 단위 복소수와 곱</vt:lpstr>
      <vt:lpstr>14.2.1 단위 복소수와 곱</vt:lpstr>
      <vt:lpstr>14.2.1 단위 복소수와 곱</vt:lpstr>
      <vt:lpstr>14.2.2 켤레 복소수의 회전 변환</vt:lpstr>
      <vt:lpstr>14.2.2 켤레 복소수의 회전 변환</vt:lpstr>
      <vt:lpstr>14.2.2 켤레 복소수의 회전 변환</vt:lpstr>
      <vt:lpstr>14.3 복소수와 행렬의 관계</vt:lpstr>
      <vt:lpstr>14.4 정리</vt:lpstr>
      <vt:lpstr>15. 오일러 공식</vt:lpstr>
      <vt:lpstr>15.1.1 무리수 e</vt:lpstr>
      <vt:lpstr>15.1.1 무리수 e</vt:lpstr>
      <vt:lpstr>15.1.1 무리수 e</vt:lpstr>
      <vt:lpstr>15.1.1 무리수 e</vt:lpstr>
      <vt:lpstr>15.1.2 자연지수 함수</vt:lpstr>
      <vt:lpstr>15.1.2 자연지수 함수</vt:lpstr>
      <vt:lpstr>15.2 미분</vt:lpstr>
      <vt:lpstr>15.2 미분</vt:lpstr>
      <vt:lpstr>15.2 미분</vt:lpstr>
      <vt:lpstr>15.2.1 도함수 (Derivative)</vt:lpstr>
      <vt:lpstr>15.2.1 도함수 (Derivative)</vt:lpstr>
      <vt:lpstr>15.2.1 도함수</vt:lpstr>
      <vt:lpstr>15.2.1 도함수-극한의 성질</vt:lpstr>
      <vt:lpstr>15.2.1 도함수</vt:lpstr>
      <vt:lpstr>15.2.2 자연지수의 도함수</vt:lpstr>
      <vt:lpstr>15.2.3 sin 함수와 cos 함수의 도함수</vt:lpstr>
      <vt:lpstr>15.2.3 sin 함수와 cos 함수의 도함수</vt:lpstr>
      <vt:lpstr>15.2.3 sin 함수와 cos 함수의 도함수</vt:lpstr>
      <vt:lpstr>15.2.3 sin 함수와 cos 함수의 도함수</vt:lpstr>
      <vt:lpstr>15.2.3 sin 함수와 cos 함수의 도함수</vt:lpstr>
      <vt:lpstr>15.2.3 sin 함수와 cos 함수의 도함수</vt:lpstr>
      <vt:lpstr>15.2.3 sin 함수와 cos 함수의 도함수</vt:lpstr>
      <vt:lpstr>15.3.1 등비수열</vt:lpstr>
      <vt:lpstr>15.3.2 급수</vt:lpstr>
      <vt:lpstr>15.3.2 급수</vt:lpstr>
      <vt:lpstr>15.3.2 급수</vt:lpstr>
      <vt:lpstr>15.3.2 급수</vt:lpstr>
      <vt:lpstr>15.3.2 급수</vt:lpstr>
      <vt:lpstr>15.3.3 매클로린 급수</vt:lpstr>
      <vt:lpstr>15.3.3 매클로린 급수</vt:lpstr>
      <vt:lpstr>15.3.3 매클로린 급수</vt:lpstr>
      <vt:lpstr>15.3.3 매클로린 급수</vt:lpstr>
      <vt:lpstr>15.3.3 매클로린 급수</vt:lpstr>
      <vt:lpstr>15.4 오일러 공식</vt:lpstr>
      <vt:lpstr>15.4 오일러 공식</vt:lpstr>
      <vt:lpstr>15.4 오일러 공식</vt:lpstr>
      <vt:lpstr>15.4 오일러 공식</vt:lpstr>
      <vt:lpstr>15.5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312</cp:revision>
  <dcterms:created xsi:type="dcterms:W3CDTF">2003-11-30T16:03:20Z</dcterms:created>
  <dcterms:modified xsi:type="dcterms:W3CDTF">2026-05-28T12:32:47Z</dcterms:modified>
</cp:coreProperties>
</file>