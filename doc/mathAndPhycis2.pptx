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435" r:id="rId2"/>
    <p:sldId id="424" r:id="rId3"/>
    <p:sldId id="425" r:id="rId4"/>
    <p:sldId id="426" r:id="rId5"/>
    <p:sldId id="469" r:id="rId6"/>
    <p:sldId id="470" r:id="rId7"/>
    <p:sldId id="427" r:id="rId8"/>
    <p:sldId id="471" r:id="rId9"/>
    <p:sldId id="428" r:id="rId10"/>
    <p:sldId id="429" r:id="rId11"/>
    <p:sldId id="430" r:id="rId12"/>
    <p:sldId id="431" r:id="rId13"/>
    <p:sldId id="432" r:id="rId14"/>
    <p:sldId id="433" r:id="rId15"/>
    <p:sldId id="436" r:id="rId16"/>
    <p:sldId id="434" r:id="rId17"/>
    <p:sldId id="472" r:id="rId18"/>
    <p:sldId id="473" r:id="rId19"/>
    <p:sldId id="437" r:id="rId20"/>
    <p:sldId id="438" r:id="rId21"/>
    <p:sldId id="439" r:id="rId22"/>
    <p:sldId id="440" r:id="rId23"/>
    <p:sldId id="441" r:id="rId24"/>
    <p:sldId id="442" r:id="rId25"/>
    <p:sldId id="443" r:id="rId26"/>
    <p:sldId id="444" r:id="rId27"/>
    <p:sldId id="445" r:id="rId28"/>
    <p:sldId id="453" r:id="rId29"/>
    <p:sldId id="446" r:id="rId30"/>
    <p:sldId id="447" r:id="rId31"/>
    <p:sldId id="448" r:id="rId32"/>
    <p:sldId id="449" r:id="rId33"/>
    <p:sldId id="450" r:id="rId34"/>
    <p:sldId id="451" r:id="rId35"/>
    <p:sldId id="452" r:id="rId36"/>
    <p:sldId id="455" r:id="rId37"/>
    <p:sldId id="456" r:id="rId38"/>
    <p:sldId id="454" r:id="rId39"/>
    <p:sldId id="457" r:id="rId40"/>
    <p:sldId id="458" r:id="rId41"/>
    <p:sldId id="459" r:id="rId42"/>
    <p:sldId id="460" r:id="rId43"/>
    <p:sldId id="461" r:id="rId44"/>
    <p:sldId id="462" r:id="rId45"/>
    <p:sldId id="463" r:id="rId46"/>
    <p:sldId id="464" r:id="rId47"/>
    <p:sldId id="465" r:id="rId48"/>
    <p:sldId id="466" r:id="rId49"/>
    <p:sldId id="467" r:id="rId50"/>
    <p:sldId id="468" r:id="rId51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8000"/>
    <a:srgbClr val="CC0000"/>
    <a:srgbClr val="009900"/>
    <a:srgbClr val="FF00FF"/>
    <a:srgbClr val="FF9900"/>
    <a:srgbClr val="FF0000"/>
    <a:srgbClr val="CC00CC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 varScale="1">
        <p:scale>
          <a:sx n="113" d="100"/>
          <a:sy n="113" d="100"/>
        </p:scale>
        <p:origin x="2196" y="96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C0FA4-A32F-3144-205C-CB4820D8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18B22F94-3263-F349-8F41-3400962760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7. </a:t>
            </a:r>
            <a:r>
              <a:rPr lang="ko-KR" altLang="en-US" dirty="0"/>
              <a:t>내적</a:t>
            </a:r>
          </a:p>
        </p:txBody>
      </p:sp>
      <p:sp>
        <p:nvSpPr>
          <p:cNvPr id="6" name="부제목 5">
            <a:extLst>
              <a:ext uri="{FF2B5EF4-FFF2-40B4-BE49-F238E27FC236}">
                <a16:creationId xmlns:a16="http://schemas.microsoft.com/office/drawing/2014/main" id="{4619FC95-F796-891F-FA82-E05B02660C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벡터 공간의 분석과 응용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13C0D95-FF80-96FC-00C6-32CC0AECCA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5375121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D2F90-C45E-E4A5-6EE1-F94550AC8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702C6B-359C-D68F-AB7F-E1A195B35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 </a:t>
            </a:r>
            <a:r>
              <a:rPr lang="ko-KR" altLang="en-US" dirty="0"/>
              <a:t>벡터의 내적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2290EF-1762-1104-669C-7722FDA2D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7.1.1 </a:t>
            </a:r>
            <a:r>
              <a:rPr lang="ko-KR" altLang="en-US" dirty="0"/>
              <a:t>내적의 성질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내적과 벡터의 크기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합성 벡터의 내적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41DEF3-4379-CCED-9788-3B526312CDA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742037-6A8A-C161-CA0B-248BF47C86E4}"/>
                  </a:ext>
                </a:extLst>
              </p:cNvPr>
              <p:cNvSpPr txBox="1"/>
              <p:nvPr/>
            </p:nvSpPr>
            <p:spPr>
              <a:xfrm>
                <a:off x="755576" y="1340768"/>
                <a:ext cx="3043609" cy="104336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altLang="ko-KR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8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ko-K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742037-6A8A-C161-CA0B-248BF47C8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1340768"/>
                <a:ext cx="3043609" cy="1043363"/>
              </a:xfrm>
              <a:prstGeom prst="rect">
                <a:avLst/>
              </a:prstGeom>
              <a:blipFill>
                <a:blip r:embed="rId2"/>
                <a:stretch>
                  <a:fillRect l="-2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5CB7CC-E88F-AC8E-5D94-5564FF93881F}"/>
                  </a:ext>
                </a:extLst>
              </p:cNvPr>
              <p:cNvSpPr txBox="1"/>
              <p:nvPr/>
            </p:nvSpPr>
            <p:spPr>
              <a:xfrm>
                <a:off x="827584" y="3500426"/>
                <a:ext cx="2592288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b="0" i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28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800" b="0" i="1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altLang="ko-KR" sz="2800" b="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800" b="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5CB7CC-E88F-AC8E-5D94-5564FF9388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3500426"/>
                <a:ext cx="2592288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6237548-8442-EEFB-0A52-A3688768E6B5}"/>
                  </a:ext>
                </a:extLst>
              </p:cNvPr>
              <p:cNvSpPr txBox="1"/>
              <p:nvPr/>
            </p:nvSpPr>
            <p:spPr>
              <a:xfrm>
                <a:off x="755576" y="4904804"/>
                <a:ext cx="6552728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b="0" i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b="0" i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6237548-8442-EEFB-0A52-A3688768E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4904804"/>
                <a:ext cx="6552728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92B6E7-C46C-2491-1AD9-9CBADACBD0C5}"/>
                  </a:ext>
                </a:extLst>
              </p:cNvPr>
              <p:cNvSpPr txBox="1"/>
              <p:nvPr/>
            </p:nvSpPr>
            <p:spPr>
              <a:xfrm>
                <a:off x="3419872" y="5481079"/>
                <a:ext cx="4065662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80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800" b="0" i="0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92B6E7-C46C-2491-1AD9-9CBADACBD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872" y="5481079"/>
                <a:ext cx="4065662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2639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85F27-D9BE-79E0-C99F-301C6F981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1840F5-796A-D70F-2E7B-CDFAD446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7.1.2 </a:t>
            </a:r>
            <a:r>
              <a:rPr lang="ko-KR" altLang="en-US" dirty="0"/>
              <a:t>내적과 삼각함수의 관계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66E2A8-815A-D8EB-BE5A-7725781E45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내적 유도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911CAA-607B-3CD7-D205-B3F22E91FE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09D7C63-4318-72E6-5FE0-810AFBE357BC}"/>
                  </a:ext>
                </a:extLst>
              </p:cNvPr>
              <p:cNvSpPr txBox="1"/>
              <p:nvPr/>
            </p:nvSpPr>
            <p:spPr>
              <a:xfrm>
                <a:off x="971600" y="6032901"/>
                <a:ext cx="33843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3200" b="0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32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32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sz="32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3200" b="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 </m:t>
                          </m:r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d>
                      <m:d>
                        <m:dPr>
                          <m:begChr m:val="|"/>
                          <m:endChr m:val="|"/>
                          <m:ctrlPr>
                            <a:rPr lang="en-US" altLang="ko-KR" sz="3200" b="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3200" b="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 </m:t>
                          </m:r>
                          <m:acc>
                            <m:accPr>
                              <m:chr m:val="⃗"/>
                              <m:ctrlPr>
                                <a:rPr lang="en-US" altLang="ko-KR" sz="32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ko-KR" sz="3200" b="0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ko-KR" altLang="en-US" sz="32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ko-KR" altLang="en-US" sz="32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09D7C63-4318-72E6-5FE0-810AFBE35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6032901"/>
                <a:ext cx="3384376" cy="4924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bject 126">
                <a:extLst>
                  <a:ext uri="{FF2B5EF4-FFF2-40B4-BE49-F238E27FC236}">
                    <a16:creationId xmlns:a16="http://schemas.microsoft.com/office/drawing/2014/main" id="{4C0FF7D9-72FF-1EF4-B0C2-0C2058112E64}"/>
                  </a:ext>
                </a:extLst>
              </p:cNvPr>
              <p:cNvSpPr txBox="1"/>
              <p:nvPr/>
            </p:nvSpPr>
            <p:spPr bwMode="auto">
              <a:xfrm>
                <a:off x="7959629" y="704168"/>
                <a:ext cx="571577" cy="56587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0" name="Object 126">
                <a:extLst>
                  <a:ext uri="{FF2B5EF4-FFF2-40B4-BE49-F238E27FC236}">
                    <a16:creationId xmlns:a16="http://schemas.microsoft.com/office/drawing/2014/main" id="{4C0FF7D9-72FF-1EF4-B0C2-0C2058112E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59629" y="704168"/>
                <a:ext cx="571577" cy="5658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bject 127">
                <a:extLst>
                  <a:ext uri="{FF2B5EF4-FFF2-40B4-BE49-F238E27FC236}">
                    <a16:creationId xmlns:a16="http://schemas.microsoft.com/office/drawing/2014/main" id="{74846BFD-56E4-07B2-2CD8-93E714F1F887}"/>
                  </a:ext>
                </a:extLst>
              </p:cNvPr>
              <p:cNvSpPr txBox="1"/>
              <p:nvPr/>
            </p:nvSpPr>
            <p:spPr bwMode="auto">
              <a:xfrm>
                <a:off x="8565687" y="3195263"/>
                <a:ext cx="609202" cy="56855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1" name="Object 127">
                <a:extLst>
                  <a:ext uri="{FF2B5EF4-FFF2-40B4-BE49-F238E27FC236}">
                    <a16:creationId xmlns:a16="http://schemas.microsoft.com/office/drawing/2014/main" id="{74846BFD-56E4-07B2-2CD8-93E714F1F8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65687" y="3195263"/>
                <a:ext cx="609202" cy="568555"/>
              </a:xfrm>
              <a:prstGeom prst="rect">
                <a:avLst/>
              </a:prstGeom>
              <a:blipFill>
                <a:blip r:embed="rId4"/>
                <a:stretch>
                  <a:fillRect t="-13978" r="-19000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Object 124">
            <a:extLst>
              <a:ext uri="{FF2B5EF4-FFF2-40B4-BE49-F238E27FC236}">
                <a16:creationId xmlns:a16="http://schemas.microsoft.com/office/drawing/2014/main" id="{0274127B-D58D-D789-4B59-B02566D2EEA0}"/>
              </a:ext>
            </a:extLst>
          </p:cNvPr>
          <p:cNvSpPr txBox="1"/>
          <p:nvPr/>
        </p:nvSpPr>
        <p:spPr bwMode="auto">
          <a:xfrm>
            <a:off x="6586028" y="2480099"/>
            <a:ext cx="482735" cy="43446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>
            <a:normAutofit lnSpcReduction="10000"/>
          </a:bodyPr>
          <a:lstStyle/>
          <a:p>
            <a:r>
              <a:rPr lang="en-US" altLang="ko-KR" i="1" dirty="0">
                <a:latin typeface="Consolas" panose="020B0609020204030204" pitchFamily="49" charset="0"/>
              </a:rPr>
              <a:t>θ</a:t>
            </a:r>
            <a:endParaRPr lang="ko-KR" altLang="en-US" i="1" dirty="0">
              <a:latin typeface="Consolas" panose="020B0609020204030204" pitchFamily="49" charset="0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22A1ABBA-3FFD-AC50-16D6-E7E0942B31F8}"/>
              </a:ext>
            </a:extLst>
          </p:cNvPr>
          <p:cNvGrpSpPr/>
          <p:nvPr/>
        </p:nvGrpSpPr>
        <p:grpSpPr>
          <a:xfrm>
            <a:off x="5131783" y="762214"/>
            <a:ext cx="3716924" cy="2812136"/>
            <a:chOff x="4052897" y="635307"/>
            <a:chExt cx="3716924" cy="2812136"/>
          </a:xfrm>
        </p:grpSpPr>
        <p:sp>
          <p:nvSpPr>
            <p:cNvPr id="11" name="Oval 92">
              <a:extLst>
                <a:ext uri="{FF2B5EF4-FFF2-40B4-BE49-F238E27FC236}">
                  <a16:creationId xmlns:a16="http://schemas.microsoft.com/office/drawing/2014/main" id="{6931D260-FE44-8733-91A0-4554E6FD9F7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0546201">
              <a:off x="7525771" y="2843632"/>
              <a:ext cx="244050" cy="246731"/>
            </a:xfrm>
            <a:prstGeom prst="ellipse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12" name="Oval 93">
              <a:extLst>
                <a:ext uri="{FF2B5EF4-FFF2-40B4-BE49-F238E27FC236}">
                  <a16:creationId xmlns:a16="http://schemas.microsoft.com/office/drawing/2014/main" id="{B5CF8D48-61C3-F25B-D97D-E69556C4728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0546201">
              <a:off x="6539456" y="635307"/>
              <a:ext cx="244050" cy="244050"/>
            </a:xfrm>
            <a:prstGeom prst="ellipse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13" name="Line 96">
              <a:extLst>
                <a:ext uri="{FF2B5EF4-FFF2-40B4-BE49-F238E27FC236}">
                  <a16:creationId xmlns:a16="http://schemas.microsoft.com/office/drawing/2014/main" id="{DAA4CE20-CBB5-AC36-5AD7-4F47250E9AF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20546201" flipV="1">
              <a:off x="4052897" y="1228969"/>
              <a:ext cx="2796730" cy="1379727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 lIns="61711" tIns="30855" rIns="61711" bIns="30855">
              <a:spAutoFit/>
            </a:bodyPr>
            <a:lstStyle/>
            <a:p>
              <a:endParaRPr lang="ko-KR" altLang="en-US" dirty="0"/>
            </a:p>
          </p:txBody>
        </p:sp>
        <p:sp>
          <p:nvSpPr>
            <p:cNvPr id="14" name="Line 97">
              <a:extLst>
                <a:ext uri="{FF2B5EF4-FFF2-40B4-BE49-F238E27FC236}">
                  <a16:creationId xmlns:a16="http://schemas.microsoft.com/office/drawing/2014/main" id="{87BB85B5-ABCA-3D49-2B33-55F2440C070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20546201">
              <a:off x="4395376" y="2519519"/>
              <a:ext cx="3041232" cy="92792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 dirty="0"/>
            </a:p>
          </p:txBody>
        </p:sp>
        <p:sp>
          <p:nvSpPr>
            <p:cNvPr id="17" name="Line 100">
              <a:extLst>
                <a:ext uri="{FF2B5EF4-FFF2-40B4-BE49-F238E27FC236}">
                  <a16:creationId xmlns:a16="http://schemas.microsoft.com/office/drawing/2014/main" id="{4BDB09DB-3438-20E9-73EF-12690B073390}"/>
                </a:ext>
              </a:extLst>
            </p:cNvPr>
            <p:cNvSpPr>
              <a:spLocks noChangeShapeType="1"/>
            </p:cNvSpPr>
            <p:nvPr/>
          </p:nvSpPr>
          <p:spPr bwMode="auto">
            <a:xfrm rot="20546201">
              <a:off x="7016477" y="716467"/>
              <a:ext cx="233321" cy="2191081"/>
            </a:xfrm>
            <a:prstGeom prst="line">
              <a:avLst/>
            </a:prstGeom>
            <a:noFill/>
            <a:ln w="25400" cap="rnd">
              <a:solidFill>
                <a:srgbClr val="00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 dirty="0"/>
            </a:p>
          </p:txBody>
        </p:sp>
        <p:sp>
          <p:nvSpPr>
            <p:cNvPr id="19" name="Arc 104">
              <a:extLst>
                <a:ext uri="{FF2B5EF4-FFF2-40B4-BE49-F238E27FC236}">
                  <a16:creationId xmlns:a16="http://schemas.microsoft.com/office/drawing/2014/main" id="{7CE43447-00E6-61BE-8780-5EC7739E4402}"/>
                </a:ext>
              </a:extLst>
            </p:cNvPr>
            <p:cNvSpPr>
              <a:spLocks/>
            </p:cNvSpPr>
            <p:nvPr/>
          </p:nvSpPr>
          <p:spPr bwMode="auto">
            <a:xfrm rot="14745316" flipV="1">
              <a:off x="4946002" y="2453921"/>
              <a:ext cx="812605" cy="262822"/>
            </a:xfrm>
            <a:custGeom>
              <a:avLst/>
              <a:gdLst>
                <a:gd name="T0" fmla="*/ 0 w 40588"/>
                <a:gd name="T1" fmla="*/ 727464 h 21600"/>
                <a:gd name="T2" fmla="*/ 5700539 w 40588"/>
                <a:gd name="T3" fmla="*/ 746450 h 21600"/>
                <a:gd name="T4" fmla="*/ 2840854 w 40588"/>
                <a:gd name="T5" fmla="*/ 1120536 h 21600"/>
                <a:gd name="T6" fmla="*/ 0 60000 65536"/>
                <a:gd name="T7" fmla="*/ 0 60000 65536"/>
                <a:gd name="T8" fmla="*/ 0 60000 65536"/>
                <a:gd name="T9" fmla="*/ 0 w 40588"/>
                <a:gd name="T10" fmla="*/ 0 h 21600"/>
                <a:gd name="T11" fmla="*/ 40588 w 40588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0588" h="21600" fill="none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</a:path>
                <a:path w="40588" h="21600" stroke="0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  <a:lnTo>
                    <a:pt x="20227" y="21600"/>
                  </a:lnTo>
                  <a:close/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25" name="Oval 91">
              <a:extLst>
                <a:ext uri="{FF2B5EF4-FFF2-40B4-BE49-F238E27FC236}">
                  <a16:creationId xmlns:a16="http://schemas.microsoft.com/office/drawing/2014/main" id="{3CA0D8DB-409F-101A-EEE8-7A3D8FC707F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0546201">
              <a:off x="4192348" y="2895881"/>
              <a:ext cx="244049" cy="241368"/>
            </a:xfrm>
            <a:prstGeom prst="ellipse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3FF5A87-99D1-E853-9133-EA243E9AB09B}"/>
                  </a:ext>
                </a:extLst>
              </p:cNvPr>
              <p:cNvSpPr txBox="1"/>
              <p:nvPr/>
            </p:nvSpPr>
            <p:spPr>
              <a:xfrm>
                <a:off x="787676" y="2545229"/>
                <a:ext cx="335638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3FF5A87-99D1-E853-9133-EA243E9AB0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676" y="2545229"/>
                <a:ext cx="3356381" cy="369332"/>
              </a:xfrm>
              <a:prstGeom prst="rect">
                <a:avLst/>
              </a:prstGeom>
              <a:blipFill>
                <a:blip r:embed="rId5"/>
                <a:stretch>
                  <a:fillRect l="-1996" t="-35000" r="-5989"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22AC0E9-FEB7-5FBA-3269-AAB71F38F135}"/>
                  </a:ext>
                </a:extLst>
              </p:cNvPr>
              <p:cNvSpPr txBox="1"/>
              <p:nvPr/>
            </p:nvSpPr>
            <p:spPr>
              <a:xfrm>
                <a:off x="794370" y="2926105"/>
                <a:ext cx="3435609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b="0" i="0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−2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22AC0E9-FEB7-5FBA-3269-AAB71F38F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370" y="2926105"/>
                <a:ext cx="3435609" cy="369332"/>
              </a:xfrm>
              <a:prstGeom prst="rect">
                <a:avLst/>
              </a:prstGeom>
              <a:blipFill>
                <a:blip r:embed="rId6"/>
                <a:stretch>
                  <a:fillRect l="-1950" t="-32787" b="-98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978F56F-A1DF-D824-D8E6-11D6963C27AF}"/>
                  </a:ext>
                </a:extLst>
              </p:cNvPr>
              <p:cNvSpPr txBox="1"/>
              <p:nvPr/>
            </p:nvSpPr>
            <p:spPr>
              <a:xfrm>
                <a:off x="337517" y="3573016"/>
                <a:ext cx="386902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altLang="ko-KR" sz="2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2800" b="0" i="1" smtClean="0">
                        <a:latin typeface="Cambria Math" panose="02040503050406030204" pitchFamily="18" charset="0"/>
                      </a:rPr>
                      <m:t> </m:t>
                    </m:r>
                  </m:oMath>
                </a14:m>
                <a:r>
                  <a:rPr lang="en-US" altLang="ko-KR" sz="2800" dirty="0"/>
                  <a:t>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US" altLang="ko-KR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⃗"/>
                                    <m:ctrlPr>
                                      <a:rPr lang="en-US" altLang="ko-K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8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  <m:r>
                                  <a:rPr lang="en-US" altLang="ko-KR" sz="28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en-US" altLang="ko-K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8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</m:e>
                            </m:d>
                          </m:e>
                        </m:d>
                      </m:e>
                      <m:sup>
                        <m:r>
                          <a:rPr lang="en-US" altLang="ko-KR" sz="2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978F56F-A1DF-D824-D8E6-11D6963C27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517" y="3573016"/>
                <a:ext cx="3869029" cy="523220"/>
              </a:xfrm>
              <a:prstGeom prst="rect">
                <a:avLst/>
              </a:prstGeom>
              <a:blipFill>
                <a:blip r:embed="rId7"/>
                <a:stretch>
                  <a:fillRect t="-13953" b="-290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Arc 104">
            <a:extLst>
              <a:ext uri="{FF2B5EF4-FFF2-40B4-BE49-F238E27FC236}">
                <a16:creationId xmlns:a16="http://schemas.microsoft.com/office/drawing/2014/main" id="{D8D0B5F0-6A62-3385-5B6C-B44D59E417DA}"/>
              </a:ext>
            </a:extLst>
          </p:cNvPr>
          <p:cNvSpPr>
            <a:spLocks/>
          </p:cNvSpPr>
          <p:nvPr/>
        </p:nvSpPr>
        <p:spPr bwMode="auto">
          <a:xfrm rot="8167794" flipV="1">
            <a:off x="4902330" y="1714362"/>
            <a:ext cx="3122723" cy="401375"/>
          </a:xfrm>
          <a:custGeom>
            <a:avLst/>
            <a:gdLst>
              <a:gd name="T0" fmla="*/ 0 w 40588"/>
              <a:gd name="T1" fmla="*/ 727464 h 21600"/>
              <a:gd name="T2" fmla="*/ 5700539 w 40588"/>
              <a:gd name="T3" fmla="*/ 746450 h 21600"/>
              <a:gd name="T4" fmla="*/ 2840854 w 40588"/>
              <a:gd name="T5" fmla="*/ 1120536 h 21600"/>
              <a:gd name="T6" fmla="*/ 0 60000 65536"/>
              <a:gd name="T7" fmla="*/ 0 60000 65536"/>
              <a:gd name="T8" fmla="*/ 0 60000 65536"/>
              <a:gd name="T9" fmla="*/ 0 w 40588"/>
              <a:gd name="T10" fmla="*/ 0 h 21600"/>
              <a:gd name="T11" fmla="*/ 40588 w 4058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0588" h="21600" fill="none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</a:path>
              <a:path w="40588" h="21600" stroke="0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  <a:lnTo>
                  <a:pt x="20227" y="21600"/>
                </a:lnTo>
                <a:close/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bject 126">
                <a:extLst>
                  <a:ext uri="{FF2B5EF4-FFF2-40B4-BE49-F238E27FC236}">
                    <a16:creationId xmlns:a16="http://schemas.microsoft.com/office/drawing/2014/main" id="{D8E872CF-EED2-73CA-0F08-549DBFB92D98}"/>
                  </a:ext>
                </a:extLst>
              </p:cNvPr>
              <p:cNvSpPr txBox="1"/>
              <p:nvPr/>
            </p:nvSpPr>
            <p:spPr bwMode="auto">
              <a:xfrm>
                <a:off x="6105581" y="1345491"/>
                <a:ext cx="429757" cy="56587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5" name="Object 126">
                <a:extLst>
                  <a:ext uri="{FF2B5EF4-FFF2-40B4-BE49-F238E27FC236}">
                    <a16:creationId xmlns:a16="http://schemas.microsoft.com/office/drawing/2014/main" id="{D8E872CF-EED2-73CA-0F08-549DBFB92D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05581" y="1345491"/>
                <a:ext cx="429757" cy="56587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bject 126">
                <a:extLst>
                  <a:ext uri="{FF2B5EF4-FFF2-40B4-BE49-F238E27FC236}">
                    <a16:creationId xmlns:a16="http://schemas.microsoft.com/office/drawing/2014/main" id="{95100237-385A-A26B-92A1-8FC4CFCAFF29}"/>
                  </a:ext>
                </a:extLst>
              </p:cNvPr>
              <p:cNvSpPr txBox="1"/>
              <p:nvPr/>
            </p:nvSpPr>
            <p:spPr bwMode="auto">
              <a:xfrm>
                <a:off x="7291214" y="3312321"/>
                <a:ext cx="429757" cy="56587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6" name="Object 126">
                <a:extLst>
                  <a:ext uri="{FF2B5EF4-FFF2-40B4-BE49-F238E27FC236}">
                    <a16:creationId xmlns:a16="http://schemas.microsoft.com/office/drawing/2014/main" id="{95100237-385A-A26B-92A1-8FC4CFCAFF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91214" y="3312321"/>
                <a:ext cx="429757" cy="56587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Arc 102">
            <a:extLst>
              <a:ext uri="{FF2B5EF4-FFF2-40B4-BE49-F238E27FC236}">
                <a16:creationId xmlns:a16="http://schemas.microsoft.com/office/drawing/2014/main" id="{D0557747-CF37-4A1C-8D9A-8F24EA2E2B51}"/>
              </a:ext>
            </a:extLst>
          </p:cNvPr>
          <p:cNvSpPr>
            <a:spLocks/>
          </p:cNvSpPr>
          <p:nvPr/>
        </p:nvSpPr>
        <p:spPr bwMode="auto">
          <a:xfrm flipV="1">
            <a:off x="5405141" y="3062924"/>
            <a:ext cx="3301417" cy="371571"/>
          </a:xfrm>
          <a:custGeom>
            <a:avLst/>
            <a:gdLst>
              <a:gd name="T0" fmla="*/ 0 w 40588"/>
              <a:gd name="T1" fmla="*/ 8198858 h 21600"/>
              <a:gd name="T2" fmla="*/ 39045937 w 40588"/>
              <a:gd name="T3" fmla="*/ 8412851 h 21600"/>
              <a:gd name="T4" fmla="*/ 19458501 w 40588"/>
              <a:gd name="T5" fmla="*/ 12628922 h 21600"/>
              <a:gd name="T6" fmla="*/ 0 60000 65536"/>
              <a:gd name="T7" fmla="*/ 0 60000 65536"/>
              <a:gd name="T8" fmla="*/ 0 60000 65536"/>
              <a:gd name="T9" fmla="*/ 0 w 40588"/>
              <a:gd name="T10" fmla="*/ 0 h 21600"/>
              <a:gd name="T11" fmla="*/ 40588 w 4058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0588" h="21600" fill="none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</a:path>
              <a:path w="40588" h="21600" stroke="0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  <a:lnTo>
                  <a:pt x="20227" y="21600"/>
                </a:lnTo>
                <a:close/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bject 126">
                <a:extLst>
                  <a:ext uri="{FF2B5EF4-FFF2-40B4-BE49-F238E27FC236}">
                    <a16:creationId xmlns:a16="http://schemas.microsoft.com/office/drawing/2014/main" id="{00D89DD8-8610-FC8F-F889-BC9B02BBE246}"/>
                  </a:ext>
                </a:extLst>
              </p:cNvPr>
              <p:cNvSpPr txBox="1"/>
              <p:nvPr/>
            </p:nvSpPr>
            <p:spPr bwMode="auto">
              <a:xfrm>
                <a:off x="8451818" y="1665322"/>
                <a:ext cx="429757" cy="56587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8" name="Object 126">
                <a:extLst>
                  <a:ext uri="{FF2B5EF4-FFF2-40B4-BE49-F238E27FC236}">
                    <a16:creationId xmlns:a16="http://schemas.microsoft.com/office/drawing/2014/main" id="{00D89DD8-8610-FC8F-F889-BC9B02BBE2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51818" y="1665322"/>
                <a:ext cx="429757" cy="565874"/>
              </a:xfrm>
              <a:prstGeom prst="rect">
                <a:avLst/>
              </a:prstGeom>
              <a:blipFill>
                <a:blip r:embed="rId10"/>
                <a:stretch>
                  <a:fillRect l="-4225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0C56198-CC41-1491-BE2F-F74A700B1F5C}"/>
                  </a:ext>
                </a:extLst>
              </p:cNvPr>
              <p:cNvSpPr txBox="1"/>
              <p:nvPr/>
            </p:nvSpPr>
            <p:spPr>
              <a:xfrm>
                <a:off x="329955" y="1342975"/>
                <a:ext cx="421239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𝑢𝑣</m:t>
                      </m:r>
                      <m:func>
                        <m:funcPr>
                          <m:ctrlPr>
                            <a:rPr lang="en-US" altLang="ko-KR" sz="2800" b="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8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sz="28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0C56198-CC41-1491-BE2F-F74A700B1F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955" y="1342975"/>
                <a:ext cx="421239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5ECE5E9-7365-1D0C-D916-B8E383DCBE73}"/>
                  </a:ext>
                </a:extLst>
              </p:cNvPr>
              <p:cNvSpPr txBox="1"/>
              <p:nvPr/>
            </p:nvSpPr>
            <p:spPr>
              <a:xfrm>
                <a:off x="895581" y="4108287"/>
                <a:ext cx="281232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b="0" dirty="0"/>
                  <a:t>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⃗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US" altLang="ko-KR" i="1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⃗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5ECE5E9-7365-1D0C-D916-B8E383DCBE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581" y="4108287"/>
                <a:ext cx="2812323" cy="369332"/>
              </a:xfrm>
              <a:prstGeom prst="rect">
                <a:avLst/>
              </a:prstGeom>
              <a:blipFill>
                <a:blip r:embed="rId12"/>
                <a:stretch>
                  <a:fillRect l="-6725" t="-34426" r="-434" b="-426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D102CDF-17CD-DE7B-DA60-2F633FEAD10B}"/>
                  </a:ext>
                </a:extLst>
              </p:cNvPr>
              <p:cNvSpPr txBox="1"/>
              <p:nvPr/>
            </p:nvSpPr>
            <p:spPr>
              <a:xfrm>
                <a:off x="887591" y="4518379"/>
                <a:ext cx="324009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b="0" i="0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−2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D102CDF-17CD-DE7B-DA60-2F633FEAD1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591" y="4518379"/>
                <a:ext cx="3240093" cy="369332"/>
              </a:xfrm>
              <a:prstGeom prst="rect">
                <a:avLst/>
              </a:prstGeom>
              <a:blipFill>
                <a:blip r:embed="rId13"/>
                <a:stretch>
                  <a:fillRect l="-2072" t="-32787" r="-5838" b="-98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B2CA352-185C-C5F5-3E20-B4436D5C0B8E}"/>
                  </a:ext>
                </a:extLst>
              </p:cNvPr>
              <p:cNvSpPr txBox="1"/>
              <p:nvPr/>
            </p:nvSpPr>
            <p:spPr>
              <a:xfrm>
                <a:off x="895580" y="4944070"/>
                <a:ext cx="2812324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−2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B2CA352-185C-C5F5-3E20-B4436D5C0B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580" y="4944070"/>
                <a:ext cx="2812324" cy="369332"/>
              </a:xfrm>
              <a:prstGeom prst="rect">
                <a:avLst/>
              </a:prstGeom>
              <a:blipFill>
                <a:blip r:embed="rId14"/>
                <a:stretch>
                  <a:fillRect l="-2386" t="-32787" r="-8460" b="-98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CC7B5E2-C293-C6EE-27BC-38F0AFE7B2C0}"/>
                  </a:ext>
                </a:extLst>
              </p:cNvPr>
              <p:cNvSpPr txBox="1"/>
              <p:nvPr/>
            </p:nvSpPr>
            <p:spPr>
              <a:xfrm>
                <a:off x="3525978" y="4878419"/>
                <a:ext cx="330141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𝑢𝑣</m:t>
                      </m:r>
                      <m:func>
                        <m:funcPr>
                          <m:ctrlPr>
                            <a:rPr lang="en-US" altLang="ko-KR" b="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CC7B5E2-C293-C6EE-27BC-38F0AFE7B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5978" y="4878419"/>
                <a:ext cx="3301417" cy="46166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85F6A87-E2CA-D761-EC28-37FADAB8C029}"/>
                  </a:ext>
                </a:extLst>
              </p:cNvPr>
              <p:cNvSpPr txBox="1"/>
              <p:nvPr/>
            </p:nvSpPr>
            <p:spPr>
              <a:xfrm>
                <a:off x="887591" y="5454483"/>
                <a:ext cx="51803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−2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⃗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400" b="0" i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</m:oMath>
                </a14:m>
                <a:r>
                  <a:rPr lang="en-US" altLang="ko-KR" dirty="0"/>
                  <a:t> =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𝑢𝑣</m:t>
                    </m:r>
                    <m:func>
                      <m:func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85F6A87-E2CA-D761-EC28-37FADAB8C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591" y="5454483"/>
                <a:ext cx="5180340" cy="461665"/>
              </a:xfrm>
              <a:prstGeom prst="rect">
                <a:avLst/>
              </a:prstGeom>
              <a:blipFill>
                <a:blip r:embed="rId16"/>
                <a:stretch>
                  <a:fillRect t="-17333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8F4433B-3333-1CB4-2CD1-3C065D2F90EA}"/>
                  </a:ext>
                </a:extLst>
              </p:cNvPr>
              <p:cNvSpPr txBox="1"/>
              <p:nvPr/>
            </p:nvSpPr>
            <p:spPr>
              <a:xfrm>
                <a:off x="337517" y="2060132"/>
                <a:ext cx="2866332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8F4433B-3333-1CB4-2CD1-3C065D2F90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517" y="2060132"/>
                <a:ext cx="2866332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5088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A6891-4671-B558-3B04-B5B6011B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DEC356-8D7D-8854-3DE3-164414672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7.1.3 </a:t>
            </a:r>
            <a:r>
              <a:rPr lang="ko-KR" altLang="en-US" dirty="0"/>
              <a:t>행렬의 곱셈을 내적으로 표현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A27E99-FAFE-D693-82C4-B7FDA39E3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91F0D74-A750-2CAD-7874-B75B143109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13107B1-3AAC-01C2-464A-92B366FAC88B}"/>
                  </a:ext>
                </a:extLst>
              </p:cNvPr>
              <p:cNvSpPr txBox="1"/>
              <p:nvPr/>
            </p:nvSpPr>
            <p:spPr>
              <a:xfrm>
                <a:off x="179710" y="692696"/>
                <a:ext cx="3456186" cy="7046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𝑏𝑦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𝑐𝑥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𝑑𝑦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13107B1-3AAC-01C2-464A-92B366FAC8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710" y="692696"/>
                <a:ext cx="3456186" cy="70461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DF557B-41F7-ABF6-B153-38DF43B90BFB}"/>
                  </a:ext>
                </a:extLst>
              </p:cNvPr>
              <p:cNvSpPr txBox="1"/>
              <p:nvPr/>
            </p:nvSpPr>
            <p:spPr>
              <a:xfrm>
                <a:off x="2123977" y="1521476"/>
                <a:ext cx="6624736" cy="73513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𝑎𝑥</m:t>
                                </m:r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𝑏𝑦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𝑐𝑥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𝑑𝑦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d>
                                  <m:d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</m:d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DF557B-41F7-ABF6-B153-38DF43B90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3977" y="1521476"/>
                <a:ext cx="6624736" cy="7351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653D686-1871-D487-F77A-BD9D9A978201}"/>
                  </a:ext>
                </a:extLst>
              </p:cNvPr>
              <p:cNvSpPr txBox="1"/>
              <p:nvPr/>
            </p:nvSpPr>
            <p:spPr>
              <a:xfrm>
                <a:off x="179710" y="2507133"/>
                <a:ext cx="5760442" cy="71282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𝑏𝑔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𝑎𝑓</m:t>
                                </m:r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𝑏h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𝑐𝑒</m:t>
                                </m:r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𝑑𝑔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𝑐𝑓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𝑑h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653D686-1871-D487-F77A-BD9D9A978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710" y="2507133"/>
                <a:ext cx="5760442" cy="71282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23247F-D2A9-8EC7-AAD2-43BD1F0F7807}"/>
                  </a:ext>
                </a:extLst>
              </p:cNvPr>
              <p:cNvSpPr txBox="1"/>
              <p:nvPr/>
            </p:nvSpPr>
            <p:spPr>
              <a:xfrm>
                <a:off x="1187624" y="3285477"/>
                <a:ext cx="5182880" cy="8308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e>
                                </m:d>
                              </m:e>
                              <m:e>
                                <m:d>
                                  <m:dPr>
                                    <m:ctrl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</m:d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e>
                                </m:d>
                              </m:e>
                              <m:e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</m:d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23247F-D2A9-8EC7-AAD2-43BD1F0F7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24" y="3285477"/>
                <a:ext cx="5182880" cy="83080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68898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6CFC1-0B41-C91F-1BBD-51DDB8B2C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0408BA-EC8B-04B3-8FF6-9042B3A0C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7.1.3 </a:t>
            </a:r>
            <a:r>
              <a:rPr lang="ko-KR" altLang="en-US" dirty="0"/>
              <a:t>행렬의 곱셈을 내적으로 표현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656F87-7689-2FC1-C116-155D5E68AA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직교 행렬</a:t>
            </a:r>
            <a:r>
              <a:rPr lang="en-US" altLang="ko-KR" dirty="0"/>
              <a:t>(Orthogonal</a:t>
            </a:r>
            <a:r>
              <a:rPr lang="ko-KR" altLang="en-US" dirty="0"/>
              <a:t> </a:t>
            </a:r>
            <a:r>
              <a:rPr lang="en-US" altLang="ko-KR" dirty="0"/>
              <a:t>Matrix) </a:t>
            </a:r>
            <a:r>
              <a:rPr lang="ko-KR" altLang="en-US" dirty="0"/>
              <a:t>특징</a:t>
            </a:r>
            <a:endParaRPr lang="en-US" altLang="ko-KR" dirty="0"/>
          </a:p>
          <a:p>
            <a:pPr lvl="1"/>
            <a:r>
              <a:rPr lang="en-US" altLang="ko-KR" dirty="0"/>
              <a:t>Ex) </a:t>
            </a:r>
            <a:r>
              <a:rPr lang="ko-KR" altLang="en-US" dirty="0"/>
              <a:t>회전 행렬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018CCF2-6D2C-7043-B3D1-E61D1F37B1C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9105CBB-1040-8AD5-B313-D172E8FDE353}"/>
                  </a:ext>
                </a:extLst>
              </p:cNvPr>
              <p:cNvSpPr txBox="1"/>
              <p:nvPr/>
            </p:nvSpPr>
            <p:spPr>
              <a:xfrm>
                <a:off x="574292" y="2684903"/>
                <a:ext cx="5760442" cy="6955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9105CBB-1040-8AD5-B313-D172E8FDE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292" y="2684903"/>
                <a:ext cx="5760442" cy="6955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BB81221-EC09-E57E-60CF-F892B92C4419}"/>
                  </a:ext>
                </a:extLst>
              </p:cNvPr>
              <p:cNvSpPr txBox="1"/>
              <p:nvPr/>
            </p:nvSpPr>
            <p:spPr>
              <a:xfrm>
                <a:off x="3569191" y="3551928"/>
                <a:ext cx="5182880" cy="8308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</m:e>
                              <m:e>
                                <m:d>
                                  <m:dPr>
                                    <m:ctrl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</m:d>
                              </m:e>
                              <m:e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</m:d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BB81221-EC09-E57E-60CF-F892B92C44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9191" y="3551928"/>
                <a:ext cx="5182880" cy="83080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914585B-CAF5-5878-7F7F-10CF1A73B0DB}"/>
                  </a:ext>
                </a:extLst>
              </p:cNvPr>
              <p:cNvSpPr txBox="1"/>
              <p:nvPr/>
            </p:nvSpPr>
            <p:spPr>
              <a:xfrm>
                <a:off x="1007802" y="1778467"/>
                <a:ext cx="3564198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ko-KR" sz="3200" b="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914585B-CAF5-5878-7F7F-10CF1A73B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802" y="1778467"/>
                <a:ext cx="3564198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EEDDC38-109B-72ED-EC69-E2813ECD0903}"/>
                  </a:ext>
                </a:extLst>
              </p:cNvPr>
              <p:cNvSpPr txBox="1"/>
              <p:nvPr/>
            </p:nvSpPr>
            <p:spPr>
              <a:xfrm>
                <a:off x="1007802" y="3627187"/>
                <a:ext cx="4572000" cy="7157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EEDDC38-109B-72ED-EC69-E2813ECD0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802" y="3627187"/>
                <a:ext cx="4572000" cy="71570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B27E12D-9612-6B69-C092-89DCEC68B4D2}"/>
                  </a:ext>
                </a:extLst>
              </p:cNvPr>
              <p:cNvSpPr txBox="1"/>
              <p:nvPr/>
            </p:nvSpPr>
            <p:spPr>
              <a:xfrm>
                <a:off x="574292" y="5656752"/>
                <a:ext cx="8174421" cy="103932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bSup>
                        <m:sSub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p>
                                      <m:sSup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b="0" i="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e>
                                      <m:sup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p>
                                      <m:sSup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b="0" i="0" smtClean="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e>
                                      <m:sup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p>
                                      <m:sSupPr>
                                        <m:ctrlPr>
                                          <a:rPr lang="en-US" altLang="ko-KR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mtClean="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e>
                                      <m:sup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p>
                                      <m:sSup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b="0" i="0" smtClean="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e>
                                      <m:sup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  <a:p>
                <a:endParaRPr lang="en-US" altLang="ko-KR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B27E12D-9612-6B69-C092-89DCEC68B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292" y="5656752"/>
                <a:ext cx="8174421" cy="103932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060720B-4A5B-1AC8-809D-88911B4C6C33}"/>
                  </a:ext>
                </a:extLst>
              </p:cNvPr>
              <p:cNvSpPr txBox="1"/>
              <p:nvPr/>
            </p:nvSpPr>
            <p:spPr>
              <a:xfrm>
                <a:off x="574292" y="4834663"/>
                <a:ext cx="3942494" cy="619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060720B-4A5B-1AC8-809D-88911B4C6C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292" y="4834663"/>
                <a:ext cx="3942494" cy="6190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5055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6AB61-77D9-B699-BB6C-CC8531500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B8E714-2A17-8320-B56F-948E83F7B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7.1.3 </a:t>
            </a:r>
            <a:r>
              <a:rPr lang="ko-KR" altLang="en-US" dirty="0"/>
              <a:t>행렬의 곱셈을 내적으로 표현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038A4A-A76F-3F75-AF86-6DFC13BEC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강체 변환 </a:t>
            </a:r>
            <a:r>
              <a:rPr lang="en-US" altLang="ko-KR" dirty="0"/>
              <a:t>(Rigid Transformation) </a:t>
            </a:r>
            <a:r>
              <a:rPr lang="ko-KR" altLang="en-US" dirty="0"/>
              <a:t>특징</a:t>
            </a:r>
            <a:endParaRPr lang="en-US" altLang="ko-KR" dirty="0"/>
          </a:p>
          <a:p>
            <a:pPr lvl="1"/>
            <a:r>
              <a:rPr lang="ko-KR" altLang="en-US" dirty="0"/>
              <a:t>변환된 기저벡터의 크기는 </a:t>
            </a:r>
            <a:r>
              <a:rPr lang="en-US" altLang="ko-KR" dirty="0"/>
              <a:t>1</a:t>
            </a:r>
          </a:p>
          <a:p>
            <a:pPr lvl="1"/>
            <a:r>
              <a:rPr lang="ko-KR" altLang="en-US" dirty="0"/>
              <a:t>모든 기저 벡터는 서로 직교</a:t>
            </a:r>
            <a:endParaRPr lang="en-US" altLang="ko-KR" dirty="0"/>
          </a:p>
          <a:p>
            <a:pPr lvl="1"/>
            <a:r>
              <a:rPr lang="ko-KR" altLang="en-US" dirty="0"/>
              <a:t>행렬식 값 </a:t>
            </a:r>
            <a:r>
              <a:rPr lang="en-US" altLang="ko-KR" dirty="0"/>
              <a:t>= 1</a:t>
            </a:r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Ex) </a:t>
            </a:r>
            <a:r>
              <a:rPr lang="ko-KR" altLang="en-US" dirty="0"/>
              <a:t>회전 벡터의 행렬식 </a:t>
            </a:r>
            <a:r>
              <a:rPr lang="en-US" altLang="ko-KR" dirty="0"/>
              <a:t>det(R) = cos</a:t>
            </a:r>
            <a:r>
              <a:rPr lang="en-US" altLang="ko-KR" baseline="30000" dirty="0"/>
              <a:t>2</a:t>
            </a:r>
            <a:r>
              <a:rPr lang="en-US" altLang="ko-KR" dirty="0"/>
              <a:t>θ + sin</a:t>
            </a:r>
            <a:r>
              <a:rPr lang="en-US" altLang="ko-KR" baseline="30000" dirty="0"/>
              <a:t>2</a:t>
            </a:r>
            <a:r>
              <a:rPr lang="en-US" altLang="ko-KR" dirty="0"/>
              <a:t>θ = 1</a:t>
            </a:r>
          </a:p>
          <a:p>
            <a:pPr lvl="1"/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4E63840-3096-1165-2AAC-3B01CACB92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64941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4E31D-7140-387E-B25E-BA02882BF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04621C-EE51-E418-459B-7CA1ABCD2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7.2.1 </a:t>
            </a:r>
            <a:r>
              <a:rPr lang="ko-KR" altLang="en-US" dirty="0"/>
              <a:t>앞뒤 판별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700ABDD-4B6F-0AE5-731A-86C8A58C46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앞뒤 판별</a:t>
                </a:r>
                <a:endParaRPr lang="en-US" altLang="ko-KR" dirty="0"/>
              </a:p>
              <a:p>
                <a:pPr lvl="1"/>
                <a:r>
                  <a:rPr lang="ko-KR" altLang="en-US" dirty="0"/>
                  <a:t>내적 결과 양수</a:t>
                </a:r>
                <a:endParaRPr lang="en-US" altLang="ko-KR" dirty="0"/>
              </a:p>
              <a:p>
                <a:pPr lvl="2"/>
                <a:r>
                  <a:rPr lang="ko-KR" altLang="en-US" dirty="0"/>
                  <a:t>두 벡터는 같은 방향</a:t>
                </a:r>
                <a:endParaRPr lang="en-US" altLang="ko-KR" dirty="0"/>
              </a:p>
              <a:p>
                <a:pPr lvl="1"/>
                <a:r>
                  <a:rPr lang="ko-KR" altLang="en-US" dirty="0"/>
                  <a:t>내적 결과 음수</a:t>
                </a:r>
                <a:endParaRPr lang="en-US" altLang="ko-KR" dirty="0"/>
              </a:p>
              <a:p>
                <a:pPr lvl="2"/>
                <a:r>
                  <a:rPr lang="ko-KR" altLang="en-US" dirty="0"/>
                  <a:t>두 벡터는 다른 방향</a:t>
                </a:r>
                <a:endParaRPr lang="en-US" altLang="ko-KR" dirty="0"/>
              </a:p>
              <a:p>
                <a:pPr lvl="2"/>
                <a:endParaRPr lang="en-US" altLang="ko-KR" dirty="0"/>
              </a:p>
              <a:p>
                <a:r>
                  <a:rPr lang="ko-KR" altLang="en-US" dirty="0"/>
                  <a:t>시선 벡터</a:t>
                </a:r>
                <a:r>
                  <a:rPr lang="en-US" altLang="ko-KR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r>
                  <a:rPr lang="en-US" altLang="ko-KR" dirty="0"/>
                  <a:t>, Object </a:t>
                </a:r>
                <a:r>
                  <a:rPr lang="ko-KR" altLang="en-US" dirty="0"/>
                  <a:t>벡터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endParaRPr lang="en-US" altLang="ko-KR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en-US" altLang="ko-KR" b="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ko-KR" altLang="en-US" dirty="0"/>
                  <a:t> 결과</a:t>
                </a:r>
                <a:endParaRPr lang="en-US" altLang="ko-KR" dirty="0"/>
              </a:p>
              <a:p>
                <a:pPr lvl="2"/>
                <a:r>
                  <a:rPr lang="ko-KR" altLang="en-US" dirty="0"/>
                  <a:t>양수</a:t>
                </a:r>
                <a:r>
                  <a:rPr lang="en-US" altLang="ko-KR" dirty="0"/>
                  <a:t>: </a:t>
                </a:r>
                <a:r>
                  <a:rPr lang="ko-KR" altLang="en-US" dirty="0"/>
                  <a:t>캐릭터 앞에 목표물</a:t>
                </a:r>
                <a:endParaRPr lang="en-US" altLang="ko-KR" dirty="0"/>
              </a:p>
              <a:p>
                <a:pPr lvl="2"/>
                <a:r>
                  <a:rPr lang="ko-KR" altLang="en-US" dirty="0"/>
                  <a:t>음수</a:t>
                </a:r>
                <a:r>
                  <a:rPr lang="en-US" altLang="ko-KR" dirty="0"/>
                  <a:t>: </a:t>
                </a:r>
                <a:r>
                  <a:rPr lang="ko-KR" altLang="en-US" dirty="0"/>
                  <a:t>캐릭터 뒤에 목표물</a:t>
                </a:r>
                <a:endParaRPr lang="en-US" altLang="ko-KR" dirty="0"/>
              </a:p>
              <a:p>
                <a:pPr lvl="2"/>
                <a:r>
                  <a:rPr lang="en-US" altLang="ko-KR" dirty="0"/>
                  <a:t>0: </a:t>
                </a:r>
                <a:r>
                  <a:rPr lang="ko-KR" altLang="en-US" dirty="0"/>
                  <a:t>캐릭터 바로 옆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좌</a:t>
                </a:r>
                <a:r>
                  <a:rPr lang="en-US" altLang="ko-KR" dirty="0"/>
                  <a:t>/</a:t>
                </a:r>
                <a:r>
                  <a:rPr lang="ko-KR" altLang="en-US" dirty="0"/>
                  <a:t>우</a:t>
                </a:r>
                <a:r>
                  <a:rPr lang="en-US" altLang="ko-KR" dirty="0"/>
                  <a:t>)</a:t>
                </a:r>
                <a:endParaRPr lang="ko-KR" altLang="en-US" dirty="0"/>
              </a:p>
              <a:p>
                <a:endParaRPr lang="ko-KR" altLang="en-US" dirty="0"/>
              </a:p>
              <a:p>
                <a:pPr lvl="1"/>
                <a:endParaRPr lang="en-US" altLang="ko-KR" dirty="0"/>
              </a:p>
              <a:p>
                <a:pPr lvl="1"/>
                <a:endParaRPr lang="en-US" altLang="ko-KR" dirty="0"/>
              </a:p>
              <a:p>
                <a:pPr lvl="1"/>
                <a:endParaRPr lang="en-US" altLang="ko-KR" dirty="0"/>
              </a:p>
              <a:p>
                <a:pPr lvl="1"/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700ABDD-4B6F-0AE5-731A-86C8A58C46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4AA36A1-26B2-7735-79A2-CABD1EB55C8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B49C622D-6D66-DC8C-F1C5-42401E70CE8C}"/>
              </a:ext>
            </a:extLst>
          </p:cNvPr>
          <p:cNvGrpSpPr/>
          <p:nvPr/>
        </p:nvGrpSpPr>
        <p:grpSpPr>
          <a:xfrm>
            <a:off x="5833653" y="1851648"/>
            <a:ext cx="2590850" cy="2738039"/>
            <a:chOff x="5833653" y="1851648"/>
            <a:chExt cx="2590850" cy="273803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bject 126">
                  <a:extLst>
                    <a:ext uri="{FF2B5EF4-FFF2-40B4-BE49-F238E27FC236}">
                      <a16:creationId xmlns:a16="http://schemas.microsoft.com/office/drawing/2014/main" id="{D93DF84A-9BF7-12E4-4291-9A423EEAE6B2}"/>
                    </a:ext>
                  </a:extLst>
                </p:cNvPr>
                <p:cNvSpPr txBox="1"/>
                <p:nvPr/>
              </p:nvSpPr>
              <p:spPr bwMode="auto">
                <a:xfrm>
                  <a:off x="6084168" y="2420888"/>
                  <a:ext cx="571577" cy="5658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3" name="Object 126">
                  <a:extLst>
                    <a:ext uri="{FF2B5EF4-FFF2-40B4-BE49-F238E27FC236}">
                      <a16:creationId xmlns:a16="http://schemas.microsoft.com/office/drawing/2014/main" id="{D93DF84A-9BF7-12E4-4291-9A423EEAE6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6084168" y="2420888"/>
                  <a:ext cx="571577" cy="56587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bject 127">
                  <a:extLst>
                    <a:ext uri="{FF2B5EF4-FFF2-40B4-BE49-F238E27FC236}">
                      <a16:creationId xmlns:a16="http://schemas.microsoft.com/office/drawing/2014/main" id="{7243D300-C20E-B4CE-67C1-C45706C943F1}"/>
                    </a:ext>
                  </a:extLst>
                </p:cNvPr>
                <p:cNvSpPr txBox="1"/>
                <p:nvPr/>
              </p:nvSpPr>
              <p:spPr bwMode="auto">
                <a:xfrm>
                  <a:off x="7565967" y="2688031"/>
                  <a:ext cx="609202" cy="568555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ko-KR" altLang="en-US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4" name="Object 127">
                  <a:extLst>
                    <a:ext uri="{FF2B5EF4-FFF2-40B4-BE49-F238E27FC236}">
                      <a16:creationId xmlns:a16="http://schemas.microsoft.com/office/drawing/2014/main" id="{7243D300-C20E-B4CE-67C1-C45706C943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7565967" y="2688031"/>
                  <a:ext cx="609202" cy="568555"/>
                </a:xfrm>
                <a:prstGeom prst="rect">
                  <a:avLst/>
                </a:prstGeom>
                <a:blipFill>
                  <a:blip r:embed="rId4"/>
                  <a:stretch>
                    <a:fillRect t="-13978" r="-19000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Line 96">
              <a:extLst>
                <a:ext uri="{FF2B5EF4-FFF2-40B4-BE49-F238E27FC236}">
                  <a16:creationId xmlns:a16="http://schemas.microsoft.com/office/drawing/2014/main" id="{B2B4F76B-2E96-A932-5E30-939A50A37687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5146201">
              <a:off x="6588665" y="2389360"/>
              <a:ext cx="1187616" cy="1787885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 lIns="61711" tIns="30855" rIns="61711" bIns="30855">
              <a:spAutoFit/>
            </a:bodyPr>
            <a:lstStyle/>
            <a:p>
              <a:endParaRPr lang="ko-KR" altLang="en-US" dirty="0"/>
            </a:p>
          </p:txBody>
        </p:sp>
        <p:sp>
          <p:nvSpPr>
            <p:cNvPr id="20" name="Line 97">
              <a:extLst>
                <a:ext uri="{FF2B5EF4-FFF2-40B4-BE49-F238E27FC236}">
                  <a16:creationId xmlns:a16="http://schemas.microsoft.com/office/drawing/2014/main" id="{72C010AA-D765-D724-1C47-E47D290EB24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5146201">
              <a:off x="5734406" y="3053168"/>
              <a:ext cx="1550521" cy="46773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 lIns="61711" tIns="30855" rIns="61711" bIns="30855">
              <a:spAutoFit/>
            </a:bodyPr>
            <a:lstStyle/>
            <a:p>
              <a:endParaRPr lang="ko-KR" altLang="en-US" dirty="0"/>
            </a:p>
          </p:txBody>
        </p:sp>
        <p:sp>
          <p:nvSpPr>
            <p:cNvPr id="22" name="Arc 104">
              <a:extLst>
                <a:ext uri="{FF2B5EF4-FFF2-40B4-BE49-F238E27FC236}">
                  <a16:creationId xmlns:a16="http://schemas.microsoft.com/office/drawing/2014/main" id="{F26D51E3-4349-F1BA-400F-CDD4C722355C}"/>
                </a:ext>
              </a:extLst>
            </p:cNvPr>
            <p:cNvSpPr>
              <a:spLocks/>
            </p:cNvSpPr>
            <p:nvPr/>
          </p:nvSpPr>
          <p:spPr bwMode="auto">
            <a:xfrm rot="12106332" flipV="1">
              <a:off x="6494857" y="3155961"/>
              <a:ext cx="625411" cy="201250"/>
            </a:xfrm>
            <a:custGeom>
              <a:avLst/>
              <a:gdLst>
                <a:gd name="T0" fmla="*/ 0 w 40588"/>
                <a:gd name="T1" fmla="*/ 727464 h 21600"/>
                <a:gd name="T2" fmla="*/ 5700539 w 40588"/>
                <a:gd name="T3" fmla="*/ 746450 h 21600"/>
                <a:gd name="T4" fmla="*/ 2840854 w 40588"/>
                <a:gd name="T5" fmla="*/ 1120536 h 21600"/>
                <a:gd name="T6" fmla="*/ 0 60000 65536"/>
                <a:gd name="T7" fmla="*/ 0 60000 65536"/>
                <a:gd name="T8" fmla="*/ 0 60000 65536"/>
                <a:gd name="T9" fmla="*/ 0 w 40588"/>
                <a:gd name="T10" fmla="*/ 0 h 21600"/>
                <a:gd name="T11" fmla="*/ 40588 w 40588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0588" h="21600" fill="none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</a:path>
                <a:path w="40588" h="21600" stroke="0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  <a:lnTo>
                    <a:pt x="20227" y="21600"/>
                  </a:lnTo>
                  <a:close/>
                </a:path>
              </a:pathLst>
            </a:custGeom>
            <a:noFill/>
            <a:ln w="25400">
              <a:solidFill>
                <a:srgbClr val="00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23" name="Oval 91">
              <a:extLst>
                <a:ext uri="{FF2B5EF4-FFF2-40B4-BE49-F238E27FC236}">
                  <a16:creationId xmlns:a16="http://schemas.microsoft.com/office/drawing/2014/main" id="{05C82585-7ABA-D150-C46D-AD689A644ED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5146201">
              <a:off x="6401566" y="4033831"/>
              <a:ext cx="203077" cy="200846"/>
            </a:xfrm>
            <a:prstGeom prst="ellipse">
              <a:avLst/>
            </a:prstGeom>
            <a:solidFill>
              <a:srgbClr val="008000"/>
            </a:solidFill>
            <a:ln w="254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bject 127">
                  <a:extLst>
                    <a:ext uri="{FF2B5EF4-FFF2-40B4-BE49-F238E27FC236}">
                      <a16:creationId xmlns:a16="http://schemas.microsoft.com/office/drawing/2014/main" id="{E8112E3D-4586-A52D-27D0-7D20045DBB79}"/>
                    </a:ext>
                  </a:extLst>
                </p:cNvPr>
                <p:cNvSpPr txBox="1"/>
                <p:nvPr/>
              </p:nvSpPr>
              <p:spPr bwMode="auto">
                <a:xfrm>
                  <a:off x="6655745" y="3083438"/>
                  <a:ext cx="379234" cy="568555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29" name="Object 127">
                  <a:extLst>
                    <a:ext uri="{FF2B5EF4-FFF2-40B4-BE49-F238E27FC236}">
                      <a16:creationId xmlns:a16="http://schemas.microsoft.com/office/drawing/2014/main" id="{E8112E3D-4586-A52D-27D0-7D20045DBB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6655745" y="3083438"/>
                  <a:ext cx="379234" cy="568555"/>
                </a:xfrm>
                <a:prstGeom prst="rect">
                  <a:avLst/>
                </a:prstGeom>
                <a:blipFill>
                  <a:blip r:embed="rId5"/>
                  <a:stretch>
                    <a:fillRect l="-4839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" name="Oval 91">
              <a:extLst>
                <a:ext uri="{FF2B5EF4-FFF2-40B4-BE49-F238E27FC236}">
                  <a16:creationId xmlns:a16="http://schemas.microsoft.com/office/drawing/2014/main" id="{0332369E-481D-A08C-9BA6-29BEA4EABDD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5146201">
              <a:off x="7861339" y="2247666"/>
              <a:ext cx="203077" cy="200846"/>
            </a:xfrm>
            <a:prstGeom prst="ellipse">
              <a:avLst/>
            </a:prstGeom>
            <a:solidFill>
              <a:srgbClr val="00B0F0"/>
            </a:solidFill>
            <a:ln w="254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FD7E788-5394-1CE1-D04E-3E226F0C26C6}"/>
                </a:ext>
              </a:extLst>
            </p:cNvPr>
            <p:cNvSpPr txBox="1"/>
            <p:nvPr/>
          </p:nvSpPr>
          <p:spPr>
            <a:xfrm>
              <a:off x="7499509" y="1851648"/>
              <a:ext cx="9249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dirty="0"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Object</a:t>
              </a:r>
              <a:endParaRPr lang="ko-KR" altLang="en-US" sz="1800" dirty="0"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1AF21F6-68DD-82A1-67FD-F5E684D4B37D}"/>
                </a:ext>
              </a:extLst>
            </p:cNvPr>
            <p:cNvSpPr txBox="1"/>
            <p:nvPr/>
          </p:nvSpPr>
          <p:spPr>
            <a:xfrm>
              <a:off x="5833653" y="4220355"/>
              <a:ext cx="126856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dirty="0"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Character</a:t>
              </a:r>
              <a:endParaRPr lang="ko-KR" altLang="en-US" sz="1800" dirty="0"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08966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ADB16-FE03-7D7D-F7FC-1AD358274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rc 104">
            <a:extLst>
              <a:ext uri="{FF2B5EF4-FFF2-40B4-BE49-F238E27FC236}">
                <a16:creationId xmlns:a16="http://schemas.microsoft.com/office/drawing/2014/main" id="{8A518175-592F-7AC4-AAD5-3E8870635DEB}"/>
              </a:ext>
            </a:extLst>
          </p:cNvPr>
          <p:cNvSpPr>
            <a:spLocks/>
          </p:cNvSpPr>
          <p:nvPr/>
        </p:nvSpPr>
        <p:spPr bwMode="auto">
          <a:xfrm rot="10800000" flipV="1">
            <a:off x="6490870" y="3406490"/>
            <a:ext cx="708746" cy="339876"/>
          </a:xfrm>
          <a:custGeom>
            <a:avLst/>
            <a:gdLst>
              <a:gd name="T0" fmla="*/ 0 w 40588"/>
              <a:gd name="T1" fmla="*/ 727464 h 21600"/>
              <a:gd name="T2" fmla="*/ 5700539 w 40588"/>
              <a:gd name="T3" fmla="*/ 746450 h 21600"/>
              <a:gd name="T4" fmla="*/ 2840854 w 40588"/>
              <a:gd name="T5" fmla="*/ 1120536 h 21600"/>
              <a:gd name="T6" fmla="*/ 0 60000 65536"/>
              <a:gd name="T7" fmla="*/ 0 60000 65536"/>
              <a:gd name="T8" fmla="*/ 0 60000 65536"/>
              <a:gd name="T9" fmla="*/ 0 w 40588"/>
              <a:gd name="T10" fmla="*/ 0 h 21600"/>
              <a:gd name="T11" fmla="*/ 40588 w 4058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0588" h="21600" fill="none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</a:path>
              <a:path w="40588" h="21600" stroke="0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  <a:lnTo>
                  <a:pt x="20227" y="21600"/>
                </a:lnTo>
                <a:close/>
              </a:path>
            </a:pathLst>
          </a:custGeom>
          <a:noFill/>
          <a:ln w="25400">
            <a:solidFill>
              <a:schemeClr val="accent5">
                <a:lumMod val="75000"/>
              </a:schemeClr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52A6801-1702-13F0-EB6B-B4E3C3802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7.2.2 </a:t>
            </a:r>
            <a:r>
              <a:rPr lang="ko-KR" altLang="en-US" dirty="0"/>
              <a:t>시야 판별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5221AEA-50F2-BF98-4069-480C16428C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시야 각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altLang="ko-K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num>
                              <m:den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r>
                  <a:rPr lang="ko-KR" altLang="en-US" dirty="0"/>
                  <a:t> 미리 계산</a:t>
                </a:r>
                <a:endParaRPr lang="en-US" altLang="ko-KR" dirty="0"/>
              </a:p>
              <a:p>
                <a:endParaRPr lang="en-US" altLang="ko-KR" b="0" i="1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r>
                  <a:rPr lang="en-US" altLang="ko-KR" dirty="0"/>
                  <a:t>,</a:t>
                </a:r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en-US" altLang="ko-KR" dirty="0"/>
                  <a:t> Normalize</a:t>
                </a:r>
              </a:p>
              <a:p>
                <a:endParaRPr lang="en-US" altLang="ko-KR" dirty="0"/>
              </a:p>
              <a:p>
                <a:r>
                  <a:rPr lang="ko-KR" altLang="en-US" dirty="0"/>
                  <a:t>목표물이 시야 안</a:t>
                </a:r>
                <a:endParaRPr lang="en-US" altLang="ko-KR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en-US" altLang="ko-KR" b="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acc>
                      <m:accPr>
                        <m:chr m:val="̂"/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func>
                      <m:func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b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altLang="ko-KR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num>
                              <m:den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altLang="ko-KR" dirty="0"/>
              </a:p>
              <a:p>
                <a:endParaRPr lang="en-US" altLang="ko-KR" dirty="0"/>
              </a:p>
              <a:p>
                <a:r>
                  <a:rPr lang="ko-KR" altLang="en-US" dirty="0"/>
                  <a:t>목표물이 시야 밖</a:t>
                </a:r>
                <a:endParaRPr lang="en-US" altLang="ko-KR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en-US" altLang="ko-KR" b="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acc>
                      <m:accPr>
                        <m:chr m:val="̂"/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func>
                      <m:funcPr>
                        <m:ctrlP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b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num>
                              <m:den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altLang="ko-KR" dirty="0"/>
              </a:p>
              <a:p>
                <a:endParaRPr lang="ko-KR" altLang="en-US" dirty="0"/>
              </a:p>
              <a:p>
                <a:pPr lvl="1"/>
                <a:endParaRPr lang="en-US" altLang="ko-KR" dirty="0"/>
              </a:p>
              <a:p>
                <a:pPr lvl="1"/>
                <a:endParaRPr lang="en-US" altLang="ko-KR" dirty="0"/>
              </a:p>
              <a:p>
                <a:pPr lvl="1"/>
                <a:endParaRPr lang="en-US" altLang="ko-KR" dirty="0"/>
              </a:p>
              <a:p>
                <a:pPr lvl="1"/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5221AEA-50F2-BF98-4069-480C16428C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59FB212-21F8-ABD2-07E2-66650DC06FF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bject 126">
                <a:extLst>
                  <a:ext uri="{FF2B5EF4-FFF2-40B4-BE49-F238E27FC236}">
                    <a16:creationId xmlns:a16="http://schemas.microsoft.com/office/drawing/2014/main" id="{FEBE699D-A503-521B-E89D-805269337DB8}"/>
                  </a:ext>
                </a:extLst>
              </p:cNvPr>
              <p:cNvSpPr txBox="1"/>
              <p:nvPr/>
            </p:nvSpPr>
            <p:spPr bwMode="auto">
              <a:xfrm>
                <a:off x="6383489" y="2702744"/>
                <a:ext cx="378724" cy="47501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3" name="Object 126">
                <a:extLst>
                  <a:ext uri="{FF2B5EF4-FFF2-40B4-BE49-F238E27FC236}">
                    <a16:creationId xmlns:a16="http://schemas.microsoft.com/office/drawing/2014/main" id="{FEBE699D-A503-521B-E89D-805269337D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83489" y="2702744"/>
                <a:ext cx="378724" cy="4750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bject 127">
                <a:extLst>
                  <a:ext uri="{FF2B5EF4-FFF2-40B4-BE49-F238E27FC236}">
                    <a16:creationId xmlns:a16="http://schemas.microsoft.com/office/drawing/2014/main" id="{47D442BD-5325-F056-6E30-6677818749A3}"/>
                  </a:ext>
                </a:extLst>
              </p:cNvPr>
              <p:cNvSpPr txBox="1"/>
              <p:nvPr/>
            </p:nvSpPr>
            <p:spPr bwMode="auto">
              <a:xfrm>
                <a:off x="7896232" y="2609199"/>
                <a:ext cx="609202" cy="56855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4" name="Object 127">
                <a:extLst>
                  <a:ext uri="{FF2B5EF4-FFF2-40B4-BE49-F238E27FC236}">
                    <a16:creationId xmlns:a16="http://schemas.microsoft.com/office/drawing/2014/main" id="{47D442BD-5325-F056-6E30-6677818749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96232" y="2609199"/>
                <a:ext cx="609202" cy="568555"/>
              </a:xfrm>
              <a:prstGeom prst="rect">
                <a:avLst/>
              </a:prstGeom>
              <a:blipFill>
                <a:blip r:embed="rId4"/>
                <a:stretch>
                  <a:fillRect t="-13978" r="-19000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Line 96">
            <a:extLst>
              <a:ext uri="{FF2B5EF4-FFF2-40B4-BE49-F238E27FC236}">
                <a16:creationId xmlns:a16="http://schemas.microsoft.com/office/drawing/2014/main" id="{AB367F93-1C9E-175B-E749-6A655AD15798}"/>
              </a:ext>
            </a:extLst>
          </p:cNvPr>
          <p:cNvSpPr>
            <a:spLocks noChangeShapeType="1"/>
          </p:cNvSpPr>
          <p:nvPr/>
        </p:nvSpPr>
        <p:spPr bwMode="auto">
          <a:xfrm rot="15146201">
            <a:off x="6548073" y="2602383"/>
            <a:ext cx="1344722" cy="122442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20" name="Line 97">
            <a:extLst>
              <a:ext uri="{FF2B5EF4-FFF2-40B4-BE49-F238E27FC236}">
                <a16:creationId xmlns:a16="http://schemas.microsoft.com/office/drawing/2014/main" id="{8D38B24A-60C6-076A-14F5-B56AC9EA4DE5}"/>
              </a:ext>
            </a:extLst>
          </p:cNvPr>
          <p:cNvSpPr>
            <a:spLocks noChangeShapeType="1"/>
          </p:cNvSpPr>
          <p:nvPr/>
        </p:nvSpPr>
        <p:spPr bwMode="auto">
          <a:xfrm rot="15146201">
            <a:off x="6256654" y="3240461"/>
            <a:ext cx="1140737" cy="344115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22" name="Arc 104">
            <a:extLst>
              <a:ext uri="{FF2B5EF4-FFF2-40B4-BE49-F238E27FC236}">
                <a16:creationId xmlns:a16="http://schemas.microsoft.com/office/drawing/2014/main" id="{E3A64CB8-DCFC-6472-7FCA-AE7D6F176D17}"/>
              </a:ext>
            </a:extLst>
          </p:cNvPr>
          <p:cNvSpPr>
            <a:spLocks/>
          </p:cNvSpPr>
          <p:nvPr/>
        </p:nvSpPr>
        <p:spPr bwMode="auto">
          <a:xfrm rot="11324265" flipV="1">
            <a:off x="6815015" y="3129668"/>
            <a:ext cx="379249" cy="99425"/>
          </a:xfrm>
          <a:custGeom>
            <a:avLst/>
            <a:gdLst>
              <a:gd name="T0" fmla="*/ 0 w 40588"/>
              <a:gd name="T1" fmla="*/ 727464 h 21600"/>
              <a:gd name="T2" fmla="*/ 5700539 w 40588"/>
              <a:gd name="T3" fmla="*/ 746450 h 21600"/>
              <a:gd name="T4" fmla="*/ 2840854 w 40588"/>
              <a:gd name="T5" fmla="*/ 1120536 h 21600"/>
              <a:gd name="T6" fmla="*/ 0 60000 65536"/>
              <a:gd name="T7" fmla="*/ 0 60000 65536"/>
              <a:gd name="T8" fmla="*/ 0 60000 65536"/>
              <a:gd name="T9" fmla="*/ 0 w 40588"/>
              <a:gd name="T10" fmla="*/ 0 h 21600"/>
              <a:gd name="T11" fmla="*/ 40588 w 4058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0588" h="21600" fill="none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</a:path>
              <a:path w="40588" h="21600" stroke="0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  <a:lnTo>
                  <a:pt x="20227" y="21600"/>
                </a:lnTo>
                <a:close/>
              </a:path>
            </a:pathLst>
          </a:custGeom>
          <a:noFill/>
          <a:ln w="25400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Object 127">
                <a:extLst>
                  <a:ext uri="{FF2B5EF4-FFF2-40B4-BE49-F238E27FC236}">
                    <a16:creationId xmlns:a16="http://schemas.microsoft.com/office/drawing/2014/main" id="{96EA7E2B-C064-ED0D-6D7F-5B0E290FF496}"/>
                  </a:ext>
                </a:extLst>
              </p:cNvPr>
              <p:cNvSpPr txBox="1"/>
              <p:nvPr/>
            </p:nvSpPr>
            <p:spPr bwMode="auto">
              <a:xfrm>
                <a:off x="6911947" y="2718036"/>
                <a:ext cx="379234" cy="56855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9" name="Object 127">
                <a:extLst>
                  <a:ext uri="{FF2B5EF4-FFF2-40B4-BE49-F238E27FC236}">
                    <a16:creationId xmlns:a16="http://schemas.microsoft.com/office/drawing/2014/main" id="{96EA7E2B-C064-ED0D-6D7F-5B0E290FF4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11947" y="2718036"/>
                <a:ext cx="379234" cy="568555"/>
              </a:xfrm>
              <a:prstGeom prst="rect">
                <a:avLst/>
              </a:prstGeom>
              <a:blipFill>
                <a:blip r:embed="rId5"/>
                <a:stretch>
                  <a:fillRect l="-4839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Oval 91">
            <a:extLst>
              <a:ext uri="{FF2B5EF4-FFF2-40B4-BE49-F238E27FC236}">
                <a16:creationId xmlns:a16="http://schemas.microsoft.com/office/drawing/2014/main" id="{08D65A68-D5F6-64ED-937C-EA9E7D528F73}"/>
              </a:ext>
            </a:extLst>
          </p:cNvPr>
          <p:cNvSpPr>
            <a:spLocks noChangeArrowheads="1"/>
          </p:cNvSpPr>
          <p:nvPr/>
        </p:nvSpPr>
        <p:spPr bwMode="auto">
          <a:xfrm rot="15146201">
            <a:off x="7550392" y="2183117"/>
            <a:ext cx="203077" cy="200846"/>
          </a:xfrm>
          <a:prstGeom prst="ellipse">
            <a:avLst/>
          </a:prstGeom>
          <a:solidFill>
            <a:srgbClr val="00B0F0"/>
          </a:solidFill>
          <a:ln w="254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B5D63D-FABD-7B52-FD90-6F6030DAEC74}"/>
              </a:ext>
            </a:extLst>
          </p:cNvPr>
          <p:cNvSpPr txBox="1"/>
          <p:nvPr/>
        </p:nvSpPr>
        <p:spPr>
          <a:xfrm>
            <a:off x="7021566" y="1826115"/>
            <a:ext cx="9249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Object</a:t>
            </a:r>
            <a:endParaRPr lang="ko-KR" altLang="en-US" sz="1800" dirty="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2F70DBC-CF49-664B-EDE3-00ACE2462CAF}"/>
              </a:ext>
            </a:extLst>
          </p:cNvPr>
          <p:cNvSpPr txBox="1"/>
          <p:nvPr/>
        </p:nvSpPr>
        <p:spPr>
          <a:xfrm>
            <a:off x="6960538" y="3855686"/>
            <a:ext cx="12685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Character</a:t>
            </a:r>
            <a:endParaRPr lang="ko-KR" altLang="en-US" sz="1800" dirty="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5" name="Line 96">
            <a:extLst>
              <a:ext uri="{FF2B5EF4-FFF2-40B4-BE49-F238E27FC236}">
                <a16:creationId xmlns:a16="http://schemas.microsoft.com/office/drawing/2014/main" id="{E452BCC8-8B42-20B5-5913-64EEA3D3FF51}"/>
              </a:ext>
            </a:extLst>
          </p:cNvPr>
          <p:cNvSpPr>
            <a:spLocks noChangeShapeType="1"/>
          </p:cNvSpPr>
          <p:nvPr/>
        </p:nvSpPr>
        <p:spPr bwMode="auto">
          <a:xfrm rot="15146201" flipV="1">
            <a:off x="5128783" y="2770858"/>
            <a:ext cx="1946134" cy="914669"/>
          </a:xfrm>
          <a:prstGeom prst="line">
            <a:avLst/>
          </a:prstGeom>
          <a:noFill/>
          <a:ln w="25400">
            <a:solidFill>
              <a:schemeClr val="accent5">
                <a:lumMod val="75000"/>
              </a:schemeClr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6" name="Arc 104">
            <a:extLst>
              <a:ext uri="{FF2B5EF4-FFF2-40B4-BE49-F238E27FC236}">
                <a16:creationId xmlns:a16="http://schemas.microsoft.com/office/drawing/2014/main" id="{A96B7E3B-B8FE-6D8F-F6B5-6CDBE4CE4ABC}"/>
              </a:ext>
            </a:extLst>
          </p:cNvPr>
          <p:cNvSpPr>
            <a:spLocks/>
          </p:cNvSpPr>
          <p:nvPr/>
        </p:nvSpPr>
        <p:spPr bwMode="auto">
          <a:xfrm rot="10800000" flipV="1">
            <a:off x="5372201" y="1340769"/>
            <a:ext cx="2909435" cy="1619389"/>
          </a:xfrm>
          <a:custGeom>
            <a:avLst/>
            <a:gdLst>
              <a:gd name="T0" fmla="*/ 0 w 40588"/>
              <a:gd name="T1" fmla="*/ 727464 h 21600"/>
              <a:gd name="T2" fmla="*/ 5700539 w 40588"/>
              <a:gd name="T3" fmla="*/ 746450 h 21600"/>
              <a:gd name="T4" fmla="*/ 2840854 w 40588"/>
              <a:gd name="T5" fmla="*/ 1120536 h 21600"/>
              <a:gd name="T6" fmla="*/ 0 60000 65536"/>
              <a:gd name="T7" fmla="*/ 0 60000 65536"/>
              <a:gd name="T8" fmla="*/ 0 60000 65536"/>
              <a:gd name="T9" fmla="*/ 0 w 40588"/>
              <a:gd name="T10" fmla="*/ 0 h 21600"/>
              <a:gd name="T11" fmla="*/ 40588 w 4058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0588" h="21600" fill="none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</a:path>
              <a:path w="40588" h="21600" stroke="0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  <a:lnTo>
                  <a:pt x="20227" y="21600"/>
                </a:lnTo>
                <a:close/>
              </a:path>
            </a:pathLst>
          </a:custGeom>
          <a:noFill/>
          <a:ln w="25400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p:sp>
        <p:nvSpPr>
          <p:cNvPr id="7" name="Line 96">
            <a:extLst>
              <a:ext uri="{FF2B5EF4-FFF2-40B4-BE49-F238E27FC236}">
                <a16:creationId xmlns:a16="http://schemas.microsoft.com/office/drawing/2014/main" id="{1CF6DB9F-C6C6-A82F-1720-959D79024310}"/>
              </a:ext>
            </a:extLst>
          </p:cNvPr>
          <p:cNvSpPr>
            <a:spLocks noChangeShapeType="1"/>
          </p:cNvSpPr>
          <p:nvPr/>
        </p:nvSpPr>
        <p:spPr bwMode="auto">
          <a:xfrm rot="15146201">
            <a:off x="7000266" y="2290756"/>
            <a:ext cx="1112604" cy="1873197"/>
          </a:xfrm>
          <a:prstGeom prst="line">
            <a:avLst/>
          </a:prstGeom>
          <a:noFill/>
          <a:ln w="25400">
            <a:solidFill>
              <a:schemeClr val="accent5">
                <a:lumMod val="75000"/>
              </a:schemeClr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23" name="Oval 91">
            <a:extLst>
              <a:ext uri="{FF2B5EF4-FFF2-40B4-BE49-F238E27FC236}">
                <a16:creationId xmlns:a16="http://schemas.microsoft.com/office/drawing/2014/main" id="{CF6B2F36-1403-45F9-D96C-C15DFD2200A1}"/>
              </a:ext>
            </a:extLst>
          </p:cNvPr>
          <p:cNvSpPr>
            <a:spLocks noChangeArrowheads="1"/>
          </p:cNvSpPr>
          <p:nvPr/>
        </p:nvSpPr>
        <p:spPr bwMode="auto">
          <a:xfrm rot="16022816">
            <a:off x="6736223" y="3933324"/>
            <a:ext cx="203077" cy="200846"/>
          </a:xfrm>
          <a:prstGeom prst="ellipse">
            <a:avLst/>
          </a:prstGeom>
          <a:solidFill>
            <a:srgbClr val="008000"/>
          </a:solidFill>
          <a:ln w="25400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127">
                <a:extLst>
                  <a:ext uri="{FF2B5EF4-FFF2-40B4-BE49-F238E27FC236}">
                    <a16:creationId xmlns:a16="http://schemas.microsoft.com/office/drawing/2014/main" id="{6F184074-5408-E43C-13D5-C11C93B017E6}"/>
                  </a:ext>
                </a:extLst>
              </p:cNvPr>
              <p:cNvSpPr txBox="1"/>
              <p:nvPr/>
            </p:nvSpPr>
            <p:spPr bwMode="auto">
              <a:xfrm>
                <a:off x="5985719" y="3396883"/>
                <a:ext cx="424702" cy="89513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0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num>
                        <m:den>
                          <m:r>
                            <a:rPr lang="en-US" altLang="ko-KR" b="0" i="0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ko-KR" altLang="en-US" sz="1400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Object 127">
                <a:extLst>
                  <a:ext uri="{FF2B5EF4-FFF2-40B4-BE49-F238E27FC236}">
                    <a16:creationId xmlns:a16="http://schemas.microsoft.com/office/drawing/2014/main" id="{6F184074-5408-E43C-13D5-C11C93B01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5719" y="3396883"/>
                <a:ext cx="424702" cy="8951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1814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A6D63-5D40-E50E-1B51-21E234D6F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C0B5B5-9A5B-EAEC-38EC-FC593DD72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7-1 </a:t>
            </a:r>
            <a:r>
              <a:rPr lang="ko-KR" altLang="en-US" dirty="0"/>
              <a:t>내적을 활용한 목표물 감지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71D3C7-0B74-D5F3-4996-9494F3819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014CC54-01ED-778A-CF66-E3F2C13E51B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086BF2-60B0-1477-5421-97C19285F3D3}"/>
              </a:ext>
            </a:extLst>
          </p:cNvPr>
          <p:cNvSpPr txBox="1"/>
          <p:nvPr/>
        </p:nvSpPr>
        <p:spPr>
          <a:xfrm>
            <a:off x="251520" y="703349"/>
            <a:ext cx="7851154" cy="73866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시야각의 코사인 값은 최초 </a:t>
            </a:r>
            <a:r>
              <a:rPr lang="en-US" altLang="ko-KR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1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회만 계산해 보관한다</a:t>
            </a:r>
            <a:r>
              <a:rPr lang="en-US" altLang="ko-KR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endParaRPr lang="ko-KR" altLang="en-US" sz="140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0000FF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fovAngle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60.f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FF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static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halfFovCos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cosf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Math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Deg2Rad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fovAngle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* </a:t>
            </a:r>
            <a:r>
              <a:rPr lang="en-US" altLang="ko-KR" sz="140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0.5f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B59F7D-648B-767F-90DA-77B388B8790B}"/>
              </a:ext>
            </a:extLst>
          </p:cNvPr>
          <p:cNvSpPr txBox="1"/>
          <p:nvPr/>
        </p:nvSpPr>
        <p:spPr>
          <a:xfrm>
            <a:off x="259612" y="1499740"/>
            <a:ext cx="7843062" cy="310854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UnitY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(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targetPosition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-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playerPosition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).</a:t>
            </a:r>
            <a:r>
              <a:rPr lang="en-US" altLang="ko-KR" sz="1400" dirty="0" err="1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GetNormalize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물체의 최종 상태 설정</a:t>
            </a:r>
            <a:endParaRPr lang="ko-KR" altLang="en-US" sz="140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8F08C4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if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(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</a:t>
            </a:r>
            <a:r>
              <a:rPr lang="en-US" altLang="ko-KR" sz="1400" dirty="0" err="1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 err="1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Dot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 &gt;= 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halfFovCos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 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playerColor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=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LinearColor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Red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 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targetColor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=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LinearColor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Red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}</a:t>
            </a:r>
          </a:p>
          <a:p>
            <a:pPr>
              <a:buNone/>
            </a:pPr>
            <a:r>
              <a:rPr lang="en-US" altLang="ko-KR" sz="1400" dirty="0">
                <a:solidFill>
                  <a:srgbClr val="8F08C4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else</a:t>
            </a:r>
            <a:endParaRPr lang="en-US" altLang="ko-KR" sz="140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 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playerColor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=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LinearColor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Gray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 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targetColor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=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LinearColor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Blue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}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E2F93F1-9755-A2D5-1A08-2AC7F4CACF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7" r="12206"/>
          <a:stretch>
            <a:fillRect/>
          </a:stretch>
        </p:blipFill>
        <p:spPr>
          <a:xfrm>
            <a:off x="4071200" y="4404354"/>
            <a:ext cx="2259796" cy="2107673"/>
          </a:xfrm>
          <a:prstGeom prst="rect">
            <a:avLst/>
          </a:prstGeom>
          <a:ln w="25400">
            <a:solidFill>
              <a:schemeClr val="bg1">
                <a:lumMod val="75000"/>
              </a:schemeClr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B224913-6B22-5696-A58B-1D72C2996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802" y="4401054"/>
            <a:ext cx="2410934" cy="2107672"/>
          </a:xfrm>
          <a:prstGeom prst="rect">
            <a:avLst/>
          </a:prstGeom>
          <a:ln w="25400"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806102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B6A44-482C-C219-4BC7-48FA9FF91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5">
            <a:extLst>
              <a:ext uri="{FF2B5EF4-FFF2-40B4-BE49-F238E27FC236}">
                <a16:creationId xmlns:a16="http://schemas.microsoft.com/office/drawing/2014/main" id="{915CB023-0CAF-15C9-F521-2F0D097555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98" t="22697" r="25702" b="11076"/>
          <a:stretch>
            <a:fillRect/>
          </a:stretch>
        </p:blipFill>
        <p:spPr bwMode="auto">
          <a:xfrm>
            <a:off x="5561072" y="3550686"/>
            <a:ext cx="3584575" cy="3038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prstDash val="sysDot"/>
                <a:miter lim="800000"/>
                <a:headEnd/>
                <a:tailEnd/>
              </a14:hiddenLine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9367CE8-7938-587D-39E4-27F3D2058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7.3 </a:t>
            </a:r>
            <a:r>
              <a:rPr lang="ko-KR" altLang="en-US" dirty="0"/>
              <a:t>조명 효과의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B91FB3-8856-7325-B1B1-B609268AA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 err="1"/>
              <a:t>램버트</a:t>
            </a:r>
            <a:r>
              <a:rPr lang="ko-KR" altLang="en-US" sz="2400" dirty="0"/>
              <a:t> 반사</a:t>
            </a:r>
            <a:r>
              <a:rPr lang="en-US" altLang="ko-KR" sz="2400" dirty="0"/>
              <a:t>(Lambertian Reflection) </a:t>
            </a:r>
            <a:r>
              <a:rPr lang="ko-KR" altLang="en-US" sz="2400" dirty="0"/>
              <a:t>모델</a:t>
            </a:r>
            <a:endParaRPr lang="en-US" altLang="ko-KR" sz="2400" dirty="0"/>
          </a:p>
          <a:p>
            <a:pPr lvl="1" eaLnBrk="1" hangingPunct="1">
              <a:lnSpc>
                <a:spcPct val="90000"/>
              </a:lnSpc>
            </a:pPr>
            <a:r>
              <a:rPr lang="ko-KR" altLang="en-US" sz="2000" dirty="0"/>
              <a:t>반사 세기 </a:t>
            </a:r>
            <a:r>
              <a:rPr lang="en-US" altLang="ko-KR" sz="2000" dirty="0"/>
              <a:t>= Dot(</a:t>
            </a:r>
            <a:r>
              <a:rPr lang="ko-KR" altLang="en-US" sz="2000" dirty="0"/>
              <a:t>정점의 법선</a:t>
            </a:r>
            <a:r>
              <a:rPr lang="en-US" altLang="ko-KR" sz="2000" dirty="0"/>
              <a:t>(N), </a:t>
            </a:r>
            <a:r>
              <a:rPr lang="ko-KR" altLang="en-US" sz="2000" dirty="0"/>
              <a:t>빛의 방향</a:t>
            </a:r>
            <a:r>
              <a:rPr lang="en-US" altLang="ko-KR" sz="2000" dirty="0"/>
              <a:t>(L))</a:t>
            </a:r>
          </a:p>
          <a:p>
            <a:pPr lvl="1" eaLnBrk="1" hangingPunct="1">
              <a:lnSpc>
                <a:spcPct val="90000"/>
              </a:lnSpc>
            </a:pPr>
            <a:r>
              <a:rPr lang="ko-KR" altLang="en-US" sz="2000" dirty="0"/>
              <a:t>내적의 범위가 </a:t>
            </a:r>
            <a:r>
              <a:rPr lang="en-US" altLang="ko-KR" sz="2000" dirty="0"/>
              <a:t>[-1, 1] </a:t>
            </a:r>
            <a:r>
              <a:rPr lang="ko-KR" altLang="en-US" sz="2000" dirty="0"/>
              <a:t>이므로 반사 세기 범위를  </a:t>
            </a:r>
            <a:r>
              <a:rPr lang="en-US" altLang="ko-KR" sz="2000" dirty="0"/>
              <a:t>[0,1]</a:t>
            </a:r>
            <a:r>
              <a:rPr lang="ko-KR" altLang="en-US" sz="2000" dirty="0"/>
              <a:t>로 변경</a:t>
            </a:r>
            <a:endParaRPr lang="en-US" altLang="ko-KR" sz="2000" dirty="0"/>
          </a:p>
          <a:p>
            <a:pPr lvl="1" eaLnBrk="1" hangingPunct="1">
              <a:lnSpc>
                <a:spcPct val="90000"/>
              </a:lnSpc>
            </a:pPr>
            <a:r>
              <a:rPr lang="ko-KR" altLang="en-US" sz="2000" dirty="0"/>
              <a:t>반사 세기 </a:t>
            </a:r>
            <a:r>
              <a:rPr lang="en-US" altLang="ko-KR" sz="2000" dirty="0"/>
              <a:t>= (1+ Dot( N, L))/2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407A078-CFA2-5CD3-80E5-48B00B025D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9D209A28-8A46-FE16-B8CD-76346D892266}"/>
              </a:ext>
            </a:extLst>
          </p:cNvPr>
          <p:cNvGrpSpPr/>
          <p:nvPr/>
        </p:nvGrpSpPr>
        <p:grpSpPr>
          <a:xfrm>
            <a:off x="539750" y="2815806"/>
            <a:ext cx="4750755" cy="3997744"/>
            <a:chOff x="2363385" y="2528004"/>
            <a:chExt cx="4750755" cy="3997744"/>
          </a:xfrm>
        </p:grpSpPr>
        <p:sp>
          <p:nvSpPr>
            <p:cNvPr id="6" name="Line 12">
              <a:extLst>
                <a:ext uri="{FF2B5EF4-FFF2-40B4-BE49-F238E27FC236}">
                  <a16:creationId xmlns:a16="http://schemas.microsoft.com/office/drawing/2014/main" id="{7874DC8C-A637-E995-695E-4FEF8F14E650}"/>
                </a:ext>
              </a:extLst>
            </p:cNvPr>
            <p:cNvSpPr>
              <a:spLocks noChangeShapeType="1"/>
            </p:cNvSpPr>
            <p:nvPr/>
          </p:nvSpPr>
          <p:spPr bwMode="auto">
            <a:xfrm rot="900000" flipH="1" flipV="1">
              <a:off x="4248602" y="3302223"/>
              <a:ext cx="796940" cy="1489031"/>
            </a:xfrm>
            <a:prstGeom prst="line">
              <a:avLst/>
            </a:prstGeom>
            <a:noFill/>
            <a:ln w="76200">
              <a:solidFill>
                <a:srgbClr val="339966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/>
            <a:lstStyle/>
            <a:p>
              <a:endParaRPr lang="ko-KR" altLang="en-US"/>
            </a:p>
          </p:txBody>
        </p:sp>
        <p:sp>
          <p:nvSpPr>
            <p:cNvPr id="7" name="Line 13">
              <a:extLst>
                <a:ext uri="{FF2B5EF4-FFF2-40B4-BE49-F238E27FC236}">
                  <a16:creationId xmlns:a16="http://schemas.microsoft.com/office/drawing/2014/main" id="{CD07B853-3B15-D478-28F2-A2208A1352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900000" flipV="1">
              <a:off x="3098144" y="3912359"/>
              <a:ext cx="3654522" cy="1924368"/>
            </a:xfrm>
            <a:prstGeom prst="line">
              <a:avLst/>
            </a:prstGeom>
            <a:noFill/>
            <a:ln w="38100">
              <a:solidFill>
                <a:srgbClr val="80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/>
            <a:lstStyle/>
            <a:p>
              <a:endParaRPr lang="ko-KR" altLang="en-US"/>
            </a:p>
          </p:txBody>
        </p:sp>
        <p:sp>
          <p:nvSpPr>
            <p:cNvPr id="8" name="AutoShape 14">
              <a:extLst>
                <a:ext uri="{FF2B5EF4-FFF2-40B4-BE49-F238E27FC236}">
                  <a16:creationId xmlns:a16="http://schemas.microsoft.com/office/drawing/2014/main" id="{8B2299F7-7049-6916-8766-553C983BC2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34119" y="2528004"/>
              <a:ext cx="778045" cy="777984"/>
            </a:xfrm>
            <a:prstGeom prst="sun">
              <a:avLst>
                <a:gd name="adj" fmla="val 25000"/>
              </a:avLst>
            </a:prstGeom>
            <a:solidFill>
              <a:schemeClr val="bg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</p:spPr>
          <p:txBody>
            <a:bodyPr anchor="ctr"/>
            <a:lstStyle/>
            <a:p>
              <a:endParaRPr lang="ko-KR" altLang="en-US"/>
            </a:p>
          </p:txBody>
        </p:sp>
        <p:sp>
          <p:nvSpPr>
            <p:cNvPr id="9" name="Line 15">
              <a:extLst>
                <a:ext uri="{FF2B5EF4-FFF2-40B4-BE49-F238E27FC236}">
                  <a16:creationId xmlns:a16="http://schemas.microsoft.com/office/drawing/2014/main" id="{3E0BD072-5E21-2777-2BFA-5E61D84F3581}"/>
                </a:ext>
              </a:extLst>
            </p:cNvPr>
            <p:cNvSpPr>
              <a:spLocks noChangeShapeType="1"/>
            </p:cNvSpPr>
            <p:nvPr/>
          </p:nvSpPr>
          <p:spPr bwMode="auto">
            <a:xfrm rot="900000" flipV="1">
              <a:off x="5114196" y="3205308"/>
              <a:ext cx="718547" cy="1800805"/>
            </a:xfrm>
            <a:prstGeom prst="line">
              <a:avLst/>
            </a:prstGeom>
            <a:noFill/>
            <a:ln w="76200">
              <a:solidFill>
                <a:srgbClr val="FF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/>
            <a:lstStyle/>
            <a:p>
              <a:endParaRPr lang="ko-KR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bject 10">
                  <a:extLst>
                    <a:ext uri="{FF2B5EF4-FFF2-40B4-BE49-F238E27FC236}">
                      <a16:creationId xmlns:a16="http://schemas.microsoft.com/office/drawing/2014/main" id="{4C19C7D2-6AD6-52D1-3AE8-B64B1EFF389D}"/>
                    </a:ext>
                  </a:extLst>
                </p:cNvPr>
                <p:cNvSpPr txBox="1"/>
                <p:nvPr/>
              </p:nvSpPr>
              <p:spPr bwMode="auto">
                <a:xfrm>
                  <a:off x="4235058" y="4075981"/>
                  <a:ext cx="308930" cy="395857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acc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0" name="Object 10">
                  <a:extLst>
                    <a:ext uri="{FF2B5EF4-FFF2-40B4-BE49-F238E27FC236}">
                      <a16:creationId xmlns:a16="http://schemas.microsoft.com/office/drawing/2014/main" id="{4C19C7D2-6AD6-52D1-3AE8-B64B1EFF38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235058" y="4075981"/>
                  <a:ext cx="308930" cy="395857"/>
                </a:xfrm>
                <a:prstGeom prst="rect">
                  <a:avLst/>
                </a:prstGeom>
                <a:blipFill>
                  <a:blip r:embed="rId3"/>
                  <a:stretch>
                    <a:fillRect t="-1538" r="-20000" b="-6154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Object 16">
                  <a:extLst>
                    <a:ext uri="{FF2B5EF4-FFF2-40B4-BE49-F238E27FC236}">
                      <a16:creationId xmlns:a16="http://schemas.microsoft.com/office/drawing/2014/main" id="{95C76E90-6014-8A94-9E82-0E3F5984E3C6}"/>
                    </a:ext>
                  </a:extLst>
                </p:cNvPr>
                <p:cNvSpPr txBox="1"/>
                <p:nvPr/>
              </p:nvSpPr>
              <p:spPr bwMode="auto">
                <a:xfrm>
                  <a:off x="5802261" y="3637775"/>
                  <a:ext cx="336390" cy="450773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</m:acc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1" name="Object 16">
                  <a:extLst>
                    <a:ext uri="{FF2B5EF4-FFF2-40B4-BE49-F238E27FC236}">
                      <a16:creationId xmlns:a16="http://schemas.microsoft.com/office/drawing/2014/main" id="{95C76E90-6014-8A94-9E82-0E3F5984E3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802261" y="3637775"/>
                  <a:ext cx="336390" cy="45077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 Box 17">
              <a:extLst>
                <a:ext uri="{FF2B5EF4-FFF2-40B4-BE49-F238E27FC236}">
                  <a16:creationId xmlns:a16="http://schemas.microsoft.com/office/drawing/2014/main" id="{B9030529-9A82-DB47-4354-4007B44FC077}"/>
                </a:ext>
              </a:extLst>
            </p:cNvPr>
            <p:cNvSpPr txBox="1">
              <a:spLocks noChangeAspect="1" noChangeArrowheads="1"/>
            </p:cNvSpPr>
            <p:nvPr/>
          </p:nvSpPr>
          <p:spPr bwMode="auto">
            <a:xfrm>
              <a:off x="5539744" y="4076329"/>
              <a:ext cx="1574396" cy="3272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00CC99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pPr algn="just"/>
              <a:r>
                <a:rPr lang="ko-KR" altLang="en-US" sz="1600" b="1" dirty="0">
                  <a:solidFill>
                    <a:srgbClr val="000000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광선 방향 벡터</a:t>
              </a:r>
              <a:endParaRPr lang="ko-KR" altLang="en-US" sz="4400" dirty="0"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  <p:sp>
          <p:nvSpPr>
            <p:cNvPr id="13" name="Text Box 18">
              <a:extLst>
                <a:ext uri="{FF2B5EF4-FFF2-40B4-BE49-F238E27FC236}">
                  <a16:creationId xmlns:a16="http://schemas.microsoft.com/office/drawing/2014/main" id="{B36B2E3E-F915-CDBF-6AD3-436A5EBBCE28}"/>
                </a:ext>
              </a:extLst>
            </p:cNvPr>
            <p:cNvSpPr txBox="1">
              <a:spLocks noChangeAspect="1" noChangeArrowheads="1"/>
            </p:cNvSpPr>
            <p:nvPr/>
          </p:nvSpPr>
          <p:spPr bwMode="auto">
            <a:xfrm>
              <a:off x="3150837" y="4474084"/>
              <a:ext cx="1361578" cy="2700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00CC99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pPr algn="r"/>
              <a:r>
                <a:rPr lang="ko-KR" altLang="en-US" sz="1600" b="1" dirty="0">
                  <a:solidFill>
                    <a:srgbClr val="000000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정정 법선 벡터</a:t>
              </a:r>
              <a:endParaRPr lang="ko-KR" altLang="en-US" sz="4400" dirty="0"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bject 19">
                  <a:extLst>
                    <a:ext uri="{FF2B5EF4-FFF2-40B4-BE49-F238E27FC236}">
                      <a16:creationId xmlns:a16="http://schemas.microsoft.com/office/drawing/2014/main" id="{AFDBE1D8-1C69-12D3-E312-042AD223E310}"/>
                    </a:ext>
                  </a:extLst>
                </p:cNvPr>
                <p:cNvSpPr txBox="1"/>
                <p:nvPr/>
              </p:nvSpPr>
              <p:spPr bwMode="auto">
                <a:xfrm>
                  <a:off x="2472684" y="3191417"/>
                  <a:ext cx="1800001" cy="538163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ko-KR" altLang="en-US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ko-KR" altLang="en-US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 = </m:t>
                        </m:r>
                        <m:acc>
                          <m:accPr>
                            <m:chr m:val="̂"/>
                            <m:ctrlPr>
                              <a:rPr lang="ko-KR" altLang="en-US" sz="2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acc>
                        <m:r>
                          <a:rPr lang="ko-KR" altLang="en-US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̂"/>
                            <m:ctrlPr>
                              <a:rPr lang="ko-KR" altLang="en-US" sz="2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</m:acc>
                      </m:oMath>
                    </m:oMathPara>
                  </a14:m>
                  <a:endParaRPr lang="ko-KR" altLang="en-US" sz="2800" dirty="0"/>
                </a:p>
              </p:txBody>
            </p:sp>
          </mc:Choice>
          <mc:Fallback xmlns="">
            <p:sp>
              <p:nvSpPr>
                <p:cNvPr id="14" name="Object 19">
                  <a:extLst>
                    <a:ext uri="{FF2B5EF4-FFF2-40B4-BE49-F238E27FC236}">
                      <a16:creationId xmlns:a16="http://schemas.microsoft.com/office/drawing/2014/main" id="{AFDBE1D8-1C69-12D3-E312-042AD223E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72684" y="3191417"/>
                  <a:ext cx="1800001" cy="53816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 Box 20">
              <a:extLst>
                <a:ext uri="{FF2B5EF4-FFF2-40B4-BE49-F238E27FC236}">
                  <a16:creationId xmlns:a16="http://schemas.microsoft.com/office/drawing/2014/main" id="{98AF56BA-3BE6-A36A-3823-D7655BD85B21}"/>
                </a:ext>
              </a:extLst>
            </p:cNvPr>
            <p:cNvSpPr txBox="1">
              <a:spLocks noChangeAspect="1" noChangeArrowheads="1"/>
            </p:cNvSpPr>
            <p:nvPr/>
          </p:nvSpPr>
          <p:spPr bwMode="auto">
            <a:xfrm>
              <a:off x="4899089" y="5033572"/>
              <a:ext cx="686510" cy="3272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00CC99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pPr algn="just"/>
              <a:r>
                <a:rPr lang="ko-KR" altLang="en-US" sz="1600" b="1" dirty="0">
                  <a:solidFill>
                    <a:srgbClr val="000000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정점</a:t>
              </a:r>
              <a:endParaRPr lang="ko-KR" altLang="en-US" sz="4400" dirty="0"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  <p:sp>
          <p:nvSpPr>
            <p:cNvPr id="16" name="Arc 11">
              <a:extLst>
                <a:ext uri="{FF2B5EF4-FFF2-40B4-BE49-F238E27FC236}">
                  <a16:creationId xmlns:a16="http://schemas.microsoft.com/office/drawing/2014/main" id="{CDA7682C-750C-8FC6-C42C-EA5538B56851}"/>
                </a:ext>
              </a:extLst>
            </p:cNvPr>
            <p:cNvSpPr>
              <a:spLocks/>
            </p:cNvSpPr>
            <p:nvPr/>
          </p:nvSpPr>
          <p:spPr bwMode="auto">
            <a:xfrm>
              <a:off x="2996746" y="4761554"/>
              <a:ext cx="4084735" cy="1764194"/>
            </a:xfrm>
            <a:custGeom>
              <a:avLst/>
              <a:gdLst>
                <a:gd name="G0" fmla="+- 19530 0 0"/>
                <a:gd name="G1" fmla="+- 21600 0 0"/>
                <a:gd name="G2" fmla="+- 21600 0 0"/>
                <a:gd name="T0" fmla="*/ 0 w 23906"/>
                <a:gd name="T1" fmla="*/ 12373 h 21600"/>
                <a:gd name="T2" fmla="*/ 23906 w 23906"/>
                <a:gd name="T3" fmla="*/ 448 h 21600"/>
                <a:gd name="T4" fmla="*/ 19530 w 23906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3906" h="21600" fill="none" extrusionOk="0">
                  <a:moveTo>
                    <a:pt x="-1" y="12372"/>
                  </a:moveTo>
                  <a:cubicBezTo>
                    <a:pt x="3569" y="4818"/>
                    <a:pt x="11174" y="0"/>
                    <a:pt x="19530" y="0"/>
                  </a:cubicBezTo>
                  <a:cubicBezTo>
                    <a:pt x="21000" y="0"/>
                    <a:pt x="22466" y="150"/>
                    <a:pt x="23906" y="447"/>
                  </a:cubicBezTo>
                </a:path>
                <a:path w="23906" h="21600" stroke="0" extrusionOk="0">
                  <a:moveTo>
                    <a:pt x="-1" y="12372"/>
                  </a:moveTo>
                  <a:cubicBezTo>
                    <a:pt x="3569" y="4818"/>
                    <a:pt x="11174" y="0"/>
                    <a:pt x="19530" y="0"/>
                  </a:cubicBezTo>
                  <a:cubicBezTo>
                    <a:pt x="21000" y="0"/>
                    <a:pt x="22466" y="150"/>
                    <a:pt x="23906" y="447"/>
                  </a:cubicBezTo>
                  <a:lnTo>
                    <a:pt x="19530" y="21600"/>
                  </a:lnTo>
                  <a:close/>
                </a:path>
              </a:pathLst>
            </a:custGeom>
            <a:noFill/>
            <a:ln w="762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 anchor="ctr"/>
            <a:lstStyle/>
            <a:p>
              <a:endParaRPr lang="ko-KR" altLang="en-US" dirty="0"/>
            </a:p>
          </p:txBody>
        </p:sp>
        <p:sp>
          <p:nvSpPr>
            <p:cNvPr id="17" name="Text Box 25">
              <a:extLst>
                <a:ext uri="{FF2B5EF4-FFF2-40B4-BE49-F238E27FC236}">
                  <a16:creationId xmlns:a16="http://schemas.microsoft.com/office/drawing/2014/main" id="{C7159A5C-94DD-8A91-643C-F378F211E032}"/>
                </a:ext>
              </a:extLst>
            </p:cNvPr>
            <p:cNvSpPr txBox="1">
              <a:spLocks noChangeAspect="1" noChangeArrowheads="1"/>
            </p:cNvSpPr>
            <p:nvPr/>
          </p:nvSpPr>
          <p:spPr bwMode="auto">
            <a:xfrm>
              <a:off x="2363385" y="2992878"/>
              <a:ext cx="1361578" cy="2700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00CC99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pPr algn="r"/>
              <a:r>
                <a:rPr lang="ko-KR" altLang="en-US" sz="1600" b="1" dirty="0">
                  <a:solidFill>
                    <a:srgbClr val="000000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반사 세기</a:t>
              </a:r>
              <a:endParaRPr lang="ko-KR" altLang="en-US" sz="4400" dirty="0"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97776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EBEFD-88E6-7B6F-F610-9F3374A07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C0A201-67AF-98EF-775C-3B8C83343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7-2 </a:t>
            </a:r>
            <a:r>
              <a:rPr lang="ko-KR" altLang="en-US" dirty="0"/>
              <a:t>내적을 활용한 조명 모델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1AD5D5-545C-34CC-E3C2-41E989C6C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39087A5-2AFF-29B5-C394-AA9FFE2EB6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CB75A2-71DD-BF9D-ECA6-B4DC35E50C72}"/>
              </a:ext>
            </a:extLst>
          </p:cNvPr>
          <p:cNvSpPr txBox="1"/>
          <p:nvPr/>
        </p:nvSpPr>
        <p:spPr>
          <a:xfrm>
            <a:off x="191841" y="788918"/>
            <a:ext cx="6359682" cy="830997"/>
          </a:xfrm>
          <a:prstGeom prst="rect">
            <a:avLst/>
          </a:prstGeom>
          <a:noFill/>
          <a:ln w="25400">
            <a:solidFill>
              <a:schemeClr val="bg2"/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-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circlePosition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).</a:t>
            </a:r>
            <a:r>
              <a:rPr lang="en-US" altLang="ko-KR" sz="1600" dirty="0" err="1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GetNormalize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l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(</a:t>
            </a:r>
            <a:r>
              <a:rPr lang="en-US" altLang="ko-KR" sz="16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lightPosition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-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).</a:t>
            </a:r>
            <a:r>
              <a:rPr lang="en-US" altLang="ko-KR" sz="1600" dirty="0" err="1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GetNormalize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shading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Math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Clamp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n</a:t>
            </a:r>
            <a:r>
              <a:rPr lang="en-US" altLang="ko-KR" sz="1600" dirty="0" err="1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 err="1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Dot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l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),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1.f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BE72906-6B14-EA32-C0D1-771417256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1682" y="2657367"/>
            <a:ext cx="3888618" cy="2499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344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DF0F9-07E3-A577-F7D2-AE104C930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BAC374-50E3-F42F-71B4-C10F51BED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7.4 </a:t>
            </a:r>
            <a:r>
              <a:rPr lang="ko-KR" altLang="en-US" dirty="0"/>
              <a:t>투영 벡터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996E0F-60FF-B61E-C0DD-14E20EC213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D6C514-3D27-EC11-F220-2F60F7E244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A281F8C3-3135-C406-7302-F7376D083495}"/>
              </a:ext>
            </a:extLst>
          </p:cNvPr>
          <p:cNvGrpSpPr/>
          <p:nvPr/>
        </p:nvGrpSpPr>
        <p:grpSpPr>
          <a:xfrm>
            <a:off x="4234042" y="1223046"/>
            <a:ext cx="4464972" cy="2814838"/>
            <a:chOff x="3043527" y="1577650"/>
            <a:chExt cx="4464972" cy="281483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bject 126">
                  <a:extLst>
                    <a:ext uri="{FF2B5EF4-FFF2-40B4-BE49-F238E27FC236}">
                      <a16:creationId xmlns:a16="http://schemas.microsoft.com/office/drawing/2014/main" id="{52DF2F43-BF4D-A84F-AE16-64499F22A0BF}"/>
                    </a:ext>
                  </a:extLst>
                </p:cNvPr>
                <p:cNvSpPr txBox="1"/>
                <p:nvPr/>
              </p:nvSpPr>
              <p:spPr bwMode="auto">
                <a:xfrm>
                  <a:off x="5276859" y="1577650"/>
                  <a:ext cx="571577" cy="5658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5" name="Object 126">
                  <a:extLst>
                    <a:ext uri="{FF2B5EF4-FFF2-40B4-BE49-F238E27FC236}">
                      <a16:creationId xmlns:a16="http://schemas.microsoft.com/office/drawing/2014/main" id="{52DF2F43-BF4D-A84F-AE16-64499F22A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276859" y="1577650"/>
                  <a:ext cx="571577" cy="56587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bject 127">
                  <a:extLst>
                    <a:ext uri="{FF2B5EF4-FFF2-40B4-BE49-F238E27FC236}">
                      <a16:creationId xmlns:a16="http://schemas.microsoft.com/office/drawing/2014/main" id="{D1AFC04A-D85C-04B1-4B88-3B1F0363C6EE}"/>
                    </a:ext>
                  </a:extLst>
                </p:cNvPr>
                <p:cNvSpPr txBox="1"/>
                <p:nvPr/>
              </p:nvSpPr>
              <p:spPr bwMode="auto">
                <a:xfrm>
                  <a:off x="6899297" y="3328781"/>
                  <a:ext cx="609202" cy="568555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ko-KR" altLang="en-US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6" name="Object 127">
                  <a:extLst>
                    <a:ext uri="{FF2B5EF4-FFF2-40B4-BE49-F238E27FC236}">
                      <a16:creationId xmlns:a16="http://schemas.microsoft.com/office/drawing/2014/main" id="{D1AFC04A-D85C-04B1-4B88-3B1F0363C6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6899297" y="3328781"/>
                  <a:ext cx="609202" cy="568555"/>
                </a:xfrm>
                <a:prstGeom prst="rect">
                  <a:avLst/>
                </a:prstGeom>
                <a:blipFill>
                  <a:blip r:embed="rId3"/>
                  <a:stretch>
                    <a:fillRect t="-13978" r="-19000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Line 96">
              <a:extLst>
                <a:ext uri="{FF2B5EF4-FFF2-40B4-BE49-F238E27FC236}">
                  <a16:creationId xmlns:a16="http://schemas.microsoft.com/office/drawing/2014/main" id="{A0FF5A5B-C478-1E19-161C-562C583A0B43}"/>
                </a:ext>
              </a:extLst>
            </p:cNvPr>
            <p:cNvSpPr>
              <a:spLocks noChangeShapeType="1"/>
            </p:cNvSpPr>
            <p:nvPr/>
          </p:nvSpPr>
          <p:spPr bwMode="auto">
            <a:xfrm rot="20546201" flipV="1">
              <a:off x="3043527" y="2088037"/>
              <a:ext cx="3366746" cy="1239830"/>
            </a:xfrm>
            <a:prstGeom prst="line">
              <a:avLst/>
            </a:prstGeom>
            <a:noFill/>
            <a:ln w="38100">
              <a:solidFill>
                <a:srgbClr val="7030A0"/>
              </a:solidFill>
              <a:round/>
              <a:headEnd type="oval" w="lg" len="lg"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 lIns="61711" tIns="30855" rIns="61711" bIns="30855">
              <a:spAutoFit/>
            </a:bodyPr>
            <a:lstStyle/>
            <a:p>
              <a:endParaRPr lang="ko-KR" altLang="en-US" dirty="0"/>
            </a:p>
          </p:txBody>
        </p:sp>
        <p:sp>
          <p:nvSpPr>
            <p:cNvPr id="14" name="Arc 104">
              <a:extLst>
                <a:ext uri="{FF2B5EF4-FFF2-40B4-BE49-F238E27FC236}">
                  <a16:creationId xmlns:a16="http://schemas.microsoft.com/office/drawing/2014/main" id="{98BAC865-28ED-EB00-FE3F-0DB6DAB288F0}"/>
                </a:ext>
              </a:extLst>
            </p:cNvPr>
            <p:cNvSpPr>
              <a:spLocks/>
            </p:cNvSpPr>
            <p:nvPr/>
          </p:nvSpPr>
          <p:spPr bwMode="auto">
            <a:xfrm rot="14745316" flipV="1">
              <a:off x="3972129" y="3314401"/>
              <a:ext cx="677383" cy="262822"/>
            </a:xfrm>
            <a:custGeom>
              <a:avLst/>
              <a:gdLst>
                <a:gd name="T0" fmla="*/ 0 w 40588"/>
                <a:gd name="T1" fmla="*/ 727464 h 21600"/>
                <a:gd name="T2" fmla="*/ 5700539 w 40588"/>
                <a:gd name="T3" fmla="*/ 746450 h 21600"/>
                <a:gd name="T4" fmla="*/ 2840854 w 40588"/>
                <a:gd name="T5" fmla="*/ 1120536 h 21600"/>
                <a:gd name="T6" fmla="*/ 0 60000 65536"/>
                <a:gd name="T7" fmla="*/ 0 60000 65536"/>
                <a:gd name="T8" fmla="*/ 0 60000 65536"/>
                <a:gd name="T9" fmla="*/ 0 w 40588"/>
                <a:gd name="T10" fmla="*/ 0 h 21600"/>
                <a:gd name="T11" fmla="*/ 40588 w 40588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0588" h="21600" fill="none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</a:path>
                <a:path w="40588" h="21600" stroke="0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  <a:lnTo>
                    <a:pt x="20227" y="21600"/>
                  </a:lnTo>
                  <a:close/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F16757DB-BA17-102B-AB1A-F24731677CDF}"/>
                </a:ext>
              </a:extLst>
            </p:cNvPr>
            <p:cNvCxnSpPr/>
            <p:nvPr/>
          </p:nvCxnSpPr>
          <p:spPr bwMode="auto">
            <a:xfrm flipV="1">
              <a:off x="3324766" y="3790204"/>
              <a:ext cx="4055546" cy="16740"/>
            </a:xfrm>
            <a:prstGeom prst="straightConnector1">
              <a:avLst/>
            </a:prstGeom>
            <a:noFill/>
            <a:ln w="3810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Object 127">
                  <a:extLst>
                    <a:ext uri="{FF2B5EF4-FFF2-40B4-BE49-F238E27FC236}">
                      <a16:creationId xmlns:a16="http://schemas.microsoft.com/office/drawing/2014/main" id="{CEAE159E-7A06-47C2-38B3-E44899877772}"/>
                    </a:ext>
                  </a:extLst>
                </p:cNvPr>
                <p:cNvSpPr txBox="1"/>
                <p:nvPr/>
              </p:nvSpPr>
              <p:spPr bwMode="auto">
                <a:xfrm>
                  <a:off x="4443976" y="3086955"/>
                  <a:ext cx="379234" cy="568555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28" name="Object 127">
                  <a:extLst>
                    <a:ext uri="{FF2B5EF4-FFF2-40B4-BE49-F238E27FC236}">
                      <a16:creationId xmlns:a16="http://schemas.microsoft.com/office/drawing/2014/main" id="{CEAE159E-7A06-47C2-38B3-E44899877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443976" y="3086955"/>
                  <a:ext cx="379234" cy="568555"/>
                </a:xfrm>
                <a:prstGeom prst="rect">
                  <a:avLst/>
                </a:prstGeom>
                <a:blipFill>
                  <a:blip r:embed="rId4"/>
                  <a:stretch>
                    <a:fillRect l="-3175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Line 96">
              <a:extLst>
                <a:ext uri="{FF2B5EF4-FFF2-40B4-BE49-F238E27FC236}">
                  <a16:creationId xmlns:a16="http://schemas.microsoft.com/office/drawing/2014/main" id="{0A947B16-DF4B-4306-18E6-C23FC1C50BC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20546201" flipH="1">
              <a:off x="5857833" y="1683703"/>
              <a:ext cx="628061" cy="2053445"/>
            </a:xfrm>
            <a:prstGeom prst="line">
              <a:avLst/>
            </a:prstGeom>
            <a:noFill/>
            <a:ln w="25400">
              <a:solidFill>
                <a:srgbClr val="7030A0"/>
              </a:solidFill>
              <a:prstDash val="sysDot"/>
              <a:round/>
              <a:headEnd/>
              <a:tailEnd type="non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 lIns="61711" tIns="30855" rIns="61711" bIns="30855">
              <a:spAutoFit/>
            </a:bodyPr>
            <a:lstStyle/>
            <a:p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bject 127">
                  <a:extLst>
                    <a:ext uri="{FF2B5EF4-FFF2-40B4-BE49-F238E27FC236}">
                      <a16:creationId xmlns:a16="http://schemas.microsoft.com/office/drawing/2014/main" id="{9D363A5D-D313-F66F-1735-FE873071FC32}"/>
                    </a:ext>
                  </a:extLst>
                </p:cNvPr>
                <p:cNvSpPr txBox="1"/>
                <p:nvPr/>
              </p:nvSpPr>
              <p:spPr bwMode="auto">
                <a:xfrm>
                  <a:off x="5163229" y="3823933"/>
                  <a:ext cx="609202" cy="568555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acc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31" name="Object 127">
                  <a:extLst>
                    <a:ext uri="{FF2B5EF4-FFF2-40B4-BE49-F238E27FC236}">
                      <a16:creationId xmlns:a16="http://schemas.microsoft.com/office/drawing/2014/main" id="{9D363A5D-D313-F66F-1735-FE873071FC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163229" y="3823933"/>
                  <a:ext cx="609202" cy="56855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C4DA3075-42FD-9C51-380F-E56F727CA62C}"/>
                </a:ext>
              </a:extLst>
            </p:cNvPr>
            <p:cNvCxnSpPr/>
            <p:nvPr/>
          </p:nvCxnSpPr>
          <p:spPr bwMode="auto">
            <a:xfrm>
              <a:off x="3299210" y="3801039"/>
              <a:ext cx="2856966" cy="0"/>
            </a:xfrm>
            <a:prstGeom prst="straightConnector1">
              <a:avLst/>
            </a:prstGeom>
            <a:noFill/>
            <a:ln w="69850" cap="flat" cmpd="sng" algn="ctr">
              <a:solidFill>
                <a:srgbClr val="0000FF"/>
              </a:solidFill>
              <a:prstDash val="solid"/>
              <a:round/>
              <a:headEnd type="oval" w="med" len="med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Object 127">
                <a:extLst>
                  <a:ext uri="{FF2B5EF4-FFF2-40B4-BE49-F238E27FC236}">
                    <a16:creationId xmlns:a16="http://schemas.microsoft.com/office/drawing/2014/main" id="{43106584-1E66-492E-32DE-9BF042A0ACA8}"/>
                  </a:ext>
                </a:extLst>
              </p:cNvPr>
              <p:cNvSpPr txBox="1"/>
              <p:nvPr/>
            </p:nvSpPr>
            <p:spPr bwMode="auto">
              <a:xfrm>
                <a:off x="64556" y="982122"/>
                <a:ext cx="4055546" cy="237486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en-US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d>
                      <m:func>
                        <m:funcPr>
                          <m:ctrlP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acc>
                        <m:accPr>
                          <m:chr m:val="̂"/>
                          <m:ctrlP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en-US" altLang="ko-KR" b="0" dirty="0">
                  <a:solidFill>
                    <a:srgbClr val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     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d>
                      <m:d>
                        <m:dPr>
                          <m:ctrlPr>
                            <a:rPr lang="en-US" altLang="ko-K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⃗"/>
                                  <m:ctrlP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ko-KR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altLang="ko-K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d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altLang="ko-KR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</m:e>
                      </m:d>
                      <m:acc>
                        <m:accPr>
                          <m:chr m:val="̂"/>
                          <m:ctrlP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en-US" altLang="ko-KR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    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d>
                      <m:f>
                        <m:fPr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acc>
                        <m:accPr>
                          <m:chr m:val="̂"/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9" name="Object 127">
                <a:extLst>
                  <a:ext uri="{FF2B5EF4-FFF2-40B4-BE49-F238E27FC236}">
                    <a16:creationId xmlns:a16="http://schemas.microsoft.com/office/drawing/2014/main" id="{43106584-1E66-492E-32DE-9BF042A0AC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556" y="982122"/>
                <a:ext cx="4055546" cy="237486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bject 127">
                <a:extLst>
                  <a:ext uri="{FF2B5EF4-FFF2-40B4-BE49-F238E27FC236}">
                    <a16:creationId xmlns:a16="http://schemas.microsoft.com/office/drawing/2014/main" id="{FDD89696-20BB-D8C8-63BB-B91658FBE6A7}"/>
                  </a:ext>
                </a:extLst>
              </p:cNvPr>
              <p:cNvSpPr txBox="1"/>
              <p:nvPr/>
            </p:nvSpPr>
            <p:spPr bwMode="auto">
              <a:xfrm>
                <a:off x="444986" y="3127792"/>
                <a:ext cx="4543960" cy="19539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d>
                      <m:f>
                        <m:fPr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f>
                        <m:fPr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en-US" altLang="ko-KR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acc>
                        <m:accPr>
                          <m:chr m:val="⃗"/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sSup>
                            <m:sSupPr>
                              <m:ctrlPr>
                                <a:rPr lang="en-US" altLang="ko-K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ko-KR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altLang="ko-K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altLang="ko-K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acc>
                        <m:accPr>
                          <m:chr m:val="⃗"/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  <a:p>
                <a:endParaRPr lang="ko-KR" altLang="en-US" dirty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40" name="Object 127">
                <a:extLst>
                  <a:ext uri="{FF2B5EF4-FFF2-40B4-BE49-F238E27FC236}">
                    <a16:creationId xmlns:a16="http://schemas.microsoft.com/office/drawing/2014/main" id="{FDD89696-20BB-D8C8-63BB-B91658FBE6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4986" y="3127792"/>
                <a:ext cx="4543960" cy="19539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DDEF483-E35B-D2E3-581C-AD09A798ED74}"/>
                  </a:ext>
                </a:extLst>
              </p:cNvPr>
              <p:cNvSpPr txBox="1"/>
              <p:nvPr/>
            </p:nvSpPr>
            <p:spPr>
              <a:xfrm>
                <a:off x="509726" y="5099686"/>
                <a:ext cx="3081534" cy="9426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altLang="ko-K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  <m:r>
                        <a:rPr lang="en-US" altLang="ko-K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en-US" altLang="ko-K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r>
                            <a:rPr lang="en-US" altLang="ko-K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den>
                      </m:f>
                      <m:acc>
                        <m:accPr>
                          <m:chr m:val="⃗"/>
                          <m:ctrlPr>
                            <a:rPr lang="en-US" altLang="ko-K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DDEF483-E35B-D2E3-581C-AD09A798E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" y="5099686"/>
                <a:ext cx="3081534" cy="94263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6342FBC-5B72-62D0-3A87-800A8639D67A}"/>
                  </a:ext>
                </a:extLst>
              </p:cNvPr>
              <p:cNvSpPr txBox="1"/>
              <p:nvPr/>
            </p:nvSpPr>
            <p:spPr>
              <a:xfrm>
                <a:off x="3935233" y="5281146"/>
                <a:ext cx="3964364" cy="5797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2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en-US" altLang="ko-KR" sz="2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en-US" sz="2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p>
                            <m:r>
                              <a:rPr lang="en-US" altLang="ko-KR" sz="2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acc>
                    <m:r>
                      <a:rPr lang="en-US" altLang="ko-KR" sz="2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2800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800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  <m:r>
                          <a:rPr lang="en-US" altLang="ko-KR" sz="280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⃗"/>
                            <m:ctrlPr>
                              <a:rPr lang="en-US" altLang="ko-KR" sz="2800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800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acc>
                      <m:accPr>
                        <m:chr m:val="⃗"/>
                        <m:ctrlPr>
                          <a:rPr lang="en-US" altLang="ko-KR" sz="280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en-US" altLang="ko-KR" sz="2800" dirty="0"/>
                  <a:t>  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ko-KR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2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US" altLang="ko-KR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6342FBC-5B72-62D0-3A87-800A8639D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233" y="5281146"/>
                <a:ext cx="3964364" cy="579710"/>
              </a:xfrm>
              <a:prstGeom prst="rect">
                <a:avLst/>
              </a:prstGeom>
              <a:blipFill>
                <a:blip r:embed="rId9"/>
                <a:stretch>
                  <a:fillRect t="-4211" b="-252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7916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37347-CF29-9425-23E5-6C08C6583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ABF53B-632C-54AF-781C-79F3EF191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7-3 </a:t>
            </a:r>
            <a:r>
              <a:rPr lang="ko-KR" altLang="en-US" dirty="0"/>
              <a:t>내적을 활용한 벡터의 투영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4F6062-3323-5E3E-7BDB-E0C54D7B05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CA9CB59-7CF9-D082-746E-1E6705E695E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54CED7-4DA4-C7FA-CB46-09D710BF4514}"/>
              </a:ext>
            </a:extLst>
          </p:cNvPr>
          <p:cNvSpPr txBox="1"/>
          <p:nvPr/>
        </p:nvSpPr>
        <p:spPr>
          <a:xfrm>
            <a:off x="323528" y="692150"/>
            <a:ext cx="7560840" cy="1569660"/>
          </a:xfrm>
          <a:prstGeom prst="rect">
            <a:avLst/>
          </a:prstGeom>
          <a:noFill/>
          <a:ln w="381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</a:t>
            </a:r>
            <a:r>
              <a:rPr lang="ko-KR" altLang="en-US" sz="16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투영된 위치와 거리 계산</a:t>
            </a:r>
            <a:endParaRPr lang="ko-KR" altLang="en-US" sz="160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unitV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(</a:t>
            </a:r>
            <a:r>
              <a:rPr lang="en-US" altLang="ko-KR" sz="16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lineEnd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-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 err="1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lineStart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).</a:t>
            </a:r>
            <a:r>
              <a:rPr lang="en-US" altLang="ko-KR" sz="1600" dirty="0" err="1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GetNormalize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point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-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 err="1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lineStart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projV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unitV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*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(</a:t>
            </a:r>
            <a:r>
              <a:rPr lang="en-US" altLang="ko-KR" sz="16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</a:t>
            </a:r>
            <a:r>
              <a:rPr lang="en-US" altLang="ko-KR" sz="1600" dirty="0" err="1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 err="1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Dot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unitV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projectedPoint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 err="1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lineStart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+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projV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distance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(</a:t>
            </a:r>
            <a:r>
              <a:rPr lang="en-US" altLang="ko-KR" sz="16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projectedPoint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-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point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).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Size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();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8D127BA-34AC-7FE1-F390-A6240DA752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242" r="11935" b="4004"/>
          <a:stretch>
            <a:fillRect/>
          </a:stretch>
        </p:blipFill>
        <p:spPr>
          <a:xfrm>
            <a:off x="4696411" y="2622396"/>
            <a:ext cx="3187957" cy="309338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3BA05C2-9015-E69E-0435-14089FBF8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89" y="2636912"/>
            <a:ext cx="3791871" cy="3078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9618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3F910-3FBF-55B7-1C2D-C535AE0F3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D7A261-8441-9642-7C78-78E54F7F7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7.5 </a:t>
            </a:r>
            <a:r>
              <a:rPr lang="ko-KR" altLang="en-US" dirty="0"/>
              <a:t>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110020-84F1-974C-A6F3-628B9CA467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벡터 내적</a:t>
            </a:r>
            <a:endParaRPr lang="en-US" altLang="ko-KR" dirty="0"/>
          </a:p>
          <a:p>
            <a:pPr lvl="1"/>
            <a:r>
              <a:rPr lang="ko-KR" altLang="en-US" dirty="0"/>
              <a:t>행렬 곱셈</a:t>
            </a:r>
            <a:endParaRPr lang="en-US" altLang="ko-KR" dirty="0"/>
          </a:p>
          <a:p>
            <a:pPr lvl="1"/>
            <a:r>
              <a:rPr lang="ko-KR" altLang="en-US" dirty="0"/>
              <a:t>앞</a:t>
            </a:r>
            <a:r>
              <a:rPr lang="en-US" altLang="ko-KR" dirty="0"/>
              <a:t>/</a:t>
            </a:r>
            <a:r>
              <a:rPr lang="ko-KR" altLang="en-US" dirty="0"/>
              <a:t>뒤 판정</a:t>
            </a:r>
            <a:endParaRPr lang="en-US" altLang="ko-KR" dirty="0"/>
          </a:p>
          <a:p>
            <a:pPr lvl="1"/>
            <a:r>
              <a:rPr lang="ko-KR" altLang="en-US" dirty="0"/>
              <a:t>시야 판정</a:t>
            </a:r>
            <a:endParaRPr lang="en-US" altLang="ko-KR" dirty="0"/>
          </a:p>
          <a:p>
            <a:pPr lvl="1"/>
            <a:r>
              <a:rPr lang="ko-KR" altLang="en-US" dirty="0" err="1"/>
              <a:t>램버트</a:t>
            </a:r>
            <a:r>
              <a:rPr lang="ko-KR" altLang="en-US" dirty="0"/>
              <a:t> 반사</a:t>
            </a:r>
            <a:endParaRPr lang="en-US" altLang="ko-KR" dirty="0"/>
          </a:p>
          <a:p>
            <a:pPr lvl="1"/>
            <a:r>
              <a:rPr lang="ko-KR" altLang="en-US" dirty="0"/>
              <a:t>투영 벡터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A1C1F7F-2D4E-C600-79AD-2247D1380C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50123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9C74C-D169-F4F6-9F32-1DBB36AF5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40AE30DF-79B7-9234-7D0D-F45D26B03F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8. </a:t>
            </a:r>
            <a:r>
              <a:rPr lang="ko-KR" altLang="en-US" dirty="0"/>
              <a:t>삼각형</a:t>
            </a:r>
          </a:p>
        </p:txBody>
      </p:sp>
      <p:sp>
        <p:nvSpPr>
          <p:cNvPr id="6" name="부제목 5">
            <a:extLst>
              <a:ext uri="{FF2B5EF4-FFF2-40B4-BE49-F238E27FC236}">
                <a16:creationId xmlns:a16="http://schemas.microsoft.com/office/drawing/2014/main" id="{552B39C3-A3ED-21CD-FE7E-D33EA47752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물체를 구성하는 가장 작은 단위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C5F4138-A237-7C4D-161A-933791DBF6C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8492518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FCED6-C336-1F66-4B93-25FD462DE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1348AC-4A93-D7F3-5CC2-AB5E344D3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 </a:t>
            </a:r>
            <a:r>
              <a:rPr lang="ko-KR" altLang="en-US" dirty="0" err="1"/>
              <a:t>세점의</a:t>
            </a:r>
            <a:r>
              <a:rPr lang="ko-KR" altLang="en-US" dirty="0"/>
              <a:t> 결합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6A4765-C1A2-4628-FA97-56DE80A2A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 err="1"/>
              <a:t>세점</a:t>
            </a:r>
            <a:endParaRPr lang="en-US" altLang="ko-KR" sz="2400" dirty="0"/>
          </a:p>
          <a:p>
            <a:pPr lvl="1"/>
            <a:r>
              <a:rPr lang="ko-KR" altLang="en-US" sz="2000" dirty="0" err="1"/>
              <a:t>세점</a:t>
            </a:r>
            <a:r>
              <a:rPr lang="ko-KR" altLang="en-US" sz="2000" dirty="0"/>
              <a:t> 중 하나는 나머지 독립된 두점으로 표현 가능</a:t>
            </a:r>
            <a:endParaRPr lang="en-US" altLang="ko-KR" sz="20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 err="1"/>
              <a:t>컨벡스</a:t>
            </a:r>
            <a:r>
              <a:rPr lang="ko-KR" altLang="en-US" sz="2400" dirty="0"/>
              <a:t> 결합 </a:t>
            </a:r>
            <a:r>
              <a:rPr lang="en-US" altLang="ko-KR" sz="2400" dirty="0"/>
              <a:t>(Convex Combination)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DD348D2-1BBC-F363-F39E-AD5B4D9C9B9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629145-3A1D-FBDB-DFCA-0ED6B0DEF705}"/>
                  </a:ext>
                </a:extLst>
              </p:cNvPr>
              <p:cNvSpPr txBox="1"/>
              <p:nvPr/>
            </p:nvSpPr>
            <p:spPr>
              <a:xfrm>
                <a:off x="803814" y="3907216"/>
                <a:ext cx="1512168" cy="745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629145-3A1D-FBDB-DFCA-0ED6B0DEF7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814" y="3907216"/>
                <a:ext cx="1512168" cy="745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EF61933-1238-84F3-34B1-60633FDFB0C7}"/>
                  </a:ext>
                </a:extLst>
              </p:cNvPr>
              <p:cNvSpPr txBox="1"/>
              <p:nvPr/>
            </p:nvSpPr>
            <p:spPr>
              <a:xfrm>
                <a:off x="2051720" y="3861048"/>
                <a:ext cx="1848438" cy="837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ko-KR" sz="2000" i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altLang="ko-KR" sz="200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en-US" altLang="ko-KR" sz="200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nor/>
                        </m:rPr>
                        <a:rPr lang="en-US" altLang="ko-KR" sz="200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 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EF61933-1238-84F3-34B1-60633FDFB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1720" y="3861048"/>
                <a:ext cx="1848438" cy="837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131E896-A7B2-2F9C-15ED-C995CF74101C}"/>
                  </a:ext>
                </a:extLst>
              </p:cNvPr>
              <p:cNvSpPr txBox="1"/>
              <p:nvPr/>
            </p:nvSpPr>
            <p:spPr>
              <a:xfrm>
                <a:off x="3579969" y="3979224"/>
                <a:ext cx="204838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0≤</m:t>
                      </m:r>
                      <m:r>
                        <a:rPr lang="en-US" altLang="ko-KR" b="0" i="1">
                          <a:latin typeface="Cambria Math" panose="02040503050406030204" pitchFamily="18" charset="0"/>
                        </a:rPr>
                        <m:t> 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b="0" i="1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131E896-A7B2-2F9C-15ED-C995CF741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9969" y="3979224"/>
                <a:ext cx="2048381" cy="461665"/>
              </a:xfrm>
              <a:prstGeom prst="rect">
                <a:avLst/>
              </a:prstGeom>
              <a:blipFill>
                <a:blip r:embed="rId4"/>
                <a:stretch>
                  <a:fillRect b="-5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D4A34C2-C3AD-80FD-62E8-88ED249F2B83}"/>
                  </a:ext>
                </a:extLst>
              </p:cNvPr>
              <p:cNvSpPr txBox="1"/>
              <p:nvPr/>
            </p:nvSpPr>
            <p:spPr>
              <a:xfrm>
                <a:off x="899592" y="1772816"/>
                <a:ext cx="5976664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ko-KR" dirty="0"/>
                  <a:t>       =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altLang="ko-KR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altLang="ko-KR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ko-KR" dirty="0"/>
                  <a:t>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/>
                  <a:t> =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altLang="ko-KR" i="0" dirty="0">
                            <a:latin typeface="Cambria Math" panose="02040503050406030204" pitchFamily="18" charset="0"/>
                          </a:rPr>
                          <m:t>− </m:t>
                        </m:r>
                        <m:sSub>
                          <m:sSubPr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altLang="ko-K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𝑡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altLang="ko-KR" i="0" dirty="0">
                            <a:latin typeface="Cambria Math" panose="02040503050406030204" pitchFamily="18" charset="0"/>
                          </a:rPr>
                          <m:t>− </m:t>
                        </m:r>
                        <m:sSub>
                          <m:sSubPr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D4A34C2-C3AD-80FD-62E8-88ED249F2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1772816"/>
                <a:ext cx="5976664" cy="738664"/>
              </a:xfrm>
              <a:prstGeom prst="rect">
                <a:avLst/>
              </a:prstGeom>
              <a:blipFill>
                <a:blip r:embed="rId5"/>
                <a:stretch>
                  <a:fillRect l="-1837" t="-15702" b="-214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EEEEFAC-0CE2-356F-196E-183EF1C5F395}"/>
                  </a:ext>
                </a:extLst>
              </p:cNvPr>
              <p:cNvSpPr txBox="1"/>
              <p:nvPr/>
            </p:nvSpPr>
            <p:spPr>
              <a:xfrm>
                <a:off x="1595622" y="2604952"/>
                <a:ext cx="194421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acc>
                    <m:r>
                      <a:rPr lang="en-US" altLang="ko-KR" i="1">
                        <a:latin typeface="Cambria Math" panose="02040503050406030204" pitchFamily="18" charset="0"/>
                      </a:rPr>
                      <m:t> </m:t>
                    </m:r>
                  </m:oMath>
                </a14:m>
                <a:r>
                  <a:rPr lang="en-US" altLang="ko-KR" dirty="0"/>
                  <a:t>=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acc>
                      <m:accPr>
                        <m:chr m:val="⃗"/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en-US" altLang="ko-K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𝑡</m:t>
                    </m:r>
                    <m:acc>
                      <m:accPr>
                        <m:chr m:val="⃗"/>
                        <m:ctrlP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EEEEFAC-0CE2-356F-196E-183EF1C5F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5622" y="2604952"/>
                <a:ext cx="1944216" cy="369332"/>
              </a:xfrm>
              <a:prstGeom prst="rect">
                <a:avLst/>
              </a:prstGeom>
              <a:blipFill>
                <a:blip r:embed="rId6"/>
                <a:stretch>
                  <a:fillRect l="-4075" t="-32787" r="-6583" b="-442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09513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75348-1F79-D8CF-7A1F-22CCC38AC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77613F-744A-340F-580D-E1BB8FDC8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 </a:t>
            </a:r>
            <a:r>
              <a:rPr lang="ko-KR" altLang="en-US" dirty="0" err="1"/>
              <a:t>세점의</a:t>
            </a:r>
            <a:r>
              <a:rPr lang="ko-KR" altLang="en-US" dirty="0"/>
              <a:t> 결합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DC9320-A1B1-65F6-5B9B-19AD68046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 err="1"/>
              <a:t>컨벡스</a:t>
            </a:r>
            <a:r>
              <a:rPr lang="en-US" altLang="ko-KR" sz="2400" dirty="0"/>
              <a:t> </a:t>
            </a:r>
            <a:r>
              <a:rPr lang="ko-KR" altLang="en-US" sz="2400" dirty="0"/>
              <a:t>영역 </a:t>
            </a:r>
            <a:r>
              <a:rPr lang="en-US" altLang="ko-KR" sz="2400" dirty="0"/>
              <a:t>(Convex region)</a:t>
            </a:r>
          </a:p>
          <a:p>
            <a:pPr lvl="1"/>
            <a:r>
              <a:rPr lang="ko-KR" altLang="en-US" sz="2000" dirty="0"/>
              <a:t>영역 내 임의의 두 점에서 두 점을 잇는 선분이 항상 내부에 있으면 </a:t>
            </a:r>
            <a:r>
              <a:rPr lang="en-US" altLang="ko-KR" sz="2000" dirty="0"/>
              <a:t>Convex(</a:t>
            </a:r>
            <a:r>
              <a:rPr lang="ko-KR" altLang="en-US" sz="2000" dirty="0"/>
              <a:t>볼록</a:t>
            </a:r>
            <a:r>
              <a:rPr lang="en-US" altLang="ko-KR" sz="2000" dirty="0"/>
              <a:t>)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CF23539-FF2C-8CD2-E32F-BD5BBECAB7F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C6DD562-A521-C684-205B-238602A267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608" y="2291005"/>
            <a:ext cx="2989764" cy="229341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4BF80FC-4EA5-2437-985C-FEDFD72A78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325255"/>
            <a:ext cx="2664296" cy="224043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A510CB7-C5DC-F173-1344-CEFB69C7808C}"/>
              </a:ext>
            </a:extLst>
          </p:cNvPr>
          <p:cNvSpPr txBox="1"/>
          <p:nvPr/>
        </p:nvSpPr>
        <p:spPr>
          <a:xfrm>
            <a:off x="2051720" y="4579730"/>
            <a:ext cx="12378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Convex</a:t>
            </a:r>
            <a:endParaRPr lang="ko-KR" altLang="en-US" dirty="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655376-21F3-133A-03D6-EF17876FB391}"/>
              </a:ext>
            </a:extLst>
          </p:cNvPr>
          <p:cNvSpPr txBox="1"/>
          <p:nvPr/>
        </p:nvSpPr>
        <p:spPr>
          <a:xfrm>
            <a:off x="5087888" y="4579729"/>
            <a:ext cx="19880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Not</a:t>
            </a:r>
            <a:r>
              <a:rPr lang="ko-KR" altLang="en-US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</a:t>
            </a:r>
            <a:r>
              <a:rPr lang="en-US" altLang="ko-KR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- convex</a:t>
            </a:r>
            <a:endParaRPr lang="ko-KR" altLang="en-US" dirty="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946214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8858C-3A8C-5E25-E981-2B6E9DF06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925709-C253-D55A-CE45-6DC476E48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 </a:t>
            </a:r>
            <a:r>
              <a:rPr lang="ko-KR" altLang="en-US" dirty="0" err="1"/>
              <a:t>세점의</a:t>
            </a:r>
            <a:r>
              <a:rPr lang="ko-KR" altLang="en-US" dirty="0"/>
              <a:t> 결합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D9BEE6-E9BD-D366-D9B8-AA4CEDF945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3</a:t>
            </a:r>
            <a:r>
              <a:rPr lang="ko-KR" altLang="en-US" sz="2400" dirty="0"/>
              <a:t>점의 </a:t>
            </a:r>
            <a:r>
              <a:rPr lang="ko-KR" altLang="en-US" sz="2400" dirty="0" err="1"/>
              <a:t>아핀</a:t>
            </a:r>
            <a:r>
              <a:rPr lang="ko-KR" altLang="en-US" sz="2400" dirty="0"/>
              <a:t> 결합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pPr lvl="1"/>
            <a:r>
              <a:rPr lang="en-US" altLang="ko-KR" sz="2000" dirty="0"/>
              <a:t>Convex: </a:t>
            </a:r>
            <a:r>
              <a:rPr lang="ko-KR" altLang="en-US" sz="2000" dirty="0"/>
              <a:t>두 점을 이은 선분이 항상 내부에 존재</a:t>
            </a:r>
            <a:endParaRPr lang="en-US" altLang="ko-KR" sz="2000" dirty="0"/>
          </a:p>
          <a:p>
            <a:endParaRPr lang="en-US" altLang="ko-KR" sz="2400" dirty="0"/>
          </a:p>
          <a:p>
            <a:r>
              <a:rPr lang="ko-KR" altLang="en-US" sz="2400" dirty="0"/>
              <a:t>삼각뿔</a:t>
            </a:r>
            <a:r>
              <a:rPr lang="en-US" altLang="ko-KR" sz="2400" dirty="0"/>
              <a:t>(Tetrahedron)</a:t>
            </a:r>
          </a:p>
          <a:p>
            <a:pPr lvl="1"/>
            <a:r>
              <a:rPr lang="en-US" altLang="ko-KR" sz="2000" dirty="0"/>
              <a:t>Tetrahedron = 4</a:t>
            </a:r>
            <a:r>
              <a:rPr lang="ko-KR" altLang="en-US" sz="2000" dirty="0"/>
              <a:t>점의 </a:t>
            </a:r>
            <a:r>
              <a:rPr lang="en-US" altLang="ko-KR" sz="2000" dirty="0"/>
              <a:t>convex </a:t>
            </a:r>
            <a:r>
              <a:rPr lang="ko-KR" altLang="en-US" sz="2000" dirty="0"/>
              <a:t>조합으로 생성된 </a:t>
            </a:r>
            <a:r>
              <a:rPr lang="en-US" altLang="ko-KR" sz="2000" dirty="0"/>
              <a:t>3D </a:t>
            </a:r>
            <a:r>
              <a:rPr lang="ko-KR" altLang="en-US" sz="2000" dirty="0"/>
              <a:t>볼록 영역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80571E-3263-DE88-C88D-A5624C8B51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F7986F2-3782-B724-C164-0945FE3E882B}"/>
                  </a:ext>
                </a:extLst>
              </p:cNvPr>
              <p:cNvSpPr txBox="1"/>
              <p:nvPr/>
            </p:nvSpPr>
            <p:spPr>
              <a:xfrm>
                <a:off x="1236423" y="1410630"/>
                <a:ext cx="3148233" cy="7537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F7986F2-3782-B724-C164-0945FE3E88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6423" y="1410630"/>
                <a:ext cx="3148233" cy="7537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96B4056-3A4C-5567-B890-7ECBCDE52BA1}"/>
                  </a:ext>
                </a:extLst>
              </p:cNvPr>
              <p:cNvSpPr txBox="1"/>
              <p:nvPr/>
            </p:nvSpPr>
            <p:spPr>
              <a:xfrm>
                <a:off x="4821238" y="1556664"/>
                <a:ext cx="204838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0≤</m:t>
                      </m:r>
                      <m:r>
                        <a:rPr lang="en-US" altLang="ko-KR" b="0" i="1">
                          <a:latin typeface="Cambria Math" panose="02040503050406030204" pitchFamily="18" charset="0"/>
                        </a:rPr>
                        <m:t> 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b="0" i="1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96B4056-3A4C-5567-B890-7ECBCDE52B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1238" y="1556664"/>
                <a:ext cx="2048381" cy="461665"/>
              </a:xfrm>
              <a:prstGeom prst="rect">
                <a:avLst/>
              </a:prstGeom>
              <a:blipFill>
                <a:blip r:embed="rId3"/>
                <a:stretch>
                  <a:fillRect l="-893" b="-52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3A20F70-270E-44CD-BB1B-60BD29F219DF}"/>
                  </a:ext>
                </a:extLst>
              </p:cNvPr>
              <p:cNvSpPr txBox="1"/>
              <p:nvPr/>
            </p:nvSpPr>
            <p:spPr>
              <a:xfrm>
                <a:off x="987185" y="4793108"/>
                <a:ext cx="4140108" cy="7537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ko-KR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ko-KR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3A20F70-270E-44CD-BB1B-60BD29F21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185" y="4793108"/>
                <a:ext cx="4140108" cy="7537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00A29F4-1A9E-48E9-BF9B-69559301D150}"/>
                  </a:ext>
                </a:extLst>
              </p:cNvPr>
              <p:cNvSpPr txBox="1"/>
              <p:nvPr/>
            </p:nvSpPr>
            <p:spPr>
              <a:xfrm>
                <a:off x="5364088" y="4939141"/>
                <a:ext cx="204838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0≤</m:t>
                      </m:r>
                      <m:r>
                        <a:rPr lang="en-US" altLang="ko-KR" b="0" i="1">
                          <a:latin typeface="Cambria Math" panose="02040503050406030204" pitchFamily="18" charset="0"/>
                        </a:rPr>
                        <m:t> 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b="0" i="1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00A29F4-1A9E-48E9-BF9B-69559301D1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4088" y="4939141"/>
                <a:ext cx="2048381" cy="461665"/>
              </a:xfrm>
              <a:prstGeom prst="rect">
                <a:avLst/>
              </a:prstGeom>
              <a:blipFill>
                <a:blip r:embed="rId5"/>
                <a:stretch>
                  <a:fillRect l="-893" b="-52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94720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75250-254C-F407-3602-F9B33400F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964EA0-F5D9-8185-2AAF-BC39004C4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8.2 </a:t>
            </a:r>
            <a:r>
              <a:rPr lang="ko-KR" altLang="en-US" dirty="0"/>
              <a:t>메시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1441F5-948D-A89D-A63B-ADBEADFDD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메시</a:t>
            </a:r>
            <a:endParaRPr lang="en-US" altLang="ko-KR" dirty="0"/>
          </a:p>
          <a:p>
            <a:pPr lvl="1"/>
            <a:r>
              <a:rPr lang="en-US" altLang="ko-KR" dirty="0"/>
              <a:t>3D </a:t>
            </a:r>
            <a:r>
              <a:rPr lang="ko-KR" altLang="en-US" dirty="0"/>
              <a:t>공간에서</a:t>
            </a:r>
            <a:br>
              <a:rPr lang="en-US" altLang="ko-KR" dirty="0"/>
            </a:br>
            <a:r>
              <a:rPr lang="ko-KR" altLang="en-US" dirty="0"/>
              <a:t>물체의 외형을 표현하기 위해</a:t>
            </a:r>
            <a:br>
              <a:rPr lang="en-US" altLang="ko-KR" dirty="0"/>
            </a:br>
            <a:r>
              <a:rPr lang="ko-KR" altLang="en-US" dirty="0"/>
              <a:t>정점</a:t>
            </a:r>
            <a:r>
              <a:rPr lang="en-US" altLang="ko-KR" dirty="0"/>
              <a:t>(Vertex), </a:t>
            </a:r>
            <a:r>
              <a:rPr lang="ko-KR" altLang="en-US" dirty="0"/>
              <a:t>간선</a:t>
            </a:r>
            <a:r>
              <a:rPr lang="en-US" altLang="ko-KR" dirty="0"/>
              <a:t>(Edge), </a:t>
            </a:r>
            <a:r>
              <a:rPr lang="ko-KR" altLang="en-US" dirty="0"/>
              <a:t>면</a:t>
            </a:r>
            <a:r>
              <a:rPr lang="en-US" altLang="ko-KR" dirty="0"/>
              <a:t>(Face)</a:t>
            </a:r>
            <a:r>
              <a:rPr lang="ko-KR" altLang="en-US" dirty="0"/>
              <a:t>을 결합한</a:t>
            </a:r>
            <a:br>
              <a:rPr lang="en-US" altLang="ko-KR" dirty="0"/>
            </a:br>
            <a:r>
              <a:rPr lang="ko-KR" altLang="en-US" dirty="0"/>
              <a:t>기하학적 데이터 구조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정점 버퍼</a:t>
            </a:r>
            <a:r>
              <a:rPr lang="en-US" altLang="ko-KR" dirty="0"/>
              <a:t>(Vertex Buffer)</a:t>
            </a:r>
          </a:p>
          <a:p>
            <a:pPr lvl="2"/>
            <a:r>
              <a:rPr lang="en-US" altLang="ko-KR" dirty="0"/>
              <a:t>3D </a:t>
            </a:r>
            <a:r>
              <a:rPr lang="ko-KR" altLang="en-US" dirty="0"/>
              <a:t>공간 상의 좌표</a:t>
            </a:r>
            <a:r>
              <a:rPr lang="en-US" altLang="ko-KR" dirty="0"/>
              <a:t>, </a:t>
            </a:r>
            <a:r>
              <a:rPr lang="ko-KR" altLang="en-US" dirty="0"/>
              <a:t>색상</a:t>
            </a:r>
            <a:r>
              <a:rPr lang="en-US" altLang="ko-KR" dirty="0"/>
              <a:t>, UV </a:t>
            </a:r>
            <a:r>
              <a:rPr lang="ko-KR" altLang="en-US" dirty="0"/>
              <a:t>등</a:t>
            </a:r>
            <a:br>
              <a:rPr lang="en-US" altLang="ko-KR" dirty="0"/>
            </a:br>
            <a:r>
              <a:rPr lang="ko-KR" altLang="en-US" dirty="0"/>
              <a:t>각 정점의 상세 속성 데이터를 저장하는 메모리 블록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인덱스 버퍼</a:t>
            </a:r>
            <a:r>
              <a:rPr lang="en-US" altLang="ko-KR" dirty="0"/>
              <a:t>(Index Buffer)</a:t>
            </a:r>
          </a:p>
          <a:p>
            <a:pPr lvl="2"/>
            <a:r>
              <a:rPr lang="ko-KR" altLang="en-US" dirty="0"/>
              <a:t>정점 버퍼의 번호</a:t>
            </a:r>
            <a:r>
              <a:rPr lang="en-US" altLang="ko-KR" dirty="0"/>
              <a:t>(</a:t>
            </a:r>
            <a:r>
              <a:rPr lang="ko-KR" altLang="en-US" dirty="0"/>
              <a:t>인덱스</a:t>
            </a:r>
            <a:r>
              <a:rPr lang="en-US" altLang="ko-KR" dirty="0"/>
              <a:t>)</a:t>
            </a:r>
            <a:r>
              <a:rPr lang="ko-KR" altLang="en-US" dirty="0"/>
              <a:t>를 참조하여</a:t>
            </a:r>
            <a:br>
              <a:rPr lang="en-US" altLang="ko-KR" dirty="0"/>
            </a:br>
            <a:r>
              <a:rPr lang="ko-KR" altLang="en-US" dirty="0"/>
              <a:t>점들을 연결하는 순서를 정의</a:t>
            </a:r>
            <a:r>
              <a:rPr lang="en-US" altLang="ko-KR" dirty="0"/>
              <a:t>, </a:t>
            </a:r>
            <a:r>
              <a:rPr lang="ko-KR" altLang="en-US" dirty="0"/>
              <a:t>삼각형 면을 구성하는 설계도</a:t>
            </a:r>
            <a:endParaRPr lang="en-US" altLang="ko-KR" dirty="0"/>
          </a:p>
          <a:p>
            <a:pPr lvl="2"/>
            <a:r>
              <a:rPr lang="ko-KR" altLang="en-US" dirty="0"/>
              <a:t>인덱스 버퍼 개수 </a:t>
            </a:r>
            <a:r>
              <a:rPr lang="en-US" altLang="ko-KR" dirty="0"/>
              <a:t>= </a:t>
            </a:r>
            <a:r>
              <a:rPr lang="ko-KR" altLang="en-US" dirty="0"/>
              <a:t>삼각형의 개수</a:t>
            </a:r>
            <a:r>
              <a:rPr lang="en-US" altLang="ko-KR" dirty="0"/>
              <a:t> X 3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1011B8-B058-C80B-1C78-4A842AE1FC2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116169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04534-E939-EF07-433C-E4FD111D7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BE73A9-FB9F-1DAA-0D88-028C9BC5A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8-1</a:t>
            </a:r>
            <a:r>
              <a:rPr lang="ko-KR" altLang="en-US" dirty="0"/>
              <a:t> 와이어프레임 렌더링의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222949-6B28-DAD9-CA41-A7F32A974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0F0B75-71E3-3D60-A61C-A36EA61E0CF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1ED188E-9126-40A3-9134-0095EE5BBB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861" y="4273759"/>
            <a:ext cx="2219635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9458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7EB89-B132-F4AB-2FEE-FFED97401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F3BFEC-6A5E-2BCD-DC43-CAA8F1A6E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8.3 </a:t>
            </a:r>
            <a:r>
              <a:rPr lang="ko-KR" altLang="en-US" dirty="0"/>
              <a:t>무게중심좌표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7452BC-D040-42E0-95F2-6002A5DB3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/>
              <a:t>점의 </a:t>
            </a:r>
            <a:r>
              <a:rPr lang="ko-KR" altLang="en-US" dirty="0" err="1"/>
              <a:t>아핀</a:t>
            </a:r>
            <a:r>
              <a:rPr lang="ko-KR" altLang="en-US" dirty="0"/>
              <a:t> 결합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417C12E-A6F0-640F-0B36-C7353984661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Object 136">
                <a:extLst>
                  <a:ext uri="{FF2B5EF4-FFF2-40B4-BE49-F238E27FC236}">
                    <a16:creationId xmlns:a16="http://schemas.microsoft.com/office/drawing/2014/main" id="{68B4F695-308E-422C-A2C4-57CF92373805}"/>
                  </a:ext>
                </a:extLst>
              </p:cNvPr>
              <p:cNvSpPr txBox="1"/>
              <p:nvPr/>
            </p:nvSpPr>
            <p:spPr bwMode="auto">
              <a:xfrm>
                <a:off x="467544" y="1175405"/>
                <a:ext cx="5184577" cy="52540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m:rPr>
                          <m:nor/>
                        </m:rPr>
                        <a:rPr lang="ko-KR" altLang="en-US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sP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_1+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tP</m:t>
                      </m:r>
                      <m:r>
                        <m:rPr>
                          <m:nor/>
                        </m:rPr>
                        <a:rPr lang="en-US" altLang="ko-KR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_2+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(1-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en-US" altLang="ko-KR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ko-KR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_3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5" name="Object 136">
                <a:extLst>
                  <a:ext uri="{FF2B5EF4-FFF2-40B4-BE49-F238E27FC236}">
                    <a16:creationId xmlns:a16="http://schemas.microsoft.com/office/drawing/2014/main" id="{68B4F695-308E-422C-A2C4-57CF923738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7544" y="1175405"/>
                <a:ext cx="5184577" cy="525403"/>
              </a:xfrm>
              <a:prstGeom prst="rect">
                <a:avLst/>
              </a:prstGeom>
              <a:blipFill>
                <a:blip r:embed="rId2"/>
                <a:stretch>
                  <a:fillRect l="-353" b="-5814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Object 136">
                <a:extLst>
                  <a:ext uri="{FF2B5EF4-FFF2-40B4-BE49-F238E27FC236}">
                    <a16:creationId xmlns:a16="http://schemas.microsoft.com/office/drawing/2014/main" id="{38A0B5A4-58AD-4CFE-8071-19B69DC0B573}"/>
                  </a:ext>
                </a:extLst>
              </p:cNvPr>
              <p:cNvSpPr txBox="1"/>
              <p:nvPr/>
            </p:nvSpPr>
            <p:spPr bwMode="auto">
              <a:xfrm>
                <a:off x="467544" y="1658660"/>
                <a:ext cx="5184577" cy="52540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m:rPr>
                          <m:nor/>
                        </m:rPr>
                        <a:rPr lang="ko-KR" altLang="en-US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altLang="ko-KR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ko-KR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_1 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3) + 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_2 −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3) + 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6" name="Object 136">
                <a:extLst>
                  <a:ext uri="{FF2B5EF4-FFF2-40B4-BE49-F238E27FC236}">
                    <a16:creationId xmlns:a16="http://schemas.microsoft.com/office/drawing/2014/main" id="{38A0B5A4-58AD-4CFE-8071-19B69DC0B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7544" y="1658660"/>
                <a:ext cx="5184577" cy="525403"/>
              </a:xfrm>
              <a:prstGeom prst="rect">
                <a:avLst/>
              </a:prstGeom>
              <a:blipFill>
                <a:blip r:embed="rId3"/>
                <a:stretch>
                  <a:fillRect l="-353" b="-5814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Object 136">
                <a:extLst>
                  <a:ext uri="{FF2B5EF4-FFF2-40B4-BE49-F238E27FC236}">
                    <a16:creationId xmlns:a16="http://schemas.microsoft.com/office/drawing/2014/main" id="{C0DD02D7-C811-4374-B0D6-AD869B261B5C}"/>
                  </a:ext>
                </a:extLst>
              </p:cNvPr>
              <p:cNvSpPr txBox="1"/>
              <p:nvPr/>
            </p:nvSpPr>
            <p:spPr bwMode="auto">
              <a:xfrm>
                <a:off x="467543" y="2141915"/>
                <a:ext cx="5184577" cy="52540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m:rPr>
                          <m:nor/>
                        </m:rPr>
                        <a:rPr lang="ko-KR" altLang="en-US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 +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altLang="ko-KR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ko-KR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_1 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3) + 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_2 −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7" name="Object 136">
                <a:extLst>
                  <a:ext uri="{FF2B5EF4-FFF2-40B4-BE49-F238E27FC236}">
                    <a16:creationId xmlns:a16="http://schemas.microsoft.com/office/drawing/2014/main" id="{C0DD02D7-C811-4374-B0D6-AD869B261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7543" y="2141915"/>
                <a:ext cx="5184577" cy="525403"/>
              </a:xfrm>
              <a:prstGeom prst="rect">
                <a:avLst/>
              </a:prstGeom>
              <a:blipFill>
                <a:blip r:embed="rId4"/>
                <a:stretch>
                  <a:fillRect l="-353" b="-4598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bject 136">
                <a:extLst>
                  <a:ext uri="{FF2B5EF4-FFF2-40B4-BE49-F238E27FC236}">
                    <a16:creationId xmlns:a16="http://schemas.microsoft.com/office/drawing/2014/main" id="{C5C5F7F8-D8C8-41CF-A6F3-5081E871F29A}"/>
                  </a:ext>
                </a:extLst>
              </p:cNvPr>
              <p:cNvSpPr txBox="1"/>
              <p:nvPr/>
            </p:nvSpPr>
            <p:spPr bwMode="auto">
              <a:xfrm>
                <a:off x="442391" y="2667318"/>
                <a:ext cx="2185393" cy="52540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m:rPr>
                          <m:nor/>
                        </m:rPr>
                        <a:rPr lang="ko-KR" altLang="en-US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ko-KR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+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acc>
                        <m:accPr>
                          <m:chr m:val="⃗"/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8" name="Object 136">
                <a:extLst>
                  <a:ext uri="{FF2B5EF4-FFF2-40B4-BE49-F238E27FC236}">
                    <a16:creationId xmlns:a16="http://schemas.microsoft.com/office/drawing/2014/main" id="{C5C5F7F8-D8C8-41CF-A6F3-5081E871F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2391" y="2667318"/>
                <a:ext cx="2185393" cy="525403"/>
              </a:xfrm>
              <a:prstGeom prst="rect">
                <a:avLst/>
              </a:prstGeom>
              <a:blipFill>
                <a:blip r:embed="rId5"/>
                <a:stretch>
                  <a:fillRect l="-838" t="-15116" r="-12011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bject 136">
                <a:extLst>
                  <a:ext uri="{FF2B5EF4-FFF2-40B4-BE49-F238E27FC236}">
                    <a16:creationId xmlns:a16="http://schemas.microsoft.com/office/drawing/2014/main" id="{9752E131-72B2-474E-994D-DD761A874A6C}"/>
                  </a:ext>
                </a:extLst>
              </p:cNvPr>
              <p:cNvSpPr txBox="1"/>
              <p:nvPr/>
            </p:nvSpPr>
            <p:spPr bwMode="auto">
              <a:xfrm>
                <a:off x="3019550" y="2667317"/>
                <a:ext cx="1801688" cy="52540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m:rPr>
                          <m:nor/>
                        </m:rPr>
                        <a:rPr lang="ko-KR" altLang="en-US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ko-KR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m:rPr>
                          <m:nor/>
                        </m:rPr>
                        <a:rPr lang="en-US" altLang="ko-KR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+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acc>
                        <m:accPr>
                          <m:chr m:val="⃗"/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9" name="Object 136">
                <a:extLst>
                  <a:ext uri="{FF2B5EF4-FFF2-40B4-BE49-F238E27FC236}">
                    <a16:creationId xmlns:a16="http://schemas.microsoft.com/office/drawing/2014/main" id="{9752E131-72B2-474E-994D-DD761A874A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19550" y="2667317"/>
                <a:ext cx="1801688" cy="525403"/>
              </a:xfrm>
              <a:prstGeom prst="rect">
                <a:avLst/>
              </a:prstGeom>
              <a:blipFill>
                <a:blip r:embed="rId6"/>
                <a:stretch>
                  <a:fillRect l="-1014" t="-15116" r="-11149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bject 141">
                <a:extLst>
                  <a:ext uri="{FF2B5EF4-FFF2-40B4-BE49-F238E27FC236}">
                    <a16:creationId xmlns:a16="http://schemas.microsoft.com/office/drawing/2014/main" id="{7080F3B9-508B-4103-9434-E796186B4005}"/>
                  </a:ext>
                </a:extLst>
              </p:cNvPr>
              <p:cNvSpPr txBox="1"/>
              <p:nvPr/>
            </p:nvSpPr>
            <p:spPr bwMode="auto">
              <a:xfrm>
                <a:off x="310951" y="3386550"/>
                <a:ext cx="2448272" cy="130124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7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</m:t>
                      </m:r>
                      <m:f>
                        <m:f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</m:e>
                                </m:mr>
                              </m:m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</m:e>
                                </m:mr>
                              </m:m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0" name="Object 141">
                <a:extLst>
                  <a:ext uri="{FF2B5EF4-FFF2-40B4-BE49-F238E27FC236}">
                    <a16:creationId xmlns:a16="http://schemas.microsoft.com/office/drawing/2014/main" id="{7080F3B9-508B-4103-9434-E796186B40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0951" y="3386550"/>
                <a:ext cx="2448272" cy="13012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bject 142">
                <a:extLst>
                  <a:ext uri="{FF2B5EF4-FFF2-40B4-BE49-F238E27FC236}">
                    <a16:creationId xmlns:a16="http://schemas.microsoft.com/office/drawing/2014/main" id="{CCBCA7B3-1909-417C-B975-96E9A027BCDD}"/>
                  </a:ext>
                </a:extLst>
              </p:cNvPr>
              <p:cNvSpPr txBox="1"/>
              <p:nvPr/>
            </p:nvSpPr>
            <p:spPr bwMode="auto">
              <a:xfrm>
                <a:off x="2784540" y="3429000"/>
                <a:ext cx="2737211" cy="128919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</m:t>
                      </m:r>
                      <m:f>
                        <m:f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acc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acc>
                                  </m:e>
                                </m:mr>
                              </m:m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</m:e>
                                </m:mr>
                              </m:m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1" name="Object 142">
                <a:extLst>
                  <a:ext uri="{FF2B5EF4-FFF2-40B4-BE49-F238E27FC236}">
                    <a16:creationId xmlns:a16="http://schemas.microsoft.com/office/drawing/2014/main" id="{CCBCA7B3-1909-417C-B975-96E9A027BC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84540" y="3429000"/>
                <a:ext cx="2737211" cy="12891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87773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5FC0F-75D4-5725-369D-25C05B0C8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80AF4E-23F5-8F4B-4524-B5B074F3C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8.3.1 </a:t>
            </a:r>
            <a:r>
              <a:rPr lang="ko-KR" altLang="en-US" dirty="0"/>
              <a:t>무게중심좌표의 계산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9CD9EA-E8D0-221D-6CD5-54C0249385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C2E1D99-0FBD-D057-28B1-1C6A19660C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60857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BD93B-9408-4DEC-BAE3-83E06F2EB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52F0B-39C2-258C-4B89-C59E18B07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8-2 </a:t>
            </a:r>
            <a:r>
              <a:rPr lang="ko-KR" altLang="en-US" dirty="0"/>
              <a:t>삼각형 칠하기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372260-27C4-1C61-FBAB-E86EA48D63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5058A0F-3CA1-6ED5-7AE5-1AE140D64F3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225275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4DBC4-09D8-8BFB-4967-D901CAEF6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833945-5FE7-2429-5425-18B9B30A7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8-3 </a:t>
            </a:r>
            <a:r>
              <a:rPr lang="ko-KR" altLang="en-US" dirty="0"/>
              <a:t>무지개 삼각형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251AAA-EBD1-276E-BB13-021D3592C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039F043-D52A-DE19-E12C-8C3924CB81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278129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235DD-7BE7-6109-B937-D8FE0E702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F5FB96-7183-2F18-B3C6-CC42F33D9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8.4 </a:t>
            </a:r>
            <a:r>
              <a:rPr lang="ko-KR" altLang="en-US" dirty="0"/>
              <a:t>텍스처 매핑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C7E560-202D-EEE5-9B75-8867F53FB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B215A3A-C991-816E-FE1E-43AAE9282F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53069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0E786-BEAB-1BB1-A4A8-38D300D4A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2C44DF-5698-23DB-3DA3-668AB769D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8-4 </a:t>
            </a:r>
            <a:r>
              <a:rPr lang="ko-KR" altLang="en-US" dirty="0"/>
              <a:t>텍스처 매핑의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6BEA23-593C-1151-62F8-502FA8632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D26874-A7ED-ED2A-F394-6AB54D8FF0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001485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2D8FC-65FD-D2AE-D663-3C7F25A61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1C878D-90C8-7440-825C-7C49F595D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8.5 </a:t>
            </a:r>
            <a:r>
              <a:rPr lang="ko-KR" altLang="en-US" dirty="0"/>
              <a:t>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7D5501-FFE2-3142-B250-2810428F15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AFEE88A-6537-C0F0-B6EA-600799724EF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781158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B9F6A-5590-3346-89BD-C2E6A3631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C7BCAD60-CFCA-0E1F-BF59-D99FCAD8EA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9. </a:t>
            </a:r>
            <a:r>
              <a:rPr lang="ko-KR" altLang="en-US" dirty="0"/>
              <a:t>게임 엔진</a:t>
            </a:r>
          </a:p>
        </p:txBody>
      </p:sp>
      <p:sp>
        <p:nvSpPr>
          <p:cNvPr id="6" name="부제목 5">
            <a:extLst>
              <a:ext uri="{FF2B5EF4-FFF2-40B4-BE49-F238E27FC236}">
                <a16:creationId xmlns:a16="http://schemas.microsoft.com/office/drawing/2014/main" id="{862404BE-CF3D-937D-FDD2-23BD3D972C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콘텐츠를 만드는 기술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28DA11B-FBD9-A9B5-A73A-D959F64B81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147586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3C4D1-B375-5232-8774-C5CF52D57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6439A7-A2D2-FD15-BE30-1EA77C5D0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9.1 </a:t>
            </a:r>
            <a:r>
              <a:rPr lang="ko-KR" altLang="en-US" dirty="0"/>
              <a:t>게임 엔진의 구성 요소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E683E1-F88D-F5AE-A2F9-1335D69B5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D6D62BF-2BCF-0A82-D709-5140B09181E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72282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CC943-08B6-4598-09DD-E3B011EC2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C14B9-8FD8-5084-1661-5A9F55610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9.1.2 </a:t>
            </a:r>
            <a:r>
              <a:rPr lang="ko-KR" altLang="en-US" dirty="0"/>
              <a:t>모델링 행렬의 설계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ED60F2-5837-85E1-26C3-3841ADB858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25C8B85-ED40-27E0-A354-4525C3B1285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89043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C8AEE-9E61-D7C9-2393-1CD74DCB7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D85A4D-6561-6EE8-5486-5F8CEA8B9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9.1.3 </a:t>
            </a:r>
            <a:r>
              <a:rPr lang="ko-KR" altLang="en-US" dirty="0"/>
              <a:t>로컬 공간과 로컬 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0959CB-283A-F2EE-9BFE-136535760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DA42EC6-3017-68F2-0901-FC592DCDCEE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45627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8604C-8803-FD29-5D52-C03A4659D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66DCD1-B2D7-544D-7A45-15C19A9EF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9.1.4 </a:t>
            </a:r>
            <a:r>
              <a:rPr lang="ko-KR" altLang="en-US" dirty="0"/>
              <a:t>리소스 관리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204A0C-5E23-D16C-C93E-A431831DC6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3810C72-521F-0015-70B9-FE1CD9A0211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71873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E9F72-2BE5-DDF3-9FFC-2A574AC2A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5E406-A30D-79E0-1FCF-8C7C25751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9.2 </a:t>
            </a:r>
            <a:r>
              <a:rPr lang="ko-KR" altLang="en-US" dirty="0"/>
              <a:t>게임 엔진의 워크 플로우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CEA8BD-4577-C3D7-51A8-1D573663A4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9.2.1 CK</a:t>
            </a:r>
            <a:r>
              <a:rPr lang="ko-KR" altLang="en-US" dirty="0" err="1"/>
              <a:t>소프트렌더러의</a:t>
            </a:r>
            <a:r>
              <a:rPr lang="ko-KR" altLang="en-US" dirty="0"/>
              <a:t> 워크플로우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2B13D7A-CE75-B3EB-4930-3FC519900CE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60762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4CE2E-F1C9-EAAD-86BB-87C34DE1F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B72D4-9410-4D24-D51D-1FC05AE8D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9.2.2 </a:t>
            </a:r>
            <a:r>
              <a:rPr lang="ko-KR" altLang="en-US" dirty="0"/>
              <a:t>렌더링 파이프라인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A4F6F8-07C5-A234-46B9-C2E06154B6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BA094D1-C619-34C3-848F-87BB7E0064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13621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185B3-313E-2DFA-0BF5-8E8B309C1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5D1255-9D39-D1F4-F4DA-CCC0931A0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9.3 </a:t>
            </a:r>
            <a:r>
              <a:rPr lang="ko-KR" altLang="en-US" dirty="0"/>
              <a:t>카메라 시스템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9D5798-6430-489B-2B10-2814538996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9.3.1 </a:t>
            </a:r>
            <a:r>
              <a:rPr lang="ko-KR" altLang="en-US" dirty="0"/>
              <a:t>가상 공간의 카메라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3CF6707-F9D2-4FCA-9501-B782F54C95C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92584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45FC9-4D6B-20EB-914A-E602E95CA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7D5695-0AF6-1E08-56CA-C91D9BC62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9-1 </a:t>
            </a:r>
            <a:r>
              <a:rPr lang="ko-KR" altLang="en-US" dirty="0"/>
              <a:t>게임 월드의 탐험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7948E4-0B67-2917-8F34-363BD19D5C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739939A-17EC-27C0-DCA5-3478E91B225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444643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9FCDB-36EC-2D01-2867-ADC6E460B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DD9203-2DB5-F701-CB05-4817C533E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9.4 </a:t>
            </a:r>
            <a:r>
              <a:rPr lang="ko-KR" altLang="en-US" dirty="0"/>
              <a:t>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897DF1-92E3-6CE9-6F53-902B52035C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7F09C0-74BD-DBE4-CEA8-ABD4426A320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259759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E4E74-A08A-3A8C-4DF0-2CD0F049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6B010465-670E-74BD-2F82-6F9FCB4FA4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10. 3</a:t>
            </a:r>
            <a:r>
              <a:rPr lang="ko-KR" altLang="en-US" dirty="0"/>
              <a:t>차원 공간</a:t>
            </a:r>
          </a:p>
        </p:txBody>
      </p:sp>
      <p:sp>
        <p:nvSpPr>
          <p:cNvPr id="6" name="부제목 5">
            <a:extLst>
              <a:ext uri="{FF2B5EF4-FFF2-40B4-BE49-F238E27FC236}">
                <a16:creationId xmlns:a16="http://schemas.microsoft.com/office/drawing/2014/main" id="{0E4878B0-C1F7-77CA-FFC6-0132BA0003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입체 공간의 생성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F0E596F-52EC-4A7A-F14A-AECB0B748B0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9683257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89535-0B44-2A79-B3B3-4FB1A5F39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C84FE8-48F3-303F-A842-C6B849235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10.1 3</a:t>
            </a:r>
            <a:r>
              <a:rPr lang="ko-KR" altLang="en-US" dirty="0"/>
              <a:t>차원 공간의 설계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6EE8DCD-74B4-6095-142A-7A349D3C4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9.3.1 </a:t>
            </a:r>
            <a:r>
              <a:rPr lang="ko-KR" altLang="en-US" dirty="0"/>
              <a:t>가상 공간의 카메라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8F4B515-177E-5639-1225-714A5D7A787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339176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06C3F-3F6E-653A-258C-87B13A243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3422E2-5EB3-05B6-978B-5127197B6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10.2 </a:t>
            </a:r>
            <a:r>
              <a:rPr lang="ko-KR" altLang="en-US" dirty="0"/>
              <a:t>삼차원 공간의 트랜스 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00032F-0941-4377-0C8D-D94C7BDC84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9.3.1 </a:t>
            </a:r>
            <a:r>
              <a:rPr lang="ko-KR" altLang="en-US" dirty="0"/>
              <a:t>가상 공간의 카메라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1C535C9-4798-A6CB-8C42-0613F7657CC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300031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8DB2C-AC66-8457-930F-E1FF762F0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36DB17-111B-CE14-D52E-C1FC5E187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10.2.1 </a:t>
            </a:r>
            <a:r>
              <a:rPr lang="ko-KR" altLang="en-US" dirty="0" err="1"/>
              <a:t>오일러</a:t>
            </a:r>
            <a:r>
              <a:rPr lang="ko-KR" altLang="en-US" dirty="0"/>
              <a:t> 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5DA5F9-A378-FE53-7818-B06FA5D786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9.3.1 </a:t>
            </a:r>
            <a:r>
              <a:rPr lang="ko-KR" altLang="en-US" dirty="0"/>
              <a:t>가상 공간의 카메라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1DE6BF-8C43-7035-4864-A94A34EB84C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923591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AD5DDE-644E-1514-B93D-777295CE9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10.2.2 </a:t>
            </a:r>
            <a:r>
              <a:rPr lang="ko-KR" altLang="en-US" dirty="0"/>
              <a:t>회전 행렬의 유도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4DA4C4-ABF2-2126-C76B-E55A346B93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60F1248-E0E3-D98D-AD1B-1BB022BB910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3175766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9C234-E392-E3E2-37E6-334A5E3DC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77D55-A52B-10FE-BD8B-732C529DE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10.2.3 3</a:t>
            </a:r>
            <a:r>
              <a:rPr lang="ko-KR" altLang="en-US" dirty="0"/>
              <a:t>차원 모델링 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00C8E1-360B-A065-C263-46EAC13168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A737B67-234C-15F9-8A7C-4ACACF4F4D0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295920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B2C73-8985-6662-BF3D-3D05F2EF7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9DECB-C28C-4DB6-5EFA-B4DA5EFD7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10.3 </a:t>
            </a:r>
            <a:r>
              <a:rPr lang="ko-KR" altLang="en-US" dirty="0"/>
              <a:t>카메라 공간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4AF221-FA29-2B12-EC0A-1856317F6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5D63672-4828-4C8D-EE55-28661927D2B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48447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9F0FA-5C03-9798-CE5A-BCCC6A4B3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AB18E8-1BC6-AC71-F6EA-5A345E3AC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10-1 </a:t>
            </a:r>
            <a:r>
              <a:rPr lang="ko-KR" altLang="en-US" dirty="0"/>
              <a:t>처음 그려보는 </a:t>
            </a:r>
            <a:r>
              <a:rPr lang="en-US" altLang="ko-KR" dirty="0"/>
              <a:t>3</a:t>
            </a:r>
            <a:r>
              <a:rPr lang="ko-KR" altLang="en-US" dirty="0"/>
              <a:t>차원 공간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58A7E7-E06E-F294-E38E-0FBDCBF3F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C759CF5-3DF1-7070-3A3A-E7DBDE3F00A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170317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7D141-ABD0-48AF-1DDD-D1E1DD6C4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48E4DD-4B04-E9D1-7778-44A78AA9A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10.4 </a:t>
            </a:r>
            <a:r>
              <a:rPr lang="ko-KR" altLang="en-US" dirty="0" err="1"/>
              <a:t>오일러</a:t>
            </a:r>
            <a:r>
              <a:rPr lang="ko-KR" altLang="en-US" dirty="0"/>
              <a:t> 각의 특징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2F8A56-3956-69E8-2BF5-CD93A1A3B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70BA13-D016-FECE-CB3E-C317C098E1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881148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8FBF9-D6A4-F24C-45C4-B22D7ED03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336158-E1F8-41B8-AF86-48387E385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10.4.1 </a:t>
            </a:r>
            <a:r>
              <a:rPr lang="ko-KR" altLang="en-US" dirty="0" err="1"/>
              <a:t>짐벌락</a:t>
            </a:r>
            <a:r>
              <a:rPr lang="ko-KR" altLang="en-US" dirty="0"/>
              <a:t> 현상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1F3376-9C0B-6D67-A898-6C1235469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EB43F37-C7CA-FCFC-770A-907927EFC30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8506735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A1935-D374-CD9A-E17B-FAF305A31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BDB39-78B7-F053-94EA-F31441046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10-2 </a:t>
            </a:r>
            <a:r>
              <a:rPr lang="ko-KR" altLang="en-US" dirty="0" err="1"/>
              <a:t>짐벌락</a:t>
            </a:r>
            <a:r>
              <a:rPr lang="ko-KR" altLang="en-US" dirty="0"/>
              <a:t> 현상의 체험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F8BB34-7CCE-076C-B1A5-943C978A93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8372CC4-9873-3B30-DAF3-F74C708F3AB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039576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3EDDA-79C1-91EA-19DB-0FF8B10A9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6B81A7-962D-52E9-E48A-FCE833E1F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10.4.2 </a:t>
            </a:r>
            <a:r>
              <a:rPr lang="ko-KR" altLang="en-US" dirty="0"/>
              <a:t>회전 </a:t>
            </a:r>
            <a:r>
              <a:rPr lang="ko-KR" altLang="en-US" dirty="0" err="1"/>
              <a:t>보간의</a:t>
            </a:r>
            <a:r>
              <a:rPr lang="ko-KR" altLang="en-US" dirty="0"/>
              <a:t> 계산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DCB87A-BF6C-48FB-5559-358819F86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6D5E9D9-5F52-B59D-891F-9FD6CF6C299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616186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0E3F5-C29A-3E91-920E-D3B971080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FF9423-3C8D-01F8-6122-67A7F115D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10.5 </a:t>
            </a:r>
            <a:r>
              <a:rPr lang="ko-KR" altLang="en-US" dirty="0"/>
              <a:t>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C5727D-F880-AFCB-6A2C-5F3EE04C46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60A7DA8-D49D-8DE6-D1BF-ED59A9A1A3C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26936257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6075</TotalTime>
  <Words>1262</Words>
  <Application>Microsoft Office PowerPoint</Application>
  <PresentationFormat>화면 슬라이드 쇼(4:3)</PresentationFormat>
  <Paragraphs>300</Paragraphs>
  <Slides>50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60" baseType="lpstr">
      <vt:lpstr>Bitstream Vera Sans Mono</vt:lpstr>
      <vt:lpstr>HY견고딕</vt:lpstr>
      <vt:lpstr>가을체</vt:lpstr>
      <vt:lpstr>굴림</vt:lpstr>
      <vt:lpstr>나눔고딕 ExtraBold</vt:lpstr>
      <vt:lpstr>Arial</vt:lpstr>
      <vt:lpstr>Cambria Math</vt:lpstr>
      <vt:lpstr>Consolas</vt:lpstr>
      <vt:lpstr>Wingdings</vt:lpstr>
      <vt:lpstr>기본 디자인</vt:lpstr>
      <vt:lpstr>7. 내적</vt:lpstr>
      <vt:lpstr>7.1 벡터의 내적</vt:lpstr>
      <vt:lpstr>7.1.2 내적과 삼각함수의 관계</vt:lpstr>
      <vt:lpstr>7.1.3 행렬의 곱셈을 내적으로 표현</vt:lpstr>
      <vt:lpstr>7.1.3 행렬의 곱셈을 내적으로 표현</vt:lpstr>
      <vt:lpstr>7.1.3 행렬의 곱셈을 내적으로 표현</vt:lpstr>
      <vt:lpstr>7.2.1 앞뒤 판별</vt:lpstr>
      <vt:lpstr>7.2.2 시야 판별</vt:lpstr>
      <vt:lpstr>7-1 내적을 활용한 목표물 감지</vt:lpstr>
      <vt:lpstr>7.3 조명 효과의 구현</vt:lpstr>
      <vt:lpstr>7-2 내적을 활용한 조명 모델 구현</vt:lpstr>
      <vt:lpstr>7.4 투영 벡터</vt:lpstr>
      <vt:lpstr>7-3 내적을 활용한 벡터의 투영</vt:lpstr>
      <vt:lpstr>7.5 정리</vt:lpstr>
      <vt:lpstr>8. 삼각형</vt:lpstr>
      <vt:lpstr>8.1 세점의 결합</vt:lpstr>
      <vt:lpstr>8.1 세점의 결합</vt:lpstr>
      <vt:lpstr>8.1 세점의 결합</vt:lpstr>
      <vt:lpstr>8.2 메시</vt:lpstr>
      <vt:lpstr>8-1 와이어프레임 렌더링의 구현</vt:lpstr>
      <vt:lpstr>8.3 무게중심좌표</vt:lpstr>
      <vt:lpstr>8.3.1 무게중심좌표의 계산</vt:lpstr>
      <vt:lpstr>8-2 삼각형 칠하기</vt:lpstr>
      <vt:lpstr>8-3 무지개 삼각형 만들기</vt:lpstr>
      <vt:lpstr>8.4 텍스처 매핑</vt:lpstr>
      <vt:lpstr>8-4 텍스처 매핑의 구현</vt:lpstr>
      <vt:lpstr>8.5 정리</vt:lpstr>
      <vt:lpstr>9. 게임 엔진</vt:lpstr>
      <vt:lpstr>9.1 게임 엔진의 구성 요소</vt:lpstr>
      <vt:lpstr>9.1.2 모델링 행렬의 설계</vt:lpstr>
      <vt:lpstr>9.1.3 로컬 공간과 로컬 축</vt:lpstr>
      <vt:lpstr>9.1.4 리소스 관리</vt:lpstr>
      <vt:lpstr>9.2 게임 엔진의 워크 플로우</vt:lpstr>
      <vt:lpstr>9.2.2 렌더링 파이프라인</vt:lpstr>
      <vt:lpstr>9.3 카메라 시스템</vt:lpstr>
      <vt:lpstr>9-1 게임 월드의 탐험</vt:lpstr>
      <vt:lpstr>9.4 정리</vt:lpstr>
      <vt:lpstr>10. 3차원 공간</vt:lpstr>
      <vt:lpstr>10.1 3차원 공간의 설계</vt:lpstr>
      <vt:lpstr>10.2 삼차원 공간의 트랜스 폼</vt:lpstr>
      <vt:lpstr>10.2.1 오일러 각</vt:lpstr>
      <vt:lpstr>10.2.2 회전 행렬의 유도</vt:lpstr>
      <vt:lpstr>10.2.3 3차원 모델링 행렬</vt:lpstr>
      <vt:lpstr>10.3 카메라 공간</vt:lpstr>
      <vt:lpstr>10-1 처음 그려보는 3차원 공간</vt:lpstr>
      <vt:lpstr>10.4 오일러 각의 특징</vt:lpstr>
      <vt:lpstr>10.4.1 짐벌락 현상</vt:lpstr>
      <vt:lpstr>10-2 짐벌락 현상의 체험</vt:lpstr>
      <vt:lpstr>10.4.2 회전 보간의 계산</vt:lpstr>
      <vt:lpstr>10.5 정리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User</cp:lastModifiedBy>
  <cp:revision>230</cp:revision>
  <dcterms:created xsi:type="dcterms:W3CDTF">2003-11-30T16:03:20Z</dcterms:created>
  <dcterms:modified xsi:type="dcterms:W3CDTF">2026-04-02T08:30:00Z</dcterms:modified>
</cp:coreProperties>
</file>