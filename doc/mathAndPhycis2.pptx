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6"/>
  </p:notesMasterIdLst>
  <p:sldIdLst>
    <p:sldId id="435" r:id="rId2"/>
    <p:sldId id="424" r:id="rId3"/>
    <p:sldId id="425" r:id="rId4"/>
    <p:sldId id="426" r:id="rId5"/>
    <p:sldId id="469" r:id="rId6"/>
    <p:sldId id="470" r:id="rId7"/>
    <p:sldId id="427" r:id="rId8"/>
    <p:sldId id="471" r:id="rId9"/>
    <p:sldId id="428" r:id="rId10"/>
    <p:sldId id="429" r:id="rId11"/>
    <p:sldId id="430" r:id="rId12"/>
    <p:sldId id="431" r:id="rId13"/>
    <p:sldId id="432" r:id="rId14"/>
    <p:sldId id="433" r:id="rId15"/>
    <p:sldId id="436" r:id="rId16"/>
    <p:sldId id="434" r:id="rId17"/>
    <p:sldId id="472" r:id="rId18"/>
    <p:sldId id="473" r:id="rId19"/>
    <p:sldId id="437" r:id="rId20"/>
    <p:sldId id="474" r:id="rId21"/>
    <p:sldId id="438" r:id="rId22"/>
    <p:sldId id="439" r:id="rId23"/>
    <p:sldId id="440" r:id="rId24"/>
    <p:sldId id="441" r:id="rId25"/>
    <p:sldId id="442" r:id="rId26"/>
    <p:sldId id="443" r:id="rId27"/>
    <p:sldId id="444" r:id="rId28"/>
    <p:sldId id="475" r:id="rId29"/>
    <p:sldId id="445" r:id="rId30"/>
    <p:sldId id="453" r:id="rId31"/>
    <p:sldId id="446" r:id="rId32"/>
    <p:sldId id="477" r:id="rId33"/>
    <p:sldId id="447" r:id="rId34"/>
    <p:sldId id="476" r:id="rId35"/>
    <p:sldId id="478" r:id="rId36"/>
    <p:sldId id="479" r:id="rId37"/>
    <p:sldId id="480" r:id="rId38"/>
    <p:sldId id="448" r:id="rId39"/>
    <p:sldId id="482" r:id="rId40"/>
    <p:sldId id="481" r:id="rId41"/>
    <p:sldId id="449" r:id="rId42"/>
    <p:sldId id="483" r:id="rId43"/>
    <p:sldId id="484" r:id="rId44"/>
    <p:sldId id="485" r:id="rId45"/>
    <p:sldId id="450" r:id="rId46"/>
    <p:sldId id="451" r:id="rId47"/>
    <p:sldId id="486" r:id="rId48"/>
    <p:sldId id="487" r:id="rId49"/>
    <p:sldId id="452" r:id="rId50"/>
    <p:sldId id="488" r:id="rId51"/>
    <p:sldId id="490" r:id="rId52"/>
    <p:sldId id="491" r:id="rId53"/>
    <p:sldId id="492" r:id="rId54"/>
    <p:sldId id="456" r:id="rId55"/>
  </p:sldIdLst>
  <p:sldSz cx="9144000" cy="6858000" type="screen4x3"/>
  <p:notesSz cx="6858000" cy="9144000"/>
  <p:embeddedFontLst>
    <p:embeddedFont>
      <p:font typeface="Bitstream Vera Sans Mono" panose="020B0609030804020204" pitchFamily="49" charset="-127"/>
      <p:regular r:id="rId57"/>
    </p:embeddedFont>
    <p:embeddedFont>
      <p:font typeface="Cambria Math" panose="02040503050406030204" pitchFamily="18" charset="0"/>
      <p:regular r:id="rId58"/>
    </p:embeddedFont>
    <p:embeddedFont>
      <p:font typeface="Consolas" panose="020B0609020204030204" pitchFamily="49" charset="0"/>
      <p:regular r:id="rId59"/>
      <p:bold r:id="rId60"/>
      <p:italic r:id="rId61"/>
      <p:boldItalic r:id="rId62"/>
    </p:embeddedFont>
    <p:embeddedFont>
      <p:font typeface="HY견고딕" panose="02030600000101010101" pitchFamily="18" charset="-127"/>
      <p:regular r:id="rId63"/>
    </p:embeddedFont>
    <p:embeddedFont>
      <p:font typeface="Noto Sans KR" panose="020B0200000000000000" pitchFamily="50" charset="-127"/>
      <p:regular r:id="rId64"/>
      <p:bold r:id="rId65"/>
    </p:embeddedFont>
    <p:embeddedFont>
      <p:font typeface="가을체" panose="02030600000101010101" pitchFamily="18" charset="-127"/>
      <p:regular r:id="rId66"/>
    </p:embeddedFont>
    <p:embeddedFont>
      <p:font typeface="나눔고딕 ExtraBold" panose="020D0904000000000000" pitchFamily="50" charset="-127"/>
      <p:bold r:id="rId67"/>
    </p:embeddedFont>
    <p:embeddedFont>
      <p:font typeface="나눔바른고딕" panose="020B0603020101020101" pitchFamily="50" charset="-127"/>
      <p:regular r:id="rId68"/>
      <p:bold r:id="rId69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CC0000"/>
    <a:srgbClr val="009900"/>
    <a:srgbClr val="FF00FF"/>
    <a:srgbClr val="FF9900"/>
    <a:srgbClr val="FF0000"/>
    <a:srgbClr val="CC00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232" autoAdjust="0"/>
    <p:restoredTop sz="94582" autoAdjust="0"/>
  </p:normalViewPr>
  <p:slideViewPr>
    <p:cSldViewPr>
      <p:cViewPr>
        <p:scale>
          <a:sx n="75" d="100"/>
          <a:sy n="75" d="100"/>
        </p:scale>
        <p:origin x="3276" y="121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/>
            </a:lvl1pPr>
            <a:lvl2pPr>
              <a:buSzPct val="60000"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0.png"/><Relationship Id="rId3" Type="http://schemas.openxmlformats.org/officeDocument/2006/relationships/image" Target="../media/image790.png"/><Relationship Id="rId7" Type="http://schemas.openxmlformats.org/officeDocument/2006/relationships/image" Target="../media/image830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0.png"/><Relationship Id="rId5" Type="http://schemas.openxmlformats.org/officeDocument/2006/relationships/image" Target="../media/image810.png"/><Relationship Id="rId10" Type="http://schemas.openxmlformats.org/officeDocument/2006/relationships/image" Target="../media/image86.png"/><Relationship Id="rId4" Type="http://schemas.openxmlformats.org/officeDocument/2006/relationships/image" Target="../media/image800.png"/><Relationship Id="rId9" Type="http://schemas.openxmlformats.org/officeDocument/2006/relationships/image" Target="../media/image8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0.png"/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0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C0FA4-A32F-3144-205C-CB4820D8A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8B22F94-3263-F349-8F41-3400962760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내적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4619FC95-F796-891F-FA82-E05B02660C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벡터 공간의 분석과 응용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3C0D95-FF80-96FC-00C6-32CC0AECCA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537512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D2F90-C45E-E4A5-6EE1-F94550AC8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02C6B-359C-D68F-AB7F-E1A195B35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/>
              <a:t>벡터의 내적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2290EF-1762-1104-669C-7722FDA2D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7.1.1 </a:t>
            </a:r>
            <a:r>
              <a:rPr lang="ko-KR" altLang="en-US" dirty="0"/>
              <a:t>내적의 성질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내적과 벡터의 크기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합성 벡터의 내적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41DEF3-4379-CCED-9788-3B526312CD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742037-6A8A-C161-CA0B-248BF47C86E4}"/>
                  </a:ext>
                </a:extLst>
              </p:cNvPr>
              <p:cNvSpPr txBox="1"/>
              <p:nvPr/>
            </p:nvSpPr>
            <p:spPr>
              <a:xfrm>
                <a:off x="755576" y="1340768"/>
                <a:ext cx="3043609" cy="10433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742037-6A8A-C161-CA0B-248BF47C8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340768"/>
                <a:ext cx="3043609" cy="1043363"/>
              </a:xfrm>
              <a:prstGeom prst="rect">
                <a:avLst/>
              </a:prstGeom>
              <a:blipFill>
                <a:blip r:embed="rId2"/>
                <a:stretch>
                  <a:fillRect l="-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5CB7CC-E88F-AC8E-5D94-5564FF93881F}"/>
                  </a:ext>
                </a:extLst>
              </p:cNvPr>
              <p:cNvSpPr txBox="1"/>
              <p:nvPr/>
            </p:nvSpPr>
            <p:spPr>
              <a:xfrm>
                <a:off x="827584" y="3500426"/>
                <a:ext cx="259228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28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5CB7CC-E88F-AC8E-5D94-5564FF938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500426"/>
                <a:ext cx="2592288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237548-8442-EEFB-0A52-A3688768E6B5}"/>
                  </a:ext>
                </a:extLst>
              </p:cNvPr>
              <p:cNvSpPr txBox="1"/>
              <p:nvPr/>
            </p:nvSpPr>
            <p:spPr>
              <a:xfrm>
                <a:off x="755576" y="4904804"/>
                <a:ext cx="655272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237548-8442-EEFB-0A52-A3688768E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904804"/>
                <a:ext cx="65527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92B6E7-C46C-2491-1AD9-9CBADACBD0C5}"/>
                  </a:ext>
                </a:extLst>
              </p:cNvPr>
              <p:cNvSpPr txBox="1"/>
              <p:nvPr/>
            </p:nvSpPr>
            <p:spPr>
              <a:xfrm>
                <a:off x="3419872" y="5481079"/>
                <a:ext cx="406566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92B6E7-C46C-2491-1AD9-9CBADACBD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5481079"/>
                <a:ext cx="406566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63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85F27-D9BE-79E0-C99F-301C6F981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1840F5-796A-D70F-2E7B-CDFAD446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7.1.2 </a:t>
            </a:r>
            <a:r>
              <a:rPr lang="ko-KR" altLang="en-US" dirty="0"/>
              <a:t>내적과 삼각함수의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66E2A8-815A-D8EB-BE5A-7725781E4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내적 유도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911CAA-607B-3CD7-D205-B3F22E91F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9D7C63-4318-72E6-5FE0-810AFBE357BC}"/>
                  </a:ext>
                </a:extLst>
              </p:cNvPr>
              <p:cNvSpPr txBox="1"/>
              <p:nvPr/>
            </p:nvSpPr>
            <p:spPr>
              <a:xfrm>
                <a:off x="971600" y="6032901"/>
                <a:ext cx="338437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 </m:t>
                          </m:r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ko-KR" sz="32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 </m:t>
                          </m:r>
                          <m:acc>
                            <m:accPr>
                              <m:chr m:val="⃗"/>
                              <m:ctrlPr>
                                <a:rPr lang="en-US" altLang="ko-KR" sz="32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3200" b="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ko-KR" alt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9D7C63-4318-72E6-5FE0-810AFBE35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6032901"/>
                <a:ext cx="338437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26">
                <a:extLst>
                  <a:ext uri="{FF2B5EF4-FFF2-40B4-BE49-F238E27FC236}">
                    <a16:creationId xmlns:a16="http://schemas.microsoft.com/office/drawing/2014/main" id="{4C0FF7D9-72FF-1EF4-B0C2-0C2058112E64}"/>
                  </a:ext>
                </a:extLst>
              </p:cNvPr>
              <p:cNvSpPr txBox="1"/>
              <p:nvPr/>
            </p:nvSpPr>
            <p:spPr bwMode="auto">
              <a:xfrm>
                <a:off x="7959629" y="704168"/>
                <a:ext cx="571577" cy="5658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Object 126">
                <a:extLst>
                  <a:ext uri="{FF2B5EF4-FFF2-40B4-BE49-F238E27FC236}">
                    <a16:creationId xmlns:a16="http://schemas.microsoft.com/office/drawing/2014/main" id="{4C0FF7D9-72FF-1EF4-B0C2-0C2058112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59629" y="704168"/>
                <a:ext cx="571577" cy="5658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27">
                <a:extLst>
                  <a:ext uri="{FF2B5EF4-FFF2-40B4-BE49-F238E27FC236}">
                    <a16:creationId xmlns:a16="http://schemas.microsoft.com/office/drawing/2014/main" id="{74846BFD-56E4-07B2-2CD8-93E714F1F887}"/>
                  </a:ext>
                </a:extLst>
              </p:cNvPr>
              <p:cNvSpPr txBox="1"/>
              <p:nvPr/>
            </p:nvSpPr>
            <p:spPr bwMode="auto">
              <a:xfrm>
                <a:off x="8565687" y="3195263"/>
                <a:ext cx="609202" cy="5685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1" name="Object 127">
                <a:extLst>
                  <a:ext uri="{FF2B5EF4-FFF2-40B4-BE49-F238E27FC236}">
                    <a16:creationId xmlns:a16="http://schemas.microsoft.com/office/drawing/2014/main" id="{74846BFD-56E4-07B2-2CD8-93E714F1F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65687" y="3195263"/>
                <a:ext cx="609202" cy="568555"/>
              </a:xfrm>
              <a:prstGeom prst="rect">
                <a:avLst/>
              </a:prstGeom>
              <a:blipFill>
                <a:blip r:embed="rId4"/>
                <a:stretch>
                  <a:fillRect t="-13978" r="-19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bject 124">
            <a:extLst>
              <a:ext uri="{FF2B5EF4-FFF2-40B4-BE49-F238E27FC236}">
                <a16:creationId xmlns:a16="http://schemas.microsoft.com/office/drawing/2014/main" id="{0274127B-D58D-D789-4B59-B02566D2EEA0}"/>
              </a:ext>
            </a:extLst>
          </p:cNvPr>
          <p:cNvSpPr txBox="1"/>
          <p:nvPr/>
        </p:nvSpPr>
        <p:spPr bwMode="auto">
          <a:xfrm>
            <a:off x="6586028" y="2480099"/>
            <a:ext cx="482735" cy="434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normAutofit lnSpcReduction="10000"/>
          </a:bodyPr>
          <a:lstStyle/>
          <a:p>
            <a:r>
              <a:rPr lang="en-US" altLang="ko-KR" i="1" dirty="0">
                <a:latin typeface="Consolas" panose="020B0609020204030204" pitchFamily="49" charset="0"/>
              </a:rPr>
              <a:t>θ</a:t>
            </a:r>
            <a:endParaRPr lang="ko-KR" altLang="en-US" i="1" dirty="0">
              <a:latin typeface="Consolas" panose="020B0609020204030204" pitchFamily="49" charset="0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2A1ABBA-3FFD-AC50-16D6-E7E0942B31F8}"/>
              </a:ext>
            </a:extLst>
          </p:cNvPr>
          <p:cNvGrpSpPr/>
          <p:nvPr/>
        </p:nvGrpSpPr>
        <p:grpSpPr>
          <a:xfrm>
            <a:off x="5131783" y="762214"/>
            <a:ext cx="3716924" cy="2812136"/>
            <a:chOff x="4052897" y="635307"/>
            <a:chExt cx="3716924" cy="2812136"/>
          </a:xfrm>
        </p:grpSpPr>
        <p:sp>
          <p:nvSpPr>
            <p:cNvPr id="11" name="Oval 92">
              <a:extLst>
                <a:ext uri="{FF2B5EF4-FFF2-40B4-BE49-F238E27FC236}">
                  <a16:creationId xmlns:a16="http://schemas.microsoft.com/office/drawing/2014/main" id="{6931D260-FE44-8733-91A0-4554E6FD9F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546201">
              <a:off x="7525771" y="2843632"/>
              <a:ext cx="244050" cy="24673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12" name="Oval 93">
              <a:extLst>
                <a:ext uri="{FF2B5EF4-FFF2-40B4-BE49-F238E27FC236}">
                  <a16:creationId xmlns:a16="http://schemas.microsoft.com/office/drawing/2014/main" id="{B5CF8D48-61C3-F25B-D97D-E69556C472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546201">
              <a:off x="6539456" y="635307"/>
              <a:ext cx="244050" cy="2440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13" name="Line 96">
              <a:extLst>
                <a:ext uri="{FF2B5EF4-FFF2-40B4-BE49-F238E27FC236}">
                  <a16:creationId xmlns:a16="http://schemas.microsoft.com/office/drawing/2014/main" id="{DAA4CE20-CBB5-AC36-5AD7-4F47250E9A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0546201" flipV="1">
              <a:off x="4052897" y="1228969"/>
              <a:ext cx="2796730" cy="137972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61711" tIns="30855" rIns="61711" bIns="30855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14" name="Line 97">
              <a:extLst>
                <a:ext uri="{FF2B5EF4-FFF2-40B4-BE49-F238E27FC236}">
                  <a16:creationId xmlns:a16="http://schemas.microsoft.com/office/drawing/2014/main" id="{87BB85B5-ABCA-3D49-2B33-55F2440C07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0546201">
              <a:off x="4395376" y="2519519"/>
              <a:ext cx="3041232" cy="92792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17" name="Line 100">
              <a:extLst>
                <a:ext uri="{FF2B5EF4-FFF2-40B4-BE49-F238E27FC236}">
                  <a16:creationId xmlns:a16="http://schemas.microsoft.com/office/drawing/2014/main" id="{4BDB09DB-3438-20E9-73EF-12690B0733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0546201">
              <a:off x="7016477" y="716467"/>
              <a:ext cx="233321" cy="2191081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19" name="Arc 104">
              <a:extLst>
                <a:ext uri="{FF2B5EF4-FFF2-40B4-BE49-F238E27FC236}">
                  <a16:creationId xmlns:a16="http://schemas.microsoft.com/office/drawing/2014/main" id="{7CE43447-00E6-61BE-8780-5EC7739E4402}"/>
                </a:ext>
              </a:extLst>
            </p:cNvPr>
            <p:cNvSpPr>
              <a:spLocks/>
            </p:cNvSpPr>
            <p:nvPr/>
          </p:nvSpPr>
          <p:spPr bwMode="auto">
            <a:xfrm rot="14745316" flipV="1">
              <a:off x="4946002" y="2453921"/>
              <a:ext cx="812605" cy="262822"/>
            </a:xfrm>
            <a:custGeom>
              <a:avLst/>
              <a:gdLst>
                <a:gd name="T0" fmla="*/ 0 w 40588"/>
                <a:gd name="T1" fmla="*/ 727464 h 21600"/>
                <a:gd name="T2" fmla="*/ 5700539 w 40588"/>
                <a:gd name="T3" fmla="*/ 746450 h 21600"/>
                <a:gd name="T4" fmla="*/ 2840854 w 40588"/>
                <a:gd name="T5" fmla="*/ 1120536 h 21600"/>
                <a:gd name="T6" fmla="*/ 0 60000 65536"/>
                <a:gd name="T7" fmla="*/ 0 60000 65536"/>
                <a:gd name="T8" fmla="*/ 0 60000 65536"/>
                <a:gd name="T9" fmla="*/ 0 w 40588"/>
                <a:gd name="T10" fmla="*/ 0 h 21600"/>
                <a:gd name="T11" fmla="*/ 40588 w 40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88" h="21600" fill="none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</a:path>
                <a:path w="40588" h="21600" stroke="0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  <a:lnTo>
                    <a:pt x="20227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25" name="Oval 91">
              <a:extLst>
                <a:ext uri="{FF2B5EF4-FFF2-40B4-BE49-F238E27FC236}">
                  <a16:creationId xmlns:a16="http://schemas.microsoft.com/office/drawing/2014/main" id="{3CA0D8DB-409F-101A-EEE8-7A3D8FC707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546201">
              <a:off x="4192348" y="2895881"/>
              <a:ext cx="244049" cy="24136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3FF5A87-99D1-E853-9133-EA243E9AB09B}"/>
                  </a:ext>
                </a:extLst>
              </p:cNvPr>
              <p:cNvSpPr txBox="1"/>
              <p:nvPr/>
            </p:nvSpPr>
            <p:spPr>
              <a:xfrm>
                <a:off x="787676" y="2545229"/>
                <a:ext cx="335638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3FF5A87-99D1-E853-9133-EA243E9AB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76" y="2545229"/>
                <a:ext cx="3356381" cy="369332"/>
              </a:xfrm>
              <a:prstGeom prst="rect">
                <a:avLst/>
              </a:prstGeom>
              <a:blipFill>
                <a:blip r:embed="rId5"/>
                <a:stretch>
                  <a:fillRect l="-1996" t="-35000" r="-5989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22AC0E9-FEB7-5FBA-3269-AAB71F38F135}"/>
                  </a:ext>
                </a:extLst>
              </p:cNvPr>
              <p:cNvSpPr txBox="1"/>
              <p:nvPr/>
            </p:nvSpPr>
            <p:spPr>
              <a:xfrm>
                <a:off x="794370" y="2926105"/>
                <a:ext cx="343560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22AC0E9-FEB7-5FBA-3269-AAB71F38F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70" y="2926105"/>
                <a:ext cx="3435609" cy="369332"/>
              </a:xfrm>
              <a:prstGeom prst="rect">
                <a:avLst/>
              </a:prstGeom>
              <a:blipFill>
                <a:blip r:embed="rId6"/>
                <a:stretch>
                  <a:fillRect l="-1950" t="-32787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978F56F-A1DF-D824-D8E6-11D6963C27AF}"/>
                  </a:ext>
                </a:extLst>
              </p:cNvPr>
              <p:cNvSpPr txBox="1"/>
              <p:nvPr/>
            </p:nvSpPr>
            <p:spPr>
              <a:xfrm>
                <a:off x="337517" y="3573016"/>
                <a:ext cx="38690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800" b="0" i="1" smtClean="0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r>
                  <a:rPr lang="en-US" altLang="ko-KR" sz="28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ko-KR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en-US" altLang="ko-KR" sz="2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978F56F-A1DF-D824-D8E6-11D6963C2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17" y="3573016"/>
                <a:ext cx="3869029" cy="523220"/>
              </a:xfrm>
              <a:prstGeom prst="rect">
                <a:avLst/>
              </a:prstGeom>
              <a:blipFill>
                <a:blip r:embed="rId7"/>
                <a:stretch>
                  <a:fillRect t="-13953" b="-290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c 104">
            <a:extLst>
              <a:ext uri="{FF2B5EF4-FFF2-40B4-BE49-F238E27FC236}">
                <a16:creationId xmlns:a16="http://schemas.microsoft.com/office/drawing/2014/main" id="{D8D0B5F0-6A62-3385-5B6C-B44D59E417DA}"/>
              </a:ext>
            </a:extLst>
          </p:cNvPr>
          <p:cNvSpPr>
            <a:spLocks/>
          </p:cNvSpPr>
          <p:nvPr/>
        </p:nvSpPr>
        <p:spPr bwMode="auto">
          <a:xfrm rot="8167794" flipV="1">
            <a:off x="4902330" y="1714362"/>
            <a:ext cx="3122723" cy="401375"/>
          </a:xfrm>
          <a:custGeom>
            <a:avLst/>
            <a:gdLst>
              <a:gd name="T0" fmla="*/ 0 w 40588"/>
              <a:gd name="T1" fmla="*/ 727464 h 21600"/>
              <a:gd name="T2" fmla="*/ 5700539 w 40588"/>
              <a:gd name="T3" fmla="*/ 746450 h 21600"/>
              <a:gd name="T4" fmla="*/ 2840854 w 40588"/>
              <a:gd name="T5" fmla="*/ 1120536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126">
                <a:extLst>
                  <a:ext uri="{FF2B5EF4-FFF2-40B4-BE49-F238E27FC236}">
                    <a16:creationId xmlns:a16="http://schemas.microsoft.com/office/drawing/2014/main" id="{D8E872CF-EED2-73CA-0F08-549DBFB92D98}"/>
                  </a:ext>
                </a:extLst>
              </p:cNvPr>
              <p:cNvSpPr txBox="1"/>
              <p:nvPr/>
            </p:nvSpPr>
            <p:spPr bwMode="auto">
              <a:xfrm>
                <a:off x="6105581" y="1345491"/>
                <a:ext cx="429757" cy="5658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5" name="Object 126">
                <a:extLst>
                  <a:ext uri="{FF2B5EF4-FFF2-40B4-BE49-F238E27FC236}">
                    <a16:creationId xmlns:a16="http://schemas.microsoft.com/office/drawing/2014/main" id="{D8E872CF-EED2-73CA-0F08-549DBFB92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5581" y="1345491"/>
                <a:ext cx="429757" cy="5658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126">
                <a:extLst>
                  <a:ext uri="{FF2B5EF4-FFF2-40B4-BE49-F238E27FC236}">
                    <a16:creationId xmlns:a16="http://schemas.microsoft.com/office/drawing/2014/main" id="{95100237-385A-A26B-92A1-8FC4CFCAFF29}"/>
                  </a:ext>
                </a:extLst>
              </p:cNvPr>
              <p:cNvSpPr txBox="1"/>
              <p:nvPr/>
            </p:nvSpPr>
            <p:spPr bwMode="auto">
              <a:xfrm>
                <a:off x="7291214" y="3312321"/>
                <a:ext cx="429757" cy="5658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6" name="Object 126">
                <a:extLst>
                  <a:ext uri="{FF2B5EF4-FFF2-40B4-BE49-F238E27FC236}">
                    <a16:creationId xmlns:a16="http://schemas.microsoft.com/office/drawing/2014/main" id="{95100237-385A-A26B-92A1-8FC4CFCAF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91214" y="3312321"/>
                <a:ext cx="429757" cy="56587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Arc 102">
            <a:extLst>
              <a:ext uri="{FF2B5EF4-FFF2-40B4-BE49-F238E27FC236}">
                <a16:creationId xmlns:a16="http://schemas.microsoft.com/office/drawing/2014/main" id="{D0557747-CF37-4A1C-8D9A-8F24EA2E2B51}"/>
              </a:ext>
            </a:extLst>
          </p:cNvPr>
          <p:cNvSpPr>
            <a:spLocks/>
          </p:cNvSpPr>
          <p:nvPr/>
        </p:nvSpPr>
        <p:spPr bwMode="auto">
          <a:xfrm flipV="1">
            <a:off x="5405141" y="3062924"/>
            <a:ext cx="3301417" cy="371571"/>
          </a:xfrm>
          <a:custGeom>
            <a:avLst/>
            <a:gdLst>
              <a:gd name="T0" fmla="*/ 0 w 40588"/>
              <a:gd name="T1" fmla="*/ 8198858 h 21600"/>
              <a:gd name="T2" fmla="*/ 39045937 w 40588"/>
              <a:gd name="T3" fmla="*/ 8412851 h 21600"/>
              <a:gd name="T4" fmla="*/ 19458501 w 40588"/>
              <a:gd name="T5" fmla="*/ 12628922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126">
                <a:extLst>
                  <a:ext uri="{FF2B5EF4-FFF2-40B4-BE49-F238E27FC236}">
                    <a16:creationId xmlns:a16="http://schemas.microsoft.com/office/drawing/2014/main" id="{00D89DD8-8610-FC8F-F889-BC9B02BBE246}"/>
                  </a:ext>
                </a:extLst>
              </p:cNvPr>
              <p:cNvSpPr txBox="1"/>
              <p:nvPr/>
            </p:nvSpPr>
            <p:spPr bwMode="auto">
              <a:xfrm>
                <a:off x="8451818" y="1665322"/>
                <a:ext cx="429757" cy="5658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Object 126">
                <a:extLst>
                  <a:ext uri="{FF2B5EF4-FFF2-40B4-BE49-F238E27FC236}">
                    <a16:creationId xmlns:a16="http://schemas.microsoft.com/office/drawing/2014/main" id="{00D89DD8-8610-FC8F-F889-BC9B02BBE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51818" y="1665322"/>
                <a:ext cx="429757" cy="565874"/>
              </a:xfrm>
              <a:prstGeom prst="rect">
                <a:avLst/>
              </a:prstGeom>
              <a:blipFill>
                <a:blip r:embed="rId10"/>
                <a:stretch>
                  <a:fillRect l="-42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0C56198-CC41-1491-BE2F-F74A700B1F5C}"/>
                  </a:ext>
                </a:extLst>
              </p:cNvPr>
              <p:cNvSpPr txBox="1"/>
              <p:nvPr/>
            </p:nvSpPr>
            <p:spPr>
              <a:xfrm>
                <a:off x="329955" y="1342975"/>
                <a:ext cx="42123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𝑢𝑣</m:t>
                      </m:r>
                      <m:func>
                        <m:funcPr>
                          <m:ctrlPr>
                            <a:rPr lang="en-US" altLang="ko-KR" sz="2800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0C56198-CC41-1491-BE2F-F74A700B1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55" y="1342975"/>
                <a:ext cx="421239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5ECE5E9-7365-1D0C-D916-B8E383DCBE73}"/>
                  </a:ext>
                </a:extLst>
              </p:cNvPr>
              <p:cNvSpPr txBox="1"/>
              <p:nvPr/>
            </p:nvSpPr>
            <p:spPr>
              <a:xfrm>
                <a:off x="895581" y="4108287"/>
                <a:ext cx="281232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b="0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5ECE5E9-7365-1D0C-D916-B8E383DCB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81" y="4108287"/>
                <a:ext cx="2812323" cy="369332"/>
              </a:xfrm>
              <a:prstGeom prst="rect">
                <a:avLst/>
              </a:prstGeom>
              <a:blipFill>
                <a:blip r:embed="rId12"/>
                <a:stretch>
                  <a:fillRect l="-6725" t="-34426" r="-434" b="-426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D102CDF-17CD-DE7B-DA60-2F633FEAD10B}"/>
                  </a:ext>
                </a:extLst>
              </p:cNvPr>
              <p:cNvSpPr txBox="1"/>
              <p:nvPr/>
            </p:nvSpPr>
            <p:spPr>
              <a:xfrm>
                <a:off x="887591" y="4518379"/>
                <a:ext cx="324009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D102CDF-17CD-DE7B-DA60-2F633FEAD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591" y="4518379"/>
                <a:ext cx="3240093" cy="369332"/>
              </a:xfrm>
              <a:prstGeom prst="rect">
                <a:avLst/>
              </a:prstGeom>
              <a:blipFill>
                <a:blip r:embed="rId13"/>
                <a:stretch>
                  <a:fillRect l="-2072" t="-32787" r="-5838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B2CA352-185C-C5F5-3E20-B4436D5C0B8E}"/>
                  </a:ext>
                </a:extLst>
              </p:cNvPr>
              <p:cNvSpPr txBox="1"/>
              <p:nvPr/>
            </p:nvSpPr>
            <p:spPr>
              <a:xfrm>
                <a:off x="895580" y="4944070"/>
                <a:ext cx="281232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B2CA352-185C-C5F5-3E20-B4436D5C0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80" y="4944070"/>
                <a:ext cx="2812324" cy="369332"/>
              </a:xfrm>
              <a:prstGeom prst="rect">
                <a:avLst/>
              </a:prstGeom>
              <a:blipFill>
                <a:blip r:embed="rId14"/>
                <a:stretch>
                  <a:fillRect l="-2386" t="-32787" r="-8460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CC7B5E2-C293-C6EE-27BC-38F0AFE7B2C0}"/>
                  </a:ext>
                </a:extLst>
              </p:cNvPr>
              <p:cNvSpPr txBox="1"/>
              <p:nvPr/>
            </p:nvSpPr>
            <p:spPr>
              <a:xfrm>
                <a:off x="3525978" y="4878419"/>
                <a:ext cx="330141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𝑢𝑣</m:t>
                      </m:r>
                      <m:func>
                        <m:funcPr>
                          <m:ctrlPr>
                            <a:rPr lang="en-US" altLang="ko-KR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CC7B5E2-C293-C6EE-27BC-38F0AFE7B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978" y="4878419"/>
                <a:ext cx="3301417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85F6A87-E2CA-D761-EC28-37FADAB8C029}"/>
                  </a:ext>
                </a:extLst>
              </p:cNvPr>
              <p:cNvSpPr txBox="1"/>
              <p:nvPr/>
            </p:nvSpPr>
            <p:spPr>
              <a:xfrm>
                <a:off x="887591" y="5454483"/>
                <a:ext cx="51803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𝑢𝑣</m:t>
                    </m:r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85F6A87-E2CA-D761-EC28-37FADAB8C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591" y="5454483"/>
                <a:ext cx="5180340" cy="461665"/>
              </a:xfrm>
              <a:prstGeom prst="rect">
                <a:avLst/>
              </a:prstGeom>
              <a:blipFill>
                <a:blip r:embed="rId16"/>
                <a:stretch>
                  <a:fillRect t="-17333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8F4433B-3333-1CB4-2CD1-3C065D2F90EA}"/>
                  </a:ext>
                </a:extLst>
              </p:cNvPr>
              <p:cNvSpPr txBox="1"/>
              <p:nvPr/>
            </p:nvSpPr>
            <p:spPr>
              <a:xfrm>
                <a:off x="337517" y="2060132"/>
                <a:ext cx="286633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8F4433B-3333-1CB4-2CD1-3C065D2F9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17" y="2060132"/>
                <a:ext cx="2866332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08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A6891-4671-B558-3B04-B5B6011B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EC356-8D7D-8854-3DE3-16441467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7.1.3 </a:t>
            </a:r>
            <a:r>
              <a:rPr lang="ko-KR" altLang="en-US" dirty="0"/>
              <a:t>행렬의 곱셈을 내적으로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A27E99-FAFE-D693-82C4-B7FDA39E3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1F0D74-A750-2CAD-7874-B75B143109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3107B1-3AAC-01C2-464A-92B366FAC88B}"/>
                  </a:ext>
                </a:extLst>
              </p:cNvPr>
              <p:cNvSpPr txBox="1"/>
              <p:nvPr/>
            </p:nvSpPr>
            <p:spPr>
              <a:xfrm>
                <a:off x="179710" y="692696"/>
                <a:ext cx="3456186" cy="7046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𝑐𝑥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3107B1-3AAC-01C2-464A-92B366FAC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10" y="692696"/>
                <a:ext cx="3456186" cy="7046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DF557B-41F7-ABF6-B153-38DF43B90BFB}"/>
                  </a:ext>
                </a:extLst>
              </p:cNvPr>
              <p:cNvSpPr txBox="1"/>
              <p:nvPr/>
            </p:nvSpPr>
            <p:spPr>
              <a:xfrm>
                <a:off x="2123977" y="1521476"/>
                <a:ext cx="6624736" cy="7351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𝑐𝑥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DF557B-41F7-ABF6-B153-38DF43B90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977" y="1521476"/>
                <a:ext cx="6624736" cy="7351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3D686-1871-D487-F77A-BD9D9A978201}"/>
                  </a:ext>
                </a:extLst>
              </p:cNvPr>
              <p:cNvSpPr txBox="1"/>
              <p:nvPr/>
            </p:nvSpPr>
            <p:spPr>
              <a:xfrm>
                <a:off x="179710" y="2507133"/>
                <a:ext cx="5760442" cy="712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𝑏𝑔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𝑎𝑓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𝑏h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𝑐𝑒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𝑑𝑔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𝑐𝑓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𝑑h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3D686-1871-D487-F77A-BD9D9A978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10" y="2507133"/>
                <a:ext cx="5760442" cy="7128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23247F-D2A9-8EC7-AAD2-43BD1F0F7807}"/>
                  </a:ext>
                </a:extLst>
              </p:cNvPr>
              <p:cNvSpPr txBox="1"/>
              <p:nvPr/>
            </p:nvSpPr>
            <p:spPr>
              <a:xfrm>
                <a:off x="1187624" y="3285477"/>
                <a:ext cx="5182880" cy="830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23247F-D2A9-8EC7-AAD2-43BD1F0F7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285477"/>
                <a:ext cx="5182880" cy="8308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889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CFC1-0B41-C91F-1BBD-51DDB8B2C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0408BA-EC8B-04B3-8FF6-9042B3A0C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7.1.3 </a:t>
            </a:r>
            <a:r>
              <a:rPr lang="ko-KR" altLang="en-US" dirty="0"/>
              <a:t>행렬의 곱셈을 내적으로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656F87-7689-2FC1-C116-155D5E68A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직교 행렬</a:t>
            </a:r>
            <a:r>
              <a:rPr lang="en-US" altLang="ko-KR" dirty="0"/>
              <a:t>(Orthogonal</a:t>
            </a:r>
            <a:r>
              <a:rPr lang="ko-KR" altLang="en-US" dirty="0"/>
              <a:t> </a:t>
            </a:r>
            <a:r>
              <a:rPr lang="en-US" altLang="ko-KR" dirty="0"/>
              <a:t>Matrix) </a:t>
            </a:r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en-US" altLang="ko-KR" dirty="0"/>
              <a:t>Ex) </a:t>
            </a:r>
            <a:r>
              <a:rPr lang="ko-KR" altLang="en-US" dirty="0"/>
              <a:t>회전 행렬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18CCF2-6D2C-7043-B3D1-E61D1F37B1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105CBB-1040-8AD5-B313-D172E8FDE353}"/>
                  </a:ext>
                </a:extLst>
              </p:cNvPr>
              <p:cNvSpPr txBox="1"/>
              <p:nvPr/>
            </p:nvSpPr>
            <p:spPr>
              <a:xfrm>
                <a:off x="574292" y="2684903"/>
                <a:ext cx="5760442" cy="6955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105CBB-1040-8AD5-B313-D172E8FDE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292" y="2684903"/>
                <a:ext cx="5760442" cy="6955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B81221-EC09-E57E-60CF-F892B92C4419}"/>
                  </a:ext>
                </a:extLst>
              </p:cNvPr>
              <p:cNvSpPr txBox="1"/>
              <p:nvPr/>
            </p:nvSpPr>
            <p:spPr>
              <a:xfrm>
                <a:off x="3569191" y="3551928"/>
                <a:ext cx="5182880" cy="830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B81221-EC09-E57E-60CF-F892B92C4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191" y="3551928"/>
                <a:ext cx="5182880" cy="8308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14585B-CAF5-5878-7F7F-10CF1A73B0DB}"/>
                  </a:ext>
                </a:extLst>
              </p:cNvPr>
              <p:cNvSpPr txBox="1"/>
              <p:nvPr/>
            </p:nvSpPr>
            <p:spPr>
              <a:xfrm>
                <a:off x="1007802" y="1778467"/>
                <a:ext cx="3564198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ko-KR" sz="3200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14585B-CAF5-5878-7F7F-10CF1A73B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802" y="1778467"/>
                <a:ext cx="356419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EDDC38-109B-72ED-EC69-E2813ECD0903}"/>
                  </a:ext>
                </a:extLst>
              </p:cNvPr>
              <p:cNvSpPr txBox="1"/>
              <p:nvPr/>
            </p:nvSpPr>
            <p:spPr>
              <a:xfrm>
                <a:off x="1007802" y="3627187"/>
                <a:ext cx="4572000" cy="7157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EDDC38-109B-72ED-EC69-E2813ECD0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802" y="3627187"/>
                <a:ext cx="4572000" cy="7157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27E12D-9612-6B69-C092-89DCEC68B4D2}"/>
                  </a:ext>
                </a:extLst>
              </p:cNvPr>
              <p:cNvSpPr txBox="1"/>
              <p:nvPr/>
            </p:nvSpPr>
            <p:spPr>
              <a:xfrm>
                <a:off x="574292" y="5656752"/>
                <a:ext cx="8174421" cy="10393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altLang="ko-KR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27E12D-9612-6B69-C092-89DCEC68B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292" y="5656752"/>
                <a:ext cx="8174421" cy="10393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60720B-4A5B-1AC8-809D-88911B4C6C33}"/>
                  </a:ext>
                </a:extLst>
              </p:cNvPr>
              <p:cNvSpPr txBox="1"/>
              <p:nvPr/>
            </p:nvSpPr>
            <p:spPr>
              <a:xfrm>
                <a:off x="574292" y="4834663"/>
                <a:ext cx="3942494" cy="619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60720B-4A5B-1AC8-809D-88911B4C6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292" y="4834663"/>
                <a:ext cx="3942494" cy="6190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5055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6AB61-77D9-B699-BB6C-CC8531500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B8E714-2A17-8320-B56F-948E83F7B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7.1.3 </a:t>
            </a:r>
            <a:r>
              <a:rPr lang="ko-KR" altLang="en-US" dirty="0"/>
              <a:t>행렬의 곱셈을 내적으로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038A4A-A76F-3F75-AF86-6DFC13BEC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강체 변환 </a:t>
            </a:r>
            <a:r>
              <a:rPr lang="en-US" altLang="ko-KR" dirty="0"/>
              <a:t>(Rigid Transformation) </a:t>
            </a:r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ko-KR" altLang="en-US" dirty="0"/>
              <a:t>변환된 기저벡터의 크기는 </a:t>
            </a:r>
            <a:r>
              <a:rPr lang="en-US" altLang="ko-KR" dirty="0"/>
              <a:t>1</a:t>
            </a:r>
          </a:p>
          <a:p>
            <a:pPr lvl="1"/>
            <a:r>
              <a:rPr lang="ko-KR" altLang="en-US" dirty="0"/>
              <a:t>모든 기저 벡터는 서로 직교</a:t>
            </a:r>
            <a:endParaRPr lang="en-US" altLang="ko-KR" dirty="0"/>
          </a:p>
          <a:p>
            <a:pPr lvl="1"/>
            <a:r>
              <a:rPr lang="ko-KR" altLang="en-US" dirty="0"/>
              <a:t>행렬식 값 </a:t>
            </a:r>
            <a:r>
              <a:rPr lang="en-US" altLang="ko-KR" dirty="0"/>
              <a:t>= 1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Ex) </a:t>
            </a:r>
            <a:r>
              <a:rPr lang="ko-KR" altLang="en-US" dirty="0"/>
              <a:t>회전 벡터의 행렬식 </a:t>
            </a:r>
            <a:r>
              <a:rPr lang="en-US" altLang="ko-KR" dirty="0"/>
              <a:t>det(R) = cos</a:t>
            </a:r>
            <a:r>
              <a:rPr lang="en-US" altLang="ko-KR" baseline="30000" dirty="0"/>
              <a:t>2</a:t>
            </a:r>
            <a:r>
              <a:rPr lang="en-US" altLang="ko-KR" dirty="0"/>
              <a:t>θ + sin</a:t>
            </a:r>
            <a:r>
              <a:rPr lang="en-US" altLang="ko-KR" baseline="30000" dirty="0"/>
              <a:t>2</a:t>
            </a:r>
            <a:r>
              <a:rPr lang="en-US" altLang="ko-KR" dirty="0"/>
              <a:t>θ = 1</a:t>
            </a:r>
          </a:p>
          <a:p>
            <a:pPr lvl="1"/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E63840-3096-1165-2AAC-3B01CACB92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266494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4E31D-7140-387E-B25E-BA02882BF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04621C-EE51-E418-459B-7CA1ABCD2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7.2.1 </a:t>
            </a:r>
            <a:r>
              <a:rPr lang="ko-KR" altLang="en-US" dirty="0"/>
              <a:t>앞뒤 판별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700ABDD-4B6F-0AE5-731A-86C8A58C4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앞뒤 판별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내적 결과 양수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두 벡터는 같은 방향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내적 결과 음수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두 벡터는 다른 방향</a:t>
                </a:r>
                <a:endParaRPr lang="en-US" altLang="ko-KR" dirty="0"/>
              </a:p>
              <a:p>
                <a:pPr lvl="2"/>
                <a:endParaRPr lang="en-US" altLang="ko-KR" dirty="0"/>
              </a:p>
              <a:p>
                <a:r>
                  <a:rPr lang="ko-KR" altLang="en-US" dirty="0"/>
                  <a:t>시선 벡터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altLang="ko-KR" dirty="0"/>
                  <a:t>, Object </a:t>
                </a:r>
                <a:r>
                  <a:rPr lang="ko-KR" altLang="en-US" dirty="0"/>
                  <a:t>벡터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altLang="ko-KR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ko-KR" altLang="en-US" dirty="0"/>
                  <a:t> 결과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양수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캐릭터 앞에 목표물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음수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캐릭터 뒤에 목표물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0: </a:t>
                </a:r>
                <a:r>
                  <a:rPr lang="ko-KR" altLang="en-US" dirty="0"/>
                  <a:t>캐릭터 바로 옆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좌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우</a:t>
                </a:r>
                <a:r>
                  <a:rPr lang="en-US" altLang="ko-KR" dirty="0"/>
                  <a:t>)</a:t>
                </a:r>
                <a:endParaRPr lang="ko-KR" altLang="en-US" dirty="0"/>
              </a:p>
              <a:p>
                <a:endParaRPr lang="ko-KR" altLang="en-US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700ABDD-4B6F-0AE5-731A-86C8A58C4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AA36A1-26B2-7735-79A2-CABD1EB55C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49C622D-6D66-DC8C-F1C5-42401E70CE8C}"/>
              </a:ext>
            </a:extLst>
          </p:cNvPr>
          <p:cNvGrpSpPr/>
          <p:nvPr/>
        </p:nvGrpSpPr>
        <p:grpSpPr>
          <a:xfrm>
            <a:off x="5833653" y="1851648"/>
            <a:ext cx="2590850" cy="2738039"/>
            <a:chOff x="5833653" y="1851648"/>
            <a:chExt cx="2590850" cy="27380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126">
                  <a:extLst>
                    <a:ext uri="{FF2B5EF4-FFF2-40B4-BE49-F238E27FC236}">
                      <a16:creationId xmlns:a16="http://schemas.microsoft.com/office/drawing/2014/main" id="{D93DF84A-9BF7-12E4-4291-9A423EEAE6B2}"/>
                    </a:ext>
                  </a:extLst>
                </p:cNvPr>
                <p:cNvSpPr txBox="1"/>
                <p:nvPr/>
              </p:nvSpPr>
              <p:spPr bwMode="auto">
                <a:xfrm>
                  <a:off x="6084168" y="2420888"/>
                  <a:ext cx="571577" cy="5658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3" name="Object 126">
                  <a:extLst>
                    <a:ext uri="{FF2B5EF4-FFF2-40B4-BE49-F238E27FC236}">
                      <a16:creationId xmlns:a16="http://schemas.microsoft.com/office/drawing/2014/main" id="{D93DF84A-9BF7-12E4-4291-9A423EEAE6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84168" y="2420888"/>
                  <a:ext cx="571577" cy="56587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127">
                  <a:extLst>
                    <a:ext uri="{FF2B5EF4-FFF2-40B4-BE49-F238E27FC236}">
                      <a16:creationId xmlns:a16="http://schemas.microsoft.com/office/drawing/2014/main" id="{7243D300-C20E-B4CE-67C1-C45706C943F1}"/>
                    </a:ext>
                  </a:extLst>
                </p:cNvPr>
                <p:cNvSpPr txBox="1"/>
                <p:nvPr/>
              </p:nvSpPr>
              <p:spPr bwMode="auto">
                <a:xfrm>
                  <a:off x="7565967" y="2688031"/>
                  <a:ext cx="609202" cy="5685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ko-KR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4" name="Object 127">
                  <a:extLst>
                    <a:ext uri="{FF2B5EF4-FFF2-40B4-BE49-F238E27FC236}">
                      <a16:creationId xmlns:a16="http://schemas.microsoft.com/office/drawing/2014/main" id="{7243D300-C20E-B4CE-67C1-C45706C94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65967" y="2688031"/>
                  <a:ext cx="609202" cy="568555"/>
                </a:xfrm>
                <a:prstGeom prst="rect">
                  <a:avLst/>
                </a:prstGeom>
                <a:blipFill>
                  <a:blip r:embed="rId4"/>
                  <a:stretch>
                    <a:fillRect t="-13978" r="-19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Line 96">
              <a:extLst>
                <a:ext uri="{FF2B5EF4-FFF2-40B4-BE49-F238E27FC236}">
                  <a16:creationId xmlns:a16="http://schemas.microsoft.com/office/drawing/2014/main" id="{B2B4F76B-2E96-A932-5E30-939A50A3768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146201">
              <a:off x="6588665" y="2389360"/>
              <a:ext cx="1187616" cy="17878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61711" tIns="30855" rIns="61711" bIns="30855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0" name="Line 97">
              <a:extLst>
                <a:ext uri="{FF2B5EF4-FFF2-40B4-BE49-F238E27FC236}">
                  <a16:creationId xmlns:a16="http://schemas.microsoft.com/office/drawing/2014/main" id="{72C010AA-D765-D724-1C47-E47D290EB24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146201">
              <a:off x="5734406" y="3053168"/>
              <a:ext cx="1550521" cy="46773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61711" tIns="30855" rIns="61711" bIns="30855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2" name="Arc 104">
              <a:extLst>
                <a:ext uri="{FF2B5EF4-FFF2-40B4-BE49-F238E27FC236}">
                  <a16:creationId xmlns:a16="http://schemas.microsoft.com/office/drawing/2014/main" id="{F26D51E3-4349-F1BA-400F-CDD4C722355C}"/>
                </a:ext>
              </a:extLst>
            </p:cNvPr>
            <p:cNvSpPr>
              <a:spLocks/>
            </p:cNvSpPr>
            <p:nvPr/>
          </p:nvSpPr>
          <p:spPr bwMode="auto">
            <a:xfrm rot="12106332" flipV="1">
              <a:off x="6494857" y="3155961"/>
              <a:ext cx="625411" cy="201250"/>
            </a:xfrm>
            <a:custGeom>
              <a:avLst/>
              <a:gdLst>
                <a:gd name="T0" fmla="*/ 0 w 40588"/>
                <a:gd name="T1" fmla="*/ 727464 h 21600"/>
                <a:gd name="T2" fmla="*/ 5700539 w 40588"/>
                <a:gd name="T3" fmla="*/ 746450 h 21600"/>
                <a:gd name="T4" fmla="*/ 2840854 w 40588"/>
                <a:gd name="T5" fmla="*/ 1120536 h 21600"/>
                <a:gd name="T6" fmla="*/ 0 60000 65536"/>
                <a:gd name="T7" fmla="*/ 0 60000 65536"/>
                <a:gd name="T8" fmla="*/ 0 60000 65536"/>
                <a:gd name="T9" fmla="*/ 0 w 40588"/>
                <a:gd name="T10" fmla="*/ 0 h 21600"/>
                <a:gd name="T11" fmla="*/ 40588 w 40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88" h="21600" fill="none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</a:path>
                <a:path w="40588" h="21600" stroke="0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  <a:lnTo>
                    <a:pt x="20227" y="2160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23" name="Oval 91">
              <a:extLst>
                <a:ext uri="{FF2B5EF4-FFF2-40B4-BE49-F238E27FC236}">
                  <a16:creationId xmlns:a16="http://schemas.microsoft.com/office/drawing/2014/main" id="{05C82585-7ABA-D150-C46D-AD689A644E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146201">
              <a:off x="6401566" y="4033831"/>
              <a:ext cx="203077" cy="200846"/>
            </a:xfrm>
            <a:prstGeom prst="ellipse">
              <a:avLst/>
            </a:prstGeom>
            <a:solidFill>
              <a:srgbClr val="008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bject 127">
                  <a:extLst>
                    <a:ext uri="{FF2B5EF4-FFF2-40B4-BE49-F238E27FC236}">
                      <a16:creationId xmlns:a16="http://schemas.microsoft.com/office/drawing/2014/main" id="{E8112E3D-4586-A52D-27D0-7D20045DBB79}"/>
                    </a:ext>
                  </a:extLst>
                </p:cNvPr>
                <p:cNvSpPr txBox="1"/>
                <p:nvPr/>
              </p:nvSpPr>
              <p:spPr bwMode="auto">
                <a:xfrm>
                  <a:off x="6655745" y="3083438"/>
                  <a:ext cx="379234" cy="5685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9" name="Object 127">
                  <a:extLst>
                    <a:ext uri="{FF2B5EF4-FFF2-40B4-BE49-F238E27FC236}">
                      <a16:creationId xmlns:a16="http://schemas.microsoft.com/office/drawing/2014/main" id="{E8112E3D-4586-A52D-27D0-7D20045DBB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55745" y="3083438"/>
                  <a:ext cx="379234" cy="568555"/>
                </a:xfrm>
                <a:prstGeom prst="rect">
                  <a:avLst/>
                </a:prstGeom>
                <a:blipFill>
                  <a:blip r:embed="rId5"/>
                  <a:stretch>
                    <a:fillRect l="-483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Oval 91">
              <a:extLst>
                <a:ext uri="{FF2B5EF4-FFF2-40B4-BE49-F238E27FC236}">
                  <a16:creationId xmlns:a16="http://schemas.microsoft.com/office/drawing/2014/main" id="{0332369E-481D-A08C-9BA6-29BEA4EABDD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146201">
              <a:off x="7861339" y="2247666"/>
              <a:ext cx="203077" cy="200846"/>
            </a:xfrm>
            <a:prstGeom prst="ellipse">
              <a:avLst/>
            </a:prstGeom>
            <a:solidFill>
              <a:srgbClr val="00B0F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FD7E788-5394-1CE1-D04E-3E226F0C26C6}"/>
                </a:ext>
              </a:extLst>
            </p:cNvPr>
            <p:cNvSpPr txBox="1"/>
            <p:nvPr/>
          </p:nvSpPr>
          <p:spPr>
            <a:xfrm>
              <a:off x="7499509" y="1851648"/>
              <a:ext cx="9249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Object</a:t>
              </a:r>
              <a:endParaRPr lang="ko-KR" altLang="en-US" sz="18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1AF21F6-68DD-82A1-67FD-F5E684D4B37D}"/>
                </a:ext>
              </a:extLst>
            </p:cNvPr>
            <p:cNvSpPr txBox="1"/>
            <p:nvPr/>
          </p:nvSpPr>
          <p:spPr>
            <a:xfrm>
              <a:off x="5833653" y="4220355"/>
              <a:ext cx="12685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Character</a:t>
              </a:r>
              <a:endParaRPr lang="ko-KR" altLang="en-US" sz="18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8966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ADB16-FE03-7D7D-F7FC-1AD35827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c 104">
            <a:extLst>
              <a:ext uri="{FF2B5EF4-FFF2-40B4-BE49-F238E27FC236}">
                <a16:creationId xmlns:a16="http://schemas.microsoft.com/office/drawing/2014/main" id="{8A518175-592F-7AC4-AAD5-3E8870635DEB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6490870" y="3406490"/>
            <a:ext cx="708746" cy="339876"/>
          </a:xfrm>
          <a:custGeom>
            <a:avLst/>
            <a:gdLst>
              <a:gd name="T0" fmla="*/ 0 w 40588"/>
              <a:gd name="T1" fmla="*/ 727464 h 21600"/>
              <a:gd name="T2" fmla="*/ 5700539 w 40588"/>
              <a:gd name="T3" fmla="*/ 746450 h 21600"/>
              <a:gd name="T4" fmla="*/ 2840854 w 40588"/>
              <a:gd name="T5" fmla="*/ 1120536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25400">
            <a:solidFill>
              <a:schemeClr val="accent5">
                <a:lumMod val="75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52A6801-1702-13F0-EB6B-B4E3C380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7.2.2 </a:t>
            </a:r>
            <a:r>
              <a:rPr lang="ko-KR" altLang="en-US" dirty="0"/>
              <a:t>시야 판별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5221AEA-50F2-BF98-4069-480C16428C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시야 각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num>
                              <m:den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ko-KR" altLang="en-US" dirty="0"/>
                  <a:t> 미리 계산</a:t>
                </a:r>
                <a:endParaRPr lang="en-US" altLang="ko-KR" dirty="0"/>
              </a:p>
              <a:p>
                <a:endParaRPr lang="en-US" altLang="ko-KR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altLang="ko-KR" dirty="0"/>
                  <a:t>,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altLang="ko-KR" dirty="0"/>
                  <a:t> Normalize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목표물이 시야 안</a:t>
                </a:r>
                <a:endParaRPr lang="en-US" altLang="ko-KR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altLang="ko-KR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ko-KR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num>
                              <m:den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목표물이 시야 밖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altLang="ko-KR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unc>
                      <m:funcPr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num>
                              <m:den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ko-KR" dirty="0"/>
              </a:p>
              <a:p>
                <a:endParaRPr lang="ko-KR" altLang="en-US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5221AEA-50F2-BF98-4069-480C16428C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9FB212-21F8-ABD2-07E2-66650DC06F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26">
                <a:extLst>
                  <a:ext uri="{FF2B5EF4-FFF2-40B4-BE49-F238E27FC236}">
                    <a16:creationId xmlns:a16="http://schemas.microsoft.com/office/drawing/2014/main" id="{FEBE699D-A503-521B-E89D-805269337DB8}"/>
                  </a:ext>
                </a:extLst>
              </p:cNvPr>
              <p:cNvSpPr txBox="1"/>
              <p:nvPr/>
            </p:nvSpPr>
            <p:spPr bwMode="auto">
              <a:xfrm>
                <a:off x="6383489" y="2702744"/>
                <a:ext cx="378724" cy="4750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Object 126">
                <a:extLst>
                  <a:ext uri="{FF2B5EF4-FFF2-40B4-BE49-F238E27FC236}">
                    <a16:creationId xmlns:a16="http://schemas.microsoft.com/office/drawing/2014/main" id="{FEBE699D-A503-521B-E89D-805269337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83489" y="2702744"/>
                <a:ext cx="378724" cy="4750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27">
                <a:extLst>
                  <a:ext uri="{FF2B5EF4-FFF2-40B4-BE49-F238E27FC236}">
                    <a16:creationId xmlns:a16="http://schemas.microsoft.com/office/drawing/2014/main" id="{47D442BD-5325-F056-6E30-6677818749A3}"/>
                  </a:ext>
                </a:extLst>
              </p:cNvPr>
              <p:cNvSpPr txBox="1"/>
              <p:nvPr/>
            </p:nvSpPr>
            <p:spPr bwMode="auto">
              <a:xfrm>
                <a:off x="7896232" y="2609199"/>
                <a:ext cx="609202" cy="5685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Object 127">
                <a:extLst>
                  <a:ext uri="{FF2B5EF4-FFF2-40B4-BE49-F238E27FC236}">
                    <a16:creationId xmlns:a16="http://schemas.microsoft.com/office/drawing/2014/main" id="{47D442BD-5325-F056-6E30-667781874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96232" y="2609199"/>
                <a:ext cx="609202" cy="568555"/>
              </a:xfrm>
              <a:prstGeom prst="rect">
                <a:avLst/>
              </a:prstGeom>
              <a:blipFill>
                <a:blip r:embed="rId4"/>
                <a:stretch>
                  <a:fillRect t="-13978" r="-19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Line 96">
            <a:extLst>
              <a:ext uri="{FF2B5EF4-FFF2-40B4-BE49-F238E27FC236}">
                <a16:creationId xmlns:a16="http://schemas.microsoft.com/office/drawing/2014/main" id="{AB367F93-1C9E-175B-E749-6A655AD15798}"/>
              </a:ext>
            </a:extLst>
          </p:cNvPr>
          <p:cNvSpPr>
            <a:spLocks noChangeShapeType="1"/>
          </p:cNvSpPr>
          <p:nvPr/>
        </p:nvSpPr>
        <p:spPr bwMode="auto">
          <a:xfrm rot="15146201">
            <a:off x="6548073" y="2602383"/>
            <a:ext cx="1344722" cy="122442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20" name="Line 97">
            <a:extLst>
              <a:ext uri="{FF2B5EF4-FFF2-40B4-BE49-F238E27FC236}">
                <a16:creationId xmlns:a16="http://schemas.microsoft.com/office/drawing/2014/main" id="{8D38B24A-60C6-076A-14F5-B56AC9EA4DE5}"/>
              </a:ext>
            </a:extLst>
          </p:cNvPr>
          <p:cNvSpPr>
            <a:spLocks noChangeShapeType="1"/>
          </p:cNvSpPr>
          <p:nvPr/>
        </p:nvSpPr>
        <p:spPr bwMode="auto">
          <a:xfrm rot="15146201">
            <a:off x="6256654" y="3240461"/>
            <a:ext cx="1140737" cy="34411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22" name="Arc 104">
            <a:extLst>
              <a:ext uri="{FF2B5EF4-FFF2-40B4-BE49-F238E27FC236}">
                <a16:creationId xmlns:a16="http://schemas.microsoft.com/office/drawing/2014/main" id="{E3A64CB8-DCFC-6472-7FCA-AE7D6F176D17}"/>
              </a:ext>
            </a:extLst>
          </p:cNvPr>
          <p:cNvSpPr>
            <a:spLocks/>
          </p:cNvSpPr>
          <p:nvPr/>
        </p:nvSpPr>
        <p:spPr bwMode="auto">
          <a:xfrm rot="11324265" flipV="1">
            <a:off x="6815015" y="3129668"/>
            <a:ext cx="379249" cy="99425"/>
          </a:xfrm>
          <a:custGeom>
            <a:avLst/>
            <a:gdLst>
              <a:gd name="T0" fmla="*/ 0 w 40588"/>
              <a:gd name="T1" fmla="*/ 727464 h 21600"/>
              <a:gd name="T2" fmla="*/ 5700539 w 40588"/>
              <a:gd name="T3" fmla="*/ 746450 h 21600"/>
              <a:gd name="T4" fmla="*/ 2840854 w 40588"/>
              <a:gd name="T5" fmla="*/ 1120536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2540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127">
                <a:extLst>
                  <a:ext uri="{FF2B5EF4-FFF2-40B4-BE49-F238E27FC236}">
                    <a16:creationId xmlns:a16="http://schemas.microsoft.com/office/drawing/2014/main" id="{96EA7E2B-C064-ED0D-6D7F-5B0E290FF496}"/>
                  </a:ext>
                </a:extLst>
              </p:cNvPr>
              <p:cNvSpPr txBox="1"/>
              <p:nvPr/>
            </p:nvSpPr>
            <p:spPr bwMode="auto">
              <a:xfrm>
                <a:off x="6911947" y="2718036"/>
                <a:ext cx="379234" cy="5685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Object 127">
                <a:extLst>
                  <a:ext uri="{FF2B5EF4-FFF2-40B4-BE49-F238E27FC236}">
                    <a16:creationId xmlns:a16="http://schemas.microsoft.com/office/drawing/2014/main" id="{96EA7E2B-C064-ED0D-6D7F-5B0E290FF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11947" y="2718036"/>
                <a:ext cx="379234" cy="568555"/>
              </a:xfrm>
              <a:prstGeom prst="rect">
                <a:avLst/>
              </a:prstGeom>
              <a:blipFill>
                <a:blip r:embed="rId5"/>
                <a:stretch>
                  <a:fillRect l="-48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91">
            <a:extLst>
              <a:ext uri="{FF2B5EF4-FFF2-40B4-BE49-F238E27FC236}">
                <a16:creationId xmlns:a16="http://schemas.microsoft.com/office/drawing/2014/main" id="{08D65A68-D5F6-64ED-937C-EA9E7D528F73}"/>
              </a:ext>
            </a:extLst>
          </p:cNvPr>
          <p:cNvSpPr>
            <a:spLocks noChangeArrowheads="1"/>
          </p:cNvSpPr>
          <p:nvPr/>
        </p:nvSpPr>
        <p:spPr bwMode="auto">
          <a:xfrm rot="15146201">
            <a:off x="7550392" y="2183117"/>
            <a:ext cx="203077" cy="20084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B5D63D-FABD-7B52-FD90-6F6030DAEC74}"/>
              </a:ext>
            </a:extLst>
          </p:cNvPr>
          <p:cNvSpPr txBox="1"/>
          <p:nvPr/>
        </p:nvSpPr>
        <p:spPr>
          <a:xfrm>
            <a:off x="7021566" y="1826115"/>
            <a:ext cx="924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Object</a:t>
            </a:r>
            <a:endParaRPr lang="ko-KR" altLang="en-US" sz="1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F70DBC-CF49-664B-EDE3-00ACE2462CAF}"/>
              </a:ext>
            </a:extLst>
          </p:cNvPr>
          <p:cNvSpPr txBox="1"/>
          <p:nvPr/>
        </p:nvSpPr>
        <p:spPr>
          <a:xfrm>
            <a:off x="6960538" y="3855686"/>
            <a:ext cx="1268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Character</a:t>
            </a:r>
            <a:endParaRPr lang="ko-KR" altLang="en-US" sz="1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Line 96">
            <a:extLst>
              <a:ext uri="{FF2B5EF4-FFF2-40B4-BE49-F238E27FC236}">
                <a16:creationId xmlns:a16="http://schemas.microsoft.com/office/drawing/2014/main" id="{E452BCC8-8B42-20B5-5913-64EEA3D3FF51}"/>
              </a:ext>
            </a:extLst>
          </p:cNvPr>
          <p:cNvSpPr>
            <a:spLocks noChangeShapeType="1"/>
          </p:cNvSpPr>
          <p:nvPr/>
        </p:nvSpPr>
        <p:spPr bwMode="auto">
          <a:xfrm rot="15146201" flipV="1">
            <a:off x="5128783" y="2770858"/>
            <a:ext cx="1946134" cy="914669"/>
          </a:xfrm>
          <a:prstGeom prst="line">
            <a:avLst/>
          </a:prstGeom>
          <a:noFill/>
          <a:ln w="25400">
            <a:solidFill>
              <a:schemeClr val="accent5">
                <a:lumMod val="75000"/>
              </a:schemeClr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6" name="Arc 104">
            <a:extLst>
              <a:ext uri="{FF2B5EF4-FFF2-40B4-BE49-F238E27FC236}">
                <a16:creationId xmlns:a16="http://schemas.microsoft.com/office/drawing/2014/main" id="{A96B7E3B-B8FE-6D8F-F6B5-6CDBE4CE4ABC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5372201" y="1340769"/>
            <a:ext cx="2909435" cy="1619389"/>
          </a:xfrm>
          <a:custGeom>
            <a:avLst/>
            <a:gdLst>
              <a:gd name="T0" fmla="*/ 0 w 40588"/>
              <a:gd name="T1" fmla="*/ 727464 h 21600"/>
              <a:gd name="T2" fmla="*/ 5700539 w 40588"/>
              <a:gd name="T3" fmla="*/ 746450 h 21600"/>
              <a:gd name="T4" fmla="*/ 2840854 w 40588"/>
              <a:gd name="T5" fmla="*/ 1120536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2540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p:sp>
        <p:nvSpPr>
          <p:cNvPr id="7" name="Line 96">
            <a:extLst>
              <a:ext uri="{FF2B5EF4-FFF2-40B4-BE49-F238E27FC236}">
                <a16:creationId xmlns:a16="http://schemas.microsoft.com/office/drawing/2014/main" id="{1CF6DB9F-C6C6-A82F-1720-959D79024310}"/>
              </a:ext>
            </a:extLst>
          </p:cNvPr>
          <p:cNvSpPr>
            <a:spLocks noChangeShapeType="1"/>
          </p:cNvSpPr>
          <p:nvPr/>
        </p:nvSpPr>
        <p:spPr bwMode="auto">
          <a:xfrm rot="15146201">
            <a:off x="7000266" y="2290756"/>
            <a:ext cx="1112604" cy="1873197"/>
          </a:xfrm>
          <a:prstGeom prst="line">
            <a:avLst/>
          </a:prstGeom>
          <a:noFill/>
          <a:ln w="25400">
            <a:solidFill>
              <a:schemeClr val="accent5">
                <a:lumMod val="75000"/>
              </a:schemeClr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23" name="Oval 91">
            <a:extLst>
              <a:ext uri="{FF2B5EF4-FFF2-40B4-BE49-F238E27FC236}">
                <a16:creationId xmlns:a16="http://schemas.microsoft.com/office/drawing/2014/main" id="{CF6B2F36-1403-45F9-D96C-C15DFD2200A1}"/>
              </a:ext>
            </a:extLst>
          </p:cNvPr>
          <p:cNvSpPr>
            <a:spLocks noChangeArrowheads="1"/>
          </p:cNvSpPr>
          <p:nvPr/>
        </p:nvSpPr>
        <p:spPr bwMode="auto">
          <a:xfrm rot="16022816">
            <a:off x="6736223" y="3933324"/>
            <a:ext cx="203077" cy="200846"/>
          </a:xfrm>
          <a:prstGeom prst="ellipse">
            <a:avLst/>
          </a:prstGeom>
          <a:solidFill>
            <a:srgbClr val="008000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27">
                <a:extLst>
                  <a:ext uri="{FF2B5EF4-FFF2-40B4-BE49-F238E27FC236}">
                    <a16:creationId xmlns:a16="http://schemas.microsoft.com/office/drawing/2014/main" id="{6F184074-5408-E43C-13D5-C11C93B017E6}"/>
                  </a:ext>
                </a:extLst>
              </p:cNvPr>
              <p:cNvSpPr txBox="1"/>
              <p:nvPr/>
            </p:nvSpPr>
            <p:spPr bwMode="auto">
              <a:xfrm>
                <a:off x="5985719" y="3396883"/>
                <a:ext cx="424702" cy="8951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en-US" altLang="ko-KR" b="0" i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Object 127">
                <a:extLst>
                  <a:ext uri="{FF2B5EF4-FFF2-40B4-BE49-F238E27FC236}">
                    <a16:creationId xmlns:a16="http://schemas.microsoft.com/office/drawing/2014/main" id="{6F184074-5408-E43C-13D5-C11C93B01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5719" y="3396883"/>
                <a:ext cx="424702" cy="8951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814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A6D63-5D40-E50E-1B51-21E234D6F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0B5B5-9A5B-EAEC-38EC-FC593DD7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7-1 </a:t>
            </a:r>
            <a:r>
              <a:rPr lang="ko-KR" altLang="en-US" dirty="0"/>
              <a:t>내적을 활용한 목표물 감지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71D3C7-0B74-D5F3-4996-9494F3819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14CC54-01ED-778A-CF66-E3F2C13E51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086BF2-60B0-1477-5421-97C19285F3D3}"/>
              </a:ext>
            </a:extLst>
          </p:cNvPr>
          <p:cNvSpPr txBox="1"/>
          <p:nvPr/>
        </p:nvSpPr>
        <p:spPr>
          <a:xfrm>
            <a:off x="251520" y="703349"/>
            <a:ext cx="7851154" cy="73866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시야각의 코사인 값은 최초 </a:t>
            </a:r>
            <a:r>
              <a:rPr lang="en-US" altLang="ko-KR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회만 계산해 보관한다</a:t>
            </a:r>
            <a:r>
              <a:rPr lang="en-US" altLang="ko-KR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endParaRPr lang="ko-KR" altLang="en-US" sz="14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fovAngle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60.f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halfFovCos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cosf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Deg2Rad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fovAngle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*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0.5f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B59F7D-648B-767F-90DA-77B388B8790B}"/>
              </a:ext>
            </a:extLst>
          </p:cNvPr>
          <p:cNvSpPr txBox="1"/>
          <p:nvPr/>
        </p:nvSpPr>
        <p:spPr>
          <a:xfrm>
            <a:off x="259612" y="1499740"/>
            <a:ext cx="7843062" cy="310854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UnitY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(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targetPosition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-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playerPosition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).</a:t>
            </a:r>
            <a:r>
              <a:rPr lang="en-US" altLang="ko-KR" sz="14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GetNormalize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물체의 최종 상태 설정</a:t>
            </a:r>
            <a:endParaRPr lang="ko-KR" altLang="en-US" sz="14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Dot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&gt;= 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halfFovCos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playerColor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LinearColor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Red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targetColor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LinearColor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Red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}</a:t>
            </a:r>
          </a:p>
          <a:p>
            <a:pPr>
              <a:buNone/>
            </a:pPr>
            <a:r>
              <a:rPr lang="en-US" altLang="ko-KR" sz="14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else</a:t>
            </a:r>
            <a:endParaRPr lang="en-US" altLang="ko-KR" sz="14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playerColor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LinearColor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Gray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targetColor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LinearColor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Blue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}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E2F93F1-9755-A2D5-1A08-2AC7F4CACF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07" r="12206"/>
          <a:stretch>
            <a:fillRect/>
          </a:stretch>
        </p:blipFill>
        <p:spPr>
          <a:xfrm>
            <a:off x="4071200" y="4404354"/>
            <a:ext cx="2259796" cy="2107673"/>
          </a:xfrm>
          <a:prstGeom prst="rect">
            <a:avLst/>
          </a:prstGeom>
          <a:ln w="25400">
            <a:solidFill>
              <a:schemeClr val="bg1">
                <a:lumMod val="75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B224913-6B22-5696-A58B-1D72C2996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802" y="4401054"/>
            <a:ext cx="2410934" cy="2107672"/>
          </a:xfrm>
          <a:prstGeom prst="rect">
            <a:avLst/>
          </a:prstGeom>
          <a:ln w="2540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0610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B6A44-482C-C219-4BC7-48FA9FF91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5">
            <a:extLst>
              <a:ext uri="{FF2B5EF4-FFF2-40B4-BE49-F238E27FC236}">
                <a16:creationId xmlns:a16="http://schemas.microsoft.com/office/drawing/2014/main" id="{915CB023-0CAF-15C9-F521-2F0D09755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8" t="22697" r="25702" b="11076"/>
          <a:stretch>
            <a:fillRect/>
          </a:stretch>
        </p:blipFill>
        <p:spPr bwMode="auto">
          <a:xfrm>
            <a:off x="5561072" y="3550686"/>
            <a:ext cx="3584575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9367CE8-7938-587D-39E4-27F3D2058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 </a:t>
            </a:r>
            <a:r>
              <a:rPr lang="ko-KR" altLang="en-US" dirty="0"/>
              <a:t>조명 효과의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B91FB3-8856-7325-B1B1-B609268AA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err="1"/>
              <a:t>램버트</a:t>
            </a:r>
            <a:r>
              <a:rPr lang="ko-KR" altLang="en-US" sz="2400" dirty="0"/>
              <a:t> 반사</a:t>
            </a:r>
            <a:r>
              <a:rPr lang="en-US" altLang="ko-KR" sz="2400" dirty="0"/>
              <a:t>(Lambertian Reflection) </a:t>
            </a:r>
            <a:r>
              <a:rPr lang="ko-KR" altLang="en-US" sz="2400" dirty="0"/>
              <a:t>모델</a:t>
            </a:r>
            <a:endParaRPr lang="en-US" altLang="ko-KR" sz="2400" dirty="0"/>
          </a:p>
          <a:p>
            <a:pPr lvl="1" eaLnBrk="1" hangingPunct="1">
              <a:lnSpc>
                <a:spcPct val="90000"/>
              </a:lnSpc>
            </a:pPr>
            <a:r>
              <a:rPr lang="ko-KR" altLang="en-US" sz="2000" dirty="0"/>
              <a:t>반사 세기 </a:t>
            </a:r>
            <a:r>
              <a:rPr lang="en-US" altLang="ko-KR" sz="2000" dirty="0"/>
              <a:t>= Dot(</a:t>
            </a:r>
            <a:r>
              <a:rPr lang="ko-KR" altLang="en-US" sz="2000" dirty="0"/>
              <a:t>정점의 법선</a:t>
            </a:r>
            <a:r>
              <a:rPr lang="en-US" altLang="ko-KR" sz="2000" dirty="0"/>
              <a:t>(N), </a:t>
            </a:r>
            <a:r>
              <a:rPr lang="ko-KR" altLang="en-US" sz="2000" dirty="0"/>
              <a:t>빛의 방향</a:t>
            </a:r>
            <a:r>
              <a:rPr lang="en-US" altLang="ko-KR" sz="2000" dirty="0"/>
              <a:t>(L))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 dirty="0"/>
              <a:t>내적의 범위가 </a:t>
            </a:r>
            <a:r>
              <a:rPr lang="en-US" altLang="ko-KR" sz="2000" dirty="0"/>
              <a:t>[-1, 1] </a:t>
            </a:r>
            <a:r>
              <a:rPr lang="ko-KR" altLang="en-US" sz="2000" dirty="0"/>
              <a:t>이므로 반사 세기 범위를  </a:t>
            </a:r>
            <a:r>
              <a:rPr lang="en-US" altLang="ko-KR" sz="2000" dirty="0"/>
              <a:t>[0,1]</a:t>
            </a:r>
            <a:r>
              <a:rPr lang="ko-KR" altLang="en-US" sz="2000" dirty="0"/>
              <a:t>로 변경</a:t>
            </a:r>
            <a:endParaRPr lang="en-US" altLang="ko-KR" sz="2000" dirty="0"/>
          </a:p>
          <a:p>
            <a:pPr lvl="1" eaLnBrk="1" hangingPunct="1">
              <a:lnSpc>
                <a:spcPct val="90000"/>
              </a:lnSpc>
            </a:pPr>
            <a:r>
              <a:rPr lang="ko-KR" altLang="en-US" sz="2000" dirty="0"/>
              <a:t>반사 세기 </a:t>
            </a:r>
            <a:r>
              <a:rPr lang="en-US" altLang="ko-KR" sz="2000" dirty="0"/>
              <a:t>= (1+ Dot( N, L))/2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07A078-CFA2-5CD3-80E5-48B00B025D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209A28-8A46-FE16-B8CD-76346D892266}"/>
              </a:ext>
            </a:extLst>
          </p:cNvPr>
          <p:cNvGrpSpPr/>
          <p:nvPr/>
        </p:nvGrpSpPr>
        <p:grpSpPr>
          <a:xfrm>
            <a:off x="539750" y="2815806"/>
            <a:ext cx="4750755" cy="3997744"/>
            <a:chOff x="2363385" y="2528004"/>
            <a:chExt cx="4750755" cy="3997744"/>
          </a:xfrm>
        </p:grpSpPr>
        <p:sp>
          <p:nvSpPr>
            <p:cNvPr id="6" name="Line 12">
              <a:extLst>
                <a:ext uri="{FF2B5EF4-FFF2-40B4-BE49-F238E27FC236}">
                  <a16:creationId xmlns:a16="http://schemas.microsoft.com/office/drawing/2014/main" id="{7874DC8C-A637-E995-695E-4FEF8F14E6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00000" flipH="1" flipV="1">
              <a:off x="4248602" y="3302223"/>
              <a:ext cx="796940" cy="1489031"/>
            </a:xfrm>
            <a:prstGeom prst="line">
              <a:avLst/>
            </a:prstGeom>
            <a:noFill/>
            <a:ln w="76200">
              <a:solidFill>
                <a:srgbClr val="339966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/>
            <a:lstStyle/>
            <a:p>
              <a:endParaRPr lang="ko-KR" altLang="en-US"/>
            </a:p>
          </p:txBody>
        </p:sp>
        <p:sp>
          <p:nvSpPr>
            <p:cNvPr id="7" name="Line 13">
              <a:extLst>
                <a:ext uri="{FF2B5EF4-FFF2-40B4-BE49-F238E27FC236}">
                  <a16:creationId xmlns:a16="http://schemas.microsoft.com/office/drawing/2014/main" id="{CD07B853-3B15-D478-28F2-A2208A1352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00000" flipV="1">
              <a:off x="3098144" y="3912359"/>
              <a:ext cx="3654522" cy="1924368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/>
            <a:lstStyle/>
            <a:p>
              <a:endParaRPr lang="ko-KR" altLang="en-US"/>
            </a:p>
          </p:txBody>
        </p:sp>
        <p:sp>
          <p:nvSpPr>
            <p:cNvPr id="8" name="AutoShape 14">
              <a:extLst>
                <a:ext uri="{FF2B5EF4-FFF2-40B4-BE49-F238E27FC236}">
                  <a16:creationId xmlns:a16="http://schemas.microsoft.com/office/drawing/2014/main" id="{8B2299F7-7049-6916-8766-553C983BC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4119" y="2528004"/>
              <a:ext cx="778045" cy="777984"/>
            </a:xfrm>
            <a:prstGeom prst="su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9" name="Line 15">
              <a:extLst>
                <a:ext uri="{FF2B5EF4-FFF2-40B4-BE49-F238E27FC236}">
                  <a16:creationId xmlns:a16="http://schemas.microsoft.com/office/drawing/2014/main" id="{3E0BD072-5E21-2777-2BFA-5E61D84F35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00000" flipV="1">
              <a:off x="5114196" y="3205308"/>
              <a:ext cx="718547" cy="1800805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/>
            <a:lstStyle/>
            <a:p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10">
                  <a:extLst>
                    <a:ext uri="{FF2B5EF4-FFF2-40B4-BE49-F238E27FC236}">
                      <a16:creationId xmlns:a16="http://schemas.microsoft.com/office/drawing/2014/main" id="{4C19C7D2-6AD6-52D1-3AE8-B64B1EFF389D}"/>
                    </a:ext>
                  </a:extLst>
                </p:cNvPr>
                <p:cNvSpPr txBox="1"/>
                <p:nvPr/>
              </p:nvSpPr>
              <p:spPr bwMode="auto">
                <a:xfrm>
                  <a:off x="4235058" y="4075981"/>
                  <a:ext cx="308930" cy="39585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" name="Object 10">
                  <a:extLst>
                    <a:ext uri="{FF2B5EF4-FFF2-40B4-BE49-F238E27FC236}">
                      <a16:creationId xmlns:a16="http://schemas.microsoft.com/office/drawing/2014/main" id="{4C19C7D2-6AD6-52D1-3AE8-B64B1EFF38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35058" y="4075981"/>
                  <a:ext cx="308930" cy="395857"/>
                </a:xfrm>
                <a:prstGeom prst="rect">
                  <a:avLst/>
                </a:prstGeom>
                <a:blipFill>
                  <a:blip r:embed="rId3"/>
                  <a:stretch>
                    <a:fillRect t="-1538" r="-20000" b="-615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16">
                  <a:extLst>
                    <a:ext uri="{FF2B5EF4-FFF2-40B4-BE49-F238E27FC236}">
                      <a16:creationId xmlns:a16="http://schemas.microsoft.com/office/drawing/2014/main" id="{95C76E90-6014-8A94-9E82-0E3F5984E3C6}"/>
                    </a:ext>
                  </a:extLst>
                </p:cNvPr>
                <p:cNvSpPr txBox="1"/>
                <p:nvPr/>
              </p:nvSpPr>
              <p:spPr bwMode="auto">
                <a:xfrm>
                  <a:off x="5802261" y="3637775"/>
                  <a:ext cx="336390" cy="4507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1" name="Object 16">
                  <a:extLst>
                    <a:ext uri="{FF2B5EF4-FFF2-40B4-BE49-F238E27FC236}">
                      <a16:creationId xmlns:a16="http://schemas.microsoft.com/office/drawing/2014/main" id="{95C76E90-6014-8A94-9E82-0E3F5984E3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02261" y="3637775"/>
                  <a:ext cx="336390" cy="45077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 Box 17">
              <a:extLst>
                <a:ext uri="{FF2B5EF4-FFF2-40B4-BE49-F238E27FC236}">
                  <a16:creationId xmlns:a16="http://schemas.microsoft.com/office/drawing/2014/main" id="{B9030529-9A82-DB47-4354-4007B44FC07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539744" y="4076329"/>
              <a:ext cx="1574396" cy="327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ko-KR" altLang="en-US" sz="1600" b="1" dirty="0">
                  <a:solidFill>
                    <a:srgbClr val="000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광선 방향 벡터</a:t>
              </a:r>
              <a:endPara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13" name="Text Box 18">
              <a:extLst>
                <a:ext uri="{FF2B5EF4-FFF2-40B4-BE49-F238E27FC236}">
                  <a16:creationId xmlns:a16="http://schemas.microsoft.com/office/drawing/2014/main" id="{B36B2E3E-F915-CDBF-6AD3-436A5EBBCE2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50837" y="4474084"/>
              <a:ext cx="1361578" cy="270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r"/>
              <a:r>
                <a:rPr lang="ko-KR" altLang="en-US" sz="1600" b="1" dirty="0">
                  <a:solidFill>
                    <a:srgbClr val="000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정정 법선 벡터</a:t>
              </a:r>
              <a:endPara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19">
                  <a:extLst>
                    <a:ext uri="{FF2B5EF4-FFF2-40B4-BE49-F238E27FC236}">
                      <a16:creationId xmlns:a16="http://schemas.microsoft.com/office/drawing/2014/main" id="{AFDBE1D8-1C69-12D3-E312-042AD223E310}"/>
                    </a:ext>
                  </a:extLst>
                </p:cNvPr>
                <p:cNvSpPr txBox="1"/>
                <p:nvPr/>
              </p:nvSpPr>
              <p:spPr bwMode="auto">
                <a:xfrm>
                  <a:off x="2472684" y="3191417"/>
                  <a:ext cx="1800001" cy="5381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ko-KR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ko-KR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 = </m:t>
                        </m:r>
                        <m:acc>
                          <m:accPr>
                            <m:chr m:val="̂"/>
                            <m:ctrlPr>
                              <a:rPr lang="ko-KR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a:rPr lang="ko-KR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̂"/>
                            <m:ctrlPr>
                              <a:rPr lang="ko-KR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4" name="Object 19">
                  <a:extLst>
                    <a:ext uri="{FF2B5EF4-FFF2-40B4-BE49-F238E27FC236}">
                      <a16:creationId xmlns:a16="http://schemas.microsoft.com/office/drawing/2014/main" id="{AFDBE1D8-1C69-12D3-E312-042AD223E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72684" y="3191417"/>
                  <a:ext cx="1800001" cy="5381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 Box 20">
              <a:extLst>
                <a:ext uri="{FF2B5EF4-FFF2-40B4-BE49-F238E27FC236}">
                  <a16:creationId xmlns:a16="http://schemas.microsoft.com/office/drawing/2014/main" id="{98AF56BA-3BE6-A36A-3823-D7655BD85B2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99089" y="5033572"/>
              <a:ext cx="686510" cy="327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ko-KR" altLang="en-US" sz="1600" b="1" dirty="0">
                  <a:solidFill>
                    <a:srgbClr val="000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정점</a:t>
              </a:r>
              <a:endPara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16" name="Arc 11">
              <a:extLst>
                <a:ext uri="{FF2B5EF4-FFF2-40B4-BE49-F238E27FC236}">
                  <a16:creationId xmlns:a16="http://schemas.microsoft.com/office/drawing/2014/main" id="{CDA7682C-750C-8FC6-C42C-EA5538B56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746" y="4761554"/>
              <a:ext cx="4084735" cy="1764194"/>
            </a:xfrm>
            <a:custGeom>
              <a:avLst/>
              <a:gdLst>
                <a:gd name="G0" fmla="+- 19530 0 0"/>
                <a:gd name="G1" fmla="+- 21600 0 0"/>
                <a:gd name="G2" fmla="+- 21600 0 0"/>
                <a:gd name="T0" fmla="*/ 0 w 23906"/>
                <a:gd name="T1" fmla="*/ 12373 h 21600"/>
                <a:gd name="T2" fmla="*/ 23906 w 23906"/>
                <a:gd name="T3" fmla="*/ 448 h 21600"/>
                <a:gd name="T4" fmla="*/ 19530 w 23906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06" h="21600" fill="none" extrusionOk="0">
                  <a:moveTo>
                    <a:pt x="-1" y="12372"/>
                  </a:moveTo>
                  <a:cubicBezTo>
                    <a:pt x="3569" y="4818"/>
                    <a:pt x="11174" y="0"/>
                    <a:pt x="19530" y="0"/>
                  </a:cubicBezTo>
                  <a:cubicBezTo>
                    <a:pt x="21000" y="0"/>
                    <a:pt x="22466" y="150"/>
                    <a:pt x="23906" y="447"/>
                  </a:cubicBezTo>
                </a:path>
                <a:path w="23906" h="21600" stroke="0" extrusionOk="0">
                  <a:moveTo>
                    <a:pt x="-1" y="12372"/>
                  </a:moveTo>
                  <a:cubicBezTo>
                    <a:pt x="3569" y="4818"/>
                    <a:pt x="11174" y="0"/>
                    <a:pt x="19530" y="0"/>
                  </a:cubicBezTo>
                  <a:cubicBezTo>
                    <a:pt x="21000" y="0"/>
                    <a:pt x="22466" y="150"/>
                    <a:pt x="23906" y="447"/>
                  </a:cubicBezTo>
                  <a:lnTo>
                    <a:pt x="19530" y="21600"/>
                  </a:lnTo>
                  <a:close/>
                </a:path>
              </a:pathLst>
            </a:custGeom>
            <a:noFill/>
            <a:ln w="762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endParaRPr lang="ko-KR" altLang="en-US" dirty="0"/>
            </a:p>
          </p:txBody>
        </p:sp>
        <p:sp>
          <p:nvSpPr>
            <p:cNvPr id="17" name="Text Box 25">
              <a:extLst>
                <a:ext uri="{FF2B5EF4-FFF2-40B4-BE49-F238E27FC236}">
                  <a16:creationId xmlns:a16="http://schemas.microsoft.com/office/drawing/2014/main" id="{C7159A5C-94DD-8A91-643C-F378F211E03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63385" y="2992878"/>
              <a:ext cx="1361578" cy="270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r"/>
              <a:r>
                <a:rPr lang="ko-KR" altLang="en-US" sz="1600" b="1" dirty="0">
                  <a:solidFill>
                    <a:srgbClr val="0000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반사 세기</a:t>
              </a:r>
              <a:endPara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7776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EBEFD-88E6-7B6F-F610-9F3374A07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0A201-67AF-98EF-775C-3B8C8334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7-2 </a:t>
            </a:r>
            <a:r>
              <a:rPr lang="ko-KR" altLang="en-US" dirty="0"/>
              <a:t>내적을 활용한 조명 모델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1AD5D5-545C-34CC-E3C2-41E989C6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9087A5-2AFF-29B5-C394-AA9FFE2EB6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CB75A2-71DD-BF9D-ECA6-B4DC35E50C72}"/>
              </a:ext>
            </a:extLst>
          </p:cNvPr>
          <p:cNvSpPr txBox="1"/>
          <p:nvPr/>
        </p:nvSpPr>
        <p:spPr>
          <a:xfrm>
            <a:off x="191841" y="788918"/>
            <a:ext cx="6359682" cy="830997"/>
          </a:xfrm>
          <a:prstGeom prst="rect">
            <a:avLst/>
          </a:prstGeom>
          <a:noFill/>
          <a:ln w="25400">
            <a:solidFill>
              <a:schemeClr val="bg2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-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circlePosition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).</a:t>
            </a:r>
            <a:r>
              <a:rPr lang="en-US" altLang="ko-KR" sz="16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GetNormalize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l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(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lightPosition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-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).</a:t>
            </a:r>
            <a:r>
              <a:rPr lang="en-US" altLang="ko-KR" sz="16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GetNormalize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shading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Math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Clamp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Dot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l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),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BE72906-6B14-EA32-C0D1-771417256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682" y="2657367"/>
            <a:ext cx="3888618" cy="249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4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DF0F9-07E3-A577-F7D2-AE104C930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BAC374-50E3-F42F-71B4-C10F51BED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 </a:t>
            </a:r>
            <a:r>
              <a:rPr lang="ko-KR" altLang="en-US" dirty="0"/>
              <a:t>투영 벡터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96E0F-60FF-B61E-C0DD-14E20EC21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D6C514-3D27-EC11-F220-2F60F7E244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281F8C3-3135-C406-7302-F7376D083495}"/>
              </a:ext>
            </a:extLst>
          </p:cNvPr>
          <p:cNvGrpSpPr/>
          <p:nvPr/>
        </p:nvGrpSpPr>
        <p:grpSpPr>
          <a:xfrm>
            <a:off x="4234042" y="1223046"/>
            <a:ext cx="4464972" cy="2814838"/>
            <a:chOff x="3043527" y="1577650"/>
            <a:chExt cx="4464972" cy="28148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bject 126">
                  <a:extLst>
                    <a:ext uri="{FF2B5EF4-FFF2-40B4-BE49-F238E27FC236}">
                      <a16:creationId xmlns:a16="http://schemas.microsoft.com/office/drawing/2014/main" id="{52DF2F43-BF4D-A84F-AE16-64499F22A0BF}"/>
                    </a:ext>
                  </a:extLst>
                </p:cNvPr>
                <p:cNvSpPr txBox="1"/>
                <p:nvPr/>
              </p:nvSpPr>
              <p:spPr bwMode="auto">
                <a:xfrm>
                  <a:off x="5276859" y="1577650"/>
                  <a:ext cx="571577" cy="5658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5" name="Object 126">
                  <a:extLst>
                    <a:ext uri="{FF2B5EF4-FFF2-40B4-BE49-F238E27FC236}">
                      <a16:creationId xmlns:a16="http://schemas.microsoft.com/office/drawing/2014/main" id="{52DF2F43-BF4D-A84F-AE16-64499F22A0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76859" y="1577650"/>
                  <a:ext cx="571577" cy="56587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bject 127">
                  <a:extLst>
                    <a:ext uri="{FF2B5EF4-FFF2-40B4-BE49-F238E27FC236}">
                      <a16:creationId xmlns:a16="http://schemas.microsoft.com/office/drawing/2014/main" id="{D1AFC04A-D85C-04B1-4B88-3B1F0363C6EE}"/>
                    </a:ext>
                  </a:extLst>
                </p:cNvPr>
                <p:cNvSpPr txBox="1"/>
                <p:nvPr/>
              </p:nvSpPr>
              <p:spPr bwMode="auto">
                <a:xfrm>
                  <a:off x="6899297" y="3328781"/>
                  <a:ext cx="609202" cy="5685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ko-KR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6" name="Object 127">
                  <a:extLst>
                    <a:ext uri="{FF2B5EF4-FFF2-40B4-BE49-F238E27FC236}">
                      <a16:creationId xmlns:a16="http://schemas.microsoft.com/office/drawing/2014/main" id="{D1AFC04A-D85C-04B1-4B88-3B1F0363C6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99297" y="3328781"/>
                  <a:ext cx="609202" cy="568555"/>
                </a:xfrm>
                <a:prstGeom prst="rect">
                  <a:avLst/>
                </a:prstGeom>
                <a:blipFill>
                  <a:blip r:embed="rId3"/>
                  <a:stretch>
                    <a:fillRect t="-13978" r="-19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96">
              <a:extLst>
                <a:ext uri="{FF2B5EF4-FFF2-40B4-BE49-F238E27FC236}">
                  <a16:creationId xmlns:a16="http://schemas.microsoft.com/office/drawing/2014/main" id="{A0FF5A5B-C478-1E19-161C-562C583A0B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0546201" flipV="1">
              <a:off x="3043527" y="2088037"/>
              <a:ext cx="3366746" cy="1239830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round/>
              <a:headEnd type="oval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61711" tIns="30855" rIns="61711" bIns="30855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14" name="Arc 104">
              <a:extLst>
                <a:ext uri="{FF2B5EF4-FFF2-40B4-BE49-F238E27FC236}">
                  <a16:creationId xmlns:a16="http://schemas.microsoft.com/office/drawing/2014/main" id="{98BAC865-28ED-EB00-FE3F-0DB6DAB288F0}"/>
                </a:ext>
              </a:extLst>
            </p:cNvPr>
            <p:cNvSpPr>
              <a:spLocks/>
            </p:cNvSpPr>
            <p:nvPr/>
          </p:nvSpPr>
          <p:spPr bwMode="auto">
            <a:xfrm rot="14745316" flipV="1">
              <a:off x="3972129" y="3314401"/>
              <a:ext cx="677383" cy="262822"/>
            </a:xfrm>
            <a:custGeom>
              <a:avLst/>
              <a:gdLst>
                <a:gd name="T0" fmla="*/ 0 w 40588"/>
                <a:gd name="T1" fmla="*/ 727464 h 21600"/>
                <a:gd name="T2" fmla="*/ 5700539 w 40588"/>
                <a:gd name="T3" fmla="*/ 746450 h 21600"/>
                <a:gd name="T4" fmla="*/ 2840854 w 40588"/>
                <a:gd name="T5" fmla="*/ 1120536 h 21600"/>
                <a:gd name="T6" fmla="*/ 0 60000 65536"/>
                <a:gd name="T7" fmla="*/ 0 60000 65536"/>
                <a:gd name="T8" fmla="*/ 0 60000 65536"/>
                <a:gd name="T9" fmla="*/ 0 w 40588"/>
                <a:gd name="T10" fmla="*/ 0 h 21600"/>
                <a:gd name="T11" fmla="*/ 40588 w 40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88" h="21600" fill="none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</a:path>
                <a:path w="40588" h="21600" stroke="0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  <a:lnTo>
                    <a:pt x="20227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F16757DB-BA17-102B-AB1A-F24731677CDF}"/>
                </a:ext>
              </a:extLst>
            </p:cNvPr>
            <p:cNvCxnSpPr/>
            <p:nvPr/>
          </p:nvCxnSpPr>
          <p:spPr bwMode="auto">
            <a:xfrm flipV="1">
              <a:off x="3324766" y="3790204"/>
              <a:ext cx="4055546" cy="16740"/>
            </a:xfrm>
            <a:prstGeom prst="straightConnector1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127">
                  <a:extLst>
                    <a:ext uri="{FF2B5EF4-FFF2-40B4-BE49-F238E27FC236}">
                      <a16:creationId xmlns:a16="http://schemas.microsoft.com/office/drawing/2014/main" id="{CEAE159E-7A06-47C2-38B3-E44899877772}"/>
                    </a:ext>
                  </a:extLst>
                </p:cNvPr>
                <p:cNvSpPr txBox="1"/>
                <p:nvPr/>
              </p:nvSpPr>
              <p:spPr bwMode="auto">
                <a:xfrm>
                  <a:off x="4443976" y="3086955"/>
                  <a:ext cx="379234" cy="5685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8" name="Object 127">
                  <a:extLst>
                    <a:ext uri="{FF2B5EF4-FFF2-40B4-BE49-F238E27FC236}">
                      <a16:creationId xmlns:a16="http://schemas.microsoft.com/office/drawing/2014/main" id="{CEAE159E-7A06-47C2-38B3-E44899877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43976" y="3086955"/>
                  <a:ext cx="379234" cy="568555"/>
                </a:xfrm>
                <a:prstGeom prst="rect">
                  <a:avLst/>
                </a:prstGeom>
                <a:blipFill>
                  <a:blip r:embed="rId4"/>
                  <a:stretch>
                    <a:fillRect l="-317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Line 96">
              <a:extLst>
                <a:ext uri="{FF2B5EF4-FFF2-40B4-BE49-F238E27FC236}">
                  <a16:creationId xmlns:a16="http://schemas.microsoft.com/office/drawing/2014/main" id="{0A947B16-DF4B-4306-18E6-C23FC1C50B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0546201" flipH="1">
              <a:off x="5857833" y="1683703"/>
              <a:ext cx="628061" cy="2053445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prstDash val="sysDot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61711" tIns="30855" rIns="61711" bIns="30855">
              <a:spAutoFit/>
            </a:bodyPr>
            <a:lstStyle/>
            <a:p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bject 127">
                  <a:extLst>
                    <a:ext uri="{FF2B5EF4-FFF2-40B4-BE49-F238E27FC236}">
                      <a16:creationId xmlns:a16="http://schemas.microsoft.com/office/drawing/2014/main" id="{9D363A5D-D313-F66F-1735-FE873071FC32}"/>
                    </a:ext>
                  </a:extLst>
                </p:cNvPr>
                <p:cNvSpPr txBox="1"/>
                <p:nvPr/>
              </p:nvSpPr>
              <p:spPr bwMode="auto">
                <a:xfrm>
                  <a:off x="5163229" y="3823933"/>
                  <a:ext cx="609202" cy="5685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acc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1" name="Object 127">
                  <a:extLst>
                    <a:ext uri="{FF2B5EF4-FFF2-40B4-BE49-F238E27FC236}">
                      <a16:creationId xmlns:a16="http://schemas.microsoft.com/office/drawing/2014/main" id="{9D363A5D-D313-F66F-1735-FE873071FC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63229" y="3823933"/>
                  <a:ext cx="609202" cy="56855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C4DA3075-42FD-9C51-380F-E56F727CA62C}"/>
                </a:ext>
              </a:extLst>
            </p:cNvPr>
            <p:cNvCxnSpPr/>
            <p:nvPr/>
          </p:nvCxnSpPr>
          <p:spPr bwMode="auto">
            <a:xfrm>
              <a:off x="3299210" y="3801039"/>
              <a:ext cx="2856966" cy="0"/>
            </a:xfrm>
            <a:prstGeom prst="straightConnector1">
              <a:avLst/>
            </a:prstGeom>
            <a:noFill/>
            <a:ln w="69850" cap="flat" cmpd="sng" algn="ctr">
              <a:solidFill>
                <a:srgbClr val="0000FF"/>
              </a:solidFill>
              <a:prstDash val="solid"/>
              <a:round/>
              <a:headEnd type="oval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127">
                <a:extLst>
                  <a:ext uri="{FF2B5EF4-FFF2-40B4-BE49-F238E27FC236}">
                    <a16:creationId xmlns:a16="http://schemas.microsoft.com/office/drawing/2014/main" id="{43106584-1E66-492E-32DE-9BF042A0ACA8}"/>
                  </a:ext>
                </a:extLst>
              </p:cNvPr>
              <p:cNvSpPr txBox="1"/>
              <p:nvPr/>
            </p:nvSpPr>
            <p:spPr bwMode="auto">
              <a:xfrm>
                <a:off x="64556" y="982122"/>
                <a:ext cx="4055546" cy="23748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acc>
                        <m:accPr>
                          <m:chr m:val="̂"/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altLang="ko-KR" b="0" dirty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     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</m:d>
                            </m:den>
                          </m:f>
                        </m:e>
                      </m:d>
                      <m:acc>
                        <m:accPr>
                          <m:chr m:val="̂"/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altLang="ko-K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    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f>
                        <m:f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acc>
                        <m:accPr>
                          <m:chr m:val="̂"/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Object 127">
                <a:extLst>
                  <a:ext uri="{FF2B5EF4-FFF2-40B4-BE49-F238E27FC236}">
                    <a16:creationId xmlns:a16="http://schemas.microsoft.com/office/drawing/2014/main" id="{43106584-1E66-492E-32DE-9BF042A0A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56" y="982122"/>
                <a:ext cx="4055546" cy="23748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127">
                <a:extLst>
                  <a:ext uri="{FF2B5EF4-FFF2-40B4-BE49-F238E27FC236}">
                    <a16:creationId xmlns:a16="http://schemas.microsoft.com/office/drawing/2014/main" id="{FDD89696-20BB-D8C8-63BB-B91658FBE6A7}"/>
                  </a:ext>
                </a:extLst>
              </p:cNvPr>
              <p:cNvSpPr txBox="1"/>
              <p:nvPr/>
            </p:nvSpPr>
            <p:spPr bwMode="auto">
              <a:xfrm>
                <a:off x="444986" y="3127792"/>
                <a:ext cx="4543960" cy="19539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f>
                        <m:f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f>
                        <m:f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n-US" altLang="ko-K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acc>
                        <m:accPr>
                          <m:chr m:val="⃗"/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⃗"/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  <a:p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40" name="Object 127">
                <a:extLst>
                  <a:ext uri="{FF2B5EF4-FFF2-40B4-BE49-F238E27FC236}">
                    <a16:creationId xmlns:a16="http://schemas.microsoft.com/office/drawing/2014/main" id="{FDD89696-20BB-D8C8-63BB-B91658FBE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986" y="3127792"/>
                <a:ext cx="4543960" cy="19539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DDEF483-E35B-D2E3-581C-AD09A798ED74}"/>
                  </a:ext>
                </a:extLst>
              </p:cNvPr>
              <p:cNvSpPr txBox="1"/>
              <p:nvPr/>
            </p:nvSpPr>
            <p:spPr>
              <a:xfrm>
                <a:off x="509726" y="5099686"/>
                <a:ext cx="3081534" cy="942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den>
                      </m:f>
                      <m:acc>
                        <m:accPr>
                          <m:chr m:val="⃗"/>
                          <m:ctrlPr>
                            <a:rPr lang="en-US" altLang="ko-K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DDEF483-E35B-D2E3-581C-AD09A798E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26" y="5099686"/>
                <a:ext cx="3081534" cy="9426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6342FBC-5B72-62D0-3A87-800A8639D67A}"/>
                  </a:ext>
                </a:extLst>
              </p:cNvPr>
              <p:cNvSpPr txBox="1"/>
              <p:nvPr/>
            </p:nvSpPr>
            <p:spPr>
              <a:xfrm>
                <a:off x="3935233" y="5281146"/>
                <a:ext cx="3964364" cy="579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ko-KR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ko-KR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  <m:r>
                      <a:rPr lang="en-US" altLang="ko-KR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n-US" altLang="ko-KR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altLang="ko-KR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acc>
                      <m:accPr>
                        <m:chr m:val="⃗"/>
                        <m:ctrlPr>
                          <a:rPr lang="en-US" altLang="ko-KR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altLang="ko-KR" sz="2800" dirty="0"/>
                  <a:t>  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n-US" altLang="ko-KR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6342FBC-5B72-62D0-3A87-800A8639D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233" y="5281146"/>
                <a:ext cx="3964364" cy="579710"/>
              </a:xfrm>
              <a:prstGeom prst="rect">
                <a:avLst/>
              </a:prstGeom>
              <a:blipFill>
                <a:blip r:embed="rId9"/>
                <a:stretch>
                  <a:fillRect t="-4211" b="-2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791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37347-CF29-9425-23E5-6C08C6583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BF53B-632C-54AF-781C-79F3EF19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7-3 </a:t>
            </a:r>
            <a:r>
              <a:rPr lang="ko-KR" altLang="en-US" dirty="0"/>
              <a:t>내적을 활용한 벡터의 투영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4F6062-3323-5E3E-7BDB-E0C54D7B0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A9CB59-7CF9-D082-746E-1E6705E695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54CED7-4DA4-C7FA-CB46-09D710BF4514}"/>
              </a:ext>
            </a:extLst>
          </p:cNvPr>
          <p:cNvSpPr txBox="1"/>
          <p:nvPr/>
        </p:nvSpPr>
        <p:spPr>
          <a:xfrm>
            <a:off x="323528" y="692150"/>
            <a:ext cx="7560840" cy="1569660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6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투영된 위치와 거리 계산</a:t>
            </a:r>
            <a:endParaRPr lang="ko-KR" altLang="en-US" sz="16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unitV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(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lineEnd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-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lineStart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).</a:t>
            </a:r>
            <a:r>
              <a:rPr lang="en-US" altLang="ko-KR" sz="16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GetNormalize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point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-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lineStart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projV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unitV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Dot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unitV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projectedPoint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lineStart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+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projV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distance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(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projectedPoint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-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point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).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8D127BA-34AC-7FE1-F390-A6240DA752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42" r="11935" b="4004"/>
          <a:stretch>
            <a:fillRect/>
          </a:stretch>
        </p:blipFill>
        <p:spPr>
          <a:xfrm>
            <a:off x="4696411" y="2622396"/>
            <a:ext cx="3187957" cy="30933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3BA05C2-9015-E69E-0435-14089FBF8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89" y="2636912"/>
            <a:ext cx="3791871" cy="307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961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3F910-3FBF-55B7-1C2D-C535AE0F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7A261-8441-9642-7C78-78E54F7F7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7.5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110020-84F1-974C-A6F3-628B9CA46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3600" dirty="0"/>
              <a:t>벡터 내적</a:t>
            </a:r>
            <a:endParaRPr lang="en-US" altLang="ko-KR" sz="3600" dirty="0"/>
          </a:p>
          <a:p>
            <a:pPr lvl="1"/>
            <a:r>
              <a:rPr lang="ko-KR" altLang="en-US" sz="3200" dirty="0"/>
              <a:t>행렬 곱셈</a:t>
            </a:r>
            <a:endParaRPr lang="en-US" altLang="ko-KR" sz="3200" dirty="0"/>
          </a:p>
          <a:p>
            <a:pPr lvl="1"/>
            <a:r>
              <a:rPr lang="ko-KR" altLang="en-US" sz="3200" dirty="0"/>
              <a:t>앞</a:t>
            </a:r>
            <a:r>
              <a:rPr lang="en-US" altLang="ko-KR" sz="3200" dirty="0"/>
              <a:t>/</a:t>
            </a:r>
            <a:r>
              <a:rPr lang="ko-KR" altLang="en-US" sz="3200" dirty="0"/>
              <a:t>뒤 판정</a:t>
            </a:r>
            <a:endParaRPr lang="en-US" altLang="ko-KR" sz="3200" dirty="0"/>
          </a:p>
          <a:p>
            <a:pPr lvl="1"/>
            <a:r>
              <a:rPr lang="ko-KR" altLang="en-US" sz="3200" dirty="0"/>
              <a:t>시야 판정</a:t>
            </a:r>
            <a:endParaRPr lang="en-US" altLang="ko-KR" sz="3200" dirty="0"/>
          </a:p>
          <a:p>
            <a:pPr lvl="1"/>
            <a:r>
              <a:rPr lang="ko-KR" altLang="en-US" sz="3200" dirty="0" err="1"/>
              <a:t>램버트</a:t>
            </a:r>
            <a:r>
              <a:rPr lang="ko-KR" altLang="en-US" sz="3200" dirty="0"/>
              <a:t> 반사</a:t>
            </a:r>
            <a:endParaRPr lang="en-US" altLang="ko-KR" sz="3200" dirty="0"/>
          </a:p>
          <a:p>
            <a:pPr lvl="1"/>
            <a:r>
              <a:rPr lang="ko-KR" altLang="en-US" sz="3200" dirty="0"/>
              <a:t>투영 벡터</a:t>
            </a:r>
            <a:endParaRPr lang="en-US" altLang="ko-KR" sz="32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1C1F7F-2D4E-C600-79AD-2247D1380C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5012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C74C-D169-F4F6-9F32-1DBB36AF5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0AE30DF-79B7-9234-7D0D-F45D26B03F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삼각형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552B39C3-A3ED-21CD-FE7E-D33EA47752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물체를 구성하는 가장 작은 단위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5F4138-A237-7C4D-161A-933791DBF6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49251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FCED6-C336-1F66-4B93-25FD462D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1348AC-4A93-D7F3-5CC2-AB5E344D3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세 점의 결합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6A4765-C1A2-4628-FA97-56DE80A2A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세 점</a:t>
            </a:r>
            <a:endParaRPr lang="en-US" altLang="ko-KR" sz="2400" dirty="0"/>
          </a:p>
          <a:p>
            <a:pPr lvl="1"/>
            <a:r>
              <a:rPr lang="ko-KR" altLang="en-US" sz="2000" dirty="0"/>
              <a:t>세 점 중 하나는 나머지 독립된 두점으로 표현 가능</a:t>
            </a:r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 err="1"/>
              <a:t>컨벡스</a:t>
            </a:r>
            <a:r>
              <a:rPr lang="ko-KR" altLang="en-US" sz="2400" dirty="0"/>
              <a:t> 결합 </a:t>
            </a:r>
            <a:r>
              <a:rPr lang="en-US" altLang="ko-KR" sz="2400" dirty="0"/>
              <a:t>(Convex Combination)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D348D2-1BBC-F363-F39E-AD5B4D9C9B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629145-3A1D-FBDB-DFCA-0ED6B0DEF705}"/>
                  </a:ext>
                </a:extLst>
              </p:cNvPr>
              <p:cNvSpPr txBox="1"/>
              <p:nvPr/>
            </p:nvSpPr>
            <p:spPr>
              <a:xfrm>
                <a:off x="803814" y="3907216"/>
                <a:ext cx="2184010" cy="10352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⋅ </m:t>
                              </m:r>
                              <m:sSub>
                                <m:sSubPr>
                                  <m:ctrlPr>
                                    <a:rPr lang="en-US" altLang="ko-K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629145-3A1D-FBDB-DFCA-0ED6B0DEF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14" y="3907216"/>
                <a:ext cx="2184010" cy="1035283"/>
              </a:xfrm>
              <a:prstGeom prst="rect">
                <a:avLst/>
              </a:prstGeom>
              <a:blipFill>
                <a:blip r:embed="rId2"/>
                <a:stretch>
                  <a:fillRect l="-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31E896-A7B2-2F9C-15ED-C995CF74101C}"/>
                  </a:ext>
                </a:extLst>
              </p:cNvPr>
              <p:cNvSpPr txBox="1"/>
              <p:nvPr/>
            </p:nvSpPr>
            <p:spPr>
              <a:xfrm>
                <a:off x="2535339" y="4163247"/>
                <a:ext cx="54930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80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280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ko-KR" sz="280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altLang="ko-KR" sz="280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ko-KR" sz="2800" i="0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n-US" altLang="ko-KR" sz="2800" b="0" i="1">
                        <a:latin typeface="Cambria Math" panose="02040503050406030204" pitchFamily="18" charset="0"/>
                      </a:rPr>
                      <m:t> </m:t>
                    </m:r>
                    <m:sSub>
                      <m:sSubPr>
                        <m:ctrlPr>
                          <a:rPr lang="en-US" altLang="ko-KR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800" b="0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31E896-A7B2-2F9C-15ED-C995CF741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339" y="4163247"/>
                <a:ext cx="5493045" cy="523220"/>
              </a:xfrm>
              <a:prstGeom prst="rect">
                <a:avLst/>
              </a:prstGeom>
              <a:blipFill>
                <a:blip r:embed="rId3"/>
                <a:stretch>
                  <a:fillRect l="-2331" t="-15116" b="-290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4A34C2-C3AD-80FD-62E8-88ED249F2B83}"/>
                  </a:ext>
                </a:extLst>
              </p:cNvPr>
              <p:cNvSpPr txBox="1"/>
              <p:nvPr/>
            </p:nvSpPr>
            <p:spPr>
              <a:xfrm>
                <a:off x="899592" y="1772816"/>
                <a:ext cx="5976664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dirty="0"/>
                  <a:t>       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ko-KR" i="0" dirty="0">
                            <a:latin typeface="Cambria Math" panose="02040503050406030204" pitchFamily="18" charset="0"/>
                          </a:rPr>
                          <m:t>− </m:t>
                        </m:r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ko-KR" i="0" dirty="0">
                            <a:latin typeface="Cambria Math" panose="02040503050406030204" pitchFamily="18" charset="0"/>
                          </a:rPr>
                          <m:t>− </m:t>
                        </m:r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4A34C2-C3AD-80FD-62E8-88ED249F2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772816"/>
                <a:ext cx="5976664" cy="738664"/>
              </a:xfrm>
              <a:prstGeom prst="rect">
                <a:avLst/>
              </a:prstGeom>
              <a:blipFill>
                <a:blip r:embed="rId5"/>
                <a:stretch>
                  <a:fillRect l="-1837" t="-15702" b="-214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EEEFAC-0CE2-356F-196E-183EF1C5F395}"/>
                  </a:ext>
                </a:extLst>
              </p:cNvPr>
              <p:cNvSpPr txBox="1"/>
              <p:nvPr/>
            </p:nvSpPr>
            <p:spPr>
              <a:xfrm>
                <a:off x="1595622" y="2604952"/>
                <a:ext cx="194421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𝑠</m:t>
                    </m:r>
                    <m:acc>
                      <m:accPr>
                        <m:chr m:val="⃗"/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EEEFAC-0CE2-356F-196E-183EF1C5F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622" y="2604952"/>
                <a:ext cx="1944216" cy="369332"/>
              </a:xfrm>
              <a:prstGeom prst="rect">
                <a:avLst/>
              </a:prstGeom>
              <a:blipFill>
                <a:blip r:embed="rId6"/>
                <a:stretch>
                  <a:fillRect l="-4075" t="-32787" r="-6583" b="-442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0951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75348-1F79-D8CF-7A1F-22CCC38AC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7613F-744A-340F-580D-E1BB8FDC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 err="1"/>
              <a:t>세점의</a:t>
            </a:r>
            <a:r>
              <a:rPr lang="ko-KR" altLang="en-US" dirty="0"/>
              <a:t> 결합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DC9320-A1B1-65F6-5B9B-19AD6804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err="1"/>
              <a:t>컨벡스</a:t>
            </a:r>
            <a:r>
              <a:rPr lang="en-US" altLang="ko-KR" sz="2400" dirty="0"/>
              <a:t> </a:t>
            </a:r>
            <a:r>
              <a:rPr lang="ko-KR" altLang="en-US" sz="2400" dirty="0"/>
              <a:t>영역 </a:t>
            </a:r>
            <a:r>
              <a:rPr lang="en-US" altLang="ko-KR" sz="2400" dirty="0"/>
              <a:t>(Convex region)</a:t>
            </a:r>
          </a:p>
          <a:p>
            <a:pPr lvl="1"/>
            <a:r>
              <a:rPr lang="ko-KR" altLang="en-US" sz="2000" dirty="0"/>
              <a:t>영역 내 임의의 두 점에서 두 점을 잇는 선분이 항상 내부에 있으면</a:t>
            </a:r>
            <a:br>
              <a:rPr lang="en-US" altLang="ko-KR" sz="2000" dirty="0"/>
            </a:br>
            <a:r>
              <a:rPr lang="en-US" altLang="ko-KR" sz="2000" dirty="0"/>
              <a:t>Convex(</a:t>
            </a:r>
            <a:r>
              <a:rPr lang="ko-KR" altLang="en-US" sz="2000" dirty="0"/>
              <a:t>볼록</a:t>
            </a:r>
            <a:r>
              <a:rPr lang="en-US" altLang="ko-KR" sz="2000" dirty="0"/>
              <a:t>)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F23539-FF2C-8CD2-E32F-BD5BBECAB7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C6DD562-A521-C684-205B-238602A26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291005"/>
            <a:ext cx="2989764" cy="22934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4BF80FC-4EA5-2437-985C-FEDFD72A7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325255"/>
            <a:ext cx="2664296" cy="22404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510CB7-C5DC-F173-1344-CEFB69C7808C}"/>
              </a:ext>
            </a:extLst>
          </p:cNvPr>
          <p:cNvSpPr txBox="1"/>
          <p:nvPr/>
        </p:nvSpPr>
        <p:spPr>
          <a:xfrm>
            <a:off x="2051720" y="4579730"/>
            <a:ext cx="1237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Convex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655376-21F3-133A-03D6-EF17876FB391}"/>
              </a:ext>
            </a:extLst>
          </p:cNvPr>
          <p:cNvSpPr txBox="1"/>
          <p:nvPr/>
        </p:nvSpPr>
        <p:spPr>
          <a:xfrm>
            <a:off x="5087888" y="4579729"/>
            <a:ext cx="1988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Not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convex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4621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8858C-3A8C-5E25-E981-2B6E9DF06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3DAB5D1-6B33-A7A3-19A5-DCC88FB77D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2" t="4868" r="3635" b="9330"/>
          <a:stretch>
            <a:fillRect/>
          </a:stretch>
        </p:blipFill>
        <p:spPr>
          <a:xfrm>
            <a:off x="6156175" y="4221087"/>
            <a:ext cx="2880321" cy="223224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925709-C253-D55A-CE45-6DC476E48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 err="1"/>
              <a:t>세점의</a:t>
            </a:r>
            <a:r>
              <a:rPr lang="ko-KR" altLang="en-US" dirty="0"/>
              <a:t> 결합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D9BEE6-E9BD-D366-D9B8-AA4CEDF94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3</a:t>
            </a:r>
            <a:r>
              <a:rPr lang="ko-KR" altLang="en-US" sz="2400" dirty="0"/>
              <a:t>점의 </a:t>
            </a:r>
            <a:r>
              <a:rPr lang="ko-KR" altLang="en-US" sz="2400" dirty="0" err="1"/>
              <a:t>아핀</a:t>
            </a:r>
            <a:r>
              <a:rPr lang="ko-KR" altLang="en-US" sz="2400" dirty="0"/>
              <a:t> 결합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lvl="1"/>
            <a:r>
              <a:rPr lang="en-US" altLang="ko-KR" sz="2000" dirty="0"/>
              <a:t>Convex: </a:t>
            </a:r>
            <a:r>
              <a:rPr lang="ko-KR" altLang="en-US" sz="2000" dirty="0"/>
              <a:t>두 점을 이은 선분이 항상 내부에 존재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ko-KR" altLang="en-US" sz="2400" dirty="0"/>
              <a:t>삼각뿔</a:t>
            </a:r>
            <a:r>
              <a:rPr lang="en-US" altLang="ko-KR" sz="2400" dirty="0"/>
              <a:t>(Tetrahedron)</a:t>
            </a:r>
          </a:p>
          <a:p>
            <a:pPr lvl="1"/>
            <a:r>
              <a:rPr lang="en-US" altLang="ko-KR" sz="2000" dirty="0"/>
              <a:t>Tetrahedron = 4</a:t>
            </a:r>
            <a:r>
              <a:rPr lang="ko-KR" altLang="en-US" sz="2000" dirty="0"/>
              <a:t>점의 </a:t>
            </a:r>
            <a:r>
              <a:rPr lang="en-US" altLang="ko-KR" sz="2000" dirty="0"/>
              <a:t>convex </a:t>
            </a:r>
            <a:r>
              <a:rPr lang="ko-KR" altLang="en-US" sz="2000" dirty="0"/>
              <a:t>조합으로 생성된 </a:t>
            </a:r>
            <a:r>
              <a:rPr lang="en-US" altLang="ko-KR" sz="2000" dirty="0"/>
              <a:t>3D </a:t>
            </a:r>
            <a:r>
              <a:rPr lang="ko-KR" altLang="en-US" sz="2000" dirty="0"/>
              <a:t>볼록 영역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80571E-3263-DE88-C88D-A5624C8B51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7986F2-3782-B724-C164-0945FE3E882B}"/>
                  </a:ext>
                </a:extLst>
              </p:cNvPr>
              <p:cNvSpPr txBox="1"/>
              <p:nvPr/>
            </p:nvSpPr>
            <p:spPr>
              <a:xfrm>
                <a:off x="395536" y="1410630"/>
                <a:ext cx="3148233" cy="753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7986F2-3782-B724-C164-0945FE3E8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410630"/>
                <a:ext cx="3148233" cy="753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6B4056-3A4C-5567-B890-7ECBCDE52BA1}"/>
                  </a:ext>
                </a:extLst>
              </p:cNvPr>
              <p:cNvSpPr txBox="1"/>
              <p:nvPr/>
            </p:nvSpPr>
            <p:spPr>
              <a:xfrm>
                <a:off x="3779912" y="1556664"/>
                <a:ext cx="20483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r>
                        <a:rPr lang="en-US" altLang="ko-KR" b="0" i="1">
                          <a:latin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6B4056-3A4C-5567-B890-7ECBCDE52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1556664"/>
                <a:ext cx="2048381" cy="461665"/>
              </a:xfrm>
              <a:prstGeom prst="rect">
                <a:avLst/>
              </a:prstGeom>
              <a:blipFill>
                <a:blip r:embed="rId4"/>
                <a:stretch>
                  <a:fillRect l="-595"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A20F70-270E-44CD-BB1B-60BD29F219DF}"/>
                  </a:ext>
                </a:extLst>
              </p:cNvPr>
              <p:cNvSpPr txBox="1"/>
              <p:nvPr/>
            </p:nvSpPr>
            <p:spPr>
              <a:xfrm>
                <a:off x="395536" y="4793108"/>
                <a:ext cx="4140108" cy="753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A20F70-270E-44CD-BB1B-60BD29F21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793108"/>
                <a:ext cx="4140108" cy="753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0A29F4-1A9E-48E9-BF9B-69559301D150}"/>
                  </a:ext>
                </a:extLst>
              </p:cNvPr>
              <p:cNvSpPr txBox="1"/>
              <p:nvPr/>
            </p:nvSpPr>
            <p:spPr>
              <a:xfrm>
                <a:off x="4644008" y="4939141"/>
                <a:ext cx="20483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r>
                        <a:rPr lang="en-US" altLang="ko-KR" b="0" i="1">
                          <a:latin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0A29F4-1A9E-48E9-BF9B-69559301D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4939141"/>
                <a:ext cx="2048381" cy="461665"/>
              </a:xfrm>
              <a:prstGeom prst="rect">
                <a:avLst/>
              </a:prstGeom>
              <a:blipFill>
                <a:blip r:embed="rId6"/>
                <a:stretch>
                  <a:fillRect l="-893"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472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75250-254C-F407-3602-F9B33400F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64EA0-F5D9-8185-2AAF-BC39004C4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메시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1441F5-948D-A89D-A63B-ADBEADFDD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메시</a:t>
            </a:r>
            <a:endParaRPr lang="en-US" altLang="ko-KR" dirty="0"/>
          </a:p>
          <a:p>
            <a:pPr lvl="1"/>
            <a:r>
              <a:rPr lang="en-US" altLang="ko-KR" dirty="0"/>
              <a:t>3D </a:t>
            </a:r>
            <a:r>
              <a:rPr lang="ko-KR" altLang="en-US" dirty="0"/>
              <a:t>공간에서</a:t>
            </a:r>
            <a:br>
              <a:rPr lang="en-US" altLang="ko-KR" dirty="0"/>
            </a:br>
            <a:r>
              <a:rPr lang="ko-KR" altLang="en-US" dirty="0"/>
              <a:t>물체의 외형을 표현하기 위해</a:t>
            </a:r>
            <a:br>
              <a:rPr lang="en-US" altLang="ko-KR" dirty="0"/>
            </a:br>
            <a:r>
              <a:rPr lang="ko-KR" altLang="en-US" dirty="0"/>
              <a:t>정점</a:t>
            </a:r>
            <a:r>
              <a:rPr lang="en-US" altLang="ko-KR" dirty="0"/>
              <a:t>(Vertex), </a:t>
            </a:r>
            <a:r>
              <a:rPr lang="ko-KR" altLang="en-US" dirty="0"/>
              <a:t>간선</a:t>
            </a:r>
            <a:r>
              <a:rPr lang="en-US" altLang="ko-KR" dirty="0"/>
              <a:t>(Edge), </a:t>
            </a:r>
            <a:r>
              <a:rPr lang="ko-KR" altLang="en-US" dirty="0"/>
              <a:t>면</a:t>
            </a:r>
            <a:r>
              <a:rPr lang="en-US" altLang="ko-KR" dirty="0"/>
              <a:t>(Face)</a:t>
            </a:r>
            <a:r>
              <a:rPr lang="ko-KR" altLang="en-US" dirty="0"/>
              <a:t>을 결합한</a:t>
            </a:r>
            <a:br>
              <a:rPr lang="en-US" altLang="ko-KR" dirty="0"/>
            </a:br>
            <a:r>
              <a:rPr lang="ko-KR" altLang="en-US" dirty="0"/>
              <a:t>기하학적 데이터 구조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정점 버퍼</a:t>
            </a:r>
            <a:r>
              <a:rPr lang="en-US" altLang="ko-KR" dirty="0"/>
              <a:t>(Vertex Buffer)</a:t>
            </a:r>
          </a:p>
          <a:p>
            <a:pPr lvl="2"/>
            <a:r>
              <a:rPr lang="en-US" altLang="ko-KR" dirty="0"/>
              <a:t>3D </a:t>
            </a:r>
            <a:r>
              <a:rPr lang="ko-KR" altLang="en-US" dirty="0"/>
              <a:t>공간 상의 좌표</a:t>
            </a:r>
            <a:r>
              <a:rPr lang="en-US" altLang="ko-KR" dirty="0"/>
              <a:t>, </a:t>
            </a:r>
            <a:r>
              <a:rPr lang="ko-KR" altLang="en-US" dirty="0"/>
              <a:t>색상</a:t>
            </a:r>
            <a:r>
              <a:rPr lang="en-US" altLang="ko-KR" dirty="0"/>
              <a:t>, UV </a:t>
            </a:r>
            <a:r>
              <a:rPr lang="ko-KR" altLang="en-US" dirty="0"/>
              <a:t>등</a:t>
            </a:r>
            <a:br>
              <a:rPr lang="en-US" altLang="ko-KR" dirty="0"/>
            </a:br>
            <a:r>
              <a:rPr lang="ko-KR" altLang="en-US" dirty="0"/>
              <a:t>각 정점의 상세 속성 데이터를 저장하는 메모리 블록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인덱스 버퍼</a:t>
            </a:r>
            <a:r>
              <a:rPr lang="en-US" altLang="ko-KR" dirty="0"/>
              <a:t>(Index Buffer)</a:t>
            </a:r>
          </a:p>
          <a:p>
            <a:pPr lvl="2"/>
            <a:r>
              <a:rPr lang="ko-KR" altLang="en-US" dirty="0"/>
              <a:t>정점 버퍼의 번호</a:t>
            </a:r>
            <a:r>
              <a:rPr lang="en-US" altLang="ko-KR" dirty="0"/>
              <a:t>(</a:t>
            </a:r>
            <a:r>
              <a:rPr lang="ko-KR" altLang="en-US" dirty="0"/>
              <a:t>인덱스</a:t>
            </a:r>
            <a:r>
              <a:rPr lang="en-US" altLang="ko-KR" dirty="0"/>
              <a:t>)</a:t>
            </a:r>
            <a:r>
              <a:rPr lang="ko-KR" altLang="en-US" dirty="0"/>
              <a:t>를 참조하여</a:t>
            </a:r>
            <a:br>
              <a:rPr lang="en-US" altLang="ko-KR" dirty="0"/>
            </a:br>
            <a:r>
              <a:rPr lang="ko-KR" altLang="en-US" dirty="0"/>
              <a:t>점들을 연결하는 순서를 정의</a:t>
            </a:r>
            <a:r>
              <a:rPr lang="en-US" altLang="ko-KR" dirty="0"/>
              <a:t>, </a:t>
            </a:r>
            <a:r>
              <a:rPr lang="ko-KR" altLang="en-US" dirty="0"/>
              <a:t>삼각형 면을 구성하는 설계도</a:t>
            </a:r>
            <a:endParaRPr lang="en-US" altLang="ko-KR" dirty="0"/>
          </a:p>
          <a:p>
            <a:pPr lvl="2"/>
            <a:r>
              <a:rPr lang="ko-KR" altLang="en-US" dirty="0"/>
              <a:t>인덱스 버퍼 개수 </a:t>
            </a:r>
            <a:r>
              <a:rPr lang="en-US" altLang="ko-KR" dirty="0"/>
              <a:t>= </a:t>
            </a:r>
            <a:r>
              <a:rPr lang="ko-KR" altLang="en-US" dirty="0"/>
              <a:t>삼각형의 개수</a:t>
            </a:r>
            <a:r>
              <a:rPr lang="en-US" altLang="ko-KR" dirty="0"/>
              <a:t> X 3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1011B8-B058-C80B-1C78-4A842AE1FC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1616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170B9-971B-169C-E6E3-5DCB3712B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69E85-E2CE-1D8D-1272-18E1BFEE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메시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FAE957-79A6-3E28-841F-4B2EFE848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6175E1-92DE-FB78-9019-004C55838F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F96538-8E1B-2052-447C-2A2BF633C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836712"/>
            <a:ext cx="8587905" cy="417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17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04534-E939-EF07-433C-E4FD111D7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E73A9-FB9F-1DAA-0D88-028C9BC5A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8-1</a:t>
            </a:r>
            <a:r>
              <a:rPr lang="ko-KR" altLang="en-US" dirty="0"/>
              <a:t> 와이어프레임 렌더링의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222949-6B28-DAD9-CA41-A7F32A974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0F0B75-71E3-3D60-A61C-A36EA61E0C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ED188E-9126-40A3-9134-0095EE5BB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692151"/>
            <a:ext cx="2692840" cy="27159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EA8ADB-7CE0-77EE-F4DE-84CDC22A5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02" y="593725"/>
            <a:ext cx="5328694" cy="28711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3DE3D8-AF31-F449-DD04-F0B35AF05FDE}"/>
              </a:ext>
            </a:extLst>
          </p:cNvPr>
          <p:cNvSpPr txBox="1"/>
          <p:nvPr/>
        </p:nvSpPr>
        <p:spPr>
          <a:xfrm>
            <a:off x="323528" y="3665530"/>
            <a:ext cx="6975648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std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array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&lt;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Vertex2D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vertexCount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&gt; 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rawVertices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{</a:t>
            </a:r>
          </a:p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Vertex2D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(-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squareHalfSize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-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squareHalfSize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)),</a:t>
            </a:r>
          </a:p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Vertex2D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(-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squareHalfSize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squareHalfSize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)),</a:t>
            </a:r>
          </a:p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Vertex2D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squareHalfSize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squareHalfSize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)),</a:t>
            </a:r>
          </a:p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Vertex2D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squareHalfSize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-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squareHalfSize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))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097A1-58B4-0EB7-55AD-EECDDCF148A4}"/>
              </a:ext>
            </a:extLst>
          </p:cNvPr>
          <p:cNvSpPr txBox="1"/>
          <p:nvPr/>
        </p:nvSpPr>
        <p:spPr>
          <a:xfrm>
            <a:off x="323528" y="5303451"/>
            <a:ext cx="6975648" cy="10772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std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array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&lt;</a:t>
            </a:r>
            <a:r>
              <a:rPr lang="en-US" altLang="ko-KR" sz="1600" dirty="0" err="1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size_t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triangleCount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3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&gt;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indices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{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  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  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3</a:t>
            </a:r>
            <a:endParaRPr lang="en-US" altLang="ko-KR" sz="16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84945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7EB89-B132-F4AB-2FEE-FFED97401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F3BFEC-6A5E-2BCD-DC43-CAA8F1A6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 </a:t>
            </a:r>
            <a:r>
              <a:rPr lang="ko-KR" altLang="en-US" dirty="0"/>
              <a:t>무게중심좌표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7452BC-D040-42E0-95F2-6002A5DB3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점의 </a:t>
            </a:r>
            <a:r>
              <a:rPr lang="ko-KR" altLang="en-US" dirty="0" err="1"/>
              <a:t>아핀</a:t>
            </a:r>
            <a:r>
              <a:rPr lang="ko-KR" altLang="en-US" dirty="0"/>
              <a:t> 결합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17C12E-A6F0-640F-0B36-C735398466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36">
                <a:extLst>
                  <a:ext uri="{FF2B5EF4-FFF2-40B4-BE49-F238E27FC236}">
                    <a16:creationId xmlns:a16="http://schemas.microsoft.com/office/drawing/2014/main" id="{68B4F695-308E-422C-A2C4-57CF92373805}"/>
                  </a:ext>
                </a:extLst>
              </p:cNvPr>
              <p:cNvSpPr txBox="1"/>
              <p:nvPr/>
            </p:nvSpPr>
            <p:spPr bwMode="auto">
              <a:xfrm>
                <a:off x="359821" y="1175405"/>
                <a:ext cx="5184577" cy="525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ko-KR" altLang="en-US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Object 136">
                <a:extLst>
                  <a:ext uri="{FF2B5EF4-FFF2-40B4-BE49-F238E27FC236}">
                    <a16:creationId xmlns:a16="http://schemas.microsoft.com/office/drawing/2014/main" id="{68B4F695-308E-422C-A2C4-57CF92373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821" y="1175405"/>
                <a:ext cx="5184577" cy="525403"/>
              </a:xfrm>
              <a:prstGeom prst="rect">
                <a:avLst/>
              </a:prstGeom>
              <a:blipFill>
                <a:blip r:embed="rId2"/>
                <a:stretch>
                  <a:fillRect l="-2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36">
                <a:extLst>
                  <a:ext uri="{FF2B5EF4-FFF2-40B4-BE49-F238E27FC236}">
                    <a16:creationId xmlns:a16="http://schemas.microsoft.com/office/drawing/2014/main" id="{38A0B5A4-58AD-4CFE-8071-19B69DC0B573}"/>
                  </a:ext>
                </a:extLst>
              </p:cNvPr>
              <p:cNvSpPr txBox="1"/>
              <p:nvPr/>
            </p:nvSpPr>
            <p:spPr bwMode="auto">
              <a:xfrm>
                <a:off x="359821" y="1556792"/>
                <a:ext cx="5184577" cy="525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ko-KR" altLang="en-US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altLang="ko-KR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 −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Object 136">
                <a:extLst>
                  <a:ext uri="{FF2B5EF4-FFF2-40B4-BE49-F238E27FC236}">
                    <a16:creationId xmlns:a16="http://schemas.microsoft.com/office/drawing/2014/main" id="{38A0B5A4-58AD-4CFE-8071-19B69DC0B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821" y="1556792"/>
                <a:ext cx="5184577" cy="525403"/>
              </a:xfrm>
              <a:prstGeom prst="rect">
                <a:avLst/>
              </a:prstGeom>
              <a:blipFill>
                <a:blip r:embed="rId3"/>
                <a:stretch>
                  <a:fillRect l="-2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36">
                <a:extLst>
                  <a:ext uri="{FF2B5EF4-FFF2-40B4-BE49-F238E27FC236}">
                    <a16:creationId xmlns:a16="http://schemas.microsoft.com/office/drawing/2014/main" id="{C0DD02D7-C811-4374-B0D6-AD869B261B5C}"/>
                  </a:ext>
                </a:extLst>
              </p:cNvPr>
              <p:cNvSpPr txBox="1"/>
              <p:nvPr/>
            </p:nvSpPr>
            <p:spPr bwMode="auto">
              <a:xfrm>
                <a:off x="359821" y="2636912"/>
                <a:ext cx="2089717" cy="525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ko-KR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Object 136">
                <a:extLst>
                  <a:ext uri="{FF2B5EF4-FFF2-40B4-BE49-F238E27FC236}">
                    <a16:creationId xmlns:a16="http://schemas.microsoft.com/office/drawing/2014/main" id="{C0DD02D7-C811-4374-B0D6-AD869B261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821" y="2636912"/>
                <a:ext cx="2089717" cy="525403"/>
              </a:xfrm>
              <a:prstGeom prst="rect">
                <a:avLst/>
              </a:prstGeom>
              <a:blipFill>
                <a:blip r:embed="rId4"/>
                <a:stretch>
                  <a:fillRect l="-292" t="-151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36">
                <a:extLst>
                  <a:ext uri="{FF2B5EF4-FFF2-40B4-BE49-F238E27FC236}">
                    <a16:creationId xmlns:a16="http://schemas.microsoft.com/office/drawing/2014/main" id="{C5C5F7F8-D8C8-41CF-A6F3-5081E871F29A}"/>
                  </a:ext>
                </a:extLst>
              </p:cNvPr>
              <p:cNvSpPr txBox="1"/>
              <p:nvPr/>
            </p:nvSpPr>
            <p:spPr bwMode="auto">
              <a:xfrm>
                <a:off x="3591452" y="2947486"/>
                <a:ext cx="1944217" cy="5477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ko-KR" altLang="en-US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Object 136">
                <a:extLst>
                  <a:ext uri="{FF2B5EF4-FFF2-40B4-BE49-F238E27FC236}">
                    <a16:creationId xmlns:a16="http://schemas.microsoft.com/office/drawing/2014/main" id="{C5C5F7F8-D8C8-41CF-A6F3-5081E871F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1452" y="2947486"/>
                <a:ext cx="1944217" cy="547782"/>
              </a:xfrm>
              <a:prstGeom prst="rect">
                <a:avLst/>
              </a:prstGeom>
              <a:blipFill>
                <a:blip r:embed="rId5"/>
                <a:stretch>
                  <a:fillRect l="-313" t="-14607" r="-106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41">
                <a:extLst>
                  <a:ext uri="{FF2B5EF4-FFF2-40B4-BE49-F238E27FC236}">
                    <a16:creationId xmlns:a16="http://schemas.microsoft.com/office/drawing/2014/main" id="{7080F3B9-508B-4103-9434-E796186B4005}"/>
                  </a:ext>
                </a:extLst>
              </p:cNvPr>
              <p:cNvSpPr txBox="1"/>
              <p:nvPr/>
            </p:nvSpPr>
            <p:spPr bwMode="auto">
              <a:xfrm>
                <a:off x="359821" y="3942582"/>
                <a:ext cx="2448272" cy="13012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Object 141">
                <a:extLst>
                  <a:ext uri="{FF2B5EF4-FFF2-40B4-BE49-F238E27FC236}">
                    <a16:creationId xmlns:a16="http://schemas.microsoft.com/office/drawing/2014/main" id="{7080F3B9-508B-4103-9434-E796186B4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821" y="3942582"/>
                <a:ext cx="2448272" cy="13012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42">
                <a:extLst>
                  <a:ext uri="{FF2B5EF4-FFF2-40B4-BE49-F238E27FC236}">
                    <a16:creationId xmlns:a16="http://schemas.microsoft.com/office/drawing/2014/main" id="{CCBCA7B3-1909-417C-B975-96E9A027BCDD}"/>
                  </a:ext>
                </a:extLst>
              </p:cNvPr>
              <p:cNvSpPr txBox="1"/>
              <p:nvPr/>
            </p:nvSpPr>
            <p:spPr bwMode="auto">
              <a:xfrm>
                <a:off x="2950090" y="3953703"/>
                <a:ext cx="2737211" cy="12891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Object 142">
                <a:extLst>
                  <a:ext uri="{FF2B5EF4-FFF2-40B4-BE49-F238E27FC236}">
                    <a16:creationId xmlns:a16="http://schemas.microsoft.com/office/drawing/2014/main" id="{CCBCA7B3-1909-417C-B975-96E9A027B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0090" y="3953703"/>
                <a:ext cx="2737211" cy="1289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36">
                <a:extLst>
                  <a:ext uri="{FF2B5EF4-FFF2-40B4-BE49-F238E27FC236}">
                    <a16:creationId xmlns:a16="http://schemas.microsoft.com/office/drawing/2014/main" id="{E368F722-26E4-25F1-5F3B-312CD6635C81}"/>
                  </a:ext>
                </a:extLst>
              </p:cNvPr>
              <p:cNvSpPr txBox="1"/>
              <p:nvPr/>
            </p:nvSpPr>
            <p:spPr bwMode="auto">
              <a:xfrm>
                <a:off x="359821" y="1988840"/>
                <a:ext cx="5184577" cy="525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ko-KR" altLang="en-US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altLang="ko-KR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 −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Object 136">
                <a:extLst>
                  <a:ext uri="{FF2B5EF4-FFF2-40B4-BE49-F238E27FC236}">
                    <a16:creationId xmlns:a16="http://schemas.microsoft.com/office/drawing/2014/main" id="{E368F722-26E4-25F1-5F3B-312CD6635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821" y="1988840"/>
                <a:ext cx="5184577" cy="525403"/>
              </a:xfrm>
              <a:prstGeom prst="rect">
                <a:avLst/>
              </a:prstGeom>
              <a:blipFill>
                <a:blip r:embed="rId8"/>
                <a:stretch>
                  <a:fillRect l="-2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6">
                <a:extLst>
                  <a:ext uri="{FF2B5EF4-FFF2-40B4-BE49-F238E27FC236}">
                    <a16:creationId xmlns:a16="http://schemas.microsoft.com/office/drawing/2014/main" id="{0BC97489-5A0B-B00C-EFB8-3C241C51E5D4}"/>
                  </a:ext>
                </a:extLst>
              </p:cNvPr>
              <p:cNvSpPr txBox="1"/>
              <p:nvPr/>
            </p:nvSpPr>
            <p:spPr bwMode="auto">
              <a:xfrm>
                <a:off x="359821" y="2962079"/>
                <a:ext cx="2089717" cy="525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ko-KR" altLang="en-US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Object 136">
                <a:extLst>
                  <a:ext uri="{FF2B5EF4-FFF2-40B4-BE49-F238E27FC236}">
                    <a16:creationId xmlns:a16="http://schemas.microsoft.com/office/drawing/2014/main" id="{0BC97489-5A0B-B00C-EFB8-3C241C51E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821" y="2962079"/>
                <a:ext cx="2089717" cy="52540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36">
                <a:extLst>
                  <a:ext uri="{FF2B5EF4-FFF2-40B4-BE49-F238E27FC236}">
                    <a16:creationId xmlns:a16="http://schemas.microsoft.com/office/drawing/2014/main" id="{31B9C13E-C58C-D3B1-1A2C-4A333A7E4614}"/>
                  </a:ext>
                </a:extLst>
              </p:cNvPr>
              <p:cNvSpPr txBox="1"/>
              <p:nvPr/>
            </p:nvSpPr>
            <p:spPr bwMode="auto">
              <a:xfrm>
                <a:off x="359821" y="3302427"/>
                <a:ext cx="2089717" cy="525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ko-KR" altLang="en-US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Object 136">
                <a:extLst>
                  <a:ext uri="{FF2B5EF4-FFF2-40B4-BE49-F238E27FC236}">
                    <a16:creationId xmlns:a16="http://schemas.microsoft.com/office/drawing/2014/main" id="{31B9C13E-C58C-D3B1-1A2C-4A333A7E4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821" y="3302427"/>
                <a:ext cx="2089717" cy="525403"/>
              </a:xfrm>
              <a:prstGeom prst="rect">
                <a:avLst/>
              </a:prstGeom>
              <a:blipFill>
                <a:blip r:embed="rId10"/>
                <a:stretch>
                  <a:fillRect t="-151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A6722F0-C2A1-2EEF-770C-73EE6BABB0D0}"/>
              </a:ext>
            </a:extLst>
          </p:cNvPr>
          <p:cNvSpPr/>
          <p:nvPr/>
        </p:nvSpPr>
        <p:spPr bwMode="auto">
          <a:xfrm>
            <a:off x="2750782" y="2973949"/>
            <a:ext cx="504057" cy="461665"/>
          </a:xfrm>
          <a:prstGeom prst="righ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1">
                <a:extLst>
                  <a:ext uri="{FF2B5EF4-FFF2-40B4-BE49-F238E27FC236}">
                    <a16:creationId xmlns:a16="http://schemas.microsoft.com/office/drawing/2014/main" id="{EA1BE1A0-24DF-4FC8-8B94-D558A70A548C}"/>
                  </a:ext>
                </a:extLst>
              </p:cNvPr>
              <p:cNvSpPr txBox="1"/>
              <p:nvPr/>
            </p:nvSpPr>
            <p:spPr bwMode="auto">
              <a:xfrm>
                <a:off x="261227" y="5359492"/>
                <a:ext cx="2366558" cy="721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anchor="ctr"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Object 141">
                <a:extLst>
                  <a:ext uri="{FF2B5EF4-FFF2-40B4-BE49-F238E27FC236}">
                    <a16:creationId xmlns:a16="http://schemas.microsoft.com/office/drawing/2014/main" id="{EA1BE1A0-24DF-4FC8-8B94-D558A70A5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227" y="5359492"/>
                <a:ext cx="2366558" cy="72123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41">
                <a:extLst>
                  <a:ext uri="{FF2B5EF4-FFF2-40B4-BE49-F238E27FC236}">
                    <a16:creationId xmlns:a16="http://schemas.microsoft.com/office/drawing/2014/main" id="{A4860C96-1522-ED29-0738-9EFA2CBF2755}"/>
                  </a:ext>
                </a:extLst>
              </p:cNvPr>
              <p:cNvSpPr txBox="1"/>
              <p:nvPr/>
            </p:nvSpPr>
            <p:spPr bwMode="auto">
              <a:xfrm>
                <a:off x="6217073" y="5543436"/>
                <a:ext cx="2819423" cy="4616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/>
                  <a:t> 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ko-KR" altLang="en-US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Object 141">
                <a:extLst>
                  <a:ext uri="{FF2B5EF4-FFF2-40B4-BE49-F238E27FC236}">
                    <a16:creationId xmlns:a16="http://schemas.microsoft.com/office/drawing/2014/main" id="{A4860C96-1522-ED29-0738-9EFA2CBF2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7073" y="5543436"/>
                <a:ext cx="2819423" cy="461665"/>
              </a:xfrm>
              <a:prstGeom prst="rect">
                <a:avLst/>
              </a:prstGeom>
              <a:blipFill>
                <a:blip r:embed="rId12"/>
                <a:stretch>
                  <a:fillRect t="-15789" r="-3896" b="-263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41">
                <a:extLst>
                  <a:ext uri="{FF2B5EF4-FFF2-40B4-BE49-F238E27FC236}">
                    <a16:creationId xmlns:a16="http://schemas.microsoft.com/office/drawing/2014/main" id="{F3CA9686-506D-F700-F29C-05C77D99EF5C}"/>
                  </a:ext>
                </a:extLst>
              </p:cNvPr>
              <p:cNvSpPr txBox="1"/>
              <p:nvPr/>
            </p:nvSpPr>
            <p:spPr bwMode="auto">
              <a:xfrm>
                <a:off x="1979712" y="5486344"/>
                <a:ext cx="4392488" cy="5492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anchor="ctr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ko-KR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 </m:t>
                        </m:r>
                        <m:acc>
                          <m:accPr>
                            <m:chr m:val="⃗"/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d>
                    <m:d>
                      <m:dPr>
                        <m:endChr m:val=""/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ko-KR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 </m:t>
                        </m:r>
                        <m:acc>
                          <m:accPr>
                            <m:chr m:val="⃗"/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ko-KR" dirty="0"/>
                  <a:t>)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 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ko-KR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ko-KR" altLang="en-US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Object 141">
                <a:extLst>
                  <a:ext uri="{FF2B5EF4-FFF2-40B4-BE49-F238E27FC236}">
                    <a16:creationId xmlns:a16="http://schemas.microsoft.com/office/drawing/2014/main" id="{F3CA9686-506D-F700-F29C-05C77D99E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9712" y="5486344"/>
                <a:ext cx="4392488" cy="549293"/>
              </a:xfrm>
              <a:prstGeom prst="rect">
                <a:avLst/>
              </a:prstGeom>
              <a:blipFill>
                <a:blip r:embed="rId13"/>
                <a:stretch>
                  <a:fillRect t="-4444" b="-13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8777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5FC0F-75D4-5725-369D-25C05B0C8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BF3887BE-A316-CA01-7205-20AF30628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712" y="5131200"/>
            <a:ext cx="4296375" cy="121937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C80AF4E-23F5-8F4B-4524-B5B074F3C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8.3.1 </a:t>
            </a:r>
            <a:r>
              <a:rPr lang="ko-KR" altLang="en-US" dirty="0"/>
              <a:t>무게중심좌표의 계산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9CD9EA-E8D0-221D-6CD5-54C024938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2E1D99-0FBD-D057-28B1-1C6A19660C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244613-9EA1-7623-9355-C95FEA1D214B}"/>
                  </a:ext>
                </a:extLst>
              </p:cNvPr>
              <p:cNvSpPr txBox="1"/>
              <p:nvPr/>
            </p:nvSpPr>
            <p:spPr>
              <a:xfrm>
                <a:off x="936104" y="4154015"/>
                <a:ext cx="2483768" cy="7496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ko-KR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ko-KR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ko-KR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ko-KR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  <m:r>
                                  <a:rPr lang="ko-KR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244613-9EA1-7623-9355-C95FEA1D2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04" y="4154015"/>
                <a:ext cx="2483768" cy="749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41">
                <a:extLst>
                  <a:ext uri="{FF2B5EF4-FFF2-40B4-BE49-F238E27FC236}">
                    <a16:creationId xmlns:a16="http://schemas.microsoft.com/office/drawing/2014/main" id="{2BBAA9BD-5C0C-8AAC-D5ED-F6BB831CE79E}"/>
                  </a:ext>
                </a:extLst>
              </p:cNvPr>
              <p:cNvSpPr txBox="1"/>
              <p:nvPr/>
            </p:nvSpPr>
            <p:spPr bwMode="auto">
              <a:xfrm>
                <a:off x="539750" y="836712"/>
                <a:ext cx="2448272" cy="13012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Object 141">
                <a:extLst>
                  <a:ext uri="{FF2B5EF4-FFF2-40B4-BE49-F238E27FC236}">
                    <a16:creationId xmlns:a16="http://schemas.microsoft.com/office/drawing/2014/main" id="{2BBAA9BD-5C0C-8AAC-D5ED-F6BB831CE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750" y="836712"/>
                <a:ext cx="2448272" cy="1301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42">
                <a:extLst>
                  <a:ext uri="{FF2B5EF4-FFF2-40B4-BE49-F238E27FC236}">
                    <a16:creationId xmlns:a16="http://schemas.microsoft.com/office/drawing/2014/main" id="{E55C21D1-35AD-6759-5182-883579CC2BC6}"/>
                  </a:ext>
                </a:extLst>
              </p:cNvPr>
              <p:cNvSpPr txBox="1"/>
              <p:nvPr/>
            </p:nvSpPr>
            <p:spPr bwMode="auto">
              <a:xfrm>
                <a:off x="2770893" y="842734"/>
                <a:ext cx="2737211" cy="12891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  <m:r>
                                      <a:rPr lang="ko-KR" altLang="en-US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Object 142">
                <a:extLst>
                  <a:ext uri="{FF2B5EF4-FFF2-40B4-BE49-F238E27FC236}">
                    <a16:creationId xmlns:a16="http://schemas.microsoft.com/office/drawing/2014/main" id="{E55C21D1-35AD-6759-5182-883579CC2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0893" y="842734"/>
                <a:ext cx="2737211" cy="12891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81B3A9-B85A-2629-7F2F-6D07E37C0156}"/>
                  </a:ext>
                </a:extLst>
              </p:cNvPr>
              <p:cNvSpPr txBox="1"/>
              <p:nvPr/>
            </p:nvSpPr>
            <p:spPr>
              <a:xfrm>
                <a:off x="537053" y="2895327"/>
                <a:ext cx="16722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r>
                        <a:rPr lang="en-US" altLang="ko-KR" b="0" i="1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b="0" i="1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81B3A9-B85A-2629-7F2F-6D07E37C0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53" y="2895327"/>
                <a:ext cx="1672265" cy="461665"/>
              </a:xfrm>
              <a:prstGeom prst="rect">
                <a:avLst/>
              </a:prstGeom>
              <a:blipFill>
                <a:blip r:embed="rId6"/>
                <a:stretch>
                  <a:fillRect l="-730" b="-1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84E6E1-3B82-0D34-C856-F107FBBCF944}"/>
                  </a:ext>
                </a:extLst>
              </p:cNvPr>
              <p:cNvSpPr txBox="1"/>
              <p:nvPr/>
            </p:nvSpPr>
            <p:spPr>
              <a:xfrm>
                <a:off x="2281324" y="2895327"/>
                <a:ext cx="16722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r>
                        <a:rPr lang="en-US" altLang="ko-KR" b="0" i="1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84E6E1-3B82-0D34-C856-F107FBBCF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324" y="2895327"/>
                <a:ext cx="1672264" cy="461665"/>
              </a:xfrm>
              <a:prstGeom prst="rect">
                <a:avLst/>
              </a:prstGeom>
              <a:blipFill>
                <a:blip r:embed="rId7"/>
                <a:stretch>
                  <a:fillRect l="-727" b="-1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6CF087-4C7D-55D0-E0D1-EDBE18676477}"/>
                  </a:ext>
                </a:extLst>
              </p:cNvPr>
              <p:cNvSpPr txBox="1"/>
              <p:nvPr/>
            </p:nvSpPr>
            <p:spPr>
              <a:xfrm>
                <a:off x="3921428" y="2880791"/>
                <a:ext cx="22118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r>
                        <a:rPr lang="en-US" altLang="ko-KR" b="0" i="1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6CF087-4C7D-55D0-E0D1-EDBE18676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428" y="2880791"/>
                <a:ext cx="2211816" cy="461665"/>
              </a:xfrm>
              <a:prstGeom prst="rect">
                <a:avLst/>
              </a:prstGeom>
              <a:blipFill>
                <a:blip r:embed="rId8"/>
                <a:stretch>
                  <a:fillRect l="-551" b="-2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5938AB3-FE08-CACD-6335-89FC413CD51C}"/>
              </a:ext>
            </a:extLst>
          </p:cNvPr>
          <p:cNvSpPr txBox="1"/>
          <p:nvPr/>
        </p:nvSpPr>
        <p:spPr>
          <a:xfrm>
            <a:off x="537053" y="2348880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+mn-ea"/>
                <a:ea typeface="+mn-ea"/>
              </a:rPr>
              <a:t>▷ 삼각형 안에 위치할 조건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D9B0E5-9D9E-9D8B-59FD-228D04D79938}"/>
              </a:ext>
            </a:extLst>
          </p:cNvPr>
          <p:cNvSpPr txBox="1"/>
          <p:nvPr/>
        </p:nvSpPr>
        <p:spPr>
          <a:xfrm>
            <a:off x="544610" y="3589348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+mn-ea"/>
                <a:ea typeface="+mn-ea"/>
              </a:rPr>
              <a:t>▷ 퇴화 삼각형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417F52-D31F-429E-8ED7-2E2541385916}"/>
                  </a:ext>
                </a:extLst>
              </p:cNvPr>
              <p:cNvSpPr txBox="1"/>
              <p:nvPr/>
            </p:nvSpPr>
            <p:spPr>
              <a:xfrm>
                <a:off x="4139498" y="4297997"/>
                <a:ext cx="34198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ko-KR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417F52-D31F-429E-8ED7-2E2541385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498" y="4297997"/>
                <a:ext cx="3419872" cy="461665"/>
              </a:xfrm>
              <a:prstGeom prst="rect">
                <a:avLst/>
              </a:prstGeom>
              <a:blipFill>
                <a:blip r:embed="rId9"/>
                <a:stretch>
                  <a:fillRect t="-171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02AB1C62-4F0F-77B7-4EFA-6B981E3854A4}"/>
              </a:ext>
            </a:extLst>
          </p:cNvPr>
          <p:cNvSpPr/>
          <p:nvPr/>
        </p:nvSpPr>
        <p:spPr bwMode="auto">
          <a:xfrm>
            <a:off x="3527657" y="4297997"/>
            <a:ext cx="504057" cy="461665"/>
          </a:xfrm>
          <a:prstGeom prst="righ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AE1511-5CD0-6DE1-76AE-E89BF2B0D71E}"/>
                  </a:ext>
                </a:extLst>
              </p:cNvPr>
              <p:cNvSpPr txBox="1"/>
              <p:nvPr/>
            </p:nvSpPr>
            <p:spPr>
              <a:xfrm>
                <a:off x="1042513" y="5021637"/>
                <a:ext cx="269979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𝑐𝑜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ko-KR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AE1511-5CD0-6DE1-76AE-E89BF2B0D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513" y="5021637"/>
                <a:ext cx="269979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85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BD93B-9408-4DEC-BAE3-83E06F2EB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52F0B-39C2-258C-4B89-C59E18B07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8-2 </a:t>
            </a:r>
            <a:r>
              <a:rPr lang="ko-KR" altLang="en-US" dirty="0"/>
              <a:t>삼각형 칠하기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72260-27C4-1C61-FBAB-E86EA48D6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058A0F-3CA1-6ED5-7AE5-1AE140D64F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47078EB-143E-758C-6871-8F8A52119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3429000"/>
            <a:ext cx="3672408" cy="29458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F37FD3-AECE-EABC-1B40-65FF58B83B58}"/>
              </a:ext>
            </a:extLst>
          </p:cNvPr>
          <p:cNvSpPr txBox="1"/>
          <p:nvPr/>
        </p:nvSpPr>
        <p:spPr>
          <a:xfrm>
            <a:off x="107504" y="764704"/>
            <a:ext cx="892899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dirty="0" err="1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ScreenPoint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fragment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100" dirty="0" err="1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ScreenPoint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1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pointToTest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fragment</a:t>
            </a:r>
            <a:r>
              <a:rPr lang="en-US" altLang="ko-KR" sz="11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1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ToCartesianCoordinate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_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ScreenSize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1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w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pointToTest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1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-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tv</a:t>
            </a:r>
            <a:r>
              <a:rPr lang="en-US" altLang="ko-KR" sz="11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[</a:t>
            </a:r>
            <a:r>
              <a:rPr lang="en-US" altLang="ko-KR" sz="11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</a:t>
            </a:r>
            <a:r>
              <a:rPr lang="en-US" altLang="ko-KR" sz="11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]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Position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1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wdotu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w</a:t>
            </a:r>
            <a:r>
              <a:rPr lang="en-US" altLang="ko-KR" sz="11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1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Dot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1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wdotv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w</a:t>
            </a:r>
            <a:r>
              <a:rPr lang="en-US" altLang="ko-KR" sz="1100" dirty="0" err="1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100" dirty="0" err="1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Dot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1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1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분자 값을 구하고 최종 무게중심좌표 산출</a:t>
            </a:r>
            <a:endParaRPr lang="ko-KR" altLang="en-US" sz="11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1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(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wdotv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*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udotv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-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wdotu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*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vdotv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*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invDenominator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1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(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wdotu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*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udotv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-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wdotv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*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udotu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*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invDenominator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1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oneMinusST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1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1.f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- 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- 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1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100" dirty="0" err="1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컨벡스</a:t>
            </a:r>
            <a:r>
              <a:rPr lang="ko-KR" altLang="en-US" sz="11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조건을 만족할 때만 점 찍기</a:t>
            </a:r>
            <a:endParaRPr lang="ko-KR" altLang="en-US" sz="11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1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(((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&gt;= </a:t>
            </a:r>
            <a:r>
              <a:rPr lang="en-US" altLang="ko-KR" sz="11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&amp;&amp; (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&lt;= </a:t>
            </a:r>
            <a:r>
              <a:rPr lang="en-US" altLang="ko-KR" sz="11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1.f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)) &amp;&amp; ((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&gt;= </a:t>
            </a:r>
            <a:r>
              <a:rPr lang="en-US" altLang="ko-KR" sz="11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&amp;&amp; (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&lt;= </a:t>
            </a:r>
            <a:r>
              <a:rPr lang="en-US" altLang="ko-KR" sz="11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1.f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)) &amp;&amp;</a:t>
            </a:r>
            <a:b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</a:b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 ((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oneMinusST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&gt;= </a:t>
            </a:r>
            <a:r>
              <a:rPr lang="en-US" altLang="ko-KR" sz="11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&amp;&amp; (</a:t>
            </a:r>
            <a:r>
              <a:rPr lang="en-US" altLang="ko-KR" sz="11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oneMinusST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&lt;= </a:t>
            </a:r>
            <a:r>
              <a:rPr lang="en-US" altLang="ko-KR" sz="11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1.f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)))</a:t>
            </a:r>
          </a:p>
          <a:p>
            <a:pPr>
              <a:buNone/>
            </a:pP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1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DrawPoint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fragment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1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LinearColor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1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Blue</a:t>
            </a: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1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}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63ECBDD-AD6F-E4D7-1F2B-2F04E9F0F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98" y="3388487"/>
            <a:ext cx="2923287" cy="298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27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4DBC4-09D8-8BFB-4967-D901CAEF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33945-5FE7-2429-5425-18B9B30A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8-3 </a:t>
            </a:r>
            <a:r>
              <a:rPr lang="ko-KR" altLang="en-US" dirty="0"/>
              <a:t>무지개 삼각형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251AAA-EBD1-276E-BB13-021D3592C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39F043-D52A-DE19-E12C-8C3924CB81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134005-8B7A-66E1-D291-835353B48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764704"/>
            <a:ext cx="6174504" cy="23751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F8C8DC-D28F-26F4-4D04-29948101C735}"/>
              </a:ext>
            </a:extLst>
          </p:cNvPr>
          <p:cNvSpPr txBox="1"/>
          <p:nvPr/>
        </p:nvSpPr>
        <p:spPr>
          <a:xfrm>
            <a:off x="107504" y="3501008"/>
            <a:ext cx="6552728" cy="160043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(((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&gt;=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&amp;&amp; 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&lt;=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)) &amp;&amp;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&gt;=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&amp;&amp; 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&lt;=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)) &amp;&amp;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((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oneMinusST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&gt;=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&amp;&amp; (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oneMinusST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&lt;=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)))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LinearColor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outColor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tv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[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]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oneMinusST</a:t>
            </a:r>
            <a:b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</a:b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              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+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tv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[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]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+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tv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[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2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]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DrawPoint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fragment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outColor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B01CC06-1D30-DE7A-0E7A-0354F66C4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980" y="1124744"/>
            <a:ext cx="2057687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12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235DD-7BE7-6109-B937-D8FE0E70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5FB96-7183-2F18-B3C6-CC42F33D9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8.4 </a:t>
            </a:r>
            <a:r>
              <a:rPr lang="ko-KR" altLang="en-US" dirty="0"/>
              <a:t>텍스처 매핑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C7E560-202D-EEE5-9B75-8867F53FB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215A3A-C991-816E-FE1E-43AAE9282F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E3E330-B9AA-CE59-41BB-EBE13AEBA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960" y="836712"/>
            <a:ext cx="5430008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306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0E786-BEAB-1BB1-A4A8-38D300D4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C44DF-5698-23DB-3DA3-668AB769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8-4 </a:t>
            </a:r>
            <a:r>
              <a:rPr lang="ko-KR" altLang="en-US" dirty="0"/>
              <a:t>텍스처 매핑의 구현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D26874-A7ED-ED2A-F394-6AB54D8F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C4503AD-3C2F-EA0F-4E7C-98C0F2409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544" y="950783"/>
            <a:ext cx="3429187" cy="21838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3777E2-95B2-3A96-7908-3BFCB040F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701" y="3669651"/>
            <a:ext cx="5866425" cy="28940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BFD415-E43B-34A3-FCEF-BD3605AAF855}"/>
              </a:ext>
            </a:extLst>
          </p:cNvPr>
          <p:cNvSpPr txBox="1"/>
          <p:nvPr/>
        </p:nvSpPr>
        <p:spPr>
          <a:xfrm>
            <a:off x="1120670" y="3538701"/>
            <a:ext cx="2664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정점에 설정한 </a:t>
            </a: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UV </a:t>
            </a: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254BF5-947F-A539-FCFB-63F86F4D2BDA}"/>
              </a:ext>
            </a:extLst>
          </p:cNvPr>
          <p:cNvSpPr txBox="1"/>
          <p:nvPr/>
        </p:nvSpPr>
        <p:spPr>
          <a:xfrm>
            <a:off x="134701" y="581451"/>
            <a:ext cx="4636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마인크래프트 스킨에서 얼굴 부분의 </a:t>
            </a: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UV </a:t>
            </a: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좌표</a:t>
            </a:r>
          </a:p>
        </p:txBody>
      </p:sp>
    </p:spTree>
    <p:extLst>
      <p:ext uri="{BB962C8B-B14F-4D97-AF65-F5344CB8AC3E}">
        <p14:creationId xmlns:p14="http://schemas.microsoft.com/office/powerpoint/2010/main" val="2700148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5190A-D469-6BE4-2904-43C054E01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2188D-86C9-2B4E-AA95-0420232D8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8-4 </a:t>
            </a:r>
            <a:r>
              <a:rPr lang="ko-KR" altLang="en-US" dirty="0"/>
              <a:t>텍스처 매핑의 구현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2CB401-DD54-DC88-1294-60E49D3002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A80C28-A6B4-CD04-5D95-640960520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361DBA-8CF9-5E3E-2E7F-707794581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348880"/>
            <a:ext cx="2520280" cy="24611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46E1AB-6C15-445E-0FD1-59B1CB1F9C7A}"/>
              </a:ext>
            </a:extLst>
          </p:cNvPr>
          <p:cNvSpPr txBox="1"/>
          <p:nvPr/>
        </p:nvSpPr>
        <p:spPr>
          <a:xfrm>
            <a:off x="467544" y="836712"/>
            <a:ext cx="66967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8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targetUV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8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tv</a:t>
            </a:r>
            <a:r>
              <a:rPr lang="en-US" altLang="ko-KR" sz="18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[</a:t>
            </a:r>
            <a:r>
              <a:rPr lang="en-US" altLang="ko-KR" sz="18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</a:t>
            </a:r>
            <a:r>
              <a:rPr lang="en-US" altLang="ko-KR" sz="18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]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8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UV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8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800" dirty="0" err="1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oneMinusST</a:t>
            </a:r>
            <a:endParaRPr lang="en-US" altLang="ko-KR" sz="18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8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                 +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8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tv</a:t>
            </a:r>
            <a:r>
              <a:rPr lang="en-US" altLang="ko-KR" sz="18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[</a:t>
            </a:r>
            <a:r>
              <a:rPr lang="en-US" altLang="ko-KR" sz="18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</a:t>
            </a:r>
            <a:r>
              <a:rPr lang="en-US" altLang="ko-KR" sz="18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]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8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UV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8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8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</a:t>
            </a:r>
          </a:p>
          <a:p>
            <a:pPr>
              <a:buNone/>
            </a:pPr>
            <a:r>
              <a:rPr lang="en-US" altLang="ko-KR" sz="18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                 +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8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tv</a:t>
            </a:r>
            <a:r>
              <a:rPr lang="en-US" altLang="ko-KR" sz="18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[</a:t>
            </a:r>
            <a:r>
              <a:rPr lang="en-US" altLang="ko-KR" sz="18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2</a:t>
            </a:r>
            <a:r>
              <a:rPr lang="en-US" altLang="ko-KR" sz="18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]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8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UV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8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8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93728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2D8FC-65FD-D2AE-D663-3C7F25A6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C878D-90C8-7440-825C-7C49F595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D5501-FFE2-3142-B250-2810428F1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아핀 결합을 사용한 삼각형 표현</a:t>
            </a:r>
            <a:endParaRPr lang="en-US" altLang="ko-KR" dirty="0"/>
          </a:p>
          <a:p>
            <a:r>
              <a:rPr lang="ko-KR" altLang="en-US" dirty="0"/>
              <a:t>삼각형</a:t>
            </a:r>
            <a:endParaRPr lang="en-US" altLang="ko-KR" dirty="0"/>
          </a:p>
          <a:p>
            <a:r>
              <a:rPr lang="ko-KR" altLang="en-US" dirty="0"/>
              <a:t>무게중심 좌표</a:t>
            </a:r>
            <a:endParaRPr lang="en-US" altLang="ko-KR" dirty="0"/>
          </a:p>
          <a:p>
            <a:r>
              <a:rPr lang="ko-KR" altLang="en-US" dirty="0"/>
              <a:t>텍스처 좌표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FEE88A-6537-C0F0-B6EA-600799724E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8115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B9F6A-5590-3346-89BD-C2E6A363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C7BCAD60-CFCA-0E1F-BF59-D99FCAD8EA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게임 엔진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862404BE-CF3D-937D-FDD2-23BD3D972C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콘텐츠를 만드는 기술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8DA11B-FBD9-A9B5-A73A-D959F64B81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147586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C4D1-B375-5232-8774-C5CF52D57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439A7-A2D2-FD15-BE30-1EA77C5D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게임 엔진의 구성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E683E1-F88D-F5AE-A2F9-1335D69B5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씬과</a:t>
            </a:r>
            <a:r>
              <a:rPr lang="ko-KR" altLang="en-US" dirty="0"/>
              <a:t> 리소스로부터 만들어지는 최종 화면의 렌더링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6D62BF-2BCF-0A82-D709-5140B09181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707E31-D640-C51A-9A27-4C30BD09B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85" y="1317674"/>
            <a:ext cx="7856430" cy="422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282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04C3-5643-093B-EE39-5735E5FD1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A7FEF4-A8A6-2F78-5AD3-E3546F9B5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9.1.1 </a:t>
            </a:r>
            <a:r>
              <a:rPr lang="ko-KR" altLang="en-US" dirty="0"/>
              <a:t>게임 엔진에서의 씬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5BE514-C4B7-6154-90A0-FF5E056AF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엔진의</a:t>
            </a:r>
            <a:r>
              <a:rPr lang="en-US" altLang="ko-KR" dirty="0"/>
              <a:t> Scene </a:t>
            </a:r>
            <a:r>
              <a:rPr lang="ko-KR" altLang="en-US" dirty="0"/>
              <a:t>구성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씬</a:t>
            </a:r>
            <a:r>
              <a:rPr lang="en-US" altLang="ko-KR" dirty="0"/>
              <a:t>, </a:t>
            </a:r>
            <a:r>
              <a:rPr lang="ko-KR" altLang="en-US" dirty="0"/>
              <a:t>게임 오브젝트</a:t>
            </a:r>
            <a:r>
              <a:rPr lang="en-US" altLang="ko-KR" dirty="0"/>
              <a:t>, </a:t>
            </a:r>
            <a:r>
              <a:rPr lang="ko-KR" altLang="en-US" dirty="0"/>
              <a:t>트랜스폼의 관계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BA54B9-0189-D4E5-23CE-83C4F8B401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3818B5A-46CD-4C88-0182-62ECE6CFC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29" y="1196752"/>
            <a:ext cx="6506319" cy="244827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5F607CE-F7D9-E930-6D9C-6CB3273C1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29" y="4390749"/>
            <a:ext cx="3588747" cy="212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97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CC943-08B6-4598-09DD-E3B011EC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C14B9-8FD8-5084-1661-5A9F5561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9.1.2 </a:t>
            </a:r>
            <a:r>
              <a:rPr lang="ko-KR" altLang="en-US" dirty="0"/>
              <a:t>모델링 행렬의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ED60F2-5837-85E1-26C3-3841ADB85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트랜스폼</a:t>
            </a:r>
            <a:endParaRPr lang="en-US" altLang="ko-KR" dirty="0"/>
          </a:p>
          <a:p>
            <a:pPr lvl="1"/>
            <a:r>
              <a:rPr lang="ko-KR" altLang="en-US" dirty="0"/>
              <a:t>크기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회전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이동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왼손 좌표계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5C8B85-ED40-27E0-A354-4525C3B128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980622-1724-4B35-9DCC-26B27690040A}"/>
                  </a:ext>
                </a:extLst>
              </p:cNvPr>
              <p:cNvSpPr txBox="1"/>
              <p:nvPr/>
            </p:nvSpPr>
            <p:spPr>
              <a:xfrm>
                <a:off x="2771800" y="1052736"/>
                <a:ext cx="2274341" cy="1037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980622-1724-4B35-9DCC-26B276900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1052736"/>
                <a:ext cx="2274341" cy="1037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D6E785-5DD6-400F-8B3F-D0C33CA0C0CD}"/>
                  </a:ext>
                </a:extLst>
              </p:cNvPr>
              <p:cNvSpPr txBox="1"/>
              <p:nvPr/>
            </p:nvSpPr>
            <p:spPr>
              <a:xfrm>
                <a:off x="2737443" y="2261393"/>
                <a:ext cx="3634757" cy="1100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ko-KR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ko-KR" altLang="en-US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ko-KR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D6E785-5DD6-400F-8B3F-D0C33CA0C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443" y="2261393"/>
                <a:ext cx="3634757" cy="11008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DF58AD-4DE1-4282-854F-BD39557D10EB}"/>
                  </a:ext>
                </a:extLst>
              </p:cNvPr>
              <p:cNvSpPr txBox="1"/>
              <p:nvPr/>
            </p:nvSpPr>
            <p:spPr>
              <a:xfrm>
                <a:off x="2771800" y="3495794"/>
                <a:ext cx="2171428" cy="1037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DF58AD-4DE1-4282-854F-BD39557D1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3495794"/>
                <a:ext cx="2171428" cy="1037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493D35-4EA3-4AAA-BB7A-819426A821EB}"/>
                  </a:ext>
                </a:extLst>
              </p:cNvPr>
              <p:cNvSpPr txBox="1"/>
              <p:nvPr/>
            </p:nvSpPr>
            <p:spPr>
              <a:xfrm>
                <a:off x="4280572" y="5332687"/>
                <a:ext cx="2276329" cy="11738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493D35-4EA3-4AAA-BB7A-819426A82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572" y="5332687"/>
                <a:ext cx="2276329" cy="11738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47F119-DEF7-4582-94EB-B29933E1546E}"/>
                  </a:ext>
                </a:extLst>
              </p:cNvPr>
              <p:cNvSpPr txBox="1"/>
              <p:nvPr/>
            </p:nvSpPr>
            <p:spPr>
              <a:xfrm>
                <a:off x="827584" y="5386128"/>
                <a:ext cx="3384376" cy="1072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47F119-DEF7-4582-94EB-B29933E15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386128"/>
                <a:ext cx="3384376" cy="10720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9043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CC943-08B6-4598-09DD-E3B011EC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C14B9-8FD8-5084-1661-5A9F5561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9.1.2 </a:t>
            </a:r>
            <a:r>
              <a:rPr lang="ko-KR" altLang="en-US" dirty="0"/>
              <a:t>모델링 행렬의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ED60F2-5837-85E1-26C3-3841ADB85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3600" dirty="0"/>
              <a:t>S·R·T</a:t>
            </a:r>
          </a:p>
          <a:p>
            <a:pPr lvl="5"/>
            <a:endParaRPr lang="en-US" altLang="ko-KR" sz="2600" dirty="0"/>
          </a:p>
          <a:p>
            <a:r>
              <a:rPr lang="en-US" altLang="ko-KR" sz="3600" dirty="0"/>
              <a:t>S·T·R</a:t>
            </a:r>
          </a:p>
          <a:p>
            <a:pPr lvl="5"/>
            <a:endParaRPr lang="en-US" altLang="ko-KR" sz="2600" dirty="0"/>
          </a:p>
          <a:p>
            <a:r>
              <a:rPr lang="en-US" altLang="ko-KR" sz="3600" dirty="0"/>
              <a:t>T·S·R</a:t>
            </a:r>
          </a:p>
          <a:p>
            <a:pPr lvl="5"/>
            <a:endParaRPr lang="en-US" altLang="ko-KR" sz="2600" dirty="0"/>
          </a:p>
          <a:p>
            <a:r>
              <a:rPr lang="en-US" altLang="ko-KR" sz="3600" dirty="0"/>
              <a:t>T·R·S</a:t>
            </a:r>
          </a:p>
          <a:p>
            <a:pPr lvl="5"/>
            <a:endParaRPr lang="en-US" altLang="ko-KR" sz="2600" dirty="0"/>
          </a:p>
          <a:p>
            <a:r>
              <a:rPr lang="en-US" altLang="ko-KR" sz="3600" dirty="0"/>
              <a:t>R·T·S</a:t>
            </a:r>
          </a:p>
          <a:p>
            <a:pPr lvl="4"/>
            <a:endParaRPr lang="en-US" altLang="ko-KR" sz="2600" dirty="0"/>
          </a:p>
          <a:p>
            <a:r>
              <a:rPr lang="en-US" altLang="ko-KR" sz="3600" dirty="0"/>
              <a:t>R·S·T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5C8B85-ED40-27E0-A354-4525C3B128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3110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E0C5-A65B-3905-0002-37AFA030E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0E20A4-0791-3734-FDB6-EC1311E49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9.1.2 </a:t>
            </a:r>
            <a:r>
              <a:rPr lang="ko-KR" altLang="en-US" dirty="0"/>
              <a:t>모델링 행렬의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2D1CBB-6587-EC9D-864B-2ADED302E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이동 변환과 회전 변환의 적용 순서에 따른 차이 비교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376C23-4C3B-EA2F-4FEF-DAE7292AB6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9B9F12-1839-46AA-5BD0-D86C53281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1412776"/>
            <a:ext cx="7420515" cy="492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65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365A4-AD49-2885-15F0-3657606F4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E607B1-B53C-DB6F-7C6D-430A1B67C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9.1.2 </a:t>
            </a:r>
            <a:r>
              <a:rPr lang="ko-KR" altLang="en-US" dirty="0"/>
              <a:t>모델링 행렬의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786D3D-21AE-DBEE-14F1-3BDCC2519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회전 변환과 크기 변환의 적용 순서에 따른 차이 비교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2D6862-AAF8-6300-5E53-1933D399AB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05E290-60C0-D5A6-9576-B5AFAEF07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76048"/>
            <a:ext cx="7344816" cy="468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767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6B9DB-D55F-C9CA-742A-38B34B8D3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AF6C9-16A8-835F-4E85-70174F3CE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9.1.2 </a:t>
            </a:r>
            <a:r>
              <a:rPr lang="ko-KR" altLang="en-US" dirty="0"/>
              <a:t>모델링 행렬의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0D7197-DB25-3FB6-7023-FD90F54ED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오른손 좌표계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왼손 좌표계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CEF6C9-CD11-63FD-0ED8-56C3BA9279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D4097D-6C9F-CE4D-29F0-6817A762F444}"/>
                  </a:ext>
                </a:extLst>
              </p:cNvPr>
              <p:cNvSpPr txBox="1"/>
              <p:nvPr/>
            </p:nvSpPr>
            <p:spPr>
              <a:xfrm>
                <a:off x="665820" y="1371385"/>
                <a:ext cx="76505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h𝑎𝑛𝑑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D4097D-6C9F-CE4D-29F0-6817A762F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20" y="1371385"/>
                <a:ext cx="765059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F0A1B3-DBB4-4FEF-9B22-772838308089}"/>
                  </a:ext>
                </a:extLst>
              </p:cNvPr>
              <p:cNvSpPr txBox="1"/>
              <p:nvPr/>
            </p:nvSpPr>
            <p:spPr>
              <a:xfrm>
                <a:off x="2595327" y="4005064"/>
                <a:ext cx="5721089" cy="15846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3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3200" b="0" i="0" smtClean="0">
                                    <a:latin typeface="Cambria Math" panose="02040503050406030204" pitchFamily="18" charset="0"/>
                                  </a:rPr>
                                  <m:t>   </m:t>
                                </m:r>
                                <m:func>
                                  <m:func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32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32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altLang="ko-KR" sz="3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32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altLang="ko-KR" sz="3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3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32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altLang="ko-KR" sz="3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32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altLang="ko-KR" sz="3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F0A1B3-DBB4-4FEF-9B22-772838308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327" y="4005064"/>
                <a:ext cx="5721089" cy="15846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92B654-BB27-63F5-B30F-13C013C4425D}"/>
                  </a:ext>
                </a:extLst>
              </p:cNvPr>
              <p:cNvSpPr txBox="1"/>
              <p:nvPr/>
            </p:nvSpPr>
            <p:spPr>
              <a:xfrm>
                <a:off x="2267744" y="1846468"/>
                <a:ext cx="5688632" cy="1565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320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32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altLang="ko-KR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3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3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ko-KR" altLang="en-US" sz="3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3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32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altLang="ko-KR" sz="3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sz="3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32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altLang="ko-KR" sz="3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3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92B654-BB27-63F5-B30F-13C013C44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1846468"/>
                <a:ext cx="5688632" cy="15651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94252E-C454-7B40-984D-54ED69B03E30}"/>
                  </a:ext>
                </a:extLst>
              </p:cNvPr>
              <p:cNvSpPr txBox="1"/>
              <p:nvPr/>
            </p:nvSpPr>
            <p:spPr>
              <a:xfrm>
                <a:off x="674973" y="4551142"/>
                <a:ext cx="192035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h𝑎𝑛𝑑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94252E-C454-7B40-984D-54ED69B03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73" y="4551142"/>
                <a:ext cx="1920354" cy="492443"/>
              </a:xfrm>
              <a:prstGeom prst="rect">
                <a:avLst/>
              </a:prstGeom>
              <a:blipFill>
                <a:blip r:embed="rId5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3992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C8AEE-9E61-D7C9-2393-1CD74DCB7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85A4D-6561-6EE8-5486-5F8CEA8B9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9.1.3 </a:t>
            </a:r>
            <a:r>
              <a:rPr lang="ko-KR" altLang="en-US" dirty="0"/>
              <a:t>로컬 공간과 로컬 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0959CB-283A-F2EE-9BFE-136535760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 엔진의 월드 공간과 로컬 공간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A42EC6-3017-68F2-0901-FC592DCDCE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3C539EE-99AE-08A5-8F47-7E9C90593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565466"/>
            <a:ext cx="8215901" cy="372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562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F45D4-102D-58FC-F687-CFF52B18A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2DE87-172A-0E13-4C39-554EB8D9A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9.1.3 </a:t>
            </a:r>
            <a:r>
              <a:rPr lang="ko-KR" altLang="en-US" dirty="0"/>
              <a:t>로컬 공간과 로컬 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384BC3-F52B-5960-2440-7CFE90959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월드 공간의 축과 로컬 공간의 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C64727-73D3-CFE2-DFE1-0CE7A169C5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E24286-E0D2-7608-B0E8-D82819A34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68760"/>
            <a:ext cx="8378967" cy="489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9374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51BF-0E1C-B6B6-ACC3-FBE2F6C1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5B5F7-AA2A-D699-7DB8-C5ACB7851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9.1.3 </a:t>
            </a:r>
            <a:r>
              <a:rPr lang="ko-KR" altLang="en-US" dirty="0"/>
              <a:t>로컬 공간과 로컬 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8479A-1809-12A1-F10D-BDF64F26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표준 기저 벡터 </a:t>
            </a:r>
            <a:r>
              <a:rPr lang="en-US" altLang="ko-KR" sz="2400" dirty="0"/>
              <a:t>e</a:t>
            </a:r>
            <a:r>
              <a:rPr lang="en-US" altLang="ko-KR" sz="2400" baseline="-25000" dirty="0"/>
              <a:t>1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표준 기저 벡터 </a:t>
            </a:r>
            <a:r>
              <a:rPr lang="en-US" altLang="ko-KR" sz="2400" dirty="0"/>
              <a:t>e</a:t>
            </a:r>
            <a:r>
              <a:rPr lang="en-US" altLang="ko-KR" sz="2400" baseline="-25000" dirty="0"/>
              <a:t>2</a:t>
            </a:r>
          </a:p>
          <a:p>
            <a:endParaRPr lang="en-US" altLang="ko-KR" sz="2400" baseline="-25000" dirty="0"/>
          </a:p>
          <a:p>
            <a:endParaRPr lang="en-US" altLang="ko-KR" sz="2400" baseline="-25000" dirty="0"/>
          </a:p>
          <a:p>
            <a:r>
              <a:rPr lang="en-US" altLang="ko-KR" sz="2400" dirty="0"/>
              <a:t>Rotation Matrix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Local </a:t>
            </a:r>
            <a:r>
              <a:rPr lang="ko-KR" altLang="en-US" sz="2400" dirty="0"/>
              <a:t>공간  </a:t>
            </a:r>
            <a:r>
              <a:rPr lang="en-US" altLang="ko-KR" sz="2400" dirty="0"/>
              <a:t>Transform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2F4661-7EF3-2DFC-B2AD-D86E37D118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E71138-8E59-3089-A582-357BE726FF46}"/>
                  </a:ext>
                </a:extLst>
              </p:cNvPr>
              <p:cNvSpPr txBox="1"/>
              <p:nvPr/>
            </p:nvSpPr>
            <p:spPr>
              <a:xfrm>
                <a:off x="861997" y="1223157"/>
                <a:ext cx="23662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</m:t>
                      </m:r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l-GR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E71138-8E59-3089-A582-357BE726F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97" y="1223157"/>
                <a:ext cx="2366225" cy="369332"/>
              </a:xfrm>
              <a:prstGeom prst="rect">
                <a:avLst/>
              </a:prstGeom>
              <a:blipFill>
                <a:blip r:embed="rId2"/>
                <a:stretch>
                  <a:fillRect l="-2057" t="-35000" r="-3342" b="-3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2D709C-CEFE-6623-AA9D-21999FEB5465}"/>
                  </a:ext>
                </a:extLst>
              </p:cNvPr>
              <p:cNvSpPr txBox="1"/>
              <p:nvPr/>
            </p:nvSpPr>
            <p:spPr>
              <a:xfrm>
                <a:off x="861997" y="2524595"/>
                <a:ext cx="26782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=(−</m:t>
                      </m:r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l-GR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2D709C-CEFE-6623-AA9D-21999FEB5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97" y="2524595"/>
                <a:ext cx="2678297" cy="369332"/>
              </a:xfrm>
              <a:prstGeom prst="rect">
                <a:avLst/>
              </a:prstGeom>
              <a:blipFill>
                <a:blip r:embed="rId3"/>
                <a:stretch>
                  <a:fillRect l="-455" r="-2955" b="-37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BF743C-BCAD-CCD8-9D41-92228E8459BE}"/>
                  </a:ext>
                </a:extLst>
              </p:cNvPr>
              <p:cNvSpPr txBox="1"/>
              <p:nvPr/>
            </p:nvSpPr>
            <p:spPr>
              <a:xfrm>
                <a:off x="861997" y="3554672"/>
                <a:ext cx="2678297" cy="112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BF743C-BCAD-CCD8-9D41-92228E845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97" y="3554672"/>
                <a:ext cx="2678297" cy="1129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65A52E-887D-2447-43F9-AF6319429A66}"/>
                  </a:ext>
                </a:extLst>
              </p:cNvPr>
              <p:cNvSpPr txBox="1"/>
              <p:nvPr/>
            </p:nvSpPr>
            <p:spPr>
              <a:xfrm>
                <a:off x="971600" y="5345015"/>
                <a:ext cx="4869282" cy="1195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𝐿𝑜𝑐𝑎𝑙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65A52E-887D-2447-43F9-AF6319429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345015"/>
                <a:ext cx="4869282" cy="11955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3406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8604C-8803-FD29-5D52-C03A4659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6DCD1-B2D7-544D-7A45-15C19A9E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9.1.4 </a:t>
            </a:r>
            <a:r>
              <a:rPr lang="ko-KR" altLang="en-US" dirty="0"/>
              <a:t>리소스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204A0C-5E23-D16C-C93E-A431831DC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동일한 리소스를 사용하는 다수의 게임 오브젝트를 화면에 배치한 결과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810C72-521F-0015-70B9-FE1CD9A021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AE8CC1-E91D-48CB-F35D-EC8414C72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39" y="2060848"/>
            <a:ext cx="8358522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873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5AF77-9052-DB06-7F58-3FC52299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92E05B-C370-7A2C-FCD6-6155DF2EA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9.1.4 </a:t>
            </a:r>
            <a:r>
              <a:rPr lang="ko-KR" altLang="en-US" dirty="0"/>
              <a:t>리소스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F58FDE-2852-BD90-A0DD-3AC47F161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 콘텐츠의 제작 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1452D7-8104-2CD8-7741-BCCAA26470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A67328-AD05-4F01-DCC7-A88C0663E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7" y="1251286"/>
            <a:ext cx="8110151" cy="484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570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6937-4FD5-B5C3-DAFE-E273D00D6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8E633-76A0-5D02-C6BE-542E53AE1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9.1.4 </a:t>
            </a:r>
            <a:r>
              <a:rPr lang="ko-KR" altLang="en-US" dirty="0"/>
              <a:t>리소스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6FC3FA-1E04-1759-610F-196B23BE7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 엔진이 제공하는 리소스 저장소 영역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BF46A5F-EF41-C6E9-C920-9DFE9783D1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C00351-2C3B-76F0-A554-DB2FB3876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85" y="1628800"/>
            <a:ext cx="8372328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1095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E7E39-D44B-241E-AC0B-AFB7F253E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1F3A07-6C0F-03FD-7377-9F6CCD370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9.1.4 </a:t>
            </a:r>
            <a:r>
              <a:rPr lang="ko-KR" altLang="en-US" dirty="0"/>
              <a:t>리소스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090341-0DC8-6ECA-55EE-714B6D6A6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Scene</a:t>
            </a:r>
          </a:p>
          <a:p>
            <a:pPr lvl="1"/>
            <a:r>
              <a:rPr lang="ko-KR" altLang="en-US" dirty="0"/>
              <a:t>게임 월드 공간</a:t>
            </a:r>
            <a:endParaRPr lang="en-US" altLang="ko-KR" dirty="0"/>
          </a:p>
          <a:p>
            <a:pPr lvl="1"/>
            <a:r>
              <a:rPr lang="en-US" altLang="ko-KR" dirty="0"/>
              <a:t>Level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리소스</a:t>
            </a:r>
            <a:endParaRPr lang="en-US" altLang="ko-KR" dirty="0"/>
          </a:p>
          <a:p>
            <a:pPr lvl="1"/>
            <a:r>
              <a:rPr lang="ko-KR" altLang="en-US" dirty="0"/>
              <a:t>데이터</a:t>
            </a:r>
            <a:endParaRPr lang="en-US" altLang="ko-KR" dirty="0"/>
          </a:p>
          <a:p>
            <a:pPr lvl="1"/>
            <a:r>
              <a:rPr lang="ko-KR" altLang="en-US" dirty="0" err="1"/>
              <a:t>에셋</a:t>
            </a:r>
            <a:r>
              <a:rPr lang="en-US" altLang="ko-KR" dirty="0"/>
              <a:t>(Asset)</a:t>
            </a:r>
          </a:p>
          <a:p>
            <a:pPr lvl="2"/>
            <a:r>
              <a:rPr lang="ko-KR" altLang="en-US" dirty="0"/>
              <a:t>관리 형태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리소스 관리</a:t>
            </a:r>
            <a:endParaRPr lang="en-US" altLang="ko-KR" dirty="0"/>
          </a:p>
          <a:p>
            <a:pPr lvl="1"/>
            <a:r>
              <a:rPr lang="en-US" altLang="ko-KR" dirty="0"/>
              <a:t>{</a:t>
            </a:r>
            <a:r>
              <a:rPr lang="ko-KR" altLang="en-US" dirty="0"/>
              <a:t>키 </a:t>
            </a:r>
            <a:r>
              <a:rPr lang="en-US" altLang="ko-KR" dirty="0"/>
              <a:t>+ </a:t>
            </a:r>
            <a:r>
              <a:rPr lang="ko-KR" altLang="en-US" dirty="0"/>
              <a:t>데이터</a:t>
            </a:r>
            <a:r>
              <a:rPr lang="en-US" altLang="ko-KR" dirty="0"/>
              <a:t>}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A0D9EC-B62A-04A9-23C1-43EA0D6D09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4FE12C-E12D-8CE2-12D3-B77F52627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1772816"/>
            <a:ext cx="5764254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087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E9F72-2BE5-DDF3-9FFC-2A574AC2A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5E406-A30D-79E0-1FCF-8C7C2575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</a:t>
            </a:r>
            <a:r>
              <a:rPr lang="ko-KR" altLang="en-US" dirty="0"/>
              <a:t>게임 엔진의 워크 플로우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CEA8BD-4577-C3D7-51A8-1D573663A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9.2.1 </a:t>
            </a:r>
            <a:r>
              <a:rPr lang="ko-KR" altLang="en-US" dirty="0"/>
              <a:t>게임 엔진의 진행 과정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리소스 로딩</a:t>
            </a:r>
            <a:r>
              <a:rPr lang="en-US" altLang="ko-KR" dirty="0"/>
              <a:t>: </a:t>
            </a:r>
            <a:r>
              <a:rPr lang="en-US" altLang="ko-KR" dirty="0" err="1"/>
              <a:t>LoadResources</a:t>
            </a:r>
            <a:endParaRPr lang="en-US" altLang="ko-KR" dirty="0"/>
          </a:p>
          <a:p>
            <a:pPr lvl="1"/>
            <a:r>
              <a:rPr lang="ko-KR" altLang="en-US" dirty="0"/>
              <a:t>씬</a:t>
            </a:r>
            <a:r>
              <a:rPr lang="en-US" altLang="ko-KR" dirty="0"/>
              <a:t> </a:t>
            </a:r>
            <a:r>
              <a:rPr lang="ko-KR" altLang="en-US" dirty="0"/>
              <a:t>구축</a:t>
            </a:r>
            <a:r>
              <a:rPr lang="en-US" altLang="ko-KR" dirty="0"/>
              <a:t>: LoadScene2D</a:t>
            </a:r>
          </a:p>
          <a:p>
            <a:pPr lvl="1"/>
            <a:r>
              <a:rPr lang="ko-KR" altLang="en-US" dirty="0"/>
              <a:t>게임 로직</a:t>
            </a:r>
            <a:r>
              <a:rPr lang="en-US" altLang="ko-KR" dirty="0"/>
              <a:t>: Update2D</a:t>
            </a:r>
          </a:p>
          <a:p>
            <a:pPr lvl="1"/>
            <a:r>
              <a:rPr lang="ko-KR" altLang="en-US" dirty="0"/>
              <a:t>렌더링</a:t>
            </a:r>
            <a:r>
              <a:rPr lang="en-US" altLang="ko-KR" dirty="0"/>
              <a:t>: Render2D</a:t>
            </a:r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B13D7A-CE75-B3EB-4930-3FC519900C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B75EA4-E4F9-BA43-0897-30CEE6078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80" y="1714406"/>
            <a:ext cx="8245640" cy="171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762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CE2E-F1C9-EAAD-86BB-87C34DE1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B72D4-9410-4D24-D51D-1FC05AE8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9.2.2 </a:t>
            </a:r>
            <a:r>
              <a:rPr lang="ko-KR" altLang="en-US" dirty="0"/>
              <a:t>렌더링 파이프라인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A4F6F8-07C5-A234-46B9-C2E06154B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GPU</a:t>
            </a:r>
            <a:r>
              <a:rPr lang="ko-KR" altLang="en-US" dirty="0"/>
              <a:t>에서 수행되는 렌더링 파이프라인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CK </a:t>
            </a:r>
            <a:r>
              <a:rPr lang="ko-KR" altLang="en-US" dirty="0" err="1"/>
              <a:t>소프트렌더러의</a:t>
            </a:r>
            <a:r>
              <a:rPr lang="ko-KR" altLang="en-US" dirty="0"/>
              <a:t> 렌더링 파이프라인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A094D1-C619-34C3-848F-87BB7E0064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D47F500-06C9-3259-7C32-EDCAA93B7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68760"/>
            <a:ext cx="8424936" cy="19304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8554F5-3464-1D78-270E-559F0DBF8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5" y="4941168"/>
            <a:ext cx="8470712" cy="122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3621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CD85E-03E1-8589-D2F7-1462148DA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091C1-61F5-FF46-630C-42E3C98B8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9.2.2 </a:t>
            </a:r>
            <a:r>
              <a:rPr lang="ko-KR" altLang="en-US" dirty="0"/>
              <a:t>렌더링 파이프라인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E3FF06-8B45-9D89-0D5D-3C5C33267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월드 공간을 중심으로 각 게임 오브젝트를 그린 결과 화면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61A6C4-9AA7-8CEB-7093-9543E1CD69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31F4365-D5F4-EBDB-8F9E-E16B6CEA6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412776"/>
            <a:ext cx="6272464" cy="499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718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4A6F3-1FE8-2383-7283-72CFC7F2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6D242-ADAC-DEF6-B4C1-7860DC70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9.2.2 </a:t>
            </a:r>
            <a:r>
              <a:rPr lang="ko-KR" altLang="en-US" dirty="0"/>
              <a:t>렌더링 파이프라인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BCFC70-5EE9-990A-82A5-0547F1855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일반 렌더링 모드와 와이어프레임 렌더링 모드의 차이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F24835-191F-695A-11A0-D52D46CDC4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B7308D-FC34-9D1C-6FCC-43D329359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556792"/>
            <a:ext cx="8248756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3425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185B3-313E-2DFA-0BF5-8E8B309C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D1255-9D39-D1F4-F4DA-CCC0931A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/>
              <a:t>카메라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9D5798-6430-489B-2B10-281453899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개발자가 보는 게임 공간과 게이머가 보는 게임 공간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CF6707-F9D2-4FCA-9501-B782F54C95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015A8D6-EDDF-9591-2E6D-6A668C888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34327"/>
            <a:ext cx="8401711" cy="418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584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3475C-3D50-631D-A753-99D1689F3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A5245-516E-97FF-17D0-4EBA7E81C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/>
              <a:t>카메라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DAC594-62A7-8DC8-4F95-EFC2DDC39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로컬 공간</a:t>
            </a:r>
            <a:r>
              <a:rPr lang="en-US" altLang="ko-KR" dirty="0"/>
              <a:t>, </a:t>
            </a:r>
            <a:r>
              <a:rPr lang="ko-KR" altLang="en-US" dirty="0"/>
              <a:t>월드 공간</a:t>
            </a:r>
            <a:r>
              <a:rPr lang="en-US" altLang="ko-KR" dirty="0"/>
              <a:t>, </a:t>
            </a:r>
            <a:r>
              <a:rPr lang="ko-KR" altLang="en-US" dirty="0"/>
              <a:t>뷰 공간의 개요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D7B3FF-6CAE-2D74-95D0-730AE042AF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B15EC5-403E-0456-9011-292644D0E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1700808"/>
            <a:ext cx="8291317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2948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773F4-907F-BE44-7C76-B5E5A56F0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91745C-ED37-57B2-A6E5-014DE9852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/>
              <a:t>카메라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01962-B1D3-1097-A3E7-24212F9FD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카메라를 중심으로 해석한 게임 오브젝트의 최종 위치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ED692D-40A7-8D9E-607A-20CE10C9B7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DB874C-F124-2369-1A20-1720963EB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484784"/>
            <a:ext cx="6638344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1707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CD67-F887-BC48-0738-0B3766BE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3591F-68B1-1E6F-CDD0-478144D1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/>
              <a:t>카메라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B42E28-DB60-68F9-3B8F-6CD0FDAF7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카메라를 중심으로 해석한 게임 오브젝트의 최종 위치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DBEC62-E185-2851-1213-AD1F4DC4A0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A6736A-9C40-EC2C-DEE0-F563E2569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340768"/>
            <a:ext cx="6236804" cy="33123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A8B6AF-856D-E6D3-00AD-A089EEB4AAFA}"/>
                  </a:ext>
                </a:extLst>
              </p:cNvPr>
              <p:cNvSpPr txBox="1"/>
              <p:nvPr/>
            </p:nvSpPr>
            <p:spPr>
              <a:xfrm>
                <a:off x="1169019" y="4921650"/>
                <a:ext cx="3312368" cy="13022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A8B6AF-856D-E6D3-00AD-A089EEB4A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019" y="4921650"/>
                <a:ext cx="3312368" cy="13022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B06B05-A49A-9F45-B89A-102E731678B4}"/>
                  </a:ext>
                </a:extLst>
              </p:cNvPr>
              <p:cNvSpPr txBox="1"/>
              <p:nvPr/>
            </p:nvSpPr>
            <p:spPr>
              <a:xfrm>
                <a:off x="4761833" y="5357346"/>
                <a:ext cx="4274663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𝑣𝑖𝑒𝑤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B06B05-A49A-9F45-B89A-102E73167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833" y="5357346"/>
                <a:ext cx="427466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2139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F65FF-214E-6185-B8DC-AA256D5AA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: 9-1 </a:t>
            </a:r>
            <a:r>
              <a:rPr lang="ko-KR" altLang="en-US" dirty="0"/>
              <a:t>게임 월드의 탐험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5D2B82-C448-FD0B-509C-4A3596552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BB4E8B-66E2-B448-DB19-21445C6A7A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F7C868-694A-CAF5-E2DB-B075853FCAED}"/>
              </a:ext>
            </a:extLst>
          </p:cNvPr>
          <p:cNvSpPr txBox="1"/>
          <p:nvPr/>
        </p:nvSpPr>
        <p:spPr>
          <a:xfrm>
            <a:off x="251520" y="665401"/>
            <a:ext cx="5976664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SoftRenderer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LoadScene2D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최초 씬 로딩에서 사용하는 모듈 내 주요 레퍼런스</a:t>
            </a:r>
            <a:endParaRPr lang="ko-KR" altLang="en-US" sz="10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ko-KR" altLang="en-US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auto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&amp;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Get2DGameEngine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플레이어의 생성과 설정</a:t>
            </a:r>
            <a:endParaRPr lang="ko-KR" altLang="en-US" sz="10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ko-KR" altLang="en-US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constexpr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playerScale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30.f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GameObject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&amp;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goPlayer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CreateNewGameObject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PlayerGo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A2CD66-F47D-41AE-3969-CD6652133E41}"/>
              </a:ext>
            </a:extLst>
          </p:cNvPr>
          <p:cNvSpPr txBox="1"/>
          <p:nvPr/>
        </p:nvSpPr>
        <p:spPr>
          <a:xfrm>
            <a:off x="251520" y="2187441"/>
            <a:ext cx="6264696" cy="116955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게임 로직을 담당하는 함수</a:t>
            </a:r>
            <a:endParaRPr lang="ko-KR" altLang="en-US" sz="10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SoftRenderer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Update2D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InDeltaSeconds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플레이어를 따라다니는 카메라의 트랜스폼</a:t>
            </a:r>
            <a:endParaRPr lang="ko-KR" altLang="en-US" sz="10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ko-KR" altLang="en-US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TransformComponent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&amp;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cameraTransform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GetMainCamera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GetTransform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playerPos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transform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GetPosition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cameraPos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cameraTransform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GetPosition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2AEBAB-878B-BA79-9283-220031D29569}"/>
              </a:ext>
            </a:extLst>
          </p:cNvPr>
          <p:cNvSpPr txBox="1"/>
          <p:nvPr/>
        </p:nvSpPr>
        <p:spPr>
          <a:xfrm>
            <a:off x="251520" y="3591014"/>
            <a:ext cx="6703550" cy="28623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렌더링 로직을 담당하는 함수</a:t>
            </a:r>
            <a:endParaRPr lang="ko-KR" altLang="en-US" sz="10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SoftRenderer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Render2D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렌더링 로직의 로컬 변수</a:t>
            </a:r>
            <a:endParaRPr lang="ko-KR" altLang="en-US" sz="10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ko-KR" altLang="en-US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size_t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totalObjectCount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GetScene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size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Matrix3x3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viewMatrix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GetMainCamera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GetViewMatrix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씬을 구성하는 모든 게임 오브젝트의 순회</a:t>
            </a:r>
            <a:endParaRPr lang="ko-KR" altLang="en-US" sz="10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ko-KR" altLang="en-US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</a:t>
            </a:r>
            <a:r>
              <a:rPr lang="en-US" altLang="ko-KR" sz="1000" dirty="0">
                <a:solidFill>
                  <a:srgbClr val="8F08C4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for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auto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SceneBegin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!=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SceneEnd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 </a:t>
            </a:r>
            <a:r>
              <a:rPr lang="en-US" altLang="ko-KR" sz="10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++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{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   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렌더링에 필요한 게임 오브젝트의 주요 레퍼런스를 얻기</a:t>
            </a:r>
            <a:endParaRPr lang="ko-KR" altLang="en-US" sz="10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ko-KR" altLang="en-US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    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const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Mesh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&amp;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mesh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GetMesh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gameObject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GetMeshKey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    </a:t>
            </a:r>
            <a:r>
              <a:rPr lang="en-US" altLang="ko-KR" sz="10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const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TransformComponent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&amp;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transform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gameObject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GetTransform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    </a:t>
            </a:r>
            <a:r>
              <a:rPr lang="en-US" altLang="ko-KR" sz="1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Matrix3x3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finalMatrix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viewMatrix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transform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GetModelingMatrix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   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게임 오브젝트의 렌더링 수행</a:t>
            </a:r>
            <a:endParaRPr lang="ko-KR" altLang="en-US" sz="10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ko-KR" altLang="en-US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       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DrawMesh2D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mesh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finalMatrix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gameObject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GetColor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());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897A6F-2324-CAE4-C65B-826F4B9E4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066" y="704096"/>
            <a:ext cx="3475601" cy="265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756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9FCDB-36EC-2D01-2867-ADC6E460B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DD9203-2DB5-F701-CB05-4817C533E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9.4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97DF1-92E3-6CE9-6F53-902B52035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게임엔진</a:t>
            </a:r>
            <a:endParaRPr lang="en-US" altLang="ko-KR" sz="2400" dirty="0"/>
          </a:p>
          <a:p>
            <a:pPr lvl="1"/>
            <a:r>
              <a:rPr lang="ko-KR" altLang="en-US" sz="2000" dirty="0"/>
              <a:t>씬</a:t>
            </a:r>
            <a:endParaRPr lang="en-US" altLang="ko-KR" sz="2000" dirty="0"/>
          </a:p>
          <a:p>
            <a:pPr lvl="2"/>
            <a:r>
              <a:rPr lang="ko-KR" altLang="en-US" sz="1800" dirty="0"/>
              <a:t>게임 오브젝트</a:t>
            </a:r>
            <a:endParaRPr lang="en-US" altLang="ko-KR" sz="1800" dirty="0"/>
          </a:p>
          <a:p>
            <a:pPr lvl="3"/>
            <a:r>
              <a:rPr lang="ko-KR" altLang="en-US" sz="1600" dirty="0"/>
              <a:t>트랜스폼</a:t>
            </a:r>
            <a:endParaRPr lang="en-US" altLang="ko-KR" sz="1600" dirty="0"/>
          </a:p>
          <a:p>
            <a:pPr lvl="1"/>
            <a:r>
              <a:rPr lang="ko-KR" altLang="en-US" sz="2000" dirty="0"/>
              <a:t>리소스 저장소</a:t>
            </a:r>
            <a:endParaRPr lang="en-US" altLang="ko-KR" sz="2000" dirty="0"/>
          </a:p>
          <a:p>
            <a:pPr lvl="2"/>
            <a:r>
              <a:rPr lang="ko-KR" altLang="en-US" sz="1800" dirty="0"/>
              <a:t>메시</a:t>
            </a:r>
            <a:r>
              <a:rPr lang="en-US" altLang="ko-KR" sz="1800" dirty="0"/>
              <a:t>, </a:t>
            </a:r>
            <a:r>
              <a:rPr lang="ko-KR" altLang="en-US" sz="1800" dirty="0"/>
              <a:t>텍스처</a:t>
            </a:r>
            <a:endParaRPr lang="en-US" altLang="ko-KR" sz="1800" dirty="0"/>
          </a:p>
          <a:p>
            <a:pPr lvl="1"/>
            <a:r>
              <a:rPr lang="ko-KR" altLang="en-US" sz="2000" dirty="0"/>
              <a:t>화면 구성</a:t>
            </a:r>
            <a:endParaRPr lang="en-US" altLang="ko-KR" sz="2000" dirty="0"/>
          </a:p>
          <a:p>
            <a:pPr lvl="2"/>
            <a:r>
              <a:rPr lang="ko-KR" altLang="en-US" sz="1800" dirty="0"/>
              <a:t>게임 오브젝트 </a:t>
            </a:r>
            <a:r>
              <a:rPr lang="en-US" altLang="ko-KR" sz="1800" dirty="0"/>
              <a:t>+ </a:t>
            </a:r>
            <a:r>
              <a:rPr lang="ko-KR" altLang="en-US" sz="1800" dirty="0"/>
              <a:t>렌더링 데이터</a:t>
            </a:r>
            <a:endParaRPr lang="en-US" altLang="ko-KR" sz="1800" dirty="0"/>
          </a:p>
          <a:p>
            <a:pPr lvl="1"/>
            <a:r>
              <a:rPr lang="ko-KR" altLang="en-US" sz="2000" dirty="0"/>
              <a:t>렌더링 파이프라인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회전변환</a:t>
            </a:r>
            <a:r>
              <a:rPr lang="en-US" altLang="ko-KR" sz="2400" dirty="0"/>
              <a:t>, </a:t>
            </a:r>
            <a:r>
              <a:rPr lang="ko-KR" altLang="en-US" sz="2400" dirty="0"/>
              <a:t>크기 변환</a:t>
            </a:r>
            <a:r>
              <a:rPr lang="en-US" altLang="ko-KR" sz="2400" dirty="0"/>
              <a:t>, </a:t>
            </a:r>
            <a:r>
              <a:rPr lang="ko-KR" altLang="en-US" sz="2400" dirty="0"/>
              <a:t>이동 변환의 적용 순서에 대한 차이 비교</a:t>
            </a:r>
            <a:endParaRPr lang="en-US" altLang="ko-KR" sz="2400" dirty="0"/>
          </a:p>
          <a:p>
            <a:r>
              <a:rPr lang="ko-KR" altLang="en-US" sz="2400" dirty="0"/>
              <a:t>월드 공간</a:t>
            </a:r>
            <a:r>
              <a:rPr lang="en-US" altLang="ko-KR" sz="2400" dirty="0"/>
              <a:t>, </a:t>
            </a:r>
            <a:r>
              <a:rPr lang="ko-KR" altLang="en-US" sz="2400" dirty="0"/>
              <a:t>로컬 공간 차이</a:t>
            </a:r>
            <a:endParaRPr lang="en-US" altLang="ko-KR" sz="2400" dirty="0"/>
          </a:p>
          <a:p>
            <a:r>
              <a:rPr lang="ko-KR" altLang="en-US" sz="2400" dirty="0"/>
              <a:t>오브젝트의 화면 배치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7F09C0-74BD-DBE4-CEA8-ABD4426A32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25975959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6508</TotalTime>
  <Words>2218</Words>
  <Application>Microsoft Office PowerPoint</Application>
  <PresentationFormat>화면 슬라이드 쇼(4:3)</PresentationFormat>
  <Paragraphs>513</Paragraphs>
  <Slides>54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6" baseType="lpstr">
      <vt:lpstr>나눔고딕 ExtraBold</vt:lpstr>
      <vt:lpstr>Noto Sans KR</vt:lpstr>
      <vt:lpstr>굴림</vt:lpstr>
      <vt:lpstr>Bitstream Vera Sans Mono</vt:lpstr>
      <vt:lpstr>Arial</vt:lpstr>
      <vt:lpstr>가을체</vt:lpstr>
      <vt:lpstr>Wingdings</vt:lpstr>
      <vt:lpstr>HY견고딕</vt:lpstr>
      <vt:lpstr>나눔바른고딕</vt:lpstr>
      <vt:lpstr>Cambria Math</vt:lpstr>
      <vt:lpstr>Consolas</vt:lpstr>
      <vt:lpstr>기본 디자인</vt:lpstr>
      <vt:lpstr>7. 내적</vt:lpstr>
      <vt:lpstr>7.1 벡터의 내적</vt:lpstr>
      <vt:lpstr>7.1.2 내적과 삼각함수의 관계</vt:lpstr>
      <vt:lpstr>7.1.3 행렬의 곱셈을 내적으로 표현</vt:lpstr>
      <vt:lpstr>7.1.3 행렬의 곱셈을 내적으로 표현</vt:lpstr>
      <vt:lpstr>7.1.3 행렬의 곱셈을 내적으로 표현</vt:lpstr>
      <vt:lpstr>7.2.1 앞뒤 판별</vt:lpstr>
      <vt:lpstr>7.2.2 시야 판별</vt:lpstr>
      <vt:lpstr>7-1 내적을 활용한 목표물 감지</vt:lpstr>
      <vt:lpstr>7.3 조명 효과의 구현</vt:lpstr>
      <vt:lpstr>7-2 내적을 활용한 조명 모델 구현</vt:lpstr>
      <vt:lpstr>7.4 투영 벡터</vt:lpstr>
      <vt:lpstr>7-3 내적을 활용한 벡터의 투영</vt:lpstr>
      <vt:lpstr>7.5 정리</vt:lpstr>
      <vt:lpstr>8. 삼각형</vt:lpstr>
      <vt:lpstr>8.1 세 점의 결합</vt:lpstr>
      <vt:lpstr>8.1 세점의 결합</vt:lpstr>
      <vt:lpstr>8.1 세점의 결합</vt:lpstr>
      <vt:lpstr>8.2 메시</vt:lpstr>
      <vt:lpstr>8.2 메시</vt:lpstr>
      <vt:lpstr>8-1 와이어프레임 렌더링의 구현</vt:lpstr>
      <vt:lpstr>8.3 무게중심좌표</vt:lpstr>
      <vt:lpstr>8.3.1 무게중심좌표의 계산</vt:lpstr>
      <vt:lpstr>8-2 삼각형 칠하기</vt:lpstr>
      <vt:lpstr>8-3 무지개 삼각형 만들기</vt:lpstr>
      <vt:lpstr>8.4 텍스처 매핑</vt:lpstr>
      <vt:lpstr>8-4 텍스처 매핑의 구현</vt:lpstr>
      <vt:lpstr>8-4 텍스처 매핑의 구현</vt:lpstr>
      <vt:lpstr>8.5 정리</vt:lpstr>
      <vt:lpstr>9. 게임 엔진</vt:lpstr>
      <vt:lpstr>9.1 게임 엔진의 구성 요소</vt:lpstr>
      <vt:lpstr>9.1.1 게임 엔진에서의 씬 구성</vt:lpstr>
      <vt:lpstr>9.1.2 모델링 행렬의 설계</vt:lpstr>
      <vt:lpstr>9.1.2 모델링 행렬의 설계</vt:lpstr>
      <vt:lpstr>9.1.2 모델링 행렬의 설계</vt:lpstr>
      <vt:lpstr>9.1.2 모델링 행렬의 설계</vt:lpstr>
      <vt:lpstr>9.1.2 모델링 행렬의 설계</vt:lpstr>
      <vt:lpstr>9.1.3 로컬 공간과 로컬 축</vt:lpstr>
      <vt:lpstr>9.1.3 로컬 공간과 로컬 축</vt:lpstr>
      <vt:lpstr>9.1.3 로컬 공간과 로컬 축</vt:lpstr>
      <vt:lpstr>9.1.4 리소스 관리</vt:lpstr>
      <vt:lpstr>9.1.4 리소스 관리</vt:lpstr>
      <vt:lpstr>9.1.4 리소스 관리</vt:lpstr>
      <vt:lpstr>9.1.4 리소스 관리</vt:lpstr>
      <vt:lpstr>9.2 게임 엔진의 워크 플로우</vt:lpstr>
      <vt:lpstr>9.2.2 렌더링 파이프라인</vt:lpstr>
      <vt:lpstr>9.2.2 렌더링 파이프라인</vt:lpstr>
      <vt:lpstr>9.2.2 렌더링 파이프라인</vt:lpstr>
      <vt:lpstr>9.3 카메라 시스템</vt:lpstr>
      <vt:lpstr>9.3 카메라 시스템</vt:lpstr>
      <vt:lpstr>9.3 카메라 시스템</vt:lpstr>
      <vt:lpstr>9.3 카메라 시스템</vt:lpstr>
      <vt:lpstr>실습: 9-1 게임 월드의 탐험</vt:lpstr>
      <vt:lpstr>9.4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257</cp:revision>
  <dcterms:created xsi:type="dcterms:W3CDTF">2003-11-30T16:03:20Z</dcterms:created>
  <dcterms:modified xsi:type="dcterms:W3CDTF">2026-04-19T05:54:41Z</dcterms:modified>
</cp:coreProperties>
</file>