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72" r:id="rId2"/>
    <p:sldId id="273" r:id="rId3"/>
    <p:sldId id="338" r:id="rId4"/>
    <p:sldId id="343" r:id="rId5"/>
    <p:sldId id="336" r:id="rId6"/>
    <p:sldId id="374" r:id="rId7"/>
    <p:sldId id="337" r:id="rId8"/>
    <p:sldId id="376" r:id="rId9"/>
    <p:sldId id="375" r:id="rId10"/>
    <p:sldId id="377" r:id="rId11"/>
    <p:sldId id="344" r:id="rId12"/>
    <p:sldId id="345" r:id="rId13"/>
    <p:sldId id="346" r:id="rId14"/>
    <p:sldId id="405" r:id="rId15"/>
    <p:sldId id="347" r:id="rId16"/>
    <p:sldId id="378" r:id="rId17"/>
    <p:sldId id="379" r:id="rId18"/>
    <p:sldId id="348" r:id="rId19"/>
    <p:sldId id="406" r:id="rId20"/>
    <p:sldId id="407" r:id="rId21"/>
    <p:sldId id="404" r:id="rId22"/>
    <p:sldId id="380" r:id="rId23"/>
    <p:sldId id="349" r:id="rId24"/>
    <p:sldId id="381" r:id="rId25"/>
    <p:sldId id="382" r:id="rId26"/>
    <p:sldId id="350" r:id="rId27"/>
    <p:sldId id="351" r:id="rId28"/>
    <p:sldId id="383" r:id="rId29"/>
    <p:sldId id="352" r:id="rId30"/>
    <p:sldId id="384" r:id="rId31"/>
    <p:sldId id="385" r:id="rId32"/>
    <p:sldId id="386" r:id="rId33"/>
    <p:sldId id="353" r:id="rId34"/>
    <p:sldId id="387" r:id="rId35"/>
    <p:sldId id="388" r:id="rId36"/>
    <p:sldId id="389" r:id="rId37"/>
    <p:sldId id="390" r:id="rId38"/>
    <p:sldId id="354" r:id="rId39"/>
    <p:sldId id="391" r:id="rId40"/>
    <p:sldId id="392" r:id="rId41"/>
    <p:sldId id="355" r:id="rId42"/>
    <p:sldId id="356" r:id="rId43"/>
    <p:sldId id="393" r:id="rId44"/>
    <p:sldId id="394" r:id="rId45"/>
    <p:sldId id="357" r:id="rId46"/>
    <p:sldId id="358" r:id="rId47"/>
    <p:sldId id="359" r:id="rId48"/>
    <p:sldId id="395" r:id="rId49"/>
    <p:sldId id="360" r:id="rId50"/>
    <p:sldId id="396" r:id="rId51"/>
    <p:sldId id="361" r:id="rId52"/>
    <p:sldId id="397" r:id="rId53"/>
    <p:sldId id="362" r:id="rId54"/>
    <p:sldId id="363" r:id="rId55"/>
    <p:sldId id="398" r:id="rId56"/>
    <p:sldId id="399" r:id="rId57"/>
    <p:sldId id="400" r:id="rId58"/>
    <p:sldId id="364" r:id="rId59"/>
    <p:sldId id="365" r:id="rId60"/>
    <p:sldId id="366" r:id="rId61"/>
    <p:sldId id="401" r:id="rId62"/>
    <p:sldId id="367" r:id="rId63"/>
    <p:sldId id="402" r:id="rId64"/>
    <p:sldId id="368" r:id="rId65"/>
    <p:sldId id="370" r:id="rId66"/>
    <p:sldId id="369" r:id="rId67"/>
    <p:sldId id="371" r:id="rId68"/>
    <p:sldId id="372" r:id="rId69"/>
    <p:sldId id="373" r:id="rId70"/>
    <p:sldId id="403" r:id="rId71"/>
    <p:sldId id="408" r:id="rId72"/>
    <p:sldId id="410" r:id="rId73"/>
    <p:sldId id="421" r:id="rId74"/>
    <p:sldId id="409" r:id="rId75"/>
    <p:sldId id="412" r:id="rId76"/>
    <p:sldId id="411" r:id="rId77"/>
    <p:sldId id="413" r:id="rId78"/>
    <p:sldId id="417" r:id="rId79"/>
    <p:sldId id="415" r:id="rId80"/>
    <p:sldId id="418" r:id="rId81"/>
    <p:sldId id="414" r:id="rId82"/>
    <p:sldId id="424" r:id="rId83"/>
    <p:sldId id="419" r:id="rId84"/>
    <p:sldId id="420" r:id="rId85"/>
    <p:sldId id="422" r:id="rId86"/>
    <p:sldId id="423" r:id="rId87"/>
    <p:sldId id="425" r:id="rId88"/>
    <p:sldId id="426" r:id="rId89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CC0000"/>
    <a:srgbClr val="009900"/>
    <a:srgbClr val="FF00FF"/>
    <a:srgbClr val="FF9900"/>
    <a:srgbClr val="FF0000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06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lybooks/gamemath.git" TargetMode="External"/><Relationship Id="rId2" Type="http://schemas.openxmlformats.org/officeDocument/2006/relationships/hyperlink" Target="https://git-for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itware/CMake/releases/download/v4.2.3/cmake-4.2.3-windows-x86_64.msi" TargetMode="External"/><Relationship Id="rId5" Type="http://schemas.openxmlformats.org/officeDocument/2006/relationships/hyperlink" Target="https://cmake.org/download/" TargetMode="External"/><Relationship Id="rId4" Type="http://schemas.openxmlformats.org/officeDocument/2006/relationships/hyperlink" Target="https://aka.ms/vs/17/release/vs_community.exe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6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0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80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1.png"/><Relationship Id="rId2" Type="http://schemas.openxmlformats.org/officeDocument/2006/relationships/image" Target="../media/image10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1.png"/><Relationship Id="rId4" Type="http://schemas.openxmlformats.org/officeDocument/2006/relationships/image" Target="../media/image105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0.png"/><Relationship Id="rId2" Type="http://schemas.openxmlformats.org/officeDocument/2006/relationships/image" Target="../media/image10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0.png"/><Relationship Id="rId5" Type="http://schemas.openxmlformats.org/officeDocument/2006/relationships/image" Target="../media/image1070.png"/><Relationship Id="rId4" Type="http://schemas.openxmlformats.org/officeDocument/2006/relationships/image" Target="../media/image106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0.png"/><Relationship Id="rId7" Type="http://schemas.openxmlformats.org/officeDocument/2006/relationships/image" Target="../media/image115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1120.png"/><Relationship Id="rId9" Type="http://schemas.openxmlformats.org/officeDocument/2006/relationships/image" Target="../media/image117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3.png"/><Relationship Id="rId4" Type="http://schemas.openxmlformats.org/officeDocument/2006/relationships/image" Target="../media/image14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3.png"/><Relationship Id="rId4" Type="http://schemas.openxmlformats.org/officeDocument/2006/relationships/image" Target="../media/image15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0.png"/><Relationship Id="rId13" Type="http://schemas.openxmlformats.org/officeDocument/2006/relationships/image" Target="../media/image168.png"/><Relationship Id="rId3" Type="http://schemas.openxmlformats.org/officeDocument/2006/relationships/image" Target="../media/image163.png"/><Relationship Id="rId7" Type="http://schemas.openxmlformats.org/officeDocument/2006/relationships/image" Target="../media/image1620.png"/><Relationship Id="rId12" Type="http://schemas.openxmlformats.org/officeDocument/2006/relationships/image" Target="../media/image167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660.png"/><Relationship Id="rId5" Type="http://schemas.openxmlformats.org/officeDocument/2006/relationships/image" Target="../media/image165.png"/><Relationship Id="rId10" Type="http://schemas.openxmlformats.org/officeDocument/2006/relationships/image" Target="../media/image1650.png"/><Relationship Id="rId4" Type="http://schemas.openxmlformats.org/officeDocument/2006/relationships/image" Target="../media/image164.png"/><Relationship Id="rId9" Type="http://schemas.openxmlformats.org/officeDocument/2006/relationships/image" Target="../media/image1640.png"/><Relationship Id="rId14" Type="http://schemas.openxmlformats.org/officeDocument/2006/relationships/image" Target="../media/image169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2.png"/><Relationship Id="rId7" Type="http://schemas.openxmlformats.org/officeDocument/2006/relationships/image" Target="../media/image176.png"/><Relationship Id="rId2" Type="http://schemas.openxmlformats.org/officeDocument/2006/relationships/image" Target="../media/image1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2.gif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2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A2FC0D-1C2C-37AA-7CB1-C3D3229737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14EB79-AD88-258F-4E8F-24B268B482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가상 세계를 구성하는 가장 작은 단위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99B9F4-4800-F14C-8C36-B879D7464F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865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F9540-6669-5CDA-78BF-4F9AF3967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2.1 </a:t>
            </a:r>
            <a:r>
              <a:rPr lang="ko-KR" altLang="en-US" b="0" dirty="0"/>
              <a:t>수와 집합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CA56B1-FED6-471B-3FDB-9DA89B9D3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수의 종류</a:t>
            </a:r>
            <a:endParaRPr lang="en-US" altLang="ko-KR" dirty="0"/>
          </a:p>
          <a:p>
            <a:pPr lvl="1"/>
            <a:r>
              <a:rPr lang="ko-KR" altLang="en-US" dirty="0"/>
              <a:t>자연수</a:t>
            </a:r>
            <a:endParaRPr lang="en-US" altLang="ko-KR" dirty="0"/>
          </a:p>
          <a:p>
            <a:pPr lvl="1"/>
            <a:r>
              <a:rPr lang="ko-KR" altLang="en-US" dirty="0"/>
              <a:t>정수</a:t>
            </a:r>
            <a:endParaRPr lang="en-US" altLang="ko-KR" dirty="0"/>
          </a:p>
          <a:p>
            <a:pPr lvl="2"/>
            <a:r>
              <a:rPr lang="ko-KR" altLang="en-US" dirty="0"/>
              <a:t>양의정수</a:t>
            </a:r>
            <a:endParaRPr lang="en-US" altLang="ko-KR" dirty="0"/>
          </a:p>
          <a:p>
            <a:pPr lvl="2"/>
            <a:r>
              <a:rPr lang="en-US" altLang="ko-KR" dirty="0"/>
              <a:t>0</a:t>
            </a:r>
          </a:p>
          <a:p>
            <a:pPr lvl="2"/>
            <a:r>
              <a:rPr lang="ko-KR" altLang="en-US" dirty="0"/>
              <a:t>음의 정수</a:t>
            </a:r>
            <a:endParaRPr lang="en-US" altLang="ko-KR" dirty="0"/>
          </a:p>
          <a:p>
            <a:pPr lvl="1"/>
            <a:r>
              <a:rPr lang="ko-KR" altLang="en-US" dirty="0"/>
              <a:t>실수</a:t>
            </a:r>
            <a:endParaRPr lang="en-US" altLang="ko-KR" dirty="0"/>
          </a:p>
          <a:p>
            <a:pPr lvl="2"/>
            <a:r>
              <a:rPr lang="ko-KR" altLang="en-US" dirty="0"/>
              <a:t>유리수</a:t>
            </a:r>
            <a:endParaRPr lang="en-US" altLang="ko-KR" dirty="0"/>
          </a:p>
          <a:p>
            <a:pPr lvl="2"/>
            <a:r>
              <a:rPr lang="ko-KR" altLang="en-US" dirty="0"/>
              <a:t>무리수</a:t>
            </a:r>
            <a:endParaRPr lang="en-US" altLang="ko-KR" dirty="0"/>
          </a:p>
          <a:p>
            <a:pPr lvl="1"/>
            <a:r>
              <a:rPr lang="ko-KR" altLang="en-US" dirty="0"/>
              <a:t>복소수</a:t>
            </a:r>
            <a:endParaRPr lang="en-US" altLang="ko-KR" dirty="0"/>
          </a:p>
          <a:p>
            <a:pPr lvl="2"/>
            <a:r>
              <a:rPr lang="en-US" altLang="ko-KR" dirty="0"/>
              <a:t>real number + </a:t>
            </a:r>
            <a:r>
              <a:rPr lang="ko-KR" altLang="en-US" dirty="0"/>
              <a:t>복소수</a:t>
            </a:r>
            <a:endParaRPr lang="en-US" altLang="ko-KR" dirty="0"/>
          </a:p>
          <a:p>
            <a:pPr lvl="1"/>
            <a:r>
              <a:rPr lang="ko-KR" altLang="en-US" dirty="0"/>
              <a:t>사원수</a:t>
            </a:r>
            <a:endParaRPr lang="en-US" altLang="ko-KR" dirty="0"/>
          </a:p>
          <a:p>
            <a:pPr lvl="2"/>
            <a:r>
              <a:rPr lang="en-US" altLang="ko-KR" dirty="0"/>
              <a:t>real number + </a:t>
            </a:r>
            <a:r>
              <a:rPr lang="ko-KR" altLang="en-US" dirty="0"/>
              <a:t>복소수 벡터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520F2D-687B-70A1-78EF-638E75AC15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5676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06FA-0E77-FA81-B30E-CB36FC72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AF7CF-66D4-4B60-6C60-C396FA036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2.1.1 </a:t>
            </a:r>
            <a:r>
              <a:rPr lang="ko-KR" altLang="en-US" b="0" dirty="0"/>
              <a:t>연산과 수의 구조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D4F0C-9DB8-ADD1-A8CD-686526A6B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</a:t>
            </a:r>
            <a:r>
              <a:rPr lang="ko-KR" altLang="en-US" sz="2400" dirty="0"/>
              <a:t>항 연산</a:t>
            </a:r>
            <a:r>
              <a:rPr lang="en-US" altLang="ko-KR" sz="2400" dirty="0"/>
              <a:t>( n-ary operation)</a:t>
            </a:r>
          </a:p>
          <a:p>
            <a:pPr lvl="1"/>
            <a:r>
              <a:rPr lang="ko-KR" altLang="en-US" sz="2000" dirty="0"/>
              <a:t>어떤 집합  </a:t>
            </a:r>
            <a:r>
              <a:rPr lang="en-US" altLang="ko-KR" sz="2000" dirty="0"/>
              <a:t>n</a:t>
            </a:r>
            <a:r>
              <a:rPr lang="ko-KR" altLang="en-US" sz="2000" dirty="0"/>
              <a:t>개 원소의 순서쌍을 이 집합의 하나의 원소로 대응시키는 함수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이항 연산</a:t>
            </a:r>
            <a:r>
              <a:rPr lang="en-US" altLang="ko-KR" sz="2400" dirty="0"/>
              <a:t>(Binary Operation)</a:t>
            </a:r>
          </a:p>
          <a:p>
            <a:pPr lvl="1"/>
            <a:r>
              <a:rPr lang="en-US" altLang="ko-KR" sz="2000" dirty="0"/>
              <a:t> </a:t>
            </a:r>
            <a:r>
              <a:rPr lang="ko-KR" altLang="en-US" sz="2000" dirty="0"/>
              <a:t>두 개의 피연산자를 입력으로 받아 하나의 결과를 생성하는 연산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Closure Property(</a:t>
            </a:r>
            <a:r>
              <a:rPr lang="ko-KR" altLang="en-US" sz="2400" dirty="0"/>
              <a:t>폐쇄성</a:t>
            </a:r>
            <a:r>
              <a:rPr lang="en-US" altLang="ko-KR" sz="2400" dirty="0"/>
              <a:t>: </a:t>
            </a:r>
            <a:r>
              <a:rPr lang="ko-KR" altLang="en-US" sz="2400" dirty="0"/>
              <a:t>닫힘 성질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집합의 임의의 두 원소를 이항 연산 후</a:t>
            </a:r>
            <a:r>
              <a:rPr lang="en-US" altLang="ko-KR" sz="2000" dirty="0"/>
              <a:t>, </a:t>
            </a:r>
            <a:r>
              <a:rPr lang="ko-KR" altLang="en-US" sz="2000" dirty="0"/>
              <a:t>결과가 다시 그 집합에 속하는 성질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856139-4721-8FC7-B8EB-87C024A006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05C74CA-4524-3B68-D521-89E5C1836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35250"/>
            <a:ext cx="2376264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17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CF55F-00CC-3785-4B89-855E32AA7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461DA-8C7C-C9B3-840E-99F861DDD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2.1.1.1 </a:t>
            </a:r>
            <a:r>
              <a:rPr lang="ko-KR" altLang="en-US" b="0" dirty="0"/>
              <a:t>이항 연산 성질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E777F2-A124-7A86-1B03-4CECCF85A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/>
              <a:t>교환법칙 </a:t>
            </a:r>
            <a:r>
              <a:rPr lang="en-US" altLang="ko-KR" sz="1800" dirty="0"/>
              <a:t>(Commutative)</a:t>
            </a:r>
          </a:p>
          <a:p>
            <a:pPr lvl="1"/>
            <a:r>
              <a:rPr lang="en-US" altLang="ko-KR" sz="1600" dirty="0"/>
              <a:t>a ⊗ b = b ⊗ a</a:t>
            </a:r>
          </a:p>
          <a:p>
            <a:pPr lvl="1"/>
            <a:r>
              <a:rPr lang="ko-KR" altLang="en-US" sz="1600" dirty="0"/>
              <a:t>연산 순서를 바꾸어도 결과가 같다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결합법칙 </a:t>
            </a:r>
            <a:r>
              <a:rPr lang="en-US" altLang="ko-KR" sz="1800" dirty="0"/>
              <a:t>(Associative)</a:t>
            </a:r>
          </a:p>
          <a:p>
            <a:pPr lvl="1"/>
            <a:r>
              <a:rPr lang="en-US" altLang="ko-KR" sz="1600" dirty="0"/>
              <a:t>(a ⊗ b) ⊗ c = a ⊗ (b ⊗ c)</a:t>
            </a:r>
          </a:p>
          <a:p>
            <a:pPr lvl="1"/>
            <a:r>
              <a:rPr lang="ko-KR" altLang="en-US" sz="1600" dirty="0"/>
              <a:t>연산을 묶는 순서를 바꾸어도 결과가 같다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항등원</a:t>
            </a:r>
            <a:endParaRPr lang="en-US" altLang="ko-KR" sz="1800" dirty="0"/>
          </a:p>
          <a:p>
            <a:pPr lvl="1"/>
            <a:r>
              <a:rPr lang="en-US" altLang="ko-KR" sz="1600" dirty="0"/>
              <a:t>a ⊗ e = a</a:t>
            </a:r>
          </a:p>
          <a:p>
            <a:pPr lvl="1"/>
            <a:r>
              <a:rPr lang="ko-KR" altLang="en-US" sz="1600" dirty="0"/>
              <a:t>연산 후 값이 변하지 않는 원소가 존재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역원</a:t>
            </a:r>
            <a:endParaRPr lang="en-US" altLang="ko-KR" sz="1800" dirty="0"/>
          </a:p>
          <a:p>
            <a:pPr lvl="1"/>
            <a:r>
              <a:rPr lang="en-US" altLang="ko-KR" sz="1600" dirty="0"/>
              <a:t>a ⊗ a⁻¹ = e</a:t>
            </a:r>
          </a:p>
          <a:p>
            <a:pPr lvl="1"/>
            <a:r>
              <a:rPr lang="ko-KR" altLang="en-US" sz="1600" dirty="0"/>
              <a:t>연산 결과가 항등원이 되는 원소가 존재</a:t>
            </a:r>
            <a:endParaRPr lang="en-US" altLang="ko-KR" sz="1600" dirty="0"/>
          </a:p>
          <a:p>
            <a:pPr lvl="1"/>
            <a:endParaRPr lang="en-US" altLang="ko-KR" sz="1600" dirty="0"/>
          </a:p>
          <a:p>
            <a:r>
              <a:rPr lang="ko-KR" altLang="en-US" sz="1800" dirty="0"/>
              <a:t>분배 법칙 </a:t>
            </a:r>
            <a:r>
              <a:rPr lang="en-US" altLang="ko-KR" sz="1800" dirty="0"/>
              <a:t>(Binary Operation)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한 연산이 다른 연산에 대해 분배되는 성질</a:t>
            </a:r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432F94-AA1B-F4BA-08B8-4E56602BA8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115312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59EE-821D-C7D6-1164-C619D3DE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832B7-4A9A-B5BE-18B5-2AC9ADCC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2.1.3 </a:t>
            </a:r>
            <a:r>
              <a:rPr lang="ko-KR" altLang="en-US" b="0" dirty="0"/>
              <a:t>수의 표현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A348C1-B611-93DE-99EA-A3B0A7BEE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Number</a:t>
            </a:r>
            <a:r>
              <a:rPr lang="ko-KR" altLang="en-US" sz="2400" dirty="0"/>
              <a:t> </a:t>
            </a:r>
            <a:r>
              <a:rPr lang="en-US" altLang="ko-KR" sz="2400" dirty="0"/>
              <a:t>Line</a:t>
            </a:r>
          </a:p>
          <a:p>
            <a:pPr lvl="1"/>
            <a:r>
              <a:rPr lang="ko-KR" altLang="en-US" sz="2000" dirty="0"/>
              <a:t>실수를 대응시켜 표현한 직선</a:t>
            </a:r>
            <a:endParaRPr lang="en-US" altLang="ko-KR" sz="2000" dirty="0"/>
          </a:p>
          <a:p>
            <a:endParaRPr lang="en-US" altLang="ko-KR" sz="2400" dirty="0"/>
          </a:p>
          <a:p>
            <a:r>
              <a:rPr lang="ko-KR" altLang="en-US" sz="2400" dirty="0"/>
              <a:t>크기와 방향</a:t>
            </a:r>
            <a:endParaRPr lang="en-US" altLang="ko-KR" sz="2400" dirty="0"/>
          </a:p>
          <a:p>
            <a:pPr lvl="1"/>
            <a:r>
              <a:rPr lang="ko-KR" altLang="en-US" sz="2000" dirty="0"/>
              <a:t>값</a:t>
            </a:r>
            <a:r>
              <a:rPr lang="en-US" altLang="ko-KR" sz="2000" dirty="0"/>
              <a:t>: </a:t>
            </a:r>
            <a:r>
              <a:rPr lang="ko-KR" altLang="en-US" sz="2000" dirty="0"/>
              <a:t>절대값</a:t>
            </a:r>
            <a:endParaRPr lang="en-US" altLang="ko-KR" sz="2000" dirty="0"/>
          </a:p>
          <a:p>
            <a:pPr lvl="1"/>
            <a:r>
              <a:rPr lang="ko-KR" altLang="en-US" sz="2000" dirty="0"/>
              <a:t>방향</a:t>
            </a:r>
            <a:r>
              <a:rPr lang="en-US" altLang="ko-KR" sz="2000" dirty="0"/>
              <a:t>: + , -</a:t>
            </a:r>
          </a:p>
          <a:p>
            <a:pPr lvl="2"/>
            <a:r>
              <a:rPr lang="en-US" altLang="ko-KR" sz="1800" dirty="0"/>
              <a:t>-2 </a:t>
            </a:r>
            <a:r>
              <a:rPr lang="en-US" altLang="ko-KR" sz="1800" dirty="0">
                <a:sym typeface="Wingdings" panose="05000000000000000000" pitchFamily="2" charset="2"/>
              </a:rPr>
              <a:t>→ -|2|</a:t>
            </a:r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덧셈 연산</a:t>
            </a:r>
            <a:endParaRPr lang="en-US" altLang="ko-KR" sz="2000" dirty="0"/>
          </a:p>
          <a:p>
            <a:pPr lvl="2"/>
            <a:r>
              <a:rPr lang="ko-KR" altLang="en-US" sz="1800" dirty="0"/>
              <a:t>뺄셈을 덧셈 연산</a:t>
            </a:r>
            <a:endParaRPr lang="en-US" altLang="ko-KR" sz="1800" dirty="0"/>
          </a:p>
          <a:p>
            <a:pPr lvl="2"/>
            <a:r>
              <a:rPr lang="en-US" altLang="ko-KR" sz="1800" dirty="0"/>
              <a:t>1 – 5 </a:t>
            </a:r>
            <a:r>
              <a:rPr lang="en-US" altLang="ko-KR" sz="1800" dirty="0">
                <a:sym typeface="Wingdings" panose="05000000000000000000" pitchFamily="2" charset="2"/>
              </a:rPr>
              <a:t>→ 1 + (-5)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1"/>
            <a:r>
              <a:rPr lang="ko-KR" altLang="en-US" sz="2000" dirty="0"/>
              <a:t>곱셈 연산</a:t>
            </a:r>
            <a:endParaRPr lang="en-US" altLang="ko-KR" sz="2000" dirty="0"/>
          </a:p>
          <a:p>
            <a:pPr lvl="2"/>
            <a:r>
              <a:rPr lang="en-US" altLang="ko-KR" sz="1600" dirty="0"/>
              <a:t>2* (-2) </a:t>
            </a:r>
            <a:r>
              <a:rPr lang="en-US" altLang="ko-KR" sz="1600" dirty="0">
                <a:sym typeface="Wingdings" panose="05000000000000000000" pitchFamily="2" charset="2"/>
              </a:rPr>
              <a:t>→ 2 * (-1) * |2| → (-1) * |2*2| → (-1) |4|</a:t>
            </a:r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C7408D-C504-B08C-3F62-E0D2329CB0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2722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7391-8492-2827-247B-D2DD0C10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8D4A8-BC5A-8F6B-710B-6CAB74A2F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2.2 </a:t>
            </a:r>
            <a:r>
              <a:rPr lang="ko-KR" altLang="en-US" b="0" dirty="0"/>
              <a:t>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1A13B-0CD8-F6B7-AA61-84BC7E729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함수란</a:t>
            </a:r>
            <a:endParaRPr lang="en-US" altLang="ko-KR" sz="2400" dirty="0"/>
          </a:p>
          <a:p>
            <a:pPr lvl="1"/>
            <a:r>
              <a:rPr lang="en-US" altLang="ko-KR" sz="2000" dirty="0"/>
              <a:t>X{x} </a:t>
            </a:r>
            <a:r>
              <a:rPr lang="en-US" altLang="ko-KR" sz="2000" dirty="0">
                <a:sym typeface="Wingdings" panose="05000000000000000000" pitchFamily="2" charset="2"/>
              </a:rPr>
              <a:t> Y{y} </a:t>
            </a:r>
            <a:r>
              <a:rPr lang="ko-KR" altLang="en-US" sz="2000" dirty="0">
                <a:sym typeface="Wingdings" panose="05000000000000000000" pitchFamily="2" charset="2"/>
              </a:rPr>
              <a:t>로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ym typeface="Wingdings" panose="05000000000000000000" pitchFamily="2" charset="2"/>
              </a:rPr>
              <a:t>대응할 때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/>
            <a:r>
              <a:rPr lang="en-US" altLang="ko-KR" sz="1800" dirty="0"/>
              <a:t>X </a:t>
            </a:r>
            <a:r>
              <a:rPr lang="ko-KR" altLang="en-US" sz="1800" dirty="0"/>
              <a:t>의</a:t>
            </a:r>
            <a:r>
              <a:rPr lang="en-US" altLang="ko-KR" sz="1800" dirty="0"/>
              <a:t> </a:t>
            </a:r>
            <a:r>
              <a:rPr lang="ko-KR" altLang="en-US" sz="1800" dirty="0"/>
              <a:t>모든 원소에 대한 대응 관계가 존재</a:t>
            </a:r>
            <a:endParaRPr lang="en-US" altLang="ko-KR" sz="1800" dirty="0"/>
          </a:p>
          <a:p>
            <a:pPr lvl="2"/>
            <a:r>
              <a:rPr lang="en-US" altLang="ko-KR" sz="1800" dirty="0"/>
              <a:t>x </a:t>
            </a:r>
            <a:r>
              <a:rPr lang="ko-KR" altLang="en-US" sz="1800" dirty="0"/>
              <a:t>는 하나의 </a:t>
            </a:r>
            <a:r>
              <a:rPr lang="en-US" altLang="ko-KR" sz="1800" dirty="0"/>
              <a:t>y</a:t>
            </a:r>
            <a:r>
              <a:rPr lang="ko-KR" altLang="en-US" sz="1800" dirty="0"/>
              <a:t>만 대응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ko-KR" altLang="en-US" sz="2400" dirty="0"/>
              <a:t>정의역 </a:t>
            </a:r>
            <a:r>
              <a:rPr lang="en-US" altLang="ko-KR" sz="2400" dirty="0"/>
              <a:t>(Domain)</a:t>
            </a:r>
          </a:p>
          <a:p>
            <a:pPr lvl="1"/>
            <a:r>
              <a:rPr lang="ko-KR" altLang="en-US" sz="2000" dirty="0"/>
              <a:t>함수에 입력될 수 있는 값들의 집합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공역 </a:t>
            </a:r>
            <a:r>
              <a:rPr lang="en-US" altLang="ko-KR" sz="2400" dirty="0"/>
              <a:t>(Codomain)</a:t>
            </a:r>
          </a:p>
          <a:p>
            <a:pPr lvl="1"/>
            <a:r>
              <a:rPr lang="ko-KR" altLang="en-US" sz="2000" dirty="0"/>
              <a:t>함수의 결과가 속하도록 정해진 집합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치역 </a:t>
            </a:r>
            <a:r>
              <a:rPr lang="en-US" altLang="ko-KR" sz="2400" dirty="0"/>
              <a:t>(Range)</a:t>
            </a:r>
          </a:p>
          <a:p>
            <a:pPr lvl="1"/>
            <a:r>
              <a:rPr lang="ko-KR" altLang="en-US" sz="2000" dirty="0"/>
              <a:t>정의역의 값들이 실제로 대응되어 얻어지는 결과 값들의 집합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44F447-C850-4440-08A3-021D437C05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6281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9E3E-C137-A443-DA65-12A6476D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04F44-B92E-A25B-69F2-4C98CD821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2.2.1 </a:t>
            </a:r>
            <a:r>
              <a:rPr lang="ko-KR" altLang="en-US" b="0" dirty="0"/>
              <a:t>함수의 종류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7378D9-800A-3DBA-3505-845BC0567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전사함수</a:t>
            </a:r>
            <a:r>
              <a:rPr lang="en-US" altLang="ko-KR" dirty="0"/>
              <a:t>(Subjection: Onto)</a:t>
            </a:r>
          </a:p>
          <a:p>
            <a:pPr lvl="1"/>
            <a:r>
              <a:rPr lang="ko-KR" altLang="en-US" dirty="0"/>
              <a:t>공역의 모든 요소가 정의역에 대응</a:t>
            </a:r>
            <a:endParaRPr lang="en-US" altLang="ko-KR" dirty="0"/>
          </a:p>
          <a:p>
            <a:pPr lvl="1"/>
            <a:r>
              <a:rPr lang="ko-KR" altLang="en-US" dirty="0"/>
              <a:t>치열 </a:t>
            </a:r>
            <a:r>
              <a:rPr lang="en-US" altLang="ko-KR" dirty="0"/>
              <a:t>==</a:t>
            </a:r>
            <a:r>
              <a:rPr lang="ko-KR" altLang="en-US" dirty="0"/>
              <a:t> 공역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단사함수</a:t>
            </a:r>
            <a:r>
              <a:rPr lang="en-US" altLang="ko-KR" dirty="0"/>
              <a:t>(Injection: One-to-One)</a:t>
            </a:r>
          </a:p>
          <a:p>
            <a:pPr lvl="1"/>
            <a:r>
              <a:rPr lang="ko-KR" altLang="en-US" dirty="0"/>
              <a:t>정의역 과 공역의 요소가 </a:t>
            </a:r>
            <a:r>
              <a:rPr lang="en-US" altLang="ko-KR" dirty="0"/>
              <a:t>1:1 </a:t>
            </a:r>
            <a:r>
              <a:rPr lang="ko-KR" altLang="en-US" dirty="0"/>
              <a:t>대응</a:t>
            </a:r>
            <a:endParaRPr lang="en-US" altLang="ko-KR" dirty="0"/>
          </a:p>
          <a:p>
            <a:pPr lvl="1"/>
            <a:r>
              <a:rPr lang="ko-KR" altLang="en-US" dirty="0"/>
              <a:t>치역 ⊂ 공역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전단사 함수</a:t>
            </a:r>
            <a:r>
              <a:rPr lang="en-US" altLang="ko-KR" dirty="0"/>
              <a:t>(Bijection: One-to-One and Onto)</a:t>
            </a:r>
          </a:p>
          <a:p>
            <a:pPr lvl="1"/>
            <a:r>
              <a:rPr lang="ko-KR" altLang="en-US" dirty="0"/>
              <a:t>정의역 과 공역의 요소가 </a:t>
            </a:r>
            <a:r>
              <a:rPr lang="en-US" altLang="ko-KR" dirty="0"/>
              <a:t>1:1 </a:t>
            </a:r>
            <a:r>
              <a:rPr lang="ko-KR" altLang="en-US" dirty="0"/>
              <a:t>대응</a:t>
            </a:r>
            <a:endParaRPr lang="en-US" altLang="ko-KR" dirty="0"/>
          </a:p>
          <a:p>
            <a:pPr lvl="1"/>
            <a:r>
              <a:rPr lang="ko-KR" altLang="en-US" dirty="0"/>
              <a:t>치역 </a:t>
            </a:r>
            <a:r>
              <a:rPr lang="en-US" altLang="ko-KR" dirty="0"/>
              <a:t>==</a:t>
            </a:r>
            <a:r>
              <a:rPr lang="ko-KR" altLang="en-US" dirty="0"/>
              <a:t> 공역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833F8B-93BC-372C-6826-F4508961D8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8182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CF7E-1C97-B3F0-21F2-034ABA93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3BBE48-A791-C093-2FE3-CD5C2A4C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2.2.2 </a:t>
            </a:r>
            <a:r>
              <a:rPr lang="ko-KR" altLang="en-US" b="0" dirty="0"/>
              <a:t>합성함수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A06994-D546-227E-3B50-6BC6947FA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함수의 합성 </a:t>
            </a:r>
            <a:r>
              <a:rPr lang="en-US" altLang="ko-KR" dirty="0"/>
              <a:t>(Function Composition)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함수의 연쇄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/>
              <a:t>X{x} - f(x) </a:t>
            </a:r>
            <a:r>
              <a:rPr lang="en-US" altLang="ko-KR" dirty="0">
                <a:sym typeface="Wingdings" panose="05000000000000000000" pitchFamily="2" charset="2"/>
              </a:rPr>
              <a:t> Y{y} - g(y)  Z{z}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합성 함수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한 함수의 공역이 다른 함수의 정의역과 일치할 때</a:t>
            </a:r>
            <a:r>
              <a:rPr lang="en-US" altLang="ko-KR" dirty="0"/>
              <a:t>, </a:t>
            </a:r>
            <a:r>
              <a:rPr lang="ko-KR" altLang="en-US" dirty="0"/>
              <a:t>두 함수를 차례로 적용하여 하나의 함수로 만든 것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(f(x)) → g ◦ f(x)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g circle f </a:t>
            </a:r>
            <a:r>
              <a:rPr lang="ko-KR" altLang="en-US" dirty="0">
                <a:sym typeface="Wingdings" panose="05000000000000000000" pitchFamily="2" charset="2"/>
              </a:rPr>
              <a:t>또는 </a:t>
            </a:r>
            <a:r>
              <a:rPr lang="en-US" altLang="ko-KR" dirty="0">
                <a:sym typeface="Wingdings" panose="05000000000000000000" pitchFamily="2" charset="2"/>
              </a:rPr>
              <a:t>g after f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EC3298-066E-AF49-3985-4941F8DE2E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22982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4AFC-E1BC-E9EC-04CE-4053C81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324C4-DB61-D458-92F2-A0064B899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2.2.3 </a:t>
            </a:r>
            <a:r>
              <a:rPr lang="ko-KR" altLang="en-US" b="0" dirty="0"/>
              <a:t>항등함수와 역함수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895E5-9E29-F25D-F095-1A8C6492F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항등함수 </a:t>
            </a:r>
            <a:r>
              <a:rPr lang="en-US" altLang="ko-KR" sz="2400" dirty="0"/>
              <a:t>(Identify Function)</a:t>
            </a:r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정의역과 공역이 동일한 값 대응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역함수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일대일 대응 </a:t>
            </a:r>
            <a:r>
              <a:rPr lang="en-US" altLang="ko-KR" sz="2000" dirty="0"/>
              <a:t>f:X </a:t>
            </a:r>
            <a:r>
              <a:rPr lang="en-US" altLang="ko-KR" sz="2000" dirty="0">
                <a:sym typeface="Wingdings" panose="05000000000000000000" pitchFamily="2" charset="2"/>
              </a:rPr>
              <a:t> Y </a:t>
            </a:r>
            <a:r>
              <a:rPr lang="ko-KR" altLang="en-US" sz="2000" dirty="0">
                <a:sym typeface="Wingdings" panose="05000000000000000000" pitchFamily="2" charset="2"/>
              </a:rPr>
              <a:t>에서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/>
            <a:r>
              <a:rPr lang="en-US" altLang="ko-KR" sz="1800" dirty="0">
                <a:sym typeface="Wingdings" panose="05000000000000000000" pitchFamily="2" charset="2"/>
              </a:rPr>
              <a:t>f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  <a:r>
              <a:rPr lang="en-US" altLang="ko-KR" sz="1800" dirty="0">
                <a:sym typeface="Wingdings" panose="05000000000000000000" pitchFamily="2" charset="2"/>
              </a:rPr>
              <a:t>(y) = x</a:t>
            </a:r>
          </a:p>
          <a:p>
            <a:pPr lvl="2"/>
            <a:r>
              <a:rPr lang="ko-KR" altLang="en-US" sz="1800" dirty="0">
                <a:sym typeface="Wingdings" panose="05000000000000000000" pitchFamily="2" charset="2"/>
              </a:rPr>
              <a:t>기호</a:t>
            </a:r>
            <a:r>
              <a:rPr lang="en-US" altLang="ko-KR" sz="1800" dirty="0">
                <a:sym typeface="Wingdings" panose="05000000000000000000" pitchFamily="2" charset="2"/>
              </a:rPr>
              <a:t>:</a:t>
            </a:r>
            <a:r>
              <a:rPr lang="ko-KR" altLang="en-US" sz="1800" dirty="0">
                <a:sym typeface="Wingdings" panose="05000000000000000000" pitchFamily="2" charset="2"/>
              </a:rPr>
              <a:t> 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</a:p>
          <a:p>
            <a:pPr lvl="2"/>
            <a:r>
              <a:rPr lang="ko-KR" altLang="en-US" sz="1800" dirty="0"/>
              <a:t>공역의 원소를 입력하면 원래 정의역의 원소를 반환하는 함수</a:t>
            </a:r>
            <a:endParaRPr lang="en-US" altLang="ko-KR" sz="1800" dirty="0"/>
          </a:p>
          <a:p>
            <a:pPr lvl="2"/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ko-KR" altLang="en-US" sz="2000" dirty="0">
                <a:sym typeface="Wingdings" panose="05000000000000000000" pitchFamily="2" charset="2"/>
              </a:rPr>
              <a:t>특성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lvl="2"/>
            <a:r>
              <a:rPr lang="en-US" altLang="ko-KR" sz="1800" dirty="0">
                <a:sym typeface="Wingdings" panose="05000000000000000000" pitchFamily="2" charset="2"/>
              </a:rPr>
              <a:t>F ◦ F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  <a:r>
              <a:rPr lang="en-US" altLang="ko-KR" sz="1800" dirty="0">
                <a:sym typeface="Wingdings" panose="05000000000000000000" pitchFamily="2" charset="2"/>
              </a:rPr>
              <a:t> (x) = x, F ◦ F</a:t>
            </a:r>
            <a:r>
              <a:rPr lang="en-US" altLang="ko-KR" sz="1800" baseline="30000" dirty="0">
                <a:sym typeface="Wingdings" panose="05000000000000000000" pitchFamily="2" charset="2"/>
              </a:rPr>
              <a:t>-1</a:t>
            </a:r>
            <a:r>
              <a:rPr lang="en-US" altLang="ko-KR" sz="1800" dirty="0">
                <a:sym typeface="Wingdings" panose="05000000000000000000" pitchFamily="2" charset="2"/>
              </a:rPr>
              <a:t> (y) = y</a:t>
            </a:r>
          </a:p>
          <a:p>
            <a:pPr lvl="3"/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합성함수의 역함수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lvl="1"/>
            <a:r>
              <a:rPr lang="en-US" altLang="ko-KR" sz="2000" dirty="0">
                <a:sym typeface="Wingdings" panose="05000000000000000000" pitchFamily="2" charset="2"/>
              </a:rPr>
              <a:t>(g ◦ f  ◦ h)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= h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◦ f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◦ g</a:t>
            </a:r>
            <a:r>
              <a:rPr lang="en-US" altLang="ko-KR" sz="2000" baseline="30000" dirty="0">
                <a:sym typeface="Wingdings" panose="05000000000000000000" pitchFamily="2" charset="2"/>
              </a:rPr>
              <a:t>-1</a:t>
            </a:r>
            <a:r>
              <a:rPr lang="en-US" altLang="ko-KR" sz="2000" dirty="0">
                <a:sym typeface="Wingdings" panose="05000000000000000000" pitchFamily="2" charset="2"/>
              </a:rPr>
              <a:t> 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594725-26BC-7B3B-AACF-9788E4114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5115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7278-0628-07B2-12F3-789C364C2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218F7-FC77-96E3-7BF0-9586AB204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2.2.4 </a:t>
            </a:r>
            <a:r>
              <a:rPr lang="ko-KR" altLang="en-US" dirty="0"/>
              <a:t>좌표 평면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1BBF2F-E247-261C-341F-6B19D033E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곱집합 </a:t>
            </a:r>
            <a:r>
              <a:rPr lang="en-US" altLang="ko-KR" dirty="0"/>
              <a:t>(Cartesian Product)</a:t>
            </a:r>
          </a:p>
          <a:p>
            <a:pPr lvl="1"/>
            <a:r>
              <a:rPr lang="ko-KR" altLang="en-US" dirty="0"/>
              <a:t>두 집합 </a:t>
            </a:r>
            <a:r>
              <a:rPr lang="en-US" altLang="ko-KR" dirty="0"/>
              <a:t>A, B</a:t>
            </a:r>
            <a:r>
              <a:rPr lang="ko-KR" altLang="en-US" dirty="0"/>
              <a:t>의 원소를 짝지어 만든 모든 순서쌍 </a:t>
            </a:r>
            <a:r>
              <a:rPr lang="en-US" altLang="ko-KR" dirty="0"/>
              <a:t>(a,b)</a:t>
            </a:r>
            <a:r>
              <a:rPr lang="ko-KR" altLang="en-US" dirty="0"/>
              <a:t> 집합</a:t>
            </a:r>
            <a:endParaRPr lang="en-US" altLang="ko-KR" dirty="0"/>
          </a:p>
          <a:p>
            <a:pPr lvl="1"/>
            <a:r>
              <a:rPr lang="en-US" altLang="ko-KR" dirty="0"/>
              <a:t>A x B = {(a,b) | a </a:t>
            </a:r>
            <a:r>
              <a:rPr lang="ko-KR" altLang="en-US" dirty="0"/>
              <a:t>∈ </a:t>
            </a:r>
            <a:r>
              <a:rPr lang="en-US" altLang="ko-KR" dirty="0"/>
              <a:t>A, b </a:t>
            </a:r>
            <a:r>
              <a:rPr lang="ko-KR" altLang="en-US" dirty="0"/>
              <a:t>∈ </a:t>
            </a:r>
            <a:r>
              <a:rPr lang="en-US" altLang="ko-KR" dirty="0"/>
              <a:t>B}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차원 좌표 평면</a:t>
            </a:r>
            <a:endParaRPr lang="en-US" altLang="ko-KR" dirty="0"/>
          </a:p>
          <a:p>
            <a:pPr lvl="1"/>
            <a:r>
              <a:rPr lang="ko-KR" altLang="en-US" sz="2000" dirty="0"/>
              <a:t>실수 집합 </a:t>
            </a:r>
            <a:r>
              <a:rPr lang="en-US" altLang="ko-KR" sz="2800" dirty="0"/>
              <a:t>ℝ </a:t>
            </a:r>
            <a:r>
              <a:rPr lang="en-US" altLang="ko-KR" sz="2800" dirty="0">
                <a:sym typeface="Wingdings" panose="05000000000000000000" pitchFamily="2" charset="2"/>
              </a:rPr>
              <a:t>→ </a:t>
            </a:r>
            <a:r>
              <a:rPr lang="en-US" altLang="ko-KR" sz="2800" dirty="0"/>
              <a:t>ℝ X ℝ </a:t>
            </a:r>
            <a:r>
              <a:rPr lang="en-US" altLang="ko-KR" sz="2800" dirty="0">
                <a:sym typeface="Wingdings" panose="05000000000000000000" pitchFamily="2" charset="2"/>
              </a:rPr>
              <a:t>→ </a:t>
            </a:r>
            <a:r>
              <a:rPr lang="en-US" altLang="ko-KR" sz="2000" dirty="0"/>
              <a:t>ℝ</a:t>
            </a:r>
            <a:r>
              <a:rPr lang="en-US" altLang="ko-KR" sz="2000" baseline="30000" dirty="0"/>
              <a:t>2</a:t>
            </a:r>
          </a:p>
          <a:p>
            <a:pPr lvl="1"/>
            <a:r>
              <a:rPr lang="en-US" altLang="ko-KR" sz="2000" dirty="0"/>
              <a:t>2</a:t>
            </a:r>
            <a:r>
              <a:rPr lang="ko-KR" altLang="en-US" sz="2000" dirty="0"/>
              <a:t>차원 좌표계</a:t>
            </a:r>
            <a:endParaRPr lang="en-US" altLang="ko-KR" sz="2000" dirty="0"/>
          </a:p>
          <a:p>
            <a:pPr lvl="2"/>
            <a:r>
              <a:rPr lang="en-US" altLang="ko-KR" sz="1800" dirty="0"/>
              <a:t>ℝ</a:t>
            </a:r>
            <a:r>
              <a:rPr lang="en-US" altLang="ko-KR" sz="1800" baseline="30000" dirty="0"/>
              <a:t>2 </a:t>
            </a:r>
            <a:r>
              <a:rPr lang="ko-KR" altLang="en-US" sz="1800" dirty="0"/>
              <a:t>으로 하는 순서쌍의 집합</a:t>
            </a:r>
            <a:endParaRPr lang="en-US" altLang="ko-KR" sz="1800" dirty="0"/>
          </a:p>
          <a:p>
            <a:pPr lvl="2"/>
            <a:r>
              <a:rPr lang="ko-KR" altLang="en-US" sz="1800" dirty="0"/>
              <a:t>곱집합 </a:t>
            </a:r>
            <a:r>
              <a:rPr lang="en-US" altLang="ko-KR" sz="1800" dirty="0"/>
              <a:t>A </a:t>
            </a:r>
            <a:r>
              <a:rPr lang="en-US" altLang="ko-KR" sz="1800" dirty="0">
                <a:sym typeface="Wingdings" panose="05000000000000000000" pitchFamily="2" charset="2"/>
              </a:rPr>
              <a:t>→ </a:t>
            </a:r>
            <a:r>
              <a:rPr lang="en-US" altLang="ko-KR" sz="1800" dirty="0"/>
              <a:t>x</a:t>
            </a:r>
            <a:r>
              <a:rPr lang="ko-KR" altLang="en-US" sz="1800" dirty="0"/>
              <a:t>축 </a:t>
            </a:r>
            <a:r>
              <a:rPr lang="en-US" altLang="ko-KR" sz="1800" dirty="0"/>
              <a:t>, B </a:t>
            </a:r>
            <a:r>
              <a:rPr lang="en-US" altLang="ko-KR" sz="1800" dirty="0">
                <a:sym typeface="Wingdings" panose="05000000000000000000" pitchFamily="2" charset="2"/>
              </a:rPr>
              <a:t>→ y </a:t>
            </a:r>
            <a:r>
              <a:rPr lang="ko-KR" altLang="en-US" sz="1800" dirty="0">
                <a:sym typeface="Wingdings" panose="05000000000000000000" pitchFamily="2" charset="2"/>
              </a:rPr>
              <a:t>축</a:t>
            </a:r>
            <a:endParaRPr lang="en-US" altLang="ko-KR" sz="2800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9386C44-D198-7A68-7A9A-88D55570B0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069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5B39515A-F8B5-67FC-08BF-BA3E6441D9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벡터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EBC71B6B-B5F6-8E84-9291-2491EFA5BD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가상공간의 탄생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B0D746-DB2A-8550-0081-DBB2FD4319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64234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E1DEA-29A9-D892-6506-B1CE68D1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데카르트 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EDAA95-7B47-38B8-E7F9-2D9A3F8EE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좌표계</a:t>
            </a:r>
            <a:endParaRPr lang="en-US" altLang="ko-KR" dirty="0"/>
          </a:p>
          <a:p>
            <a:pPr lvl="1"/>
            <a:r>
              <a:rPr lang="ko-KR" altLang="en-US" dirty="0"/>
              <a:t>공간에서 점의 위치를 수치로 표현하기 위한 기준 체계</a:t>
            </a:r>
            <a:endParaRPr lang="en-US" altLang="ko-KR" dirty="0"/>
          </a:p>
          <a:p>
            <a:pPr lvl="1"/>
            <a:r>
              <a:rPr lang="ko-KR" altLang="en-US" dirty="0"/>
              <a:t>데카르트 좌표계</a:t>
            </a:r>
            <a:r>
              <a:rPr lang="en-US" altLang="ko-KR" dirty="0"/>
              <a:t>(Cartesian coordinate system)</a:t>
            </a:r>
          </a:p>
          <a:p>
            <a:pPr lvl="2"/>
            <a:r>
              <a:rPr lang="ko-KR" altLang="en-US" dirty="0"/>
              <a:t>서로 수직인 축을 기준으로 점의 위치를 좌표 값으로 표현</a:t>
            </a:r>
            <a:endParaRPr lang="en-US" altLang="ko-KR" dirty="0"/>
          </a:p>
          <a:p>
            <a:pPr lvl="2"/>
            <a:r>
              <a:rPr lang="en-US" altLang="ko-KR" dirty="0"/>
              <a:t>(x, y)</a:t>
            </a:r>
          </a:p>
          <a:p>
            <a:pPr lvl="2"/>
            <a:r>
              <a:rPr lang="en-US" altLang="ko-KR" dirty="0"/>
              <a:t>ℝ</a:t>
            </a:r>
            <a:r>
              <a:rPr lang="en-US" altLang="ko-KR" baseline="30000" dirty="0"/>
              <a:t>n</a:t>
            </a:r>
          </a:p>
          <a:p>
            <a:endParaRPr lang="en-US" altLang="ko-KR" dirty="0"/>
          </a:p>
          <a:p>
            <a:r>
              <a:rPr lang="ko-KR" altLang="en-US" dirty="0"/>
              <a:t>좌표계 방향 </a:t>
            </a:r>
            <a:r>
              <a:rPr lang="en-US" altLang="ko-KR" dirty="0"/>
              <a:t>(Handedness)</a:t>
            </a:r>
          </a:p>
          <a:p>
            <a:pPr lvl="1"/>
            <a:r>
              <a:rPr lang="ko-KR" altLang="en-US" dirty="0"/>
              <a:t>오른손 좌표계 </a:t>
            </a:r>
            <a:r>
              <a:rPr lang="en-US" altLang="ko-KR" dirty="0"/>
              <a:t>(Right-handed Coordinate System)</a:t>
            </a:r>
          </a:p>
          <a:p>
            <a:pPr lvl="2"/>
            <a:r>
              <a:rPr lang="ko-KR" altLang="en-US" dirty="0"/>
              <a:t>오른손 엄지 </a:t>
            </a:r>
            <a:r>
              <a:rPr lang="en-US" altLang="ko-KR" dirty="0"/>
              <a:t>X</a:t>
            </a:r>
            <a:r>
              <a:rPr lang="ko-KR" altLang="en-US" dirty="0"/>
              <a:t>축 검지 </a:t>
            </a:r>
            <a:r>
              <a:rPr lang="en-US" altLang="ko-KR" dirty="0"/>
              <a:t>Y</a:t>
            </a:r>
            <a:r>
              <a:rPr lang="ko-KR" altLang="en-US" dirty="0"/>
              <a:t>축 중지 </a:t>
            </a:r>
            <a:r>
              <a:rPr lang="en-US" altLang="ko-KR" dirty="0"/>
              <a:t>Z</a:t>
            </a:r>
            <a:r>
              <a:rPr lang="ko-KR" altLang="en-US" dirty="0"/>
              <a:t>축</a:t>
            </a:r>
            <a:endParaRPr lang="en-US" altLang="ko-KR" dirty="0"/>
          </a:p>
          <a:p>
            <a:pPr lvl="2"/>
            <a:r>
              <a:rPr lang="en-US" altLang="ko-KR" dirty="0"/>
              <a:t>OpenGL, Vulkan, 3D MAX</a:t>
            </a:r>
            <a:endParaRPr lang="ko-KR" altLang="en-US" dirty="0"/>
          </a:p>
          <a:p>
            <a:pPr lvl="1"/>
            <a:r>
              <a:rPr lang="ko-KR" altLang="en-US" dirty="0"/>
              <a:t>왼손 좌표계 </a:t>
            </a:r>
            <a:r>
              <a:rPr lang="en-US" altLang="ko-KR" dirty="0"/>
              <a:t>(Left-handed Coordinate System)</a:t>
            </a:r>
          </a:p>
          <a:p>
            <a:pPr lvl="2"/>
            <a:r>
              <a:rPr lang="ko-KR" altLang="en-US" dirty="0"/>
              <a:t>왼손 엄지 </a:t>
            </a:r>
            <a:r>
              <a:rPr lang="en-US" altLang="ko-KR" dirty="0"/>
              <a:t>X</a:t>
            </a:r>
            <a:r>
              <a:rPr lang="ko-KR" altLang="en-US" dirty="0"/>
              <a:t>축 검지 </a:t>
            </a:r>
            <a:r>
              <a:rPr lang="en-US" altLang="ko-KR" dirty="0"/>
              <a:t>Y</a:t>
            </a:r>
            <a:r>
              <a:rPr lang="ko-KR" altLang="en-US" dirty="0"/>
              <a:t>축 중지 </a:t>
            </a:r>
            <a:r>
              <a:rPr lang="en-US" altLang="ko-KR" dirty="0"/>
              <a:t>Z</a:t>
            </a:r>
            <a:r>
              <a:rPr lang="ko-KR" altLang="en-US" dirty="0"/>
              <a:t>축</a:t>
            </a:r>
            <a:endParaRPr lang="en-US" altLang="ko-KR" dirty="0"/>
          </a:p>
          <a:p>
            <a:pPr lvl="2"/>
            <a:r>
              <a:rPr lang="en-US" altLang="ko-KR" dirty="0"/>
              <a:t>DirectX, Unreal, Unity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76979B-A2A8-4C7B-203A-71ADC824A8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76306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FC99B-05E6-2A3E-3C67-5DFA3316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3.2.1 </a:t>
            </a:r>
            <a:r>
              <a:rPr lang="ko-KR" altLang="en-US" dirty="0"/>
              <a:t>스칼라와 벡터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8DDB9-7FD5-C7D6-689E-52CCC9AD7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벡터</a:t>
            </a:r>
            <a:endParaRPr lang="en-US" altLang="ko-KR" sz="2400" dirty="0"/>
          </a:p>
          <a:p>
            <a:pPr lvl="1"/>
            <a:r>
              <a:rPr lang="ko-KR" altLang="en-US" sz="2000" dirty="0"/>
              <a:t>두개 이상의 실수의 곱집합</a:t>
            </a:r>
            <a:endParaRPr lang="en-US" altLang="ko-KR" sz="2000" dirty="0"/>
          </a:p>
          <a:p>
            <a:pPr lvl="1"/>
            <a:r>
              <a:rPr lang="ko-KR" altLang="en-US" sz="2000" dirty="0"/>
              <a:t>간단히 실수로 구성된 튜플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벡터공간</a:t>
            </a:r>
            <a:endParaRPr lang="en-US" altLang="ko-KR" sz="2400" dirty="0"/>
          </a:p>
          <a:p>
            <a:pPr lvl="1"/>
            <a:r>
              <a:rPr lang="ko-KR" altLang="en-US" sz="2000" dirty="0"/>
              <a:t>벡터 덧셈</a:t>
            </a:r>
            <a:r>
              <a:rPr lang="en-US" altLang="ko-KR" sz="2000" dirty="0"/>
              <a:t>, </a:t>
            </a:r>
            <a:r>
              <a:rPr lang="ko-KR" altLang="en-US" sz="2000" dirty="0"/>
              <a:t>스칼라 곱에 닫혀 있고</a:t>
            </a:r>
            <a:r>
              <a:rPr lang="en-US" altLang="ko-KR" sz="2000" dirty="0"/>
              <a:t>, </a:t>
            </a:r>
            <a:r>
              <a:rPr lang="ko-KR" altLang="en-US" sz="2000" dirty="0"/>
              <a:t>일정한 대수적 규칙을 만족하는 집합</a:t>
            </a:r>
            <a:endParaRPr lang="en-US" altLang="ko-KR" sz="2000" dirty="0"/>
          </a:p>
          <a:p>
            <a:pPr lvl="2"/>
            <a:r>
              <a:rPr lang="en-US" altLang="ko-KR" sz="1800" dirty="0"/>
              <a:t>※ </a:t>
            </a:r>
            <a:r>
              <a:rPr lang="ko-KR" altLang="en-US" sz="1800" dirty="0"/>
              <a:t>닫힘 성질</a:t>
            </a:r>
            <a:r>
              <a:rPr lang="en-US" altLang="ko-KR" sz="1800" dirty="0"/>
              <a:t>(Closure): </a:t>
            </a:r>
            <a:r>
              <a:rPr lang="ko-KR" altLang="en-US" sz="1800" dirty="0"/>
              <a:t>연산의 결과가 피 연산자와 같은 집합에 속함</a:t>
            </a:r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벡터 덧셈 닫힘</a:t>
            </a:r>
            <a:endParaRPr lang="en-US" altLang="ko-KR" sz="2000" dirty="0"/>
          </a:p>
          <a:p>
            <a:pPr lvl="2"/>
            <a:r>
              <a:rPr lang="en-US" altLang="ko-KR" sz="1800" dirty="0"/>
              <a:t>V </a:t>
            </a:r>
            <a:r>
              <a:rPr lang="ko-KR" altLang="en-US" sz="1800" dirty="0"/>
              <a:t>공간에 임의의 벡터 </a:t>
            </a:r>
            <a:r>
              <a:rPr lang="en-US" altLang="ko-KR" sz="1800" dirty="0"/>
              <a:t>v</a:t>
            </a:r>
            <a:r>
              <a:rPr lang="en-US" altLang="ko-KR" sz="1800" baseline="-25000" dirty="0"/>
              <a:t>1</a:t>
            </a:r>
            <a:r>
              <a:rPr lang="en-US" altLang="ko-KR" sz="1800" dirty="0"/>
              <a:t>, v</a:t>
            </a:r>
            <a:r>
              <a:rPr lang="en-US" altLang="ko-KR" sz="1800" baseline="-25000" dirty="0"/>
              <a:t>2</a:t>
            </a:r>
            <a:r>
              <a:rPr lang="en-US" altLang="ko-KR" sz="1800" dirty="0"/>
              <a:t> </a:t>
            </a:r>
            <a:r>
              <a:rPr lang="ko-KR" altLang="en-US" sz="1800" dirty="0"/>
              <a:t>를 더한 벡터도 </a:t>
            </a:r>
            <a:r>
              <a:rPr lang="en-US" altLang="ko-KR" sz="1800" dirty="0"/>
              <a:t>V</a:t>
            </a:r>
            <a:r>
              <a:rPr lang="ko-KR" altLang="en-US" sz="1800" dirty="0"/>
              <a:t> 공간 안에 존재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스칼라 곱 닫힘</a:t>
            </a:r>
            <a:endParaRPr lang="en-US" altLang="ko-KR" sz="2000" dirty="0"/>
          </a:p>
          <a:p>
            <a:pPr lvl="2"/>
            <a:r>
              <a:rPr lang="en-US" altLang="ko-KR" sz="1800" dirty="0"/>
              <a:t>V </a:t>
            </a:r>
            <a:r>
              <a:rPr lang="ko-KR" altLang="en-US" sz="1800" dirty="0"/>
              <a:t>공간에 임의의 벡터 </a:t>
            </a:r>
            <a:r>
              <a:rPr lang="en-US" altLang="ko-KR" sz="1800" dirty="0"/>
              <a:t>v</a:t>
            </a:r>
            <a:r>
              <a:rPr lang="en-US" altLang="ko-KR" sz="1800" baseline="-25000" dirty="0"/>
              <a:t>1 </a:t>
            </a:r>
            <a:r>
              <a:rPr lang="ko-KR" altLang="en-US" sz="1800" dirty="0"/>
              <a:t>에</a:t>
            </a:r>
            <a:r>
              <a:rPr lang="en-US" altLang="ko-KR" sz="1800" dirty="0"/>
              <a:t> </a:t>
            </a:r>
            <a:r>
              <a:rPr lang="ko-KR" altLang="en-US" sz="1800" dirty="0"/>
              <a:t>스칼라를 더해도 </a:t>
            </a:r>
            <a:r>
              <a:rPr lang="en-US" altLang="ko-KR" sz="1800" dirty="0"/>
              <a:t>V</a:t>
            </a:r>
            <a:r>
              <a:rPr lang="ko-KR" altLang="en-US" sz="1800" dirty="0"/>
              <a:t> 공간 안에 존재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198966-A2AD-94F7-3EE1-0F0CF15C69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1F5AC2-6088-EA57-9625-908EF624016A}"/>
                  </a:ext>
                </a:extLst>
              </p:cNvPr>
              <p:cNvSpPr txBox="1"/>
              <p:nvPr/>
            </p:nvSpPr>
            <p:spPr>
              <a:xfrm>
                <a:off x="1331640" y="4437112"/>
                <a:ext cx="193272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1F5AC2-6088-EA57-9625-908EF6240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4437112"/>
                <a:ext cx="1932726" cy="369332"/>
              </a:xfrm>
              <a:prstGeom prst="rect">
                <a:avLst/>
              </a:prstGeom>
              <a:blipFill>
                <a:blip r:embed="rId2"/>
                <a:stretch>
                  <a:fillRect t="-35000" r="-16404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40DB06-9199-B3FD-D919-445BB7832C63}"/>
                  </a:ext>
                </a:extLst>
              </p:cNvPr>
              <p:cNvSpPr txBox="1"/>
              <p:nvPr/>
            </p:nvSpPr>
            <p:spPr>
              <a:xfrm>
                <a:off x="1475656" y="5934621"/>
                <a:ext cx="1143903" cy="4176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40DB06-9199-B3FD-D919-445BB7832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934621"/>
                <a:ext cx="1143903" cy="417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838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FC99B-05E6-2A3E-3C67-5DFA3316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3.2.1 </a:t>
            </a:r>
            <a:r>
              <a:rPr lang="ko-KR" altLang="en-US" dirty="0"/>
              <a:t>벡터의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8DDB9-7FD5-C7D6-689E-52CCC9AD7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벡터 종류</a:t>
            </a:r>
            <a:endParaRPr lang="en-US" altLang="ko-KR" sz="2400" dirty="0"/>
          </a:p>
          <a:p>
            <a:pPr lvl="1"/>
            <a:r>
              <a:rPr lang="en-US" altLang="ko-KR" sz="2000" dirty="0"/>
              <a:t>Zero Vector</a:t>
            </a:r>
          </a:p>
          <a:p>
            <a:pPr lvl="2"/>
            <a:r>
              <a:rPr lang="ko-KR" altLang="en-US" sz="1600" dirty="0"/>
              <a:t>크기</a:t>
            </a:r>
            <a:r>
              <a:rPr lang="en-US" altLang="ko-KR" sz="1600" dirty="0"/>
              <a:t>, </a:t>
            </a:r>
            <a:r>
              <a:rPr lang="ko-KR" altLang="en-US" sz="1600" dirty="0"/>
              <a:t>방향이 정의 되지 않는 특수한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단위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크기가 </a:t>
            </a:r>
            <a:r>
              <a:rPr lang="en-US" altLang="ko-KR" sz="1600" dirty="0"/>
              <a:t>1</a:t>
            </a:r>
            <a:r>
              <a:rPr lang="ko-KR" altLang="en-US" sz="1600" dirty="0"/>
              <a:t>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방향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단위벡터 중에서 직선의 방향을 정의</a:t>
            </a:r>
            <a:endParaRPr lang="en-US" altLang="ko-KR" sz="1600" dirty="0"/>
          </a:p>
          <a:p>
            <a:pPr lvl="1"/>
            <a:r>
              <a:rPr lang="ko-KR" altLang="en-US" sz="2000" dirty="0"/>
              <a:t>기저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벡터 공간의 모든 공간을 선형 결합으로 표현할 수 있는 기본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축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회전축이나 회전 방향을 나타내는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법선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평면이나 직선에 수직인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역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크기는 같지만 방향이 정반대인 벡터</a:t>
            </a:r>
            <a:endParaRPr lang="en-US" altLang="ko-KR" sz="1600" dirty="0"/>
          </a:p>
          <a:p>
            <a:pPr lvl="1"/>
            <a:r>
              <a:rPr lang="ko-KR" altLang="en-US" sz="2000" dirty="0"/>
              <a:t>성분 벡터</a:t>
            </a:r>
            <a:endParaRPr lang="en-US" altLang="ko-KR" sz="2000" dirty="0"/>
          </a:p>
          <a:p>
            <a:pPr lvl="2"/>
            <a:r>
              <a:rPr lang="ko-KR" altLang="en-US" sz="1600" dirty="0"/>
              <a:t>하나의 벡터를 각 축의 방향으로 분해 했을 때 나타나는 벡터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198966-A2AD-94F7-3EE1-0F0CF15C69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231709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2542-78C5-E68A-F1F8-03DA1FBC9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CA6C4-1F98-4C5B-4C46-B2E2F116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3.2.2 </a:t>
            </a:r>
            <a:r>
              <a:rPr lang="ko-KR" altLang="en-US" dirty="0"/>
              <a:t>벡터 공간의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2182E7-941B-F1D2-FE5E-1AFC0A7F5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벡터 덧셈 </a:t>
            </a:r>
            <a:r>
              <a:rPr lang="en-US" altLang="ko-KR" sz="2000" dirty="0"/>
              <a:t>(</a:t>
            </a:r>
            <a:r>
              <a:rPr lang="ko-KR" altLang="en-US" sz="2000" dirty="0"/>
              <a:t>벡터의 합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스칼라와 벡터의 곱셈 </a:t>
            </a:r>
            <a:r>
              <a:rPr lang="en-US" altLang="ko-KR" sz="2000" dirty="0"/>
              <a:t>(</a:t>
            </a:r>
            <a:r>
              <a:rPr lang="ko-KR" altLang="en-US" sz="2000" dirty="0"/>
              <a:t>스칼라 곱</a:t>
            </a:r>
            <a:r>
              <a:rPr lang="en-US" altLang="ko-KR" sz="2000" dirty="0"/>
              <a:t>)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ko-KR" altLang="en-US" sz="2000" dirty="0"/>
              <a:t>벡터 공간의 </a:t>
            </a:r>
            <a:r>
              <a:rPr lang="en-US" altLang="ko-KR" sz="2000" dirty="0"/>
              <a:t>8</a:t>
            </a:r>
            <a:r>
              <a:rPr lang="ko-KR" altLang="en-US" sz="2000" dirty="0"/>
              <a:t>가지 공리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79582B-4439-8CBA-40C0-48529CF007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3FEB0-B5A3-C97F-CF2E-F24F14797A9E}"/>
                  </a:ext>
                </a:extLst>
              </p:cNvPr>
              <p:cNvSpPr txBox="1"/>
              <p:nvPr/>
            </p:nvSpPr>
            <p:spPr>
              <a:xfrm>
                <a:off x="611560" y="1124744"/>
                <a:ext cx="698477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D3FEB0-B5A3-C97F-CF2E-F24F14797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24744"/>
                <a:ext cx="6984776" cy="369332"/>
              </a:xfrm>
              <a:prstGeom prst="rect">
                <a:avLst/>
              </a:prstGeom>
              <a:blipFill>
                <a:blip r:embed="rId2"/>
                <a:stretch>
                  <a:fillRect l="-1134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29D0A-45F8-8F4C-A2C5-13B48F5EDE5D}"/>
                  </a:ext>
                </a:extLst>
              </p:cNvPr>
              <p:cNvSpPr txBox="1"/>
              <p:nvPr/>
            </p:nvSpPr>
            <p:spPr>
              <a:xfrm>
                <a:off x="611560" y="2195572"/>
                <a:ext cx="352839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  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829D0A-45F8-8F4C-A2C5-13B48F5ED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195572"/>
                <a:ext cx="3528392" cy="369332"/>
              </a:xfrm>
              <a:prstGeom prst="rect">
                <a:avLst/>
              </a:prstGeom>
              <a:blipFill>
                <a:blip r:embed="rId3"/>
                <a:stretch>
                  <a:fillRect l="-2073" t="-32787" b="-27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6DBD386-27E3-587A-7F2E-4CE4A2E004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299036"/>
              </p:ext>
            </p:extLst>
          </p:nvPr>
        </p:nvGraphicFramePr>
        <p:xfrm>
          <a:off x="615891" y="3266400"/>
          <a:ext cx="6116349" cy="3331251"/>
        </p:xfrm>
        <a:graphic>
          <a:graphicData uri="http://schemas.openxmlformats.org/drawingml/2006/table">
            <a:tbl>
              <a:tblPr/>
              <a:tblGrid>
                <a:gridCol w="987619">
                  <a:extLst>
                    <a:ext uri="{9D8B030D-6E8A-4147-A177-3AD203B41FA5}">
                      <a16:colId xmlns:a16="http://schemas.microsoft.com/office/drawing/2014/main" val="2877685367"/>
                    </a:ext>
                  </a:extLst>
                </a:gridCol>
                <a:gridCol w="2606877">
                  <a:extLst>
                    <a:ext uri="{9D8B030D-6E8A-4147-A177-3AD203B41FA5}">
                      <a16:colId xmlns:a16="http://schemas.microsoft.com/office/drawing/2014/main" val="3848494750"/>
                    </a:ext>
                  </a:extLst>
                </a:gridCol>
                <a:gridCol w="2521853">
                  <a:extLst>
                    <a:ext uri="{9D8B030D-6E8A-4147-A177-3AD203B41FA5}">
                      <a16:colId xmlns:a16="http://schemas.microsoft.com/office/drawing/2014/main" val="2733442891"/>
                    </a:ext>
                  </a:extLst>
                </a:gridCol>
              </a:tblGrid>
              <a:tr h="370139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표현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38290"/>
                  </a:ext>
                </a:extLst>
              </a:tr>
              <a:tr h="370139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벡터 합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결합법칙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pl-PL" sz="12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(u + v) + w = u + (v + w)</a:t>
                      </a:r>
                      <a:endParaRPr lang="pl-PL" sz="1200" b="1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305572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교환법칙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 + v = v + u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778790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항등원 존재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 + 0 = 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13736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역원 존재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 + (−v) = 0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96248"/>
                  </a:ext>
                </a:extLst>
              </a:tr>
              <a:tr h="370139">
                <a:tc row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스칼라 곱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곱셈 호환성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a(bv) = (ab)v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078622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항등원 존재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1v = 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263644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벡터 덧셈 분배법칙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fr-F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a(u + v) = au + av</a:t>
                      </a:r>
                      <a:endParaRPr lang="fr-FR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582518"/>
                  </a:ext>
                </a:extLst>
              </a:tr>
              <a:tr h="370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스칼라 덧셈 분배법칙</a:t>
                      </a:r>
                      <a:endParaRPr lang="ko-KR" altLang="en-US" sz="12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 + b)v = av + bv</a:t>
                      </a:r>
                      <a:endParaRPr 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5853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73518-E2F2-408A-87BE-57B14E925D20}"/>
                  </a:ext>
                </a:extLst>
              </p:cNvPr>
              <p:cNvSpPr txBox="1"/>
              <p:nvPr/>
            </p:nvSpPr>
            <p:spPr>
              <a:xfrm>
                <a:off x="5940152" y="1826240"/>
                <a:ext cx="208823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473518-E2F2-408A-87BE-57B14E925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1826240"/>
                <a:ext cx="2088232" cy="369332"/>
              </a:xfrm>
              <a:prstGeom prst="rect">
                <a:avLst/>
              </a:prstGeom>
              <a:blipFill>
                <a:blip r:embed="rId4"/>
                <a:stretch>
                  <a:fillRect l="-4956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E9B01-1882-47A1-84F2-68FC0AFD721C}"/>
                  </a:ext>
                </a:extLst>
              </p:cNvPr>
              <p:cNvSpPr txBox="1"/>
              <p:nvPr/>
            </p:nvSpPr>
            <p:spPr>
              <a:xfrm>
                <a:off x="5940152" y="2443500"/>
                <a:ext cx="2088232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7E9B01-1882-47A1-84F2-68FC0AFD7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152" y="2443500"/>
                <a:ext cx="2088232" cy="369332"/>
              </a:xfrm>
              <a:prstGeom prst="rect">
                <a:avLst/>
              </a:prstGeom>
              <a:blipFill>
                <a:blip r:embed="rId5"/>
                <a:stretch>
                  <a:fillRect l="-4956" b="-2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3042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1AD8-22BD-01A9-2CA7-9F0B5D8C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3A228-B732-E700-1095-1208F6C01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3.2.2 </a:t>
            </a:r>
            <a:r>
              <a:rPr lang="ko-KR" altLang="en-US" dirty="0"/>
              <a:t>벡터 공간의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D08F07-AAC7-267C-88DD-65D1AFEA1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벡터 덧셈 교환 법칙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벡터의 합성</a:t>
            </a:r>
            <a:endParaRPr lang="en-US" altLang="ko-KR" sz="2000" dirty="0"/>
          </a:p>
          <a:p>
            <a:pPr lvl="1"/>
            <a:r>
              <a:rPr lang="ko-KR" altLang="en-US" sz="1600" dirty="0"/>
              <a:t>삼각형법</a:t>
            </a:r>
            <a:r>
              <a:rPr lang="en-US" altLang="ko-KR" sz="1600" dirty="0"/>
              <a:t>, </a:t>
            </a:r>
            <a:r>
              <a:rPr lang="ko-KR" altLang="en-US" sz="1600" dirty="0"/>
              <a:t>평행사변형법</a:t>
            </a:r>
            <a:endParaRPr lang="en-US" altLang="ko-KR" sz="1600" dirty="0"/>
          </a:p>
          <a:p>
            <a:pPr lvl="1"/>
            <a:r>
              <a:rPr lang="ko-KR" altLang="en-US" sz="1600" dirty="0"/>
              <a:t>간단히 벡터의 덧셈으로 계산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0D00B7-5710-1365-0E2D-F4264F5C4B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0DCBF3-5439-A904-5FC0-AC5D817A48FD}"/>
                  </a:ext>
                </a:extLst>
              </p:cNvPr>
              <p:cNvSpPr txBox="1"/>
              <p:nvPr/>
            </p:nvSpPr>
            <p:spPr>
              <a:xfrm>
                <a:off x="611560" y="1124744"/>
                <a:ext cx="7056784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 =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s-ES" altLang="ko-KR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 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altLang="ko-KR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E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E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 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               =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ko-KR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0DCBF3-5439-A904-5FC0-AC5D817A4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124744"/>
                <a:ext cx="7056784" cy="1477328"/>
              </a:xfrm>
              <a:prstGeom prst="rect">
                <a:avLst/>
              </a:prstGeom>
              <a:blipFill>
                <a:blip r:embed="rId2"/>
                <a:stretch>
                  <a:fillRect l="-1123" b="-37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그림 10">
            <a:extLst>
              <a:ext uri="{FF2B5EF4-FFF2-40B4-BE49-F238E27FC236}">
                <a16:creationId xmlns:a16="http://schemas.microsoft.com/office/drawing/2014/main" id="{AD29F333-6562-7E05-B14D-5F3AD272F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206220"/>
            <a:ext cx="4196741" cy="171949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9993479-9E7E-544D-341A-2FC66C5E1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494" y="4206220"/>
            <a:ext cx="4473609" cy="188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2FEE-6A80-513C-E926-C930E4D6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949519-C4F7-841C-F43B-6B15085C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</a:t>
            </a:r>
            <a:r>
              <a:rPr lang="ko-KR" altLang="en-US" dirty="0"/>
              <a:t>실습 </a:t>
            </a:r>
            <a:r>
              <a:rPr lang="en-US" altLang="ko-KR" dirty="0"/>
              <a:t>- </a:t>
            </a:r>
            <a:r>
              <a:rPr lang="ko-KR" altLang="en-US" dirty="0"/>
              <a:t>헬로 벡터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9CFD61-7C78-9F54-4FFD-7C63AD041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실습</a:t>
            </a:r>
            <a:endParaRPr lang="en-US" altLang="ko-KR" sz="2000" dirty="0"/>
          </a:p>
          <a:p>
            <a:pPr lvl="1"/>
            <a:r>
              <a:rPr lang="en-US" altLang="ko-KR" sz="1600" dirty="0"/>
              <a:t>git-fork: </a:t>
            </a:r>
            <a:r>
              <a:rPr lang="en-US" altLang="ko-KR" sz="1600" dirty="0">
                <a:hlinkClick r:id="rId2"/>
              </a:rPr>
              <a:t>https://git-fork.com/</a:t>
            </a:r>
            <a:r>
              <a:rPr lang="en-US" altLang="ko-KR" sz="1600" dirty="0"/>
              <a:t> </a:t>
            </a:r>
          </a:p>
          <a:p>
            <a:pPr lvl="1"/>
            <a:r>
              <a:rPr lang="en-US" altLang="ko-KR" sz="1600" dirty="0"/>
              <a:t>Project: </a:t>
            </a:r>
            <a:r>
              <a:rPr lang="en-US" altLang="ko-KR" sz="1600" dirty="0">
                <a:hlinkClick r:id="rId3"/>
              </a:rPr>
              <a:t>https://github.com/onlybooks/gamemath.git</a:t>
            </a:r>
            <a:endParaRPr lang="en-US" altLang="ko-KR" sz="1600" dirty="0"/>
          </a:p>
          <a:p>
            <a:pPr lvl="1"/>
            <a:r>
              <a:rPr lang="en-US" altLang="ko-KR" sz="1600" dirty="0"/>
              <a:t>MSVC 2022: </a:t>
            </a:r>
            <a:r>
              <a:rPr lang="en-US" altLang="ko-KR" sz="1600" dirty="0">
                <a:hlinkClick r:id="rId4" tooltip="https://aka.ms/vs/17/release/vs_community.exe"/>
              </a:rPr>
              <a:t>https://aka.ms/vs/17/release/vs_community.exe</a:t>
            </a:r>
            <a:endParaRPr lang="en-US" altLang="ko-KR" sz="1600" dirty="0"/>
          </a:p>
          <a:p>
            <a:pPr lvl="1"/>
            <a:r>
              <a:rPr lang="en-US" altLang="ko-KR" sz="1600" dirty="0"/>
              <a:t>cmake</a:t>
            </a:r>
          </a:p>
          <a:p>
            <a:pPr lvl="2"/>
            <a:r>
              <a:rPr lang="en-US" altLang="ko-KR" sz="1400" dirty="0">
                <a:hlinkClick r:id="rId5"/>
              </a:rPr>
              <a:t>https://cmake.org/download/</a:t>
            </a:r>
            <a:r>
              <a:rPr lang="en-US" altLang="ko-KR" sz="1400" dirty="0"/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 </a:t>
            </a:r>
            <a:r>
              <a:rPr lang="en-US" altLang="ko-KR" sz="1400" u="sng" dirty="0">
                <a:hlinkClick r:id="rId6"/>
              </a:rPr>
              <a:t>cmake-4.2.3-windows-x86_64.msi</a:t>
            </a:r>
            <a:endParaRPr lang="en-US" altLang="ko-KR" sz="1400" dirty="0"/>
          </a:p>
          <a:p>
            <a:pPr lvl="1"/>
            <a:r>
              <a:rPr lang="en-US" altLang="ko-KR" sz="1600" dirty="0"/>
              <a:t>CMake-VS-17-2022.bat </a:t>
            </a:r>
            <a:r>
              <a:rPr lang="ko-KR" altLang="en-US" sz="1600" dirty="0"/>
              <a:t>수정</a:t>
            </a:r>
            <a:endParaRPr lang="en-US" altLang="ko-KR" sz="1600" dirty="0"/>
          </a:p>
          <a:p>
            <a:pPr lvl="2"/>
            <a:r>
              <a:rPr lang="en-US" altLang="ko-KR" sz="1400" dirty="0"/>
              <a:t>cmake -G "Visual Studio 18 2026" -DCMAKE_POLICY_VERSION_MINIMUM=3.5 ..\</a:t>
            </a:r>
            <a:endParaRPr lang="en-US" altLang="ko-KR" sz="1200" dirty="0"/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class Vector2D</a:t>
            </a:r>
          </a:p>
          <a:p>
            <a:pPr lvl="1"/>
            <a:r>
              <a:rPr lang="ko-KR" altLang="en-US" sz="1800" dirty="0"/>
              <a:t>벡터의 합</a:t>
            </a:r>
            <a:r>
              <a:rPr lang="en-US" altLang="ko-KR" sz="1800" dirty="0"/>
              <a:t>, </a:t>
            </a:r>
            <a:r>
              <a:rPr lang="ko-KR" altLang="en-US" sz="1800" dirty="0"/>
              <a:t>차</a:t>
            </a:r>
            <a:r>
              <a:rPr lang="en-US" altLang="ko-KR" sz="1800" dirty="0"/>
              <a:t>, </a:t>
            </a:r>
            <a:r>
              <a:rPr lang="ko-KR" altLang="en-US" sz="1800" dirty="0"/>
              <a:t>스칼라 곱을 </a:t>
            </a:r>
            <a:r>
              <a:rPr lang="en-US" altLang="ko-KR" sz="1800" dirty="0"/>
              <a:t>operator overloading</a:t>
            </a:r>
            <a:r>
              <a:rPr lang="ko-KR" altLang="en-US" sz="1800" dirty="0"/>
              <a:t>으로 구현</a:t>
            </a:r>
            <a:endParaRPr lang="en-US" altLang="ko-KR" sz="1800" dirty="0"/>
          </a:p>
          <a:p>
            <a:pPr lvl="2"/>
            <a:r>
              <a:rPr lang="en-US" altLang="ko-KR" sz="1400" dirty="0"/>
              <a:t>operator +(Vector2D)</a:t>
            </a:r>
          </a:p>
          <a:p>
            <a:pPr lvl="2"/>
            <a:r>
              <a:rPr lang="en-US" altLang="ko-KR" sz="1400" dirty="0"/>
              <a:t>operator -(Vector2D)</a:t>
            </a:r>
          </a:p>
          <a:p>
            <a:pPr lvl="2"/>
            <a:r>
              <a:rPr lang="en-US" altLang="ko-KR" sz="1400" dirty="0"/>
              <a:t>operator *(float)</a:t>
            </a:r>
          </a:p>
          <a:p>
            <a:pPr lvl="2"/>
            <a:r>
              <a:rPr lang="en-US" altLang="ko-KR" sz="1400" dirty="0"/>
              <a:t>operator *(float)</a:t>
            </a:r>
          </a:p>
          <a:p>
            <a:pPr lvl="1"/>
            <a:endParaRPr lang="en-US" altLang="ko-KR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1416E03-9254-E855-8144-5ED074A614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2270271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704B2-E23C-9807-EC15-32B39786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3.2.3 </a:t>
            </a:r>
            <a:r>
              <a:rPr lang="ko-KR" altLang="en-US" dirty="0"/>
              <a:t>벡터의 크기와 이동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6905E5-EA2E-E6D9-47DC-5B007138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피타고라스 정리 사용</a:t>
            </a:r>
            <a:endParaRPr lang="en-US" altLang="ko-KR" dirty="0"/>
          </a:p>
          <a:p>
            <a:pPr lvl="1"/>
            <a:endParaRPr lang="en-US" altLang="ko-KR" sz="2800" dirty="0"/>
          </a:p>
          <a:p>
            <a:pPr lvl="1"/>
            <a:endParaRPr lang="en-US" altLang="ko-KR" sz="2800" dirty="0"/>
          </a:p>
          <a:p>
            <a:r>
              <a:rPr lang="ko-KR" altLang="en-US" dirty="0"/>
              <a:t>벡터의 크기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단위 벡터</a:t>
            </a:r>
            <a:endParaRPr lang="en-US" altLang="ko-KR" dirty="0"/>
          </a:p>
          <a:p>
            <a:pPr lvl="1"/>
            <a:r>
              <a:rPr lang="ko-KR" altLang="en-US" dirty="0"/>
              <a:t>크기</a:t>
            </a:r>
            <a:r>
              <a:rPr lang="en-US" altLang="ko-KR" dirty="0"/>
              <a:t>: 1</a:t>
            </a:r>
            <a:endParaRPr lang="en-US" altLang="ko-KR" sz="2800" dirty="0"/>
          </a:p>
          <a:p>
            <a:pPr lvl="1"/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9ABC7A-E099-4D12-4E01-044DADE628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5D30D3-7CED-232D-5F8A-7F5897DCD9D4}"/>
                  </a:ext>
                </a:extLst>
              </p:cNvPr>
              <p:cNvSpPr txBox="1"/>
              <p:nvPr/>
            </p:nvSpPr>
            <p:spPr>
              <a:xfrm>
                <a:off x="668316" y="1287726"/>
                <a:ext cx="3312368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+ </m:t>
                      </m:r>
                      <m:sSup>
                        <m:sSupPr>
                          <m:ctrlP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ko-KR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5D30D3-7CED-232D-5F8A-7F5897DC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16" y="1287726"/>
                <a:ext cx="3312368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BBA94F-697A-B914-8496-2FFFAD4D7618}"/>
                  </a:ext>
                </a:extLst>
              </p:cNvPr>
              <p:cNvSpPr txBox="1"/>
              <p:nvPr/>
            </p:nvSpPr>
            <p:spPr>
              <a:xfrm>
                <a:off x="668316" y="2868189"/>
                <a:ext cx="1728191" cy="4863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sz="28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DBBA94F-697A-B914-8496-2FFFAD4D7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316" y="2868189"/>
                <a:ext cx="1728191" cy="4863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D6B4B7-8941-3DA2-F7CA-081EAFBFBE77}"/>
                  </a:ext>
                </a:extLst>
              </p:cNvPr>
              <p:cNvSpPr txBox="1"/>
              <p:nvPr/>
            </p:nvSpPr>
            <p:spPr>
              <a:xfrm>
                <a:off x="1619672" y="5138556"/>
                <a:ext cx="1944216" cy="1037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D6B4B7-8941-3DA2-F7CA-081EAFBFB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5138556"/>
                <a:ext cx="1944216" cy="1037720"/>
              </a:xfrm>
              <a:prstGeom prst="rect">
                <a:avLst/>
              </a:prstGeom>
              <a:blipFill>
                <a:blip r:embed="rId4"/>
                <a:stretch>
                  <a:fillRect b="-5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A5FF7-6069-5916-7528-D122256F4F1A}"/>
                  </a:ext>
                </a:extLst>
              </p:cNvPr>
              <p:cNvSpPr txBox="1"/>
              <p:nvPr/>
            </p:nvSpPr>
            <p:spPr>
              <a:xfrm>
                <a:off x="2466538" y="2360851"/>
                <a:ext cx="2098235" cy="1380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A3A5FF7-6069-5916-7528-D122256F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538" y="2360851"/>
                <a:ext cx="2098235" cy="13809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228792-600B-D504-6891-1C77B3EDFA97}"/>
                  </a:ext>
                </a:extLst>
              </p:cNvPr>
              <p:cNvSpPr txBox="1"/>
              <p:nvPr/>
            </p:nvSpPr>
            <p:spPr>
              <a:xfrm>
                <a:off x="4844240" y="2730524"/>
                <a:ext cx="1666186" cy="6240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228792-600B-D504-6891-1C77B3EDF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240" y="2730524"/>
                <a:ext cx="1666186" cy="6240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237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7BE2-C6DB-95D1-63CC-985FC9B6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01F5F-B832-E791-1651-ABD0C61D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 곱셈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2057F7-8816-EC4E-D619-75C127C1FA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내적</a:t>
                </a:r>
                <a:endParaRPr lang="en-US" altLang="ko-KR" sz="2400" dirty="0"/>
              </a:p>
              <a:p>
                <a:pPr lvl="1"/>
                <a:r>
                  <a:rPr lang="ko-KR" altLang="en-US" sz="2000" dirty="0"/>
                  <a:t>동일 차원 내 두 벡터의 크기와 사이각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ko-KR" sz="2000" dirty="0"/>
                  <a:t>)</a:t>
                </a:r>
                <a:r>
                  <a:rPr lang="ko-KR" altLang="en-US" sz="2000" dirty="0"/>
                  <a:t>의 코사인</a:t>
                </a:r>
                <a:r>
                  <a:rPr lang="en-US" altLang="ko-KR" sz="2000" dirty="0"/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en-US" altLang="ko-KR" sz="2000" dirty="0"/>
                  <a:t>) </a:t>
                </a:r>
                <a:r>
                  <a:rPr lang="ko-KR" altLang="en-US" sz="2000" dirty="0"/>
                  <a:t>값의 곱</a:t>
                </a:r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2057F7-8816-EC4E-D619-75C127C1FA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2C18DC-D15A-E91D-3A26-22B1CA71AE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8A64FD-ACB5-86B7-7C95-E3025198A9E3}"/>
                  </a:ext>
                </a:extLst>
              </p:cNvPr>
              <p:cNvSpPr txBox="1"/>
              <p:nvPr/>
            </p:nvSpPr>
            <p:spPr>
              <a:xfrm>
                <a:off x="952327" y="1633833"/>
                <a:ext cx="3043609" cy="4461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8A64FD-ACB5-86B7-7C95-E3025198A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7" y="1633833"/>
                <a:ext cx="3043609" cy="446148"/>
              </a:xfrm>
              <a:prstGeom prst="rect">
                <a:avLst/>
              </a:prstGeom>
              <a:blipFill>
                <a:blip r:embed="rId3"/>
                <a:stretch>
                  <a:fillRect l="-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CADC95-EDB0-C72C-E337-4DA752D61207}"/>
                  </a:ext>
                </a:extLst>
              </p:cNvPr>
              <p:cNvSpPr txBox="1"/>
              <p:nvPr/>
            </p:nvSpPr>
            <p:spPr>
              <a:xfrm>
                <a:off x="952327" y="2390506"/>
                <a:ext cx="3043609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CADC95-EDB0-C72C-E337-4DA752D61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7" y="2390506"/>
                <a:ext cx="3043609" cy="894347"/>
              </a:xfrm>
              <a:prstGeom prst="rect">
                <a:avLst/>
              </a:prstGeom>
              <a:blipFill>
                <a:blip r:embed="rId4"/>
                <a:stretch>
                  <a:fillRect l="-2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7124F4-84DE-94C9-3557-5A228E96E086}"/>
                  </a:ext>
                </a:extLst>
              </p:cNvPr>
              <p:cNvSpPr txBox="1"/>
              <p:nvPr/>
            </p:nvSpPr>
            <p:spPr>
              <a:xfrm>
                <a:off x="952327" y="3347138"/>
                <a:ext cx="386891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⟩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⟨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37124F4-84DE-94C9-3557-5A228E96E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327" y="3347138"/>
                <a:ext cx="3868911" cy="369332"/>
              </a:xfrm>
              <a:prstGeom prst="rect">
                <a:avLst/>
              </a:prstGeom>
              <a:blipFill>
                <a:blip r:embed="rId5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C74D55-7FE9-403C-BD6E-2A0B947271E4}"/>
                  </a:ext>
                </a:extLst>
              </p:cNvPr>
              <p:cNvSpPr txBox="1"/>
              <p:nvPr/>
            </p:nvSpPr>
            <p:spPr>
              <a:xfrm>
                <a:off x="3995937" y="1628800"/>
                <a:ext cx="3240360" cy="4461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d>
                        <m:dPr>
                          <m:begChr m:val="‖"/>
                          <m:endChr m:val="‖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C74D55-7FE9-403C-BD6E-2A0B947271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7" y="1628800"/>
                <a:ext cx="3240360" cy="4461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7F399-448C-4126-B92F-AE55B6D102E5}"/>
                  </a:ext>
                </a:extLst>
              </p:cNvPr>
              <p:cNvSpPr txBox="1"/>
              <p:nvPr/>
            </p:nvSpPr>
            <p:spPr>
              <a:xfrm>
                <a:off x="3995937" y="2587992"/>
                <a:ext cx="3456384" cy="398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0000FF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97F399-448C-4126-B92F-AE55B6D10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7" y="2587992"/>
                <a:ext cx="3456384" cy="398507"/>
              </a:xfrm>
              <a:prstGeom prst="rect">
                <a:avLst/>
              </a:prstGeom>
              <a:blipFill>
                <a:blip r:embed="rId7"/>
                <a:stretch>
                  <a:fillRect l="-1943" t="-29231" b="-3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580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6B23F-256D-E93A-AA36-A1943C6A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E3611-8481-C633-AB94-6373DE39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내적</a:t>
            </a:r>
            <a:r>
              <a:rPr lang="en-US" altLang="ko-KR" dirty="0"/>
              <a:t>: </a:t>
            </a:r>
            <a:r>
              <a:rPr lang="ko-KR" altLang="en-US" dirty="0"/>
              <a:t>두 벡터의 각도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9BFE1A-6515-1A55-FE25-6F287B7D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벡터의 각도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9B612A-2991-1279-FE71-F0BC182409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B921AE-07CA-B797-490B-35806DC5D8CF}"/>
                  </a:ext>
                </a:extLst>
              </p:cNvPr>
              <p:cNvSpPr txBox="1"/>
              <p:nvPr/>
            </p:nvSpPr>
            <p:spPr>
              <a:xfrm>
                <a:off x="251520" y="1810074"/>
                <a:ext cx="4959493" cy="14986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sz="2000" b="0" dirty="0"/>
                  <a:t>  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= 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endParaRPr lang="en-US" altLang="ko-KR" sz="2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         =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altLang="ko-KR" sz="2000" b="0" dirty="0"/>
              </a:p>
              <a:p>
                <a:r>
                  <a:rPr lang="en-US" altLang="ko-KR" sz="2000" dirty="0">
                    <a:ea typeface="Cambria Math" panose="020405030504060302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B921AE-07CA-B797-490B-35806DC5D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810074"/>
                <a:ext cx="4959493" cy="1498615"/>
              </a:xfrm>
              <a:prstGeom prst="rect">
                <a:avLst/>
              </a:prstGeom>
              <a:blipFill>
                <a:blip r:embed="rId2"/>
                <a:stretch>
                  <a:fillRect l="-123" b="-12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622130-A167-3D9F-B3E4-84A5AC1C3CF5}"/>
                  </a:ext>
                </a:extLst>
              </p:cNvPr>
              <p:cNvSpPr txBox="1"/>
              <p:nvPr/>
            </p:nvSpPr>
            <p:spPr>
              <a:xfrm>
                <a:off x="326992" y="1296561"/>
                <a:ext cx="2088034" cy="347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= 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4622130-A167-3D9F-B3E4-84A5AC1C3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92" y="1296561"/>
                <a:ext cx="2088034" cy="347146"/>
              </a:xfrm>
              <a:prstGeom prst="rect">
                <a:avLst/>
              </a:prstGeom>
              <a:blipFill>
                <a:blip r:embed="rId3"/>
                <a:stretch>
                  <a:fillRect l="-4386" t="-35088" b="-70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059909-241E-DE7A-398C-C04E3128B59C}"/>
                  </a:ext>
                </a:extLst>
              </p:cNvPr>
              <p:cNvSpPr txBox="1"/>
              <p:nvPr/>
            </p:nvSpPr>
            <p:spPr>
              <a:xfrm>
                <a:off x="251519" y="3429000"/>
                <a:ext cx="3456385" cy="432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−2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059909-241E-DE7A-398C-C04E3128B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19" y="3429000"/>
                <a:ext cx="3456385" cy="432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7BE9D6-ED44-F990-7BB2-E8D8B3451BBB}"/>
                  </a:ext>
                </a:extLst>
              </p:cNvPr>
              <p:cNvSpPr txBox="1"/>
              <p:nvPr/>
            </p:nvSpPr>
            <p:spPr>
              <a:xfrm>
                <a:off x="4931073" y="2013304"/>
                <a:ext cx="3528392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m:rPr>
                          <m:nor/>
                        </m:rPr>
                        <a:rPr lang="ko-KR" altLang="en-US" sz="2000" i="0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US" altLang="ko-KR" sz="20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i="0" dirty="0">
                          <a:latin typeface="Cambria Math" panose="02040503050406030204" pitchFamily="18" charset="0"/>
                        </a:rPr>
                        <m:t> </m:t>
                      </m:r>
                      <m:d>
                        <m:d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27BE9D6-ED44-F990-7BB2-E8D8B3451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073" y="2013304"/>
                <a:ext cx="3528392" cy="9908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EFBCA8-13FA-7113-EDBD-11F4740DB445}"/>
                  </a:ext>
                </a:extLst>
              </p:cNvPr>
              <p:cNvSpPr txBox="1"/>
              <p:nvPr/>
            </p:nvSpPr>
            <p:spPr>
              <a:xfrm>
                <a:off x="326993" y="4365104"/>
                <a:ext cx="3380911" cy="20125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⃗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200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 =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b="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endParaRPr lang="en-US" altLang="ko-KR" sz="2000" dirty="0"/>
              </a:p>
              <a:p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  <m:func>
                      <m:func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CEFBCA8-13FA-7113-EDBD-11F4740DB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93" y="4365104"/>
                <a:ext cx="3380911" cy="2012539"/>
              </a:xfrm>
              <a:prstGeom prst="rect">
                <a:avLst/>
              </a:prstGeom>
              <a:blipFill>
                <a:blip r:embed="rId6"/>
                <a:stretch>
                  <a:fillRect l="-181" b="-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C69538-A134-F8C1-0B7D-FF2874759A0B}"/>
                  </a:ext>
                </a:extLst>
              </p:cNvPr>
              <p:cNvSpPr txBox="1"/>
              <p:nvPr/>
            </p:nvSpPr>
            <p:spPr>
              <a:xfrm>
                <a:off x="4504648" y="3112962"/>
                <a:ext cx="4390554" cy="9908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ko-KR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ko-KR" altLang="en-US" sz="2000" i="0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US" altLang="ko-KR" sz="200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i="0" dirty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C69538-A134-F8C1-0B7D-FF2874759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48" y="3112962"/>
                <a:ext cx="4390554" cy="9908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C49B9F-B1B2-E715-9382-4834A40FB6A8}"/>
                  </a:ext>
                </a:extLst>
              </p:cNvPr>
              <p:cNvSpPr txBox="1"/>
              <p:nvPr/>
            </p:nvSpPr>
            <p:spPr>
              <a:xfrm>
                <a:off x="4499992" y="4579827"/>
                <a:ext cx="4390554" cy="11496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ko-KR" alt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ko-KR" altLang="en-US" sz="2000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m:rPr>
                          <m:nor/>
                        </m:rPr>
                        <a:rPr lang="en-US" altLang="ko-KR" sz="200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ko-KR" sz="2000" i="0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</m:t>
                      </m:r>
                      <m:sSup>
                        <m:sSupPr>
                          <m:ctrlP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ko-KR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</m:acc>
                                      <m: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ko-KR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0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200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ko-KR" sz="2000" i="1" dirty="0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ko-KR" sz="2000" i="1" dirty="0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ko-KR" sz="2000" i="1" dirty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C49B9F-B1B2-E715-9382-4834A40F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4579827"/>
                <a:ext cx="4390554" cy="11496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2126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0442E-325A-2D07-9D4D-50645702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15755-E657-CB71-2D96-F315880F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외적 </a:t>
            </a:r>
            <a:r>
              <a:rPr lang="en-US" altLang="ko-KR" dirty="0"/>
              <a:t>(cross</a:t>
            </a:r>
            <a:r>
              <a:rPr lang="ko-KR" altLang="en-US" dirty="0"/>
              <a:t> </a:t>
            </a:r>
            <a:r>
              <a:rPr lang="en-US" altLang="ko-KR" dirty="0"/>
              <a:t>product)</a:t>
            </a:r>
          </a:p>
          <a:p>
            <a:pPr lvl="1"/>
            <a:r>
              <a:rPr lang="ko-KR" altLang="en-US" sz="2000" dirty="0"/>
              <a:t>두 벡터에 모두 수직인 새로운 벡터를 만드는 연산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크기</a:t>
            </a:r>
            <a:r>
              <a:rPr lang="en-US" altLang="ko-KR" sz="2000" dirty="0"/>
              <a:t>: </a:t>
            </a:r>
            <a:r>
              <a:rPr lang="ko-KR" altLang="en-US" sz="2000" dirty="0"/>
              <a:t>두 벡터가 가지는 평형사변형 넓이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방향</a:t>
            </a:r>
            <a:r>
              <a:rPr lang="en-US" altLang="ko-KR" sz="2000" dirty="0"/>
              <a:t>: </a:t>
            </a:r>
            <a:r>
              <a:rPr lang="ko-KR" altLang="en-US" sz="1800" dirty="0"/>
              <a:t>오른손 법칙</a:t>
            </a:r>
            <a:r>
              <a:rPr lang="en-US" altLang="ko-KR" sz="1800" dirty="0"/>
              <a:t>(Right-Hand Rule)</a:t>
            </a:r>
            <a:r>
              <a:rPr lang="ko-KR" altLang="en-US" sz="1800" dirty="0"/>
              <a:t>을 적용해서 두 벡터에 수직</a:t>
            </a:r>
            <a:endParaRPr lang="en-US" altLang="ko-KR" sz="18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행렬식으로 간단히 표현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0BEB81-D24B-19FC-9E08-E51EC39E14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0114E-E1D8-15E9-134B-47A1BE2B5C29}"/>
                  </a:ext>
                </a:extLst>
              </p:cNvPr>
              <p:cNvSpPr txBox="1"/>
              <p:nvPr/>
            </p:nvSpPr>
            <p:spPr>
              <a:xfrm>
                <a:off x="1479320" y="2786044"/>
                <a:ext cx="3596736" cy="4461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altLang="ko-K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1F0114E-E1D8-15E9-134B-47A1BE2B5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320" y="2786044"/>
                <a:ext cx="3596736" cy="4461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015744-A209-8D02-D27D-BB31CF097C35}"/>
                  </a:ext>
                </a:extLst>
              </p:cNvPr>
              <p:cNvSpPr txBox="1"/>
              <p:nvPr/>
            </p:nvSpPr>
            <p:spPr>
              <a:xfrm>
                <a:off x="762637" y="4536924"/>
                <a:ext cx="3816424" cy="9782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 =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015744-A209-8D02-D27D-BB31CF097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37" y="4536924"/>
                <a:ext cx="3816424" cy="9782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401591-F01E-1994-942F-BE7FE7B87471}"/>
                  </a:ext>
                </a:extLst>
              </p:cNvPr>
              <p:cNvSpPr txBox="1"/>
              <p:nvPr/>
            </p:nvSpPr>
            <p:spPr>
              <a:xfrm>
                <a:off x="1479320" y="1642372"/>
                <a:ext cx="2322258" cy="4165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401591-F01E-1994-942F-BE7FE7B8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320" y="1642372"/>
                <a:ext cx="2322258" cy="4165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F5E157-78D3-4CE7-8553-AFBABFC0D112}"/>
                  </a:ext>
                </a:extLst>
              </p:cNvPr>
              <p:cNvSpPr txBox="1"/>
              <p:nvPr/>
            </p:nvSpPr>
            <p:spPr>
              <a:xfrm>
                <a:off x="762637" y="5608744"/>
                <a:ext cx="7193739" cy="3784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ko-KR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ko-KR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, 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0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F5E157-78D3-4CE7-8553-AFBABFC0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37" y="5608744"/>
                <a:ext cx="7193739" cy="378437"/>
              </a:xfrm>
              <a:prstGeom prst="rect">
                <a:avLst/>
              </a:prstGeom>
              <a:blipFill>
                <a:blip r:embed="rId5"/>
                <a:stretch>
                  <a:fillRect l="-1186" t="-30645" b="-17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688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3B548-48E8-F668-F71F-F7B0019D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05BFB-EE1F-C20F-07E0-4C2A52A2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벡터 원 그리기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333015-65A1-172B-76D2-68DF0ADFD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tree/3-2</a:t>
            </a:r>
          </a:p>
          <a:p>
            <a:r>
              <a:rPr lang="ko-KR" altLang="en-US" sz="2400" dirty="0"/>
              <a:t>벡터 크기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3"/>
            <a:endParaRPr lang="en-US" altLang="ko-KR" sz="1400" dirty="0"/>
          </a:p>
          <a:p>
            <a:pPr lvl="3"/>
            <a:endParaRPr lang="en-US" altLang="ko-KR" sz="1400" dirty="0"/>
          </a:p>
          <a:p>
            <a:pPr lvl="2"/>
            <a:endParaRPr lang="en-US" altLang="ko-KR" sz="1600" dirty="0"/>
          </a:p>
          <a:p>
            <a:r>
              <a:rPr lang="ko-KR" altLang="en-US" sz="2400" dirty="0"/>
              <a:t>반경 안 원소 모집</a:t>
            </a:r>
            <a:endParaRPr lang="en-US" altLang="ko-KR" sz="2400" dirty="0"/>
          </a:p>
          <a:p>
            <a:endParaRPr lang="en-US" altLang="ko-KR" sz="2400" dirty="0"/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1BCA91-F8C3-3C74-7929-4FE8094070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77929-B5DA-284E-57FB-44CE5AC43573}"/>
              </a:ext>
            </a:extLst>
          </p:cNvPr>
          <p:cNvSpPr txBox="1"/>
          <p:nvPr/>
        </p:nvSpPr>
        <p:spPr>
          <a:xfrm>
            <a:off x="539750" y="1674674"/>
            <a:ext cx="6361588" cy="203132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6F008A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FORCEINLINE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	</a:t>
            </a: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sqrtf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SizeSquared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6F008A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FORCEINLINE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constexpr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SizeSquared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	</a:t>
            </a: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403FE-6A32-912B-2AF1-769AE9139D67}"/>
              </a:ext>
            </a:extLst>
          </p:cNvPr>
          <p:cNvSpPr txBox="1"/>
          <p:nvPr/>
        </p:nvSpPr>
        <p:spPr>
          <a:xfrm>
            <a:off x="539750" y="4388911"/>
            <a:ext cx="6361588" cy="138499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pointToTest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squaredLength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pointToTest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SizeSquared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squaredLength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&lt;=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radius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radius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	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circles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push_back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06591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50442E-325A-2D07-9D4D-50645702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벡터의 결합과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15755-E657-CB71-2D96-F315880F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삼각형 세 점 </a:t>
            </a:r>
            <a:r>
              <a:rPr lang="en-US" altLang="ko-KR" dirty="0"/>
              <a:t>V0, V1, V2 </a:t>
            </a:r>
            <a:r>
              <a:rPr lang="ko-KR" altLang="en-US" dirty="0"/>
              <a:t>와  </a:t>
            </a:r>
            <a:r>
              <a:rPr lang="en-US" altLang="ko-KR" dirty="0"/>
              <a:t>X </a:t>
            </a:r>
            <a:r>
              <a:rPr lang="ko-KR" altLang="en-US" dirty="0"/>
              <a:t>벡터를 분해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0BEB81-D24B-19FC-9E08-E51EC39E14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5" name="Line 147">
            <a:extLst>
              <a:ext uri="{FF2B5EF4-FFF2-40B4-BE49-F238E27FC236}">
                <a16:creationId xmlns:a16="http://schemas.microsoft.com/office/drawing/2014/main" id="{DBC3792D-FBCB-A4CF-06B5-A4D881BBA5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3075" y="3672648"/>
            <a:ext cx="2676498" cy="222594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6" name="Oval 89">
            <a:extLst>
              <a:ext uri="{FF2B5EF4-FFF2-40B4-BE49-F238E27FC236}">
                <a16:creationId xmlns:a16="http://schemas.microsoft.com/office/drawing/2014/main" id="{14E43883-EF70-63D6-505B-D36778BE3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573" y="3758468"/>
            <a:ext cx="244049" cy="24404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7" name="Oval 92">
            <a:extLst>
              <a:ext uri="{FF2B5EF4-FFF2-40B4-BE49-F238E27FC236}">
                <a16:creationId xmlns:a16="http://schemas.microsoft.com/office/drawing/2014/main" id="{2ACF41CA-5B1A-EF54-6508-BBA21726A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7715" y="4533525"/>
            <a:ext cx="244050" cy="246731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8" name="Oval 93">
            <a:extLst>
              <a:ext uri="{FF2B5EF4-FFF2-40B4-BE49-F238E27FC236}">
                <a16:creationId xmlns:a16="http://schemas.microsoft.com/office/drawing/2014/main" id="{AAEF97D8-72FC-4D27-2D55-7BA3CD5CB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4165" y="2130576"/>
            <a:ext cx="244050" cy="2440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9" name="Line 96">
            <a:extLst>
              <a:ext uri="{FF2B5EF4-FFF2-40B4-BE49-F238E27FC236}">
                <a16:creationId xmlns:a16="http://schemas.microsoft.com/office/drawing/2014/main" id="{926C47FB-F785-1C25-C1A7-01DA2E7251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3075" y="2304898"/>
            <a:ext cx="2797181" cy="1381158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0" name="Line 97">
            <a:extLst>
              <a:ext uri="{FF2B5EF4-FFF2-40B4-BE49-F238E27FC236}">
                <a16:creationId xmlns:a16="http://schemas.microsoft.com/office/drawing/2014/main" id="{E88BA38A-84CC-98A7-EAA5-18481E649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3075" y="3686056"/>
            <a:ext cx="3041232" cy="927924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1" name="Line 98">
            <a:extLst>
              <a:ext uri="{FF2B5EF4-FFF2-40B4-BE49-F238E27FC236}">
                <a16:creationId xmlns:a16="http://schemas.microsoft.com/office/drawing/2014/main" id="{24632E40-E4ED-99C6-81E0-F475E2436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3224" y="3281096"/>
            <a:ext cx="1823666" cy="581963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2" name="Line 99">
            <a:extLst>
              <a:ext uri="{FF2B5EF4-FFF2-40B4-BE49-F238E27FC236}">
                <a16:creationId xmlns:a16="http://schemas.microsoft.com/office/drawing/2014/main" id="{D12033E9-ED95-9B73-F868-2B50420A03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72972" y="3954243"/>
            <a:ext cx="606101" cy="335234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3" name="Line 100">
            <a:extLst>
              <a:ext uri="{FF2B5EF4-FFF2-40B4-BE49-F238E27FC236}">
                <a16:creationId xmlns:a16="http://schemas.microsoft.com/office/drawing/2014/main" id="{6C5F48B0-FDEC-19DE-DACB-3B09E05DD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0941" y="2304898"/>
            <a:ext cx="233321" cy="2191081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4" name="Arc 102">
            <a:extLst>
              <a:ext uri="{FF2B5EF4-FFF2-40B4-BE49-F238E27FC236}">
                <a16:creationId xmlns:a16="http://schemas.microsoft.com/office/drawing/2014/main" id="{9B77FA71-ADDE-4D05-ECA9-0F9BC436C094}"/>
              </a:ext>
            </a:extLst>
          </p:cNvPr>
          <p:cNvSpPr>
            <a:spLocks/>
          </p:cNvSpPr>
          <p:nvPr/>
        </p:nvSpPr>
        <p:spPr bwMode="auto">
          <a:xfrm rot="1051031" flipV="1">
            <a:off x="1714074" y="3718239"/>
            <a:ext cx="2126716" cy="882334"/>
          </a:xfrm>
          <a:custGeom>
            <a:avLst/>
            <a:gdLst>
              <a:gd name="T0" fmla="*/ 0 w 40588"/>
              <a:gd name="T1" fmla="*/ 8198858 h 21600"/>
              <a:gd name="T2" fmla="*/ 39045937 w 40588"/>
              <a:gd name="T3" fmla="*/ 8412851 h 21600"/>
              <a:gd name="T4" fmla="*/ 19458501 w 40588"/>
              <a:gd name="T5" fmla="*/ 12628922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p:sp>
        <p:nvSpPr>
          <p:cNvPr id="15" name="Arc 104">
            <a:extLst>
              <a:ext uri="{FF2B5EF4-FFF2-40B4-BE49-F238E27FC236}">
                <a16:creationId xmlns:a16="http://schemas.microsoft.com/office/drawing/2014/main" id="{25079AF7-918E-C571-C7FA-71FF86BD0DCB}"/>
              </a:ext>
            </a:extLst>
          </p:cNvPr>
          <p:cNvSpPr>
            <a:spLocks/>
          </p:cNvSpPr>
          <p:nvPr/>
        </p:nvSpPr>
        <p:spPr bwMode="auto">
          <a:xfrm rot="9036953" flipV="1">
            <a:off x="1727482" y="3267686"/>
            <a:ext cx="812605" cy="262822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26">
                <a:extLst>
                  <a:ext uri="{FF2B5EF4-FFF2-40B4-BE49-F238E27FC236}">
                    <a16:creationId xmlns:a16="http://schemas.microsoft.com/office/drawing/2014/main" id="{4D69BB2C-1478-E246-2C09-861EA6268639}"/>
                  </a:ext>
                </a:extLst>
              </p:cNvPr>
              <p:cNvSpPr txBox="1"/>
              <p:nvPr/>
            </p:nvSpPr>
            <p:spPr bwMode="auto">
              <a:xfrm>
                <a:off x="4934989" y="2060848"/>
                <a:ext cx="450553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Object 126">
                <a:extLst>
                  <a:ext uri="{FF2B5EF4-FFF2-40B4-BE49-F238E27FC236}">
                    <a16:creationId xmlns:a16="http://schemas.microsoft.com/office/drawing/2014/main" id="{4D69BB2C-1478-E246-2C09-861EA6268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4989" y="2060848"/>
                <a:ext cx="450553" cy="565874"/>
              </a:xfrm>
              <a:prstGeom prst="rect">
                <a:avLst/>
              </a:prstGeom>
              <a:blipFill>
                <a:blip r:embed="rId2"/>
                <a:stretch>
                  <a:fillRect l="-1370" t="-13978" r="-260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27">
                <a:extLst>
                  <a:ext uri="{FF2B5EF4-FFF2-40B4-BE49-F238E27FC236}">
                    <a16:creationId xmlns:a16="http://schemas.microsoft.com/office/drawing/2014/main" id="{9D351ED7-AFB5-BEF4-D628-BAB0F93C132C}"/>
                  </a:ext>
                </a:extLst>
              </p:cNvPr>
              <p:cNvSpPr txBox="1"/>
              <p:nvPr/>
            </p:nvSpPr>
            <p:spPr bwMode="auto">
              <a:xfrm>
                <a:off x="5299722" y="4372613"/>
                <a:ext cx="418371" cy="56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Object 127">
                <a:extLst>
                  <a:ext uri="{FF2B5EF4-FFF2-40B4-BE49-F238E27FC236}">
                    <a16:creationId xmlns:a16="http://schemas.microsoft.com/office/drawing/2014/main" id="{9D351ED7-AFB5-BEF4-D628-BAB0F93C1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99722" y="4372613"/>
                <a:ext cx="418371" cy="568555"/>
              </a:xfrm>
              <a:prstGeom prst="rect">
                <a:avLst/>
              </a:prstGeom>
              <a:blipFill>
                <a:blip r:embed="rId3"/>
                <a:stretch>
                  <a:fillRect t="-13830" r="-275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29">
                <a:extLst>
                  <a:ext uri="{FF2B5EF4-FFF2-40B4-BE49-F238E27FC236}">
                    <a16:creationId xmlns:a16="http://schemas.microsoft.com/office/drawing/2014/main" id="{48C1EB87-893B-1403-60FD-B4FB8B381AAD}"/>
                  </a:ext>
                </a:extLst>
              </p:cNvPr>
              <p:cNvSpPr txBox="1"/>
              <p:nvPr/>
            </p:nvSpPr>
            <p:spPr bwMode="auto">
              <a:xfrm>
                <a:off x="1043608" y="3155048"/>
                <a:ext cx="450553" cy="6034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Object 129">
                <a:extLst>
                  <a:ext uri="{FF2B5EF4-FFF2-40B4-BE49-F238E27FC236}">
                    <a16:creationId xmlns:a16="http://schemas.microsoft.com/office/drawing/2014/main" id="{48C1EB87-893B-1403-60FD-B4FB8B381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3155048"/>
                <a:ext cx="450553" cy="603420"/>
              </a:xfrm>
              <a:prstGeom prst="rect">
                <a:avLst/>
              </a:prstGeom>
              <a:blipFill>
                <a:blip r:embed="rId4"/>
                <a:stretch>
                  <a:fillRect t="-13131" r="-256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24">
                <a:extLst>
                  <a:ext uri="{FF2B5EF4-FFF2-40B4-BE49-F238E27FC236}">
                    <a16:creationId xmlns:a16="http://schemas.microsoft.com/office/drawing/2014/main" id="{B03E9C55-A1FB-7D45-158D-6FE83DEB530D}"/>
                  </a:ext>
                </a:extLst>
              </p:cNvPr>
              <p:cNvSpPr txBox="1"/>
              <p:nvPr/>
            </p:nvSpPr>
            <p:spPr bwMode="auto">
              <a:xfrm>
                <a:off x="1638981" y="2967317"/>
                <a:ext cx="482735" cy="4344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Object 124">
                <a:extLst>
                  <a:ext uri="{FF2B5EF4-FFF2-40B4-BE49-F238E27FC236}">
                    <a16:creationId xmlns:a16="http://schemas.microsoft.com/office/drawing/2014/main" id="{B03E9C55-A1FB-7D45-158D-6FE83DEB5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8981" y="2967317"/>
                <a:ext cx="482735" cy="4344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30">
                <a:extLst>
                  <a:ext uri="{FF2B5EF4-FFF2-40B4-BE49-F238E27FC236}">
                    <a16:creationId xmlns:a16="http://schemas.microsoft.com/office/drawing/2014/main" id="{8B54862E-CA2A-449C-0A39-3069DD3109DB}"/>
                  </a:ext>
                </a:extLst>
              </p:cNvPr>
              <p:cNvSpPr txBox="1"/>
              <p:nvPr/>
            </p:nvSpPr>
            <p:spPr bwMode="auto">
              <a:xfrm>
                <a:off x="2381856" y="4249248"/>
                <a:ext cx="321823" cy="53369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0" name="Object 130">
                <a:extLst>
                  <a:ext uri="{FF2B5EF4-FFF2-40B4-BE49-F238E27FC236}">
                    <a16:creationId xmlns:a16="http://schemas.microsoft.com/office/drawing/2014/main" id="{8B54862E-CA2A-449C-0A39-3069DD310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1856" y="4249248"/>
                <a:ext cx="321823" cy="533691"/>
              </a:xfrm>
              <a:prstGeom prst="rect">
                <a:avLst/>
              </a:prstGeom>
              <a:blipFill>
                <a:blip r:embed="rId6"/>
                <a:stretch>
                  <a:fillRect l="-16981" r="-28302" b="-34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148">
            <a:extLst>
              <a:ext uri="{FF2B5EF4-FFF2-40B4-BE49-F238E27FC236}">
                <a16:creationId xmlns:a16="http://schemas.microsoft.com/office/drawing/2014/main" id="{7D2D0C53-7E1A-BDD6-F5B1-091BECFE4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238" y="5445224"/>
            <a:ext cx="244049" cy="244049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49">
                <a:extLst>
                  <a:ext uri="{FF2B5EF4-FFF2-40B4-BE49-F238E27FC236}">
                    <a16:creationId xmlns:a16="http://schemas.microsoft.com/office/drawing/2014/main" id="{78EA7023-E48F-3C00-5CB3-B34BD6C2E1F5}"/>
                  </a:ext>
                </a:extLst>
              </p:cNvPr>
              <p:cNvSpPr txBox="1"/>
              <p:nvPr/>
            </p:nvSpPr>
            <p:spPr bwMode="auto">
              <a:xfrm>
                <a:off x="835505" y="5201174"/>
                <a:ext cx="321823" cy="56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2" name="Object 149">
                <a:extLst>
                  <a:ext uri="{FF2B5EF4-FFF2-40B4-BE49-F238E27FC236}">
                    <a16:creationId xmlns:a16="http://schemas.microsoft.com/office/drawing/2014/main" id="{78EA7023-E48F-3C00-5CB3-B34BD6C2E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5505" y="5201174"/>
                <a:ext cx="321823" cy="5685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91">
            <a:extLst>
              <a:ext uri="{FF2B5EF4-FFF2-40B4-BE49-F238E27FC236}">
                <a16:creationId xmlns:a16="http://schemas.microsoft.com/office/drawing/2014/main" id="{094FF0D3-E56D-E3F5-48CB-BA7BFC535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434" y="3557327"/>
            <a:ext cx="244049" cy="241368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28">
                <a:extLst>
                  <a:ext uri="{FF2B5EF4-FFF2-40B4-BE49-F238E27FC236}">
                    <a16:creationId xmlns:a16="http://schemas.microsoft.com/office/drawing/2014/main" id="{60733A13-73EE-79DF-CC5C-AEE7EABD25CB}"/>
                  </a:ext>
                </a:extLst>
              </p:cNvPr>
              <p:cNvSpPr txBox="1"/>
              <p:nvPr/>
            </p:nvSpPr>
            <p:spPr bwMode="auto">
              <a:xfrm>
                <a:off x="2987957" y="3519781"/>
                <a:ext cx="321823" cy="5336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4" name="Object 128">
                <a:extLst>
                  <a:ext uri="{FF2B5EF4-FFF2-40B4-BE49-F238E27FC236}">
                    <a16:creationId xmlns:a16="http://schemas.microsoft.com/office/drawing/2014/main" id="{60733A13-73EE-79DF-CC5C-AEE7EABD2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957" y="3519781"/>
                <a:ext cx="321823" cy="533691"/>
              </a:xfrm>
              <a:prstGeom prst="rect">
                <a:avLst/>
              </a:prstGeom>
              <a:blipFill>
                <a:blip r:embed="rId8"/>
                <a:stretch>
                  <a:fillRect l="-5660" t="-14773" r="-377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50">
                <a:extLst>
                  <a:ext uri="{FF2B5EF4-FFF2-40B4-BE49-F238E27FC236}">
                    <a16:creationId xmlns:a16="http://schemas.microsoft.com/office/drawing/2014/main" id="{A43024D6-E49E-2496-776E-1C3FD002A29B}"/>
                  </a:ext>
                </a:extLst>
              </p:cNvPr>
              <p:cNvSpPr txBox="1"/>
              <p:nvPr/>
            </p:nvSpPr>
            <p:spPr bwMode="auto">
              <a:xfrm>
                <a:off x="4326207" y="3275732"/>
                <a:ext cx="321823" cy="4344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Object 150">
                <a:extLst>
                  <a:ext uri="{FF2B5EF4-FFF2-40B4-BE49-F238E27FC236}">
                    <a16:creationId xmlns:a16="http://schemas.microsoft.com/office/drawing/2014/main" id="{A43024D6-E49E-2496-776E-1C3FD002A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6207" y="3275732"/>
                <a:ext cx="321823" cy="434462"/>
              </a:xfrm>
              <a:prstGeom prst="rect">
                <a:avLst/>
              </a:prstGeom>
              <a:blipFill>
                <a:blip r:embed="rId9"/>
                <a:stretch>
                  <a:fillRect t="-12500" r="-2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378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36E61-9634-F658-6996-46A493B1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206D31-CFF6-8661-C1AB-74916E35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벡터의 결합과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65BC8-5464-3649-AB18-E6974EC52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벡터</a:t>
            </a:r>
            <a:r>
              <a:rPr lang="en-US" altLang="ko-KR" dirty="0"/>
              <a:t> </a:t>
            </a:r>
            <a:r>
              <a:rPr lang="ko-KR" altLang="en-US" dirty="0"/>
              <a:t>분해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8630C2-79E5-1967-FF61-5871CCFBCC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25">
                <a:extLst>
                  <a:ext uri="{FF2B5EF4-FFF2-40B4-BE49-F238E27FC236}">
                    <a16:creationId xmlns:a16="http://schemas.microsoft.com/office/drawing/2014/main" id="{BDD12117-1781-5051-0A33-D08933134F4D}"/>
                  </a:ext>
                </a:extLst>
              </p:cNvPr>
              <p:cNvSpPr txBox="1"/>
              <p:nvPr/>
            </p:nvSpPr>
            <p:spPr bwMode="auto">
              <a:xfrm>
                <a:off x="755575" y="1268759"/>
                <a:ext cx="1699559" cy="5326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Object 125">
                <a:extLst>
                  <a:ext uri="{FF2B5EF4-FFF2-40B4-BE49-F238E27FC236}">
                    <a16:creationId xmlns:a16="http://schemas.microsoft.com/office/drawing/2014/main" id="{BDD12117-1781-5051-0A33-D08933134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5" y="1268759"/>
                <a:ext cx="1699559" cy="532632"/>
              </a:xfrm>
              <a:prstGeom prst="rect">
                <a:avLst/>
              </a:prstGeom>
              <a:blipFill>
                <a:blip r:embed="rId2"/>
                <a:stretch>
                  <a:fillRect t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33">
                <a:extLst>
                  <a:ext uri="{FF2B5EF4-FFF2-40B4-BE49-F238E27FC236}">
                    <a16:creationId xmlns:a16="http://schemas.microsoft.com/office/drawing/2014/main" id="{A13D14D0-A27E-BEC6-A008-B1E1DE576810}"/>
                  </a:ext>
                </a:extLst>
              </p:cNvPr>
              <p:cNvSpPr txBox="1"/>
              <p:nvPr/>
            </p:nvSpPr>
            <p:spPr bwMode="auto">
              <a:xfrm>
                <a:off x="2339752" y="1268759"/>
                <a:ext cx="1725706" cy="5326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 = (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8" name="Object 133">
                <a:extLst>
                  <a:ext uri="{FF2B5EF4-FFF2-40B4-BE49-F238E27FC236}">
                    <a16:creationId xmlns:a16="http://schemas.microsoft.com/office/drawing/2014/main" id="{A13D14D0-A27E-BEC6-A008-B1E1DE576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9752" y="1268759"/>
                <a:ext cx="1725706" cy="532632"/>
              </a:xfrm>
              <a:prstGeom prst="rect">
                <a:avLst/>
              </a:prstGeom>
              <a:blipFill>
                <a:blip r:embed="rId3"/>
                <a:stretch>
                  <a:fillRect t="-11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136">
                <a:extLst>
                  <a:ext uri="{FF2B5EF4-FFF2-40B4-BE49-F238E27FC236}">
                    <a16:creationId xmlns:a16="http://schemas.microsoft.com/office/drawing/2014/main" id="{F36FE398-D47E-BE04-3124-3D266C6451F8}"/>
                  </a:ext>
                </a:extLst>
              </p:cNvPr>
              <p:cNvSpPr txBox="1"/>
              <p:nvPr/>
            </p:nvSpPr>
            <p:spPr bwMode="auto">
              <a:xfrm>
                <a:off x="755575" y="1773585"/>
                <a:ext cx="2521025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Object 136">
                <a:extLst>
                  <a:ext uri="{FF2B5EF4-FFF2-40B4-BE49-F238E27FC236}">
                    <a16:creationId xmlns:a16="http://schemas.microsoft.com/office/drawing/2014/main" id="{F36FE398-D47E-BE04-3124-3D266C645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5" y="1773585"/>
                <a:ext cx="2521025" cy="5254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138">
                <a:extLst>
                  <a:ext uri="{FF2B5EF4-FFF2-40B4-BE49-F238E27FC236}">
                    <a16:creationId xmlns:a16="http://schemas.microsoft.com/office/drawing/2014/main" id="{9CD4A347-951B-6D0C-9E2F-99C7F51D53BB}"/>
                  </a:ext>
                </a:extLst>
              </p:cNvPr>
              <p:cNvSpPr txBox="1"/>
              <p:nvPr/>
            </p:nvSpPr>
            <p:spPr bwMode="auto">
              <a:xfrm>
                <a:off x="739220" y="2470439"/>
                <a:ext cx="2391714" cy="3408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0" name="Object 138">
                <a:extLst>
                  <a:ext uri="{FF2B5EF4-FFF2-40B4-BE49-F238E27FC236}">
                    <a16:creationId xmlns:a16="http://schemas.microsoft.com/office/drawing/2014/main" id="{9CD4A347-951B-6D0C-9E2F-99C7F51D5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220" y="2470439"/>
                <a:ext cx="2391714" cy="340898"/>
              </a:xfrm>
              <a:prstGeom prst="rect">
                <a:avLst/>
              </a:prstGeom>
              <a:blipFill>
                <a:blip r:embed="rId5"/>
                <a:stretch>
                  <a:fillRect t="-8929" b="-3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39">
                <a:extLst>
                  <a:ext uri="{FF2B5EF4-FFF2-40B4-BE49-F238E27FC236}">
                    <a16:creationId xmlns:a16="http://schemas.microsoft.com/office/drawing/2014/main" id="{19B7E3FD-93B8-9630-993F-393AEA13C585}"/>
                  </a:ext>
                </a:extLst>
              </p:cNvPr>
              <p:cNvSpPr txBox="1"/>
              <p:nvPr/>
            </p:nvSpPr>
            <p:spPr bwMode="auto">
              <a:xfrm>
                <a:off x="739220" y="2872077"/>
                <a:ext cx="2391714" cy="3408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 + 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Object 139">
                <a:extLst>
                  <a:ext uri="{FF2B5EF4-FFF2-40B4-BE49-F238E27FC236}">
                    <a16:creationId xmlns:a16="http://schemas.microsoft.com/office/drawing/2014/main" id="{19B7E3FD-93B8-9630-993F-393AEA13C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220" y="2872077"/>
                <a:ext cx="2391714" cy="340899"/>
              </a:xfrm>
              <a:prstGeom prst="rect">
                <a:avLst/>
              </a:prstGeom>
              <a:blipFill>
                <a:blip r:embed="rId6"/>
                <a:stretch>
                  <a:fillRect t="-8929" b="-35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40">
                <a:extLst>
                  <a:ext uri="{FF2B5EF4-FFF2-40B4-BE49-F238E27FC236}">
                    <a16:creationId xmlns:a16="http://schemas.microsoft.com/office/drawing/2014/main" id="{F8319017-191D-AEF7-99CF-0DD8D6A8D8E4}"/>
                  </a:ext>
                </a:extLst>
              </p:cNvPr>
              <p:cNvSpPr txBox="1"/>
              <p:nvPr/>
            </p:nvSpPr>
            <p:spPr bwMode="auto">
              <a:xfrm>
                <a:off x="3131840" y="2428072"/>
                <a:ext cx="4227298" cy="869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mr>
                            <m:m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</m:m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d>
                        <m:dPr>
                          <m:ctrlPr>
                            <a:rPr lang="ko-KR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Object 140">
                <a:extLst>
                  <a:ext uri="{FF2B5EF4-FFF2-40B4-BE49-F238E27FC236}">
                    <a16:creationId xmlns:a16="http://schemas.microsoft.com/office/drawing/2014/main" id="{F8319017-191D-AEF7-99CF-0DD8D6A8D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1840" y="2428072"/>
                <a:ext cx="4227298" cy="8690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41">
                <a:extLst>
                  <a:ext uri="{FF2B5EF4-FFF2-40B4-BE49-F238E27FC236}">
                    <a16:creationId xmlns:a16="http://schemas.microsoft.com/office/drawing/2014/main" id="{9136ABC4-9CF1-1465-05E7-D2EED4F3C9C4}"/>
                  </a:ext>
                </a:extLst>
              </p:cNvPr>
              <p:cNvSpPr txBox="1"/>
              <p:nvPr/>
            </p:nvSpPr>
            <p:spPr bwMode="auto">
              <a:xfrm>
                <a:off x="755576" y="3977601"/>
                <a:ext cx="2448272" cy="13012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Object 141">
                <a:extLst>
                  <a:ext uri="{FF2B5EF4-FFF2-40B4-BE49-F238E27FC236}">
                    <a16:creationId xmlns:a16="http://schemas.microsoft.com/office/drawing/2014/main" id="{9136ABC4-9CF1-1465-05E7-D2EED4F3C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6" y="3977601"/>
                <a:ext cx="2448272" cy="13012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142">
                <a:extLst>
                  <a:ext uri="{FF2B5EF4-FFF2-40B4-BE49-F238E27FC236}">
                    <a16:creationId xmlns:a16="http://schemas.microsoft.com/office/drawing/2014/main" id="{58271F09-3507-A7DF-A08F-1EFF8C6BF922}"/>
                  </a:ext>
                </a:extLst>
              </p:cNvPr>
              <p:cNvSpPr txBox="1"/>
              <p:nvPr/>
            </p:nvSpPr>
            <p:spPr bwMode="auto">
              <a:xfrm>
                <a:off x="3130933" y="3989645"/>
                <a:ext cx="2737211" cy="1289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</m:t>
                      </m:r>
                      <m:f>
                        <m:fPr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  <m:r>
                                      <a:rPr lang="ko-KR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ko-KR" altLang="en-US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Object 142">
                <a:extLst>
                  <a:ext uri="{FF2B5EF4-FFF2-40B4-BE49-F238E27FC236}">
                    <a16:creationId xmlns:a16="http://schemas.microsoft.com/office/drawing/2014/main" id="{58271F09-3507-A7DF-A08F-1EFF8C6BF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0933" y="3989645"/>
                <a:ext cx="2737211" cy="12891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151">
                <a:extLst>
                  <a:ext uri="{FF2B5EF4-FFF2-40B4-BE49-F238E27FC236}">
                    <a16:creationId xmlns:a16="http://schemas.microsoft.com/office/drawing/2014/main" id="{A2366601-3194-8107-9803-13FF8E77F2AD}"/>
                  </a:ext>
                </a:extLst>
              </p:cNvPr>
              <p:cNvSpPr txBox="1"/>
              <p:nvPr/>
            </p:nvSpPr>
            <p:spPr bwMode="auto">
              <a:xfrm>
                <a:off x="3923928" y="1282663"/>
                <a:ext cx="1333500" cy="5048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 − </m:t>
                      </m:r>
                      <m:acc>
                        <m:accPr>
                          <m:chr m:val="⃗"/>
                          <m:ctrlP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Object 151">
                <a:extLst>
                  <a:ext uri="{FF2B5EF4-FFF2-40B4-BE49-F238E27FC236}">
                    <a16:creationId xmlns:a16="http://schemas.microsoft.com/office/drawing/2014/main" id="{A2366601-3194-8107-9803-13FF8E77F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3928" y="1282663"/>
                <a:ext cx="1333500" cy="504825"/>
              </a:xfrm>
              <a:prstGeom prst="rect">
                <a:avLst/>
              </a:prstGeom>
              <a:blipFill>
                <a:blip r:embed="rId10"/>
                <a:stretch>
                  <a:fillRect t="-60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Object 136">
                <a:extLst>
                  <a:ext uri="{FF2B5EF4-FFF2-40B4-BE49-F238E27FC236}">
                    <a16:creationId xmlns:a16="http://schemas.microsoft.com/office/drawing/2014/main" id="{CE169526-7789-DE6D-6878-AE5B6C08C3B3}"/>
                  </a:ext>
                </a:extLst>
              </p:cNvPr>
              <p:cNvSpPr txBox="1"/>
              <p:nvPr/>
            </p:nvSpPr>
            <p:spPr bwMode="auto">
              <a:xfrm>
                <a:off x="755575" y="5351869"/>
                <a:ext cx="5184577" cy="5254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ko-KR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 +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ko-KR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ko-KR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4" name="Object 136">
                <a:extLst>
                  <a:ext uri="{FF2B5EF4-FFF2-40B4-BE49-F238E27FC236}">
                    <a16:creationId xmlns:a16="http://schemas.microsoft.com/office/drawing/2014/main" id="{CE169526-7789-DE6D-6878-AE5B6C08C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575" y="5351869"/>
                <a:ext cx="5184577" cy="525403"/>
              </a:xfrm>
              <a:prstGeom prst="rect">
                <a:avLst/>
              </a:prstGeom>
              <a:blipFill>
                <a:blip r:embed="rId11"/>
                <a:stretch>
                  <a:fillRect l="-235" t="-15116" b="-58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770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5ED2E-90AF-176E-0DE9-14F35B54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FD927-211C-64AE-AFDD-722F7B37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벡터의 결합과 생성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627644B-D246-5690-5860-7460A3F01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기저 벡터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벡터 공간을 구성하는 기본 벡터 집합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벡터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기저 벡터의 선형 결합으로 표현 가능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2</a:t>
                </a:r>
                <a:r>
                  <a:rPr lang="ko-KR" altLang="en-US" dirty="0"/>
                  <a:t>차원 공간 기저 벡터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dirty="0"/>
                  <a:t> = (1, 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dirty="0"/>
                  <a:t> = (0, 1)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3</a:t>
                </a:r>
                <a:r>
                  <a:rPr lang="ko-KR" altLang="en-US" dirty="0"/>
                  <a:t>차원 공간 기저 벡터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dirty="0"/>
                  <a:t> = (1, 0, 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dirty="0"/>
                  <a:t> = (0, 1, 0),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ko-KR" dirty="0"/>
                  <a:t> = (0, 0, 1)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627644B-D246-5690-5860-7460A3F01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5EFC56-32A2-9A6B-6DD0-A070EBE61D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59E34B-0CE6-41C8-8072-18CDA44D98DD}"/>
                  </a:ext>
                </a:extLst>
              </p:cNvPr>
              <p:cNvSpPr txBox="1"/>
              <p:nvPr/>
            </p:nvSpPr>
            <p:spPr>
              <a:xfrm>
                <a:off x="395536" y="5868640"/>
                <a:ext cx="223234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lang="en-US" altLang="ko-KR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59E34B-0CE6-41C8-8072-18CDA44D9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5868640"/>
                <a:ext cx="2232347" cy="461665"/>
              </a:xfrm>
              <a:prstGeom prst="rect">
                <a:avLst/>
              </a:prstGeom>
              <a:blipFill>
                <a:blip r:embed="rId3"/>
                <a:stretch>
                  <a:fillRect t="-1333" b="-1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160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9">
            <a:extLst>
              <a:ext uri="{FF2B5EF4-FFF2-40B4-BE49-F238E27FC236}">
                <a16:creationId xmlns:a16="http://schemas.microsoft.com/office/drawing/2014/main" id="{DFEF3E76-379C-22F8-BEAC-F4A6D36CE5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삼각함수</a:t>
            </a:r>
          </a:p>
        </p:txBody>
      </p:sp>
      <p:sp>
        <p:nvSpPr>
          <p:cNvPr id="11" name="부제목 10">
            <a:extLst>
              <a:ext uri="{FF2B5EF4-FFF2-40B4-BE49-F238E27FC236}">
                <a16:creationId xmlns:a16="http://schemas.microsoft.com/office/drawing/2014/main" id="{8BF12FDB-5591-3749-B282-9D3E86697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회전을 위한 수학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7E662D-437E-7474-C53D-72652A0B76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706550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D1380-6602-E934-040F-35093D8AB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삼각함수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A448A0-030B-F090-2B62-448E81193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직각 삼각형을 구성하는 세변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9588D5-AF1E-D65C-7C9E-3F6287462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33EC18-73C0-CDA0-A78E-ED625ACB780C}"/>
                  </a:ext>
                </a:extLst>
              </p:cNvPr>
              <p:cNvSpPr txBox="1"/>
              <p:nvPr/>
            </p:nvSpPr>
            <p:spPr>
              <a:xfrm>
                <a:off x="4762987" y="1905685"/>
                <a:ext cx="1413015" cy="701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433EC18-73C0-CDA0-A78E-ED625ACB7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87" y="1905685"/>
                <a:ext cx="1413015" cy="7014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그룹 44">
            <a:extLst>
              <a:ext uri="{FF2B5EF4-FFF2-40B4-BE49-F238E27FC236}">
                <a16:creationId xmlns:a16="http://schemas.microsoft.com/office/drawing/2014/main" id="{A3B8D7F3-999E-1A92-9BE8-80209273086C}"/>
              </a:ext>
            </a:extLst>
          </p:cNvPr>
          <p:cNvGrpSpPr/>
          <p:nvPr/>
        </p:nvGrpSpPr>
        <p:grpSpPr>
          <a:xfrm>
            <a:off x="739621" y="1700808"/>
            <a:ext cx="3616355" cy="4180150"/>
            <a:chOff x="739621" y="1700808"/>
            <a:chExt cx="3616355" cy="4180150"/>
          </a:xfrm>
        </p:grpSpPr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80D0A76F-4D86-AA58-889A-1FC83E3BE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621" y="1700808"/>
              <a:ext cx="3472339" cy="379168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FC912B-3ECB-F636-A11A-CCA2E89A949B}"/>
                </a:ext>
              </a:extLst>
            </p:cNvPr>
            <p:cNvSpPr txBox="1"/>
            <p:nvPr/>
          </p:nvSpPr>
          <p:spPr>
            <a:xfrm>
              <a:off x="1349896" y="4437112"/>
              <a:ext cx="41379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i="1" dirty="0"/>
                <a:t>θ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F1B24A-34D9-FF8C-08C3-C8701B188C1C}"/>
                </a:ext>
              </a:extLst>
            </p:cNvPr>
            <p:cNvSpPr txBox="1"/>
            <p:nvPr/>
          </p:nvSpPr>
          <p:spPr>
            <a:xfrm>
              <a:off x="1210077" y="2380818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0000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빗변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BE4A8D5-C32A-9A55-A395-3B5588B9FCA5}"/>
                </a:ext>
              </a:extLst>
            </p:cNvPr>
            <p:cNvSpPr txBox="1"/>
            <p:nvPr/>
          </p:nvSpPr>
          <p:spPr>
            <a:xfrm>
              <a:off x="2962646" y="3964994"/>
              <a:ext cx="13933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대변</a:t>
              </a:r>
              <a:r>
                <a:rPr lang="en-US" altLang="ko-KR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높이</a:t>
              </a:r>
              <a:r>
                <a:rPr lang="en-US" altLang="ko-KR" sz="2000" b="1" dirty="0">
                  <a:solidFill>
                    <a:srgbClr val="C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1D0F8D-B934-883B-2CC0-5DB139943441}"/>
                </a:ext>
              </a:extLst>
            </p:cNvPr>
            <p:cNvSpPr txBox="1"/>
            <p:nvPr/>
          </p:nvSpPr>
          <p:spPr>
            <a:xfrm>
              <a:off x="1193997" y="5480848"/>
              <a:ext cx="16498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인접변</a:t>
              </a:r>
              <a:r>
                <a:rPr lang="en-US" altLang="ko-KR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밑변</a:t>
              </a:r>
              <a:r>
                <a:rPr lang="en-US" altLang="ko-KR" sz="2000" b="1" dirty="0">
                  <a:solidFill>
                    <a:schemeClr val="accent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20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E4F071-3844-7811-2371-BEAD334F698F}"/>
                  </a:ext>
                </a:extLst>
              </p:cNvPr>
              <p:cNvSpPr txBox="1"/>
              <p:nvPr/>
            </p:nvSpPr>
            <p:spPr>
              <a:xfrm>
                <a:off x="4762987" y="2943806"/>
                <a:ext cx="1461875" cy="6326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AE4F071-3844-7811-2371-BEAD334F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87" y="2943806"/>
                <a:ext cx="1461875" cy="6326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433E42-2FEB-F2D4-96E8-419CDCA45D19}"/>
                  </a:ext>
                </a:extLst>
              </p:cNvPr>
              <p:cNvSpPr txBox="1"/>
              <p:nvPr/>
            </p:nvSpPr>
            <p:spPr>
              <a:xfrm>
                <a:off x="4762987" y="4005064"/>
                <a:ext cx="1455463" cy="632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433E42-2FEB-F2D4-96E8-419CDCA45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987" y="4005064"/>
                <a:ext cx="1455463" cy="6324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520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7D959-B542-D4A1-FC15-21E7E9CD8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CCDB7-04DB-EF5E-D915-887DBFF05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삼각함수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02D2B1-E9E7-9324-7706-8F0C8285E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직각 삼각형을 구성하는 세변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9CBC76-E2EA-B20D-9525-2B9558D2C1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70E3F1-57CB-0249-1EE9-62450D924249}"/>
                  </a:ext>
                </a:extLst>
              </p:cNvPr>
              <p:cNvSpPr txBox="1"/>
              <p:nvPr/>
            </p:nvSpPr>
            <p:spPr>
              <a:xfrm>
                <a:off x="5636625" y="1196752"/>
                <a:ext cx="1416350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370E3F1-57CB-0249-1EE9-62450D924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1196752"/>
                <a:ext cx="1416350" cy="6299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680123-7585-DE75-4F29-D0091D09A3C8}"/>
                  </a:ext>
                </a:extLst>
              </p:cNvPr>
              <p:cNvSpPr txBox="1"/>
              <p:nvPr/>
            </p:nvSpPr>
            <p:spPr>
              <a:xfrm>
                <a:off x="5636625" y="2024780"/>
                <a:ext cx="1455655" cy="630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680123-7585-DE75-4F29-D0091D09A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2024780"/>
                <a:ext cx="1455655" cy="630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675A290-451F-ED7F-6337-71C0E3B958D9}"/>
                  </a:ext>
                </a:extLst>
              </p:cNvPr>
              <p:cNvSpPr txBox="1"/>
              <p:nvPr/>
            </p:nvSpPr>
            <p:spPr>
              <a:xfrm>
                <a:off x="5636625" y="2852936"/>
                <a:ext cx="1453218" cy="6324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l-GR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l-GR" altLang="ko-KR" i="1">
                          <a:latin typeface="Cambria Math" panose="02040503050406030204" pitchFamily="18" charset="0"/>
                        </a:rPr>
                        <m:t> =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675A290-451F-ED7F-6337-71C0E3B95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2852936"/>
                <a:ext cx="1453218" cy="6324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D628884F-D922-BC71-4955-C4F1453633B2}"/>
              </a:ext>
            </a:extLst>
          </p:cNvPr>
          <p:cNvGrpSpPr/>
          <p:nvPr/>
        </p:nvGrpSpPr>
        <p:grpSpPr>
          <a:xfrm>
            <a:off x="186119" y="1490672"/>
            <a:ext cx="5033953" cy="5033953"/>
            <a:chOff x="539749" y="1490672"/>
            <a:chExt cx="5033953" cy="503395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BA6D5AF-5A6F-05EF-629B-E3F710E43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749" y="1490672"/>
              <a:ext cx="5033953" cy="503395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279B1D5-A113-FBC8-3138-B30A49C0DED0}"/>
                </a:ext>
              </a:extLst>
            </p:cNvPr>
            <p:cNvSpPr txBox="1"/>
            <p:nvPr/>
          </p:nvSpPr>
          <p:spPr>
            <a:xfrm>
              <a:off x="2483768" y="2940144"/>
              <a:ext cx="4994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>
                  <a:solidFill>
                    <a:srgbClr val="FF00FF"/>
                  </a:solidFill>
                  <a:latin typeface="Consolas" panose="020B0609020204030204" pitchFamily="49" charset="0"/>
                  <a:ea typeface="맑은 고딕" panose="020B0503020000020004" pitchFamily="50" charset="-127"/>
                </a:rPr>
                <a:t>r</a:t>
              </a:r>
              <a:endParaRPr lang="ko-KR" altLang="en-US" b="1" i="1" dirty="0">
                <a:solidFill>
                  <a:srgbClr val="FF00FF"/>
                </a:solidFill>
                <a:latin typeface="Consolas" panose="020B0609020204030204" pitchFamily="49" charset="0"/>
                <a:ea typeface="맑은 고딕" panose="020B0503020000020004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720860-6277-D292-8D05-F07C45335C73}"/>
                  </a:ext>
                </a:extLst>
              </p:cNvPr>
              <p:cNvSpPr txBox="1"/>
              <p:nvPr/>
            </p:nvSpPr>
            <p:spPr>
              <a:xfrm>
                <a:off x="5636625" y="3713096"/>
                <a:ext cx="29314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l-GR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l-GR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720860-6277-D292-8D05-F07C45335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3713096"/>
                <a:ext cx="2931444" cy="369332"/>
              </a:xfrm>
              <a:prstGeom prst="rect">
                <a:avLst/>
              </a:prstGeom>
              <a:blipFill>
                <a:blip r:embed="rId6"/>
                <a:stretch>
                  <a:fillRect b="-27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6F1FCE-A5B1-1884-10DD-A16E555827AD}"/>
                  </a:ext>
                </a:extLst>
              </p:cNvPr>
              <p:cNvSpPr txBox="1"/>
              <p:nvPr/>
            </p:nvSpPr>
            <p:spPr>
              <a:xfrm>
                <a:off x="5636625" y="4264142"/>
                <a:ext cx="26229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l-GR" altLang="ko-KR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l-GR" altLang="ko-KR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96F1FCE-A5B1-1884-10DD-A16E55582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6625" y="4264142"/>
                <a:ext cx="2622961" cy="369332"/>
              </a:xfrm>
              <a:prstGeom prst="rect">
                <a:avLst/>
              </a:prstGeom>
              <a:blipFill>
                <a:blip r:embed="rId7"/>
                <a:stretch>
                  <a:fillRect l="-698" r="-1628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B7F88-09EC-E854-3516-8662D5762037}"/>
                  </a:ext>
                </a:extLst>
              </p:cNvPr>
              <p:cNvSpPr txBox="1"/>
              <p:nvPr/>
            </p:nvSpPr>
            <p:spPr>
              <a:xfrm>
                <a:off x="539750" y="2175388"/>
                <a:ext cx="8214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ko-KR" alt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EB7F88-09EC-E854-3516-8662D5762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175388"/>
                <a:ext cx="821442" cy="369332"/>
              </a:xfrm>
              <a:prstGeom prst="rect">
                <a:avLst/>
              </a:prstGeom>
              <a:blipFill>
                <a:blip r:embed="rId8"/>
                <a:stretch>
                  <a:fillRect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099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F2C85-0FBF-9744-3E38-D3FD55E7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D810F-A63A-173E-CCFF-92600814F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sin(0) =  0, sin(π/2) = 1</a:t>
            </a:r>
          </a:p>
          <a:p>
            <a:r>
              <a:rPr lang="en-US" altLang="ko-KR" dirty="0"/>
              <a:t>sin(π) = 0, sin(3π/2) = -1</a:t>
            </a:r>
          </a:p>
          <a:p>
            <a:r>
              <a:rPr lang="en-US" altLang="ko-KR" dirty="0"/>
              <a:t>sin(-x) = -sin(x)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5CEA7E-9943-85F6-ED01-DE8E902AB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6D21C70-5B1A-6C6F-5FBB-CB33FE8AE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506897"/>
            <a:ext cx="8064698" cy="36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31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CE9B-84A3-8128-AEB8-51223620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3F7FE-AF2F-8959-B338-2F245E43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71871-1C06-CB11-9641-814A25B71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cos(0) =   1, cos(π/2) = 0</a:t>
            </a:r>
          </a:p>
          <a:p>
            <a:r>
              <a:rPr lang="en-US" altLang="ko-KR" dirty="0"/>
              <a:t>cos(π) = -1, cos(3π/2) = 0</a:t>
            </a:r>
          </a:p>
          <a:p>
            <a:r>
              <a:rPr lang="en-US" altLang="ko-KR" dirty="0"/>
              <a:t>cos(-x) = cos(x)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F70FB3-8B52-DD93-E0AA-18749D109E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C56B0E-791B-2D91-998A-FEA4FB47C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616100"/>
            <a:ext cx="8011184" cy="35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38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65898-4C2E-FA95-E6D4-1D568C2A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C10E2-07BE-37E1-9A17-E700A48D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0716F-1761-482D-99FF-3C2BB1EF5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tan(0) =   1, tan(π/2) = 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∞</a:t>
            </a:r>
            <a:endParaRPr lang="en-US" altLang="ko-KR" dirty="0"/>
          </a:p>
          <a:p>
            <a:r>
              <a:rPr lang="en-US" altLang="ko-KR" dirty="0"/>
              <a:t>tan(π) = -1, tan(3π/2) = -</a:t>
            </a:r>
            <a:r>
              <a:rPr lang="en-US" altLang="ko-KR" dirty="0">
                <a:solidFill>
                  <a:srgbClr val="000000"/>
                </a:solidFill>
                <a:latin typeface="+mn-ea"/>
              </a:rPr>
              <a:t>∞</a:t>
            </a:r>
          </a:p>
          <a:p>
            <a:r>
              <a:rPr lang="en-US" altLang="ko-KR" dirty="0"/>
              <a:t>tan(-x) = -tan(x)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307947-E4E7-91A7-3E27-D28F933158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0AC524A-A85A-A453-13A7-9C9BD8767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564904"/>
            <a:ext cx="7056586" cy="381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40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FA981-7C61-0C12-0CB1-A313C6DA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D079A-7D48-665E-F7C6-7E8D82F8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4.1.1 </a:t>
            </a:r>
            <a:r>
              <a:rPr lang="ko-KR" altLang="en-US" dirty="0"/>
              <a:t>삼각함수의 성질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258B1-B77E-CA5D-9178-C84BCC8E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sin - cos </a:t>
            </a:r>
            <a:r>
              <a:rPr lang="ko-KR" altLang="en-US" dirty="0"/>
              <a:t>함수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F4B874-5745-D453-B7D1-7B2D71344B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83D1DC0-F547-60A5-D802-D60BFD0D1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50" y="2408278"/>
            <a:ext cx="7992690" cy="362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03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6BBB9-3ECD-BE8E-DD67-58435E72E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4.1.2 </a:t>
            </a:r>
            <a:r>
              <a:rPr lang="ko-KR" altLang="en-US" dirty="0"/>
              <a:t>각의 측정법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086566-E725-0AC5-8729-0CA702E08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Degree</a:t>
            </a:r>
          </a:p>
          <a:p>
            <a:pPr lvl="1"/>
            <a:r>
              <a:rPr lang="en-US" altLang="ko-KR" sz="2000" dirty="0"/>
              <a:t>[0,360]</a:t>
            </a:r>
          </a:p>
          <a:p>
            <a:pPr lvl="1"/>
            <a:r>
              <a:rPr lang="ko-KR" altLang="en-US" sz="2000" dirty="0"/>
              <a:t>달력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60 </a:t>
            </a:r>
            <a:r>
              <a:rPr lang="ko-KR" altLang="en-US" sz="2000" dirty="0"/>
              <a:t>진법</a:t>
            </a:r>
            <a:r>
              <a:rPr lang="en-US" altLang="ko-KR" sz="2000" dirty="0"/>
              <a:t>, 1</a:t>
            </a:r>
            <a:r>
              <a:rPr lang="ko-KR" altLang="en-US" sz="2000" dirty="0"/>
              <a:t>년 </a:t>
            </a:r>
            <a:r>
              <a:rPr lang="en-US" altLang="ko-KR" sz="2000" dirty="0"/>
              <a:t>365 </a:t>
            </a:r>
            <a:r>
              <a:rPr lang="ko-KR" altLang="en-US" sz="2000" dirty="0"/>
              <a:t>→ 근사</a:t>
            </a:r>
            <a:endParaRPr lang="en-US" altLang="ko-KR" sz="2000" dirty="0"/>
          </a:p>
          <a:p>
            <a:pPr lvl="1"/>
            <a:r>
              <a:rPr lang="ko-KR" altLang="en-US" sz="2000" dirty="0"/>
              <a:t>직관적</a:t>
            </a:r>
            <a:endParaRPr lang="en-US" altLang="ko-KR" sz="2000" dirty="0"/>
          </a:p>
          <a:p>
            <a:pPr lvl="2"/>
            <a:endParaRPr lang="en-US" altLang="ko-KR" sz="1600" dirty="0"/>
          </a:p>
          <a:p>
            <a:r>
              <a:rPr lang="en-US" altLang="ko-KR" sz="2400" dirty="0"/>
              <a:t>Radian</a:t>
            </a:r>
          </a:p>
          <a:p>
            <a:pPr lvl="1"/>
            <a:r>
              <a:rPr lang="ko-KR" altLang="en-US" sz="2000" dirty="0"/>
              <a:t>호의 길이</a:t>
            </a:r>
            <a:r>
              <a:rPr lang="en-US" altLang="ko-KR" sz="2000" dirty="0"/>
              <a:t>(s)</a:t>
            </a:r>
            <a:r>
              <a:rPr lang="ko-KR" altLang="en-US" sz="2000" dirty="0"/>
              <a:t>와 반지름</a:t>
            </a:r>
            <a:r>
              <a:rPr lang="en-US" altLang="ko-KR" sz="2000" dirty="0"/>
              <a:t>(r)</a:t>
            </a:r>
            <a:r>
              <a:rPr lang="ko-KR" altLang="en-US" sz="2000" dirty="0"/>
              <a:t>의 비율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각도 기준</a:t>
            </a:r>
            <a:endParaRPr lang="en-US" altLang="ko-KR" sz="2000" dirty="0"/>
          </a:p>
          <a:p>
            <a:pPr lvl="2"/>
            <a:r>
              <a:rPr lang="en-US" altLang="ko-KR" sz="1600" dirty="0"/>
              <a:t>2π(Rad) = 360° 1rad</a:t>
            </a:r>
            <a:r>
              <a:rPr lang="ko-KR" altLang="en-US" sz="1600" dirty="0"/>
              <a:t> </a:t>
            </a:r>
            <a:r>
              <a:rPr lang="en-US" altLang="ko-KR" sz="1600" dirty="0"/>
              <a:t>≈ 57.3°</a:t>
            </a:r>
          </a:p>
          <a:p>
            <a:pPr lvl="2"/>
            <a:r>
              <a:rPr lang="en-US" altLang="ko-KR" sz="1600" dirty="0"/>
              <a:t>1°= π/180</a:t>
            </a:r>
            <a:r>
              <a:rPr lang="ko-KR" altLang="en-US" sz="1600" dirty="0"/>
              <a:t> </a:t>
            </a:r>
            <a:r>
              <a:rPr lang="en-US" altLang="ko-KR" sz="1600" dirty="0"/>
              <a:t>≈ 0.01745329252, 90°</a:t>
            </a:r>
            <a:r>
              <a:rPr lang="ko-KR" altLang="en-US" sz="1600" dirty="0"/>
              <a:t> </a:t>
            </a:r>
            <a:r>
              <a:rPr lang="en-US" altLang="ko-KR" sz="1600" dirty="0"/>
              <a:t>≈ 1.57079632</a:t>
            </a:r>
            <a:endParaRPr lang="ko-KR" altLang="en-US" sz="16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D22B2-3B0F-C12B-5213-D724791EFD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87EFC-242A-0FE3-AD96-F1C8FD670268}"/>
                  </a:ext>
                </a:extLst>
              </p:cNvPr>
              <p:cNvSpPr txBox="1"/>
              <p:nvPr/>
            </p:nvSpPr>
            <p:spPr>
              <a:xfrm>
                <a:off x="1259632" y="3586524"/>
                <a:ext cx="837537" cy="6299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ko-KR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l-GR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987EFC-242A-0FE3-AD96-F1C8FD670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586524"/>
                <a:ext cx="837537" cy="6299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3FD4992-2281-B2BE-23FF-60FC9DEBC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575034"/>
              </p:ext>
            </p:extLst>
          </p:nvPr>
        </p:nvGraphicFramePr>
        <p:xfrm>
          <a:off x="6300192" y="2480306"/>
          <a:ext cx="2592288" cy="2842416"/>
        </p:xfrm>
        <a:graphic>
          <a:graphicData uri="http://schemas.openxmlformats.org/drawingml/2006/table">
            <a:tbl>
              <a:tblPr/>
              <a:tblGrid>
                <a:gridCol w="1020713">
                  <a:extLst>
                    <a:ext uri="{9D8B030D-6E8A-4147-A177-3AD203B41FA5}">
                      <a16:colId xmlns:a16="http://schemas.microsoft.com/office/drawing/2014/main" val="2497449118"/>
                    </a:ext>
                  </a:extLst>
                </a:gridCol>
                <a:gridCol w="1571575">
                  <a:extLst>
                    <a:ext uri="{9D8B030D-6E8A-4147-A177-3AD203B41FA5}">
                      <a16:colId xmlns:a16="http://schemas.microsoft.com/office/drawing/2014/main" val="1252415886"/>
                    </a:ext>
                  </a:extLst>
                </a:gridCol>
              </a:tblGrid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(°)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라디안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rad)</a:t>
                      </a:r>
                      <a:endParaRPr 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496557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943312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π/6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481647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π/4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459043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π/3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377085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π/2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530289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2π/3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152416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3π/4</a:t>
                      </a:r>
                      <a:endParaRPr lang="el-GR" sz="2800" b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758865"/>
                  </a:ext>
                </a:extLst>
              </a:tr>
              <a:tr h="22435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180°</a:t>
                      </a:r>
                      <a:endParaRPr lang="ko-KR" altLang="en-US" sz="2800" b="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l-G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π</a:t>
                      </a:r>
                      <a:endParaRPr lang="el-GR" sz="2800" b="0" dirty="0">
                        <a:effectLst/>
                        <a:ea typeface="맑은 고딕" panose="020B0503020000020004" pitchFamily="50" charset="-127"/>
                      </a:endParaRPr>
                    </a:p>
                  </a:txBody>
                  <a:tcPr marL="35992" marR="35992" marT="35992" marB="359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14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0228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040E-B3BE-F4F2-3A52-B185B71F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891D4-F66A-373A-DFA1-5AE6E124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4.1.2 </a:t>
            </a:r>
            <a:r>
              <a:rPr lang="ko-KR" altLang="en-US" dirty="0"/>
              <a:t>각의 측정법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526B20-F7F5-034F-7231-3FD57549A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Radian </a:t>
            </a:r>
            <a:r>
              <a:rPr lang="ko-KR" altLang="en-US" sz="2400" dirty="0"/>
              <a:t>장점</a:t>
            </a:r>
            <a:endParaRPr lang="en-US" altLang="ko-KR" sz="2000" dirty="0"/>
          </a:p>
          <a:p>
            <a:pPr lvl="1"/>
            <a:r>
              <a:rPr lang="ko-KR" altLang="en-US" sz="2200" dirty="0"/>
              <a:t>각이 곧 길이 → 각도를 바로 거리 계산에 사용 가능</a:t>
            </a:r>
            <a:endParaRPr lang="en-US" altLang="ko-KR" sz="2200" dirty="0"/>
          </a:p>
          <a:p>
            <a:pPr lvl="1"/>
            <a:r>
              <a:rPr lang="ko-KR" altLang="en-US" sz="2200" dirty="0"/>
              <a:t>수학적으로 가장 자연 스러운 단위</a:t>
            </a:r>
            <a:endParaRPr lang="en-US" altLang="ko-KR" sz="2200" dirty="0"/>
          </a:p>
          <a:p>
            <a:pPr lvl="1"/>
            <a:endParaRPr lang="en-US" altLang="ko-KR" sz="2200" dirty="0"/>
          </a:p>
          <a:p>
            <a:pPr lvl="1"/>
            <a:endParaRPr lang="en-US" altLang="ko-KR" sz="2200" dirty="0"/>
          </a:p>
          <a:p>
            <a:pPr lvl="1"/>
            <a:endParaRPr lang="en-US" altLang="ko-KR" sz="2200" dirty="0"/>
          </a:p>
          <a:p>
            <a:pPr lvl="1"/>
            <a:r>
              <a:rPr lang="ko-KR" altLang="en-US" sz="2200" dirty="0"/>
              <a:t>작은 각 근사</a:t>
            </a:r>
            <a:endParaRPr lang="en-US" altLang="ko-KR" sz="2200" dirty="0"/>
          </a:p>
          <a:p>
            <a:pPr lvl="2"/>
            <a:r>
              <a:rPr lang="en-US" altLang="ko-KR" sz="1800" dirty="0"/>
              <a:t>sinθ ≈ θ, tanθ ≈ θ</a:t>
            </a:r>
          </a:p>
          <a:p>
            <a:pPr lvl="2"/>
            <a:endParaRPr lang="en-US" altLang="ko-KR" sz="1800" dirty="0"/>
          </a:p>
          <a:p>
            <a:pPr lvl="1"/>
            <a:r>
              <a:rPr lang="ko-KR" altLang="en-US" sz="2200" dirty="0"/>
              <a:t>예</a:t>
            </a:r>
            <a:r>
              <a:rPr lang="en-US" altLang="ko-KR" sz="2200" dirty="0"/>
              <a:t>)</a:t>
            </a:r>
          </a:p>
          <a:p>
            <a:pPr lvl="2"/>
            <a:r>
              <a:rPr lang="en-US" altLang="ko-KR" sz="1800" dirty="0"/>
              <a:t>105mm </a:t>
            </a:r>
            <a:r>
              <a:rPr lang="ko-KR" altLang="en-US" sz="1800" dirty="0"/>
              <a:t>포 사거리 </a:t>
            </a:r>
            <a:r>
              <a:rPr lang="en-US" altLang="ko-KR" sz="1800" dirty="0"/>
              <a:t>10Km </a:t>
            </a:r>
            <a:r>
              <a:rPr lang="ko-KR" altLang="en-US" sz="1800" dirty="0"/>
              <a:t>시 편각 </a:t>
            </a:r>
            <a:r>
              <a:rPr lang="en-US" altLang="ko-KR" sz="1800" dirty="0"/>
              <a:t>1mil = 10m</a:t>
            </a:r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DA167F-5A56-85D0-8A25-19E2203E05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6CD72-87D1-580C-14E6-5F511BDCDD76}"/>
                  </a:ext>
                </a:extLst>
              </p:cNvPr>
              <p:cNvSpPr txBox="1"/>
              <p:nvPr/>
            </p:nvSpPr>
            <p:spPr>
              <a:xfrm>
                <a:off x="996387" y="2144729"/>
                <a:ext cx="2592288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altLang="ko-KR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altLang="ko-KR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s-E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s-ES" altLang="ko-KR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s-E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E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ES" altLang="ko-KR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56CD72-87D1-580C-14E6-5F511BDCD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87" y="2144729"/>
                <a:ext cx="2592288" cy="701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4F576-877E-02FC-A999-D6EFF2F575F1}"/>
                  </a:ext>
                </a:extLst>
              </p:cNvPr>
              <p:cNvSpPr txBox="1"/>
              <p:nvPr/>
            </p:nvSpPr>
            <p:spPr>
              <a:xfrm>
                <a:off x="4151171" y="2144729"/>
                <a:ext cx="2808312" cy="7012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s-E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s-ES" altLang="ko-KR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s-E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s-ES" altLang="ko-KR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s-E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4F576-877E-02FC-A999-D6EFF2F57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171" y="2144729"/>
                <a:ext cx="2808312" cy="7012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444C0A-F238-9B53-2367-AA9E0CBA769F}"/>
                  </a:ext>
                </a:extLst>
              </p:cNvPr>
              <p:cNvSpPr txBox="1"/>
              <p:nvPr/>
            </p:nvSpPr>
            <p:spPr>
              <a:xfrm>
                <a:off x="6136336" y="4365104"/>
                <a:ext cx="1297278" cy="735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ko-KR" altLang="en-US" i="0"/>
                            <m:t>편차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ko-KR" altLang="en-US" i="0"/>
                            <m:t>거리</m:t>
                          </m: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444C0A-F238-9B53-2367-AA9E0CBA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336" y="4365104"/>
                <a:ext cx="1297278" cy="735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FA3CBB-A4F6-4915-B336-CCBFF62EE113}"/>
                  </a:ext>
                </a:extLst>
              </p:cNvPr>
              <p:cNvSpPr txBox="1"/>
              <p:nvPr/>
            </p:nvSpPr>
            <p:spPr>
              <a:xfrm>
                <a:off x="3851920" y="3273262"/>
                <a:ext cx="2599493" cy="7387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≈1−</m:t>
                      </m:r>
                      <m:f>
                        <m:f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ko-KR" altLang="en-US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≈1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FA3CBB-A4F6-4915-B336-CCBFF62E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920" y="3273262"/>
                <a:ext cx="2599493" cy="7387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7959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2B345-B118-9B9D-26F1-D84229E15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F2C88-248E-C842-EA99-E0697E47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4-1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삼각함수로 하트 그리기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84BB7-3D62-F679-0CCC-AA7BA0054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tree/4-1</a:t>
            </a:r>
          </a:p>
          <a:p>
            <a:pPr marL="0" indent="0">
              <a:buNone/>
            </a:pPr>
            <a:r>
              <a:rPr lang="en-US" altLang="ko-KR" sz="2000" dirty="0"/>
              <a:t>    [0, 2π]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7A8F35-6502-9879-224C-175F863F2A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A5B56A-E501-92F7-F3DD-EC0E2F4C21FA}"/>
                  </a:ext>
                </a:extLst>
              </p:cNvPr>
              <p:cNvSpPr txBox="1"/>
              <p:nvPr/>
            </p:nvSpPr>
            <p:spPr>
              <a:xfrm>
                <a:off x="675578" y="1499016"/>
                <a:ext cx="2592288" cy="377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=16</m:t>
                      </m:r>
                      <m:func>
                        <m:func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5A5B56A-E501-92F7-F3DD-EC0E2F4C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78" y="1499016"/>
                <a:ext cx="2592288" cy="377667"/>
              </a:xfrm>
              <a:prstGeom prst="rect">
                <a:avLst/>
              </a:prstGeom>
              <a:blipFill>
                <a:blip r:embed="rId2"/>
                <a:stretch>
                  <a:fillRect l="-3059" b="-64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741E80-B36D-2B91-B082-A9CD294E49A8}"/>
                  </a:ext>
                </a:extLst>
              </p:cNvPr>
              <p:cNvSpPr txBox="1"/>
              <p:nvPr/>
            </p:nvSpPr>
            <p:spPr>
              <a:xfrm>
                <a:off x="675578" y="1962170"/>
                <a:ext cx="777686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3</m:t>
                      </m:r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741E80-B36D-2B91-B082-A9CD294E4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78" y="1962170"/>
                <a:ext cx="7776864" cy="369332"/>
              </a:xfrm>
              <a:prstGeom prst="rect">
                <a:avLst/>
              </a:prstGeom>
              <a:blipFill>
                <a:blip r:embed="rId3"/>
                <a:stretch>
                  <a:fillRect l="-1411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ED873B16-5148-1612-4830-24E481ADC4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066" y="3130163"/>
            <a:ext cx="2287374" cy="20363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FE5CFB-7554-165B-7C8B-99ED2B335B3C}"/>
              </a:ext>
            </a:extLst>
          </p:cNvPr>
          <p:cNvSpPr txBox="1"/>
          <p:nvPr/>
        </p:nvSpPr>
        <p:spPr>
          <a:xfrm>
            <a:off x="581955" y="3130163"/>
            <a:ext cx="5553255" cy="1815882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cos4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4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16.f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5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cos3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cos4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344519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C0EE-C100-8401-9809-B6339115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60D4E-3FF4-9144-1650-56A43EC0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4-2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하트에 무지개 색상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7B90BE-D0FC-F465-843F-8A22FCFBB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tree/4-2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B60D53-067F-619C-E373-16D23039ED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8D0055-6852-BCC0-CF3A-404393BC3533}"/>
              </a:ext>
            </a:extLst>
          </p:cNvPr>
          <p:cNvSpPr txBox="1"/>
          <p:nvPr/>
        </p:nvSpPr>
        <p:spPr>
          <a:xfrm>
            <a:off x="467544" y="1556792"/>
            <a:ext cx="4680520" cy="2800767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struct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HSVColor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    ...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    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g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b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}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8B1B7-47E2-4416-D50F-138589AD30A9}"/>
              </a:ext>
            </a:extLst>
          </p:cNvPr>
          <p:cNvSpPr txBox="1"/>
          <p:nvPr/>
        </p:nvSpPr>
        <p:spPr>
          <a:xfrm>
            <a:off x="486322" y="4365131"/>
            <a:ext cx="7974110" cy="584775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DrawPoint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199B6F9-F388-2FAE-F120-0FE6F0C18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549635"/>
            <a:ext cx="3024336" cy="274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186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A46D6-F6B5-4BB2-6F96-AF681708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3F6AC-6DF6-9D9D-8BF9-B4E0611BE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4-3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두근</a:t>
            </a:r>
            <a:r>
              <a:rPr lang="en-US" altLang="ko-KR" dirty="0"/>
              <a:t> </a:t>
            </a:r>
            <a:r>
              <a:rPr lang="ko-KR" altLang="en-US" dirty="0"/>
              <a:t>대는</a:t>
            </a:r>
            <a:r>
              <a:rPr lang="en-US" altLang="ko-KR" dirty="0"/>
              <a:t> </a:t>
            </a:r>
            <a:r>
              <a:rPr lang="ko-KR" altLang="en-US" dirty="0"/>
              <a:t>하트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0E72A0-60B2-B51D-F661-38E5BFE30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tree/4-3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9F5018-A086-FBD1-A51A-937C48867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8FEDE78-96BB-974F-8A6A-2D4F4FDF0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829517"/>
            <a:ext cx="2574390" cy="2337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78A0F9-6C4C-3851-0651-5079D41A8012}"/>
              </a:ext>
            </a:extLst>
          </p:cNvPr>
          <p:cNvSpPr txBox="1"/>
          <p:nvPr/>
        </p:nvSpPr>
        <p:spPr>
          <a:xfrm>
            <a:off x="449796" y="1196752"/>
            <a:ext cx="8129936" cy="584775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duration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1.5f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static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9C0A3-F0E8-DC02-415F-BEFB9BA79561}"/>
              </a:ext>
            </a:extLst>
          </p:cNvPr>
          <p:cNvSpPr txBox="1"/>
          <p:nvPr/>
        </p:nvSpPr>
        <p:spPr>
          <a:xfrm>
            <a:off x="449796" y="1723479"/>
            <a:ext cx="8129936" cy="206210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경과 시간과 사인함수를 활용한 </a:t>
            </a: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[0,1]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값의 생성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InDeltaSeconds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FMod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duration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elapsedTime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duration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alpha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+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0.5f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물체의 최종 상태 설정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+=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deltaPosition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4F4205-17C9-4DD8-0468-B34190A741DC}"/>
              </a:ext>
            </a:extLst>
          </p:cNvPr>
          <p:cNvSpPr txBox="1"/>
          <p:nvPr/>
        </p:nvSpPr>
        <p:spPr>
          <a:xfrm>
            <a:off x="449796" y="3785582"/>
            <a:ext cx="5184576" cy="33855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alpha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(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+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0.5f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66764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F633B-27EB-E171-9450-3931ADAF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삼각함수를 활용한 물체의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897B11-79D0-F01E-4BF1-D2AC529D0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회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전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행</m:t>
                    </m:r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렬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endParaRPr lang="en-US" altLang="ko-KR" b="0" dirty="0"/>
              </a:p>
              <a:p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897B11-79D0-F01E-4BF1-D2AC529D0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3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D3DE7-23B8-41E6-F375-81F84BE44BD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100">
                <a:extLst>
                  <a:ext uri="{FF2B5EF4-FFF2-40B4-BE49-F238E27FC236}">
                    <a16:creationId xmlns:a16="http://schemas.microsoft.com/office/drawing/2014/main" id="{673E0290-358F-F889-6ADD-F9D3E4654CEA}"/>
                  </a:ext>
                </a:extLst>
              </p:cNvPr>
              <p:cNvSpPr txBox="1"/>
              <p:nvPr/>
            </p:nvSpPr>
            <p:spPr bwMode="auto">
              <a:xfrm>
                <a:off x="6072662" y="2244367"/>
                <a:ext cx="2153026" cy="448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lnSpcReduction="10000"/>
              </a:bodyPr>
              <a:lstStyle/>
              <a:p>
                <a:r>
                  <a:rPr lang="en-US" altLang="ko-KR" dirty="0">
                    <a:solidFill>
                      <a:srgbClr val="C0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  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Object 100">
                <a:extLst>
                  <a:ext uri="{FF2B5EF4-FFF2-40B4-BE49-F238E27FC236}">
                    <a16:creationId xmlns:a16="http://schemas.microsoft.com/office/drawing/2014/main" id="{673E0290-358F-F889-6ADD-F9D3E4654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72662" y="2244367"/>
                <a:ext cx="2153026" cy="448329"/>
              </a:xfrm>
              <a:prstGeom prst="rect">
                <a:avLst/>
              </a:prstGeom>
              <a:blipFill>
                <a:blip r:embed="rId3"/>
                <a:stretch>
                  <a:fillRect l="-4249" t="-22973" b="-202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그룹 61">
            <a:extLst>
              <a:ext uri="{FF2B5EF4-FFF2-40B4-BE49-F238E27FC236}">
                <a16:creationId xmlns:a16="http://schemas.microsoft.com/office/drawing/2014/main" id="{FF7F567F-24AA-0B2F-19FB-DB9DBAE4EDDD}"/>
              </a:ext>
            </a:extLst>
          </p:cNvPr>
          <p:cNvGrpSpPr/>
          <p:nvPr/>
        </p:nvGrpSpPr>
        <p:grpSpPr>
          <a:xfrm>
            <a:off x="1239330" y="1035213"/>
            <a:ext cx="7163816" cy="5692433"/>
            <a:chOff x="724930" y="1035392"/>
            <a:chExt cx="7163816" cy="5692433"/>
          </a:xfrm>
        </p:grpSpPr>
        <p:grpSp>
          <p:nvGrpSpPr>
            <p:cNvPr id="29" name="Group 145">
              <a:extLst>
                <a:ext uri="{FF2B5EF4-FFF2-40B4-BE49-F238E27FC236}">
                  <a16:creationId xmlns:a16="http://schemas.microsoft.com/office/drawing/2014/main" id="{2905C229-9AC5-56CD-0505-524F3CB85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6915" y="1497112"/>
              <a:ext cx="5223366" cy="5230713"/>
              <a:chOff x="981" y="2560"/>
              <a:chExt cx="1422" cy="1424"/>
            </a:xfrm>
          </p:grpSpPr>
          <p:sp>
            <p:nvSpPr>
              <p:cNvPr id="30" name="Arc 103">
                <a:extLst>
                  <a:ext uri="{FF2B5EF4-FFF2-40B4-BE49-F238E27FC236}">
                    <a16:creationId xmlns:a16="http://schemas.microsoft.com/office/drawing/2014/main" id="{4503529B-8039-4876-AB44-8F130C9360E4}"/>
                  </a:ext>
                </a:extLst>
              </p:cNvPr>
              <p:cNvSpPr>
                <a:spLocks/>
              </p:cNvSpPr>
              <p:nvPr/>
            </p:nvSpPr>
            <p:spPr bwMode="auto">
              <a:xfrm rot="15276020" flipV="1">
                <a:off x="1903" y="3163"/>
                <a:ext cx="156" cy="44"/>
              </a:xfrm>
              <a:custGeom>
                <a:avLst/>
                <a:gdLst>
                  <a:gd name="T0" fmla="*/ 0 w 40588"/>
                  <a:gd name="T1" fmla="*/ 0 h 21600"/>
                  <a:gd name="T2" fmla="*/ 1 w 40588"/>
                  <a:gd name="T3" fmla="*/ 0 h 21600"/>
                  <a:gd name="T4" fmla="*/ 0 w 4058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588"/>
                  <a:gd name="T10" fmla="*/ 0 h 21600"/>
                  <a:gd name="T11" fmla="*/ 40588 w 4058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8" h="21600" fill="none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</a:path>
                  <a:path w="40588" h="21600" stroke="0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  <a:lnTo>
                      <a:pt x="20227" y="21600"/>
                    </a:lnTo>
                    <a:close/>
                  </a:path>
                </a:pathLst>
              </a:custGeom>
              <a:noFill/>
              <a:ln w="254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31" name="Group 143">
                <a:extLst>
                  <a:ext uri="{FF2B5EF4-FFF2-40B4-BE49-F238E27FC236}">
                    <a16:creationId xmlns:a16="http://schemas.microsoft.com/office/drawing/2014/main" id="{D18EBF3D-8D8B-10CF-EC12-3E9C0CB8B0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81" y="2560"/>
                <a:ext cx="1422" cy="1424"/>
                <a:chOff x="981" y="2349"/>
                <a:chExt cx="1633" cy="1635"/>
              </a:xfrm>
            </p:grpSpPr>
            <p:sp>
              <p:nvSpPr>
                <p:cNvPr id="32" name="Oval 51">
                  <a:extLst>
                    <a:ext uri="{FF2B5EF4-FFF2-40B4-BE49-F238E27FC236}">
                      <a16:creationId xmlns:a16="http://schemas.microsoft.com/office/drawing/2014/main" id="{470EABD5-4262-9F86-428A-18F991D9C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" y="2410"/>
                  <a:ext cx="1505" cy="150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33" name="Line 54">
                  <a:extLst>
                    <a:ext uri="{FF2B5EF4-FFF2-40B4-BE49-F238E27FC236}">
                      <a16:creationId xmlns:a16="http://schemas.microsoft.com/office/drawing/2014/main" id="{27C5D041-5C40-ABDB-393C-9965D75A64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00" y="2349"/>
                  <a:ext cx="0" cy="1635"/>
                </a:xfrm>
                <a:prstGeom prst="line">
                  <a:avLst/>
                </a:prstGeom>
                <a:noFill/>
                <a:ln w="25400" cap="rnd">
                  <a:solidFill>
                    <a:srgbClr val="339966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4" name="Line 92">
                  <a:extLst>
                    <a:ext uri="{FF2B5EF4-FFF2-40B4-BE49-F238E27FC236}">
                      <a16:creationId xmlns:a16="http://schemas.microsoft.com/office/drawing/2014/main" id="{DEB9251D-53F3-B64B-47DB-3C2AE464A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14" y="2525"/>
                  <a:ext cx="389" cy="645"/>
                </a:xfrm>
                <a:prstGeom prst="line">
                  <a:avLst/>
                </a:prstGeom>
                <a:noFill/>
                <a:ln w="38100">
                  <a:solidFill>
                    <a:srgbClr val="3399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6" name="Line 57">
                  <a:extLst>
                    <a:ext uri="{FF2B5EF4-FFF2-40B4-BE49-F238E27FC236}">
                      <a16:creationId xmlns:a16="http://schemas.microsoft.com/office/drawing/2014/main" id="{E1DADCDA-5A80-57CF-46EB-0BE7E9EC33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1" y="3159"/>
                  <a:ext cx="1633" cy="0"/>
                </a:xfrm>
                <a:prstGeom prst="line">
                  <a:avLst/>
                </a:prstGeom>
                <a:noFill/>
                <a:ln w="25400" cap="rnd">
                  <a:solidFill>
                    <a:srgbClr val="FF99CC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8" name="Line 91">
                  <a:extLst>
                    <a:ext uri="{FF2B5EF4-FFF2-40B4-BE49-F238E27FC236}">
                      <a16:creationId xmlns:a16="http://schemas.microsoft.com/office/drawing/2014/main" id="{14ACC17F-8D40-E814-65AA-E7DCB90C0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10" y="2771"/>
                  <a:ext cx="615" cy="38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0" name="Oval 93">
                  <a:extLst>
                    <a:ext uri="{FF2B5EF4-FFF2-40B4-BE49-F238E27FC236}">
                      <a16:creationId xmlns:a16="http://schemas.microsoft.com/office/drawing/2014/main" id="{19C3DC57-2922-CD17-0BD6-0F944395F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6" y="3118"/>
                  <a:ext cx="91" cy="91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41" name="Oval 84">
                  <a:extLst>
                    <a:ext uri="{FF2B5EF4-FFF2-40B4-BE49-F238E27FC236}">
                      <a16:creationId xmlns:a16="http://schemas.microsoft.com/office/drawing/2014/main" id="{30519FB9-7EFC-E098-74DE-63A8326DA3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62" y="2473"/>
                  <a:ext cx="91" cy="91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42" name="Oval 85">
                  <a:extLst>
                    <a:ext uri="{FF2B5EF4-FFF2-40B4-BE49-F238E27FC236}">
                      <a16:creationId xmlns:a16="http://schemas.microsoft.com/office/drawing/2014/main" id="{D9324045-E230-AC3E-D554-BEE57668F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1" y="2723"/>
                  <a:ext cx="91" cy="91"/>
                </a:xfrm>
                <a:prstGeom prst="ellipse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bject 102">
                  <a:extLst>
                    <a:ext uri="{FF2B5EF4-FFF2-40B4-BE49-F238E27FC236}">
                      <a16:creationId xmlns:a16="http://schemas.microsoft.com/office/drawing/2014/main" id="{3B9BBEE8-83E5-BE98-7771-D08D03F1C7A3}"/>
                    </a:ext>
                  </a:extLst>
                </p:cNvPr>
                <p:cNvSpPr txBox="1"/>
                <p:nvPr/>
              </p:nvSpPr>
              <p:spPr bwMode="auto">
                <a:xfrm>
                  <a:off x="5426856" y="3508833"/>
                  <a:ext cx="542126" cy="4830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Object 102">
                  <a:extLst>
                    <a:ext uri="{FF2B5EF4-FFF2-40B4-BE49-F238E27FC236}">
                      <a16:creationId xmlns:a16="http://schemas.microsoft.com/office/drawing/2014/main" id="{3B9BBEE8-83E5-BE98-7771-D08D03F1C7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26856" y="3508833"/>
                  <a:ext cx="542126" cy="483056"/>
                </a:xfrm>
                <a:prstGeom prst="rect">
                  <a:avLst/>
                </a:prstGeom>
                <a:blipFill>
                  <a:blip r:embed="rId4"/>
                  <a:stretch>
                    <a:fillRect l="-33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Arc 103">
              <a:extLst>
                <a:ext uri="{FF2B5EF4-FFF2-40B4-BE49-F238E27FC236}">
                  <a16:creationId xmlns:a16="http://schemas.microsoft.com/office/drawing/2014/main" id="{455FCB71-A42C-C809-9651-B9DF6F5DE2A8}"/>
                </a:ext>
              </a:extLst>
            </p:cNvPr>
            <p:cNvSpPr>
              <a:spLocks/>
            </p:cNvSpPr>
            <p:nvPr/>
          </p:nvSpPr>
          <p:spPr bwMode="auto">
            <a:xfrm rot="9955135" flipV="1">
              <a:off x="3605960" y="2993512"/>
              <a:ext cx="573028" cy="161623"/>
            </a:xfrm>
            <a:custGeom>
              <a:avLst/>
              <a:gdLst>
                <a:gd name="T0" fmla="*/ 0 w 40588"/>
                <a:gd name="T1" fmla="*/ 0 h 21600"/>
                <a:gd name="T2" fmla="*/ 1 w 40588"/>
                <a:gd name="T3" fmla="*/ 0 h 21600"/>
                <a:gd name="T4" fmla="*/ 0 w 40588"/>
                <a:gd name="T5" fmla="*/ 0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25400">
              <a:solidFill>
                <a:srgbClr val="008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Object 102">
                  <a:extLst>
                    <a:ext uri="{FF2B5EF4-FFF2-40B4-BE49-F238E27FC236}">
                      <a16:creationId xmlns:a16="http://schemas.microsoft.com/office/drawing/2014/main" id="{F5C230A5-0DA3-8B41-2837-BFBB267837A2}"/>
                    </a:ext>
                  </a:extLst>
                </p:cNvPr>
                <p:cNvSpPr txBox="1"/>
                <p:nvPr/>
              </p:nvSpPr>
              <p:spPr bwMode="auto">
                <a:xfrm>
                  <a:off x="3712437" y="2589954"/>
                  <a:ext cx="463754" cy="4483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Object 102">
                  <a:extLst>
                    <a:ext uri="{FF2B5EF4-FFF2-40B4-BE49-F238E27FC236}">
                      <a16:creationId xmlns:a16="http://schemas.microsoft.com/office/drawing/2014/main" id="{F5C230A5-0DA3-8B41-2837-BFBB267837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2437" y="2589954"/>
                  <a:ext cx="463754" cy="448329"/>
                </a:xfrm>
                <a:prstGeom prst="rect">
                  <a:avLst/>
                </a:prstGeom>
                <a:blipFill>
                  <a:blip r:embed="rId5"/>
                  <a:stretch>
                    <a:fillRect l="-131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Oval 85">
              <a:extLst>
                <a:ext uri="{FF2B5EF4-FFF2-40B4-BE49-F238E27FC236}">
                  <a16:creationId xmlns:a16="http://schemas.microsoft.com/office/drawing/2014/main" id="{A9EC04D0-2C97-52A5-00D7-73130D03A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1693" y="3942910"/>
              <a:ext cx="291023" cy="291128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58" name="Oval 84">
              <a:extLst>
                <a:ext uri="{FF2B5EF4-FFF2-40B4-BE49-F238E27FC236}">
                  <a16:creationId xmlns:a16="http://schemas.microsoft.com/office/drawing/2014/main" id="{7D43463A-73E3-DCEE-A899-060267551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3060" y="1556298"/>
              <a:ext cx="291076" cy="291128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Object 100">
                  <a:extLst>
                    <a:ext uri="{FF2B5EF4-FFF2-40B4-BE49-F238E27FC236}">
                      <a16:creationId xmlns:a16="http://schemas.microsoft.com/office/drawing/2014/main" id="{DC223B24-BC73-76B3-13A4-1E76199F8310}"/>
                    </a:ext>
                  </a:extLst>
                </p:cNvPr>
                <p:cNvSpPr txBox="1"/>
                <p:nvPr/>
              </p:nvSpPr>
              <p:spPr bwMode="auto">
                <a:xfrm>
                  <a:off x="3699015" y="1035392"/>
                  <a:ext cx="1109924" cy="5361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en-US" altLang="ko-KR" dirty="0">
                      <a:solidFill>
                        <a:srgbClr val="00000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0, 1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9" name="Object 100">
                  <a:extLst>
                    <a:ext uri="{FF2B5EF4-FFF2-40B4-BE49-F238E27FC236}">
                      <a16:creationId xmlns:a16="http://schemas.microsoft.com/office/drawing/2014/main" id="{DC223B24-BC73-76B3-13A4-1E76199F8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99015" y="1035392"/>
                  <a:ext cx="1109924" cy="536108"/>
                </a:xfrm>
                <a:prstGeom prst="rect">
                  <a:avLst/>
                </a:prstGeom>
                <a:blipFill>
                  <a:blip r:embed="rId6"/>
                  <a:stretch>
                    <a:fillRect l="-8242" t="-12500" b="-79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Object 100">
                  <a:extLst>
                    <a:ext uri="{FF2B5EF4-FFF2-40B4-BE49-F238E27FC236}">
                      <a16:creationId xmlns:a16="http://schemas.microsoft.com/office/drawing/2014/main" id="{67495119-8E0C-BF6A-F93C-49EE44FBDD96}"/>
                    </a:ext>
                  </a:extLst>
                </p:cNvPr>
                <p:cNvSpPr txBox="1"/>
                <p:nvPr/>
              </p:nvSpPr>
              <p:spPr bwMode="auto">
                <a:xfrm>
                  <a:off x="724930" y="1666587"/>
                  <a:ext cx="2290663" cy="5361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en-US" altLang="ko-KR" dirty="0">
                      <a:solidFill>
                        <a:srgbClr val="008000"/>
                      </a:solidFill>
                    </a:rPr>
                    <a:t>(-</a:t>
                  </a:r>
                  <a14:m>
                    <m:oMath xmlns:m="http://schemas.openxmlformats.org/officeDocument/2006/math"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ko-KR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⁡⁡</m:t>
                      </m:r>
                      <m:r>
                        <a:rPr lang="en-US" altLang="ko-KR" i="1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 smtClean="0">
                          <a:solidFill>
                            <a:srgbClr val="008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Object 100">
                  <a:extLst>
                    <a:ext uri="{FF2B5EF4-FFF2-40B4-BE49-F238E27FC236}">
                      <a16:creationId xmlns:a16="http://schemas.microsoft.com/office/drawing/2014/main" id="{67495119-8E0C-BF6A-F93C-49EE44FBDD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930" y="1666587"/>
                  <a:ext cx="2290663" cy="536108"/>
                </a:xfrm>
                <a:prstGeom prst="rect">
                  <a:avLst/>
                </a:prstGeom>
                <a:blipFill>
                  <a:blip r:embed="rId7"/>
                  <a:stretch>
                    <a:fillRect l="-3989" t="-12500" b="-79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Object 100">
                  <a:extLst>
                    <a:ext uri="{FF2B5EF4-FFF2-40B4-BE49-F238E27FC236}">
                      <a16:creationId xmlns:a16="http://schemas.microsoft.com/office/drawing/2014/main" id="{CA18009A-4337-392C-9C85-F05EB2B3743B}"/>
                    </a:ext>
                  </a:extLst>
                </p:cNvPr>
                <p:cNvSpPr txBox="1"/>
                <p:nvPr/>
              </p:nvSpPr>
              <p:spPr bwMode="auto">
                <a:xfrm>
                  <a:off x="6778822" y="3820420"/>
                  <a:ext cx="1109924" cy="5361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r>
                    <a:rPr lang="en-US" altLang="ko-KR" dirty="0">
                      <a:solidFill>
                        <a:srgbClr val="00000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1, 0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61" name="Object 100">
                  <a:extLst>
                    <a:ext uri="{FF2B5EF4-FFF2-40B4-BE49-F238E27FC236}">
                      <a16:creationId xmlns:a16="http://schemas.microsoft.com/office/drawing/2014/main" id="{CA18009A-4337-392C-9C85-F05EB2B37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78822" y="3820420"/>
                  <a:ext cx="1109924" cy="536108"/>
                </a:xfrm>
                <a:prstGeom prst="rect">
                  <a:avLst/>
                </a:prstGeom>
                <a:blipFill>
                  <a:blip r:embed="rId8"/>
                  <a:stretch>
                    <a:fillRect l="-8242" t="-12500" b="-79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397726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88013-E14C-BCD4-933D-329AF325E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E2CE1-530B-2569-72C5-8693EBA1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삼각함수를 활용한 물체의 회전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16044E6-E21E-28D6-10A5-706B44F93C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dirty="0"/>
                  <a:t>회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전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행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렬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16044E6-E21E-28D6-10A5-706B44F93C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3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03A1B4-B2D1-A5FB-9C6E-C765576B26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DFEE92-BA90-3288-9577-7661E7BB283B}"/>
                  </a:ext>
                </a:extLst>
              </p:cNvPr>
              <p:cNvSpPr txBox="1"/>
              <p:nvPr/>
            </p:nvSpPr>
            <p:spPr>
              <a:xfrm>
                <a:off x="4289362" y="1437031"/>
                <a:ext cx="2946934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DFEE92-BA90-3288-9577-7661E7BB2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362" y="1437031"/>
                <a:ext cx="2946934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CF9887-5577-F7E7-447B-673C6A6D7D3F}"/>
                  </a:ext>
                </a:extLst>
              </p:cNvPr>
              <p:cNvSpPr txBox="1"/>
              <p:nvPr/>
            </p:nvSpPr>
            <p:spPr>
              <a:xfrm>
                <a:off x="409837" y="1561873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1, 0</m:t>
                          </m:r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CF9887-5577-F7E7-447B-673C6A6D7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7" y="1561873"/>
                <a:ext cx="3672408" cy="369332"/>
              </a:xfrm>
              <a:prstGeom prst="rect">
                <a:avLst/>
              </a:prstGeom>
              <a:blipFill>
                <a:blip r:embed="rId4"/>
                <a:stretch>
                  <a:fillRect l="-2819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34EF0E-CC12-943A-D3D5-08690AF53357}"/>
                  </a:ext>
                </a:extLst>
              </p:cNvPr>
              <p:cNvSpPr txBox="1"/>
              <p:nvPr/>
            </p:nvSpPr>
            <p:spPr>
              <a:xfrm>
                <a:off x="4289362" y="2161912"/>
                <a:ext cx="2946934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34EF0E-CC12-943A-D3D5-08690AF53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362" y="2161912"/>
                <a:ext cx="2946934" cy="619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DD6EA3-FB5A-97A0-E042-2D4622D8F024}"/>
                  </a:ext>
                </a:extLst>
              </p:cNvPr>
              <p:cNvSpPr txBox="1"/>
              <p:nvPr/>
            </p:nvSpPr>
            <p:spPr>
              <a:xfrm>
                <a:off x="409837" y="2286754"/>
                <a:ext cx="36724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s-E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0, 1</m:t>
                          </m:r>
                        </m:e>
                      </m:d>
                      <m:r>
                        <a:rPr lang="es-E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DD6EA3-FB5A-97A0-E042-2D4622D8F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7" y="2286754"/>
                <a:ext cx="3672408" cy="369332"/>
              </a:xfrm>
              <a:prstGeom prst="rect">
                <a:avLst/>
              </a:prstGeom>
              <a:blipFill>
                <a:blip r:embed="rId6"/>
                <a:stretch>
                  <a:fillRect l="-2819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FE20C3-9DC8-9190-2ECF-783C26566496}"/>
                  </a:ext>
                </a:extLst>
              </p:cNvPr>
              <p:cNvSpPr txBox="1"/>
              <p:nvPr/>
            </p:nvSpPr>
            <p:spPr>
              <a:xfrm>
                <a:off x="409837" y="3212976"/>
                <a:ext cx="4320480" cy="619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FE20C3-9DC8-9190-2ECF-783C26566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37" y="3212976"/>
                <a:ext cx="4320480" cy="6190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3FC5D6-C914-052B-3E5D-A850408A32F2}"/>
                  </a:ext>
                </a:extLst>
              </p:cNvPr>
              <p:cNvSpPr txBox="1"/>
              <p:nvPr/>
            </p:nvSpPr>
            <p:spPr>
              <a:xfrm>
                <a:off x="4730317" y="3161391"/>
                <a:ext cx="4234171" cy="72218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2800" b="0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2800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𝑐𝑜𝑠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𝑐𝑜𝑠</m:t>
                                    </m:r>
                                  </m:fName>
                                  <m:e>
                                    <m:r>
                                      <a:rPr lang="en-US" altLang="ko-KR" sz="28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13FC5D6-C914-052B-3E5D-A850408A3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317" y="3161391"/>
                <a:ext cx="4234171" cy="72218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69913EC2-15D7-214A-182E-B8A761747A16}"/>
              </a:ext>
            </a:extLst>
          </p:cNvPr>
          <p:cNvGrpSpPr/>
          <p:nvPr/>
        </p:nvGrpSpPr>
        <p:grpSpPr>
          <a:xfrm>
            <a:off x="432888" y="4694440"/>
            <a:ext cx="8387584" cy="861774"/>
            <a:chOff x="432888" y="4694440"/>
            <a:chExt cx="8387584" cy="861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45B529F-CDF6-30F6-A834-E5F616AD134B}"/>
                    </a:ext>
                  </a:extLst>
                </p:cNvPr>
                <p:cNvSpPr txBox="1"/>
                <p:nvPr/>
              </p:nvSpPr>
              <p:spPr>
                <a:xfrm>
                  <a:off x="5158022" y="4694440"/>
                  <a:ext cx="3662450" cy="8617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ES" altLang="ko-KR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0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0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altLang="ko-KR" sz="28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ko-KR" sz="280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s-ES" altLang="ko-KR" sz="28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𝑠𝑖𝑛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 +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  </m:t>
                        </m:r>
                        <m:r>
                          <a:rPr lang="en-US" altLang="ko-KR" sz="2800" i="0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8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45B529F-CDF6-30F6-A834-E5F616AD13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8022" y="4694440"/>
                  <a:ext cx="3662450" cy="86177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08A3CE8-C5F2-208D-B959-B83592D04939}"/>
                    </a:ext>
                  </a:extLst>
                </p:cNvPr>
                <p:cNvSpPr txBox="1"/>
                <p:nvPr/>
              </p:nvSpPr>
              <p:spPr>
                <a:xfrm>
                  <a:off x="432888" y="4775103"/>
                  <a:ext cx="3786775" cy="70044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a14:m>
                  <a:r>
                    <a:rPr lang="en-US" altLang="ko-KR" dirty="0"/>
                    <a:t> =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a14:m>
                  <a:r>
                    <a:rPr lang="en-US" altLang="ko-KR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en-US" altLang="ko-KR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08A3CE8-C5F2-208D-B959-B83592D04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88" y="4775103"/>
                  <a:ext cx="3786775" cy="70044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58973C1B-4CF9-B528-3E92-AB83C3139819}"/>
                </a:ext>
              </a:extLst>
            </p:cNvPr>
            <p:cNvSpPr/>
            <p:nvPr/>
          </p:nvSpPr>
          <p:spPr bwMode="auto">
            <a:xfrm>
              <a:off x="4486889" y="4883011"/>
              <a:ext cx="403907" cy="484632"/>
            </a:xfrm>
            <a:prstGeom prst="rightArrow">
              <a:avLst/>
            </a:prstGeom>
            <a:solidFill>
              <a:srgbClr val="FFFF0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0000" tIns="46800" rIns="90000" bIns="4680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8510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02B5E-7793-D588-C58B-CB5AC5300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3FA96-6409-6FC1-3240-E432A6AB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4-4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하트 회전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A82252-0FB8-9C29-41A2-E4B6B122A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tree/4-4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1DD96E-617E-9F60-AA68-F4DC63FE6E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534BC-64E1-5A34-21E7-D0246833F120}"/>
              </a:ext>
            </a:extLst>
          </p:cNvPr>
          <p:cNvSpPr txBox="1"/>
          <p:nvPr/>
        </p:nvSpPr>
        <p:spPr>
          <a:xfrm>
            <a:off x="467544" y="1196752"/>
            <a:ext cx="7128792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2.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크기가 변한 점을 회전시킨다</a:t>
            </a: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rotatedV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-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                     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scaledV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3. </a:t>
            </a:r>
            <a:r>
              <a:rPr lang="ko-KR" alt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회전시킨 점을 이동한다</a:t>
            </a:r>
            <a:r>
              <a:rPr lang="en-US" altLang="ko-KR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endParaRPr lang="ko-KR" altLang="en-US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translatedV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rotatedV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8CDB926-C78C-5D3E-D5B1-058943E7C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140968"/>
            <a:ext cx="3123809" cy="317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599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BFFED-C957-7523-2AF4-A47728C9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삼각함수의 역함수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1D64E-8E6B-6A35-B4D4-AE9BF517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sin </a:t>
            </a:r>
            <a:r>
              <a:rPr lang="ko-KR" altLang="en-US" sz="2000" dirty="0"/>
              <a:t>역함수</a:t>
            </a:r>
            <a:endParaRPr lang="en-US" altLang="ko-KR" sz="2000" dirty="0"/>
          </a:p>
          <a:p>
            <a:pPr lvl="1"/>
            <a:r>
              <a:rPr lang="en-US" altLang="ko-KR" sz="1800" dirty="0"/>
              <a:t>sin</a:t>
            </a:r>
            <a:r>
              <a:rPr lang="en-US" altLang="ko-KR" sz="1800" baseline="30000" dirty="0"/>
              <a:t>-1</a:t>
            </a:r>
            <a:r>
              <a:rPr lang="en-US" altLang="ko-KR" sz="1800" dirty="0"/>
              <a:t>(x) = arcsin(x)</a:t>
            </a:r>
          </a:p>
          <a:p>
            <a:pPr lvl="1"/>
            <a:r>
              <a:rPr lang="en-US" altLang="ko-KR" sz="1800" dirty="0"/>
              <a:t>[-1, 1] </a:t>
            </a:r>
            <a:r>
              <a:rPr lang="ko-KR" altLang="en-US" sz="1800" dirty="0"/>
              <a:t>→</a:t>
            </a:r>
            <a:r>
              <a:rPr lang="en-US" altLang="ko-KR" sz="1800" dirty="0">
                <a:sym typeface="Wingdings" panose="05000000000000000000" pitchFamily="2" charset="2"/>
              </a:rPr>
              <a:t> [-</a:t>
            </a:r>
            <a:r>
              <a:rPr lang="en-US" altLang="ko-KR" sz="1800" dirty="0"/>
              <a:t>π/2, π/2]</a:t>
            </a:r>
          </a:p>
          <a:p>
            <a:pPr lvl="3"/>
            <a:endParaRPr lang="en-US" altLang="ko-KR" sz="1200" dirty="0"/>
          </a:p>
          <a:p>
            <a:r>
              <a:rPr lang="en-US" altLang="ko-KR" sz="2000" dirty="0"/>
              <a:t>cos </a:t>
            </a:r>
            <a:r>
              <a:rPr lang="ko-KR" altLang="en-US" sz="2000" dirty="0"/>
              <a:t>역함수</a:t>
            </a:r>
            <a:endParaRPr lang="en-US" altLang="ko-KR" sz="2000" dirty="0"/>
          </a:p>
          <a:p>
            <a:pPr lvl="1"/>
            <a:r>
              <a:rPr lang="en-US" altLang="ko-KR" sz="1800" dirty="0"/>
              <a:t>cos</a:t>
            </a:r>
            <a:r>
              <a:rPr lang="en-US" altLang="ko-KR" sz="1800" baseline="30000" dirty="0"/>
              <a:t>-1</a:t>
            </a:r>
            <a:r>
              <a:rPr lang="en-US" altLang="ko-KR" sz="1800" dirty="0"/>
              <a:t>(x) = arccos(x)</a:t>
            </a:r>
          </a:p>
          <a:p>
            <a:pPr lvl="1"/>
            <a:r>
              <a:rPr lang="en-US" altLang="ko-KR" sz="1800" dirty="0"/>
              <a:t>[-1, 1] </a:t>
            </a:r>
            <a:r>
              <a:rPr lang="ko-KR" altLang="en-US" sz="1800" dirty="0"/>
              <a:t>→</a:t>
            </a:r>
            <a:r>
              <a:rPr lang="en-US" altLang="ko-KR" sz="1800" dirty="0">
                <a:sym typeface="Wingdings" panose="05000000000000000000" pitchFamily="2" charset="2"/>
              </a:rPr>
              <a:t> [0</a:t>
            </a:r>
            <a:r>
              <a:rPr lang="en-US" altLang="ko-KR" sz="1800" dirty="0"/>
              <a:t>, π]</a:t>
            </a:r>
          </a:p>
          <a:p>
            <a:pPr lvl="3"/>
            <a:endParaRPr lang="ko-KR" altLang="en-US" sz="1200" dirty="0"/>
          </a:p>
          <a:p>
            <a:r>
              <a:rPr lang="en-US" altLang="ko-KR" sz="2000" dirty="0"/>
              <a:t>tan </a:t>
            </a:r>
            <a:r>
              <a:rPr lang="ko-KR" altLang="en-US" sz="2000" dirty="0"/>
              <a:t>역함수</a:t>
            </a:r>
            <a:endParaRPr lang="en-US" altLang="ko-KR" sz="2000" dirty="0"/>
          </a:p>
          <a:p>
            <a:pPr lvl="1"/>
            <a:r>
              <a:rPr lang="en-US" altLang="ko-KR" sz="1800" dirty="0"/>
              <a:t>tan</a:t>
            </a:r>
            <a:r>
              <a:rPr lang="en-US" altLang="ko-KR" sz="1800" baseline="30000" dirty="0"/>
              <a:t>-1</a:t>
            </a:r>
            <a:r>
              <a:rPr lang="en-US" altLang="ko-KR" sz="1800" dirty="0"/>
              <a:t>(x) = arctan(x)</a:t>
            </a:r>
          </a:p>
          <a:p>
            <a:pPr lvl="2"/>
            <a:r>
              <a:rPr lang="en-US" altLang="ko-KR" sz="1400" dirty="0"/>
              <a:t>[-1, 1] </a:t>
            </a:r>
            <a:r>
              <a:rPr lang="ko-KR" altLang="en-US" sz="1400" dirty="0"/>
              <a:t>→</a:t>
            </a:r>
            <a:r>
              <a:rPr lang="en-US" altLang="ko-KR" sz="1400" dirty="0">
                <a:sym typeface="Wingdings" panose="05000000000000000000" pitchFamily="2" charset="2"/>
              </a:rPr>
              <a:t> [-</a:t>
            </a:r>
            <a:r>
              <a:rPr lang="en-US" altLang="ko-KR" sz="1400" dirty="0"/>
              <a:t>π/2, π/2]</a:t>
            </a:r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arctan2(y,x)</a:t>
            </a:r>
          </a:p>
          <a:p>
            <a:pPr lvl="1"/>
            <a:r>
              <a:rPr lang="en-US" altLang="ko-KR" sz="1800" dirty="0"/>
              <a:t>[-1, 1] </a:t>
            </a:r>
            <a:r>
              <a:rPr lang="ko-KR" altLang="en-US" sz="1800" dirty="0"/>
              <a:t>→</a:t>
            </a:r>
            <a:r>
              <a:rPr lang="en-US" altLang="ko-KR" sz="1800" dirty="0">
                <a:sym typeface="Wingdings" panose="05000000000000000000" pitchFamily="2" charset="2"/>
              </a:rPr>
              <a:t> [-</a:t>
            </a:r>
            <a:r>
              <a:rPr lang="en-US" altLang="ko-KR" sz="1800" dirty="0"/>
              <a:t>π, π]</a:t>
            </a:r>
          </a:p>
          <a:p>
            <a:pPr lvl="1"/>
            <a:r>
              <a:rPr lang="en-US" altLang="ko-KR" sz="1800" dirty="0"/>
              <a:t>arctan </a:t>
            </a:r>
            <a:r>
              <a:rPr lang="ko-KR" altLang="en-US" sz="1800" dirty="0"/>
              <a:t>문제</a:t>
            </a:r>
            <a:endParaRPr lang="en-US" altLang="ko-KR" sz="1800" dirty="0"/>
          </a:p>
          <a:p>
            <a:pPr lvl="2"/>
            <a:r>
              <a:rPr lang="ko-KR" altLang="en-US" sz="1400" dirty="0"/>
              <a:t>우측 각도만 구하고 좌</a:t>
            </a:r>
            <a:r>
              <a:rPr lang="en-US" altLang="ko-KR" sz="1400" dirty="0"/>
              <a:t>/</a:t>
            </a:r>
            <a:r>
              <a:rPr lang="ko-KR" altLang="en-US" sz="1400" dirty="0"/>
              <a:t>우 구분 불가</a:t>
            </a:r>
            <a:endParaRPr lang="en-US" altLang="ko-KR" sz="1400" dirty="0"/>
          </a:p>
          <a:p>
            <a:pPr lvl="2"/>
            <a:r>
              <a:rPr lang="en-US" altLang="ko-KR" sz="1400" dirty="0"/>
              <a:t>x </a:t>
            </a:r>
            <a:r>
              <a:rPr lang="ko-KR" altLang="en-US" sz="1400" dirty="0"/>
              <a:t>→ </a:t>
            </a:r>
            <a:r>
              <a:rPr lang="en-US" altLang="ko-KR" sz="1400" dirty="0"/>
              <a:t>0 </a:t>
            </a:r>
            <a:r>
              <a:rPr lang="ko-KR" altLang="en-US" sz="1400" dirty="0"/>
              <a:t>이면 에러</a:t>
            </a:r>
            <a:r>
              <a:rPr lang="en-US" altLang="ko-KR" sz="1400" dirty="0"/>
              <a:t>. arctan2</a:t>
            </a:r>
            <a:r>
              <a:rPr lang="ko-KR" altLang="en-US" sz="1400" dirty="0"/>
              <a:t>는 안전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5B1AB4-7B3F-2B87-2566-32FC16B1D8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CA5D73EB-9565-42D0-4C7A-EE4D851C1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3899" y="692150"/>
            <a:ext cx="4462152" cy="419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27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05FAFC-CCBD-6985-F02A-FC00733A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극좌표계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28B879-05C8-A6F0-EEFE-293D73D1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Polar</a:t>
            </a:r>
            <a:r>
              <a:rPr lang="ko-KR" altLang="en-US" dirty="0"/>
              <a:t> </a:t>
            </a:r>
            <a:r>
              <a:rPr lang="en-US" altLang="ko-KR" dirty="0"/>
              <a:t>Coordinate</a:t>
            </a:r>
            <a:r>
              <a:rPr lang="ko-KR" altLang="en-US" dirty="0"/>
              <a:t> </a:t>
            </a:r>
            <a:r>
              <a:rPr lang="en-US" altLang="ko-KR" dirty="0"/>
              <a:t>System</a:t>
            </a:r>
          </a:p>
          <a:p>
            <a:pPr lvl="1"/>
            <a:r>
              <a:rPr lang="ko-KR" altLang="en-US" dirty="0"/>
              <a:t>원점을 기준으로 평면 상의 위치를</a:t>
            </a:r>
            <a:br>
              <a:rPr lang="en-US" altLang="ko-KR" dirty="0"/>
            </a:br>
            <a:r>
              <a:rPr lang="ko-KR" altLang="en-US" dirty="0"/>
              <a:t>거리와 각도로 표현하는 좌표계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(x, y) </a:t>
            </a:r>
            <a:r>
              <a:rPr lang="ko-KR" altLang="en-US" dirty="0"/>
              <a:t>→ </a:t>
            </a:r>
            <a:r>
              <a:rPr lang="en-US" altLang="ko-KR" dirty="0"/>
              <a:t>(r, θ)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7BECDB-949A-B096-4A66-FB74FB7F22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839DB0A-6108-DCC9-FA93-15A8FD6EF073}"/>
              </a:ext>
            </a:extLst>
          </p:cNvPr>
          <p:cNvGrpSpPr/>
          <p:nvPr/>
        </p:nvGrpSpPr>
        <p:grpSpPr>
          <a:xfrm>
            <a:off x="4572000" y="2276872"/>
            <a:ext cx="4375718" cy="3532301"/>
            <a:chOff x="971600" y="1628800"/>
            <a:chExt cx="5960499" cy="4811616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156F376-EBB4-8C01-3A31-769548A9FFF1}"/>
                </a:ext>
              </a:extLst>
            </p:cNvPr>
            <p:cNvGrpSpPr/>
            <p:nvPr/>
          </p:nvGrpSpPr>
          <p:grpSpPr>
            <a:xfrm>
              <a:off x="971600" y="1628800"/>
              <a:ext cx="4813941" cy="4811616"/>
              <a:chOff x="2256431" y="1692085"/>
              <a:chExt cx="4813941" cy="4811616"/>
            </a:xfrm>
          </p:grpSpPr>
          <p:sp>
            <p:nvSpPr>
              <p:cNvPr id="15" name="Arc 103">
                <a:extLst>
                  <a:ext uri="{FF2B5EF4-FFF2-40B4-BE49-F238E27FC236}">
                    <a16:creationId xmlns:a16="http://schemas.microsoft.com/office/drawing/2014/main" id="{2DF05631-AA6A-78D1-A2C8-7242E99E8623}"/>
                  </a:ext>
                </a:extLst>
              </p:cNvPr>
              <p:cNvSpPr>
                <a:spLocks/>
              </p:cNvSpPr>
              <p:nvPr/>
            </p:nvSpPr>
            <p:spPr bwMode="auto">
              <a:xfrm rot="15256361" flipV="1">
                <a:off x="5437235" y="3731611"/>
                <a:ext cx="573028" cy="161623"/>
              </a:xfrm>
              <a:custGeom>
                <a:avLst/>
                <a:gdLst>
                  <a:gd name="T0" fmla="*/ 0 w 40588"/>
                  <a:gd name="T1" fmla="*/ 0 h 21600"/>
                  <a:gd name="T2" fmla="*/ 1 w 40588"/>
                  <a:gd name="T3" fmla="*/ 0 h 21600"/>
                  <a:gd name="T4" fmla="*/ 0 w 4058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0588"/>
                  <a:gd name="T10" fmla="*/ 0 h 21600"/>
                  <a:gd name="T11" fmla="*/ 40588 w 4058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8" h="21600" fill="none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</a:path>
                  <a:path w="40588" h="21600" stroke="0" extrusionOk="0">
                    <a:moveTo>
                      <a:pt x="-1" y="14022"/>
                    </a:moveTo>
                    <a:cubicBezTo>
                      <a:pt x="3159" y="5588"/>
                      <a:pt x="11220" y="-1"/>
                      <a:pt x="20227" y="0"/>
                    </a:cubicBezTo>
                    <a:cubicBezTo>
                      <a:pt x="29376" y="0"/>
                      <a:pt x="37533" y="5764"/>
                      <a:pt x="40587" y="14389"/>
                    </a:cubicBezTo>
                    <a:lnTo>
                      <a:pt x="20227" y="2160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endParaRPr lang="ko-KR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16" name="Group 143">
                <a:extLst>
                  <a:ext uri="{FF2B5EF4-FFF2-40B4-BE49-F238E27FC236}">
                    <a16:creationId xmlns:a16="http://schemas.microsoft.com/office/drawing/2014/main" id="{35C16362-57D8-590A-9B6C-90D2C96187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431" y="1692085"/>
                <a:ext cx="4813941" cy="4811616"/>
                <a:chOff x="1042" y="2410"/>
                <a:chExt cx="1505" cy="1504"/>
              </a:xfrm>
            </p:grpSpPr>
            <p:sp>
              <p:nvSpPr>
                <p:cNvPr id="20" name="Line 57">
                  <a:extLst>
                    <a:ext uri="{FF2B5EF4-FFF2-40B4-BE49-F238E27FC236}">
                      <a16:creationId xmlns:a16="http://schemas.microsoft.com/office/drawing/2014/main" id="{B4B10702-7FDA-3259-0ADE-EA639345F4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42" y="3159"/>
                  <a:ext cx="1505" cy="0"/>
                </a:xfrm>
                <a:prstGeom prst="line">
                  <a:avLst/>
                </a:prstGeom>
                <a:noFill/>
                <a:ln w="25400" cap="rnd">
                  <a:solidFill>
                    <a:srgbClr val="FF99CC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17" name="Oval 51">
                  <a:extLst>
                    <a:ext uri="{FF2B5EF4-FFF2-40B4-BE49-F238E27FC236}">
                      <a16:creationId xmlns:a16="http://schemas.microsoft.com/office/drawing/2014/main" id="{0B8FFEA3-9DE7-558A-36D4-02AE7B42FE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42" y="2410"/>
                  <a:ext cx="1505" cy="1504"/>
                </a:xfrm>
                <a:prstGeom prst="ellips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21" name="Line 91">
                  <a:extLst>
                    <a:ext uri="{FF2B5EF4-FFF2-40B4-BE49-F238E27FC236}">
                      <a16:creationId xmlns:a16="http://schemas.microsoft.com/office/drawing/2014/main" id="{FC303A6B-7945-7F1E-C319-42D295B825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10" y="2771"/>
                  <a:ext cx="615" cy="388"/>
                </a:xfrm>
                <a:prstGeom prst="line">
                  <a:avLst/>
                </a:prstGeom>
                <a:noFill/>
                <a:ln w="222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2" name="Oval 93">
                  <a:extLst>
                    <a:ext uri="{FF2B5EF4-FFF2-40B4-BE49-F238E27FC236}">
                      <a16:creationId xmlns:a16="http://schemas.microsoft.com/office/drawing/2014/main" id="{73BC7876-F6DE-7400-D88B-C136175672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7" y="3132"/>
                  <a:ext cx="60" cy="6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  <p:sp>
              <p:nvSpPr>
                <p:cNvPr id="24" name="Oval 85">
                  <a:extLst>
                    <a:ext uri="{FF2B5EF4-FFF2-40B4-BE49-F238E27FC236}">
                      <a16:creationId xmlns:a16="http://schemas.microsoft.com/office/drawing/2014/main" id="{ED14AE89-271C-CB57-241F-7ADB717086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1" y="2723"/>
                  <a:ext cx="82" cy="8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dirty="0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102">
                  <a:extLst>
                    <a:ext uri="{FF2B5EF4-FFF2-40B4-BE49-F238E27FC236}">
                      <a16:creationId xmlns:a16="http://schemas.microsoft.com/office/drawing/2014/main" id="{DE10B836-C4A7-4952-8D31-A0DA4A7F907A}"/>
                    </a:ext>
                  </a:extLst>
                </p:cNvPr>
                <p:cNvSpPr txBox="1"/>
                <p:nvPr/>
              </p:nvSpPr>
              <p:spPr bwMode="auto">
                <a:xfrm>
                  <a:off x="4519413" y="3468929"/>
                  <a:ext cx="542126" cy="4830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700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ko-KR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bject 102">
                  <a:extLst>
                    <a:ext uri="{FF2B5EF4-FFF2-40B4-BE49-F238E27FC236}">
                      <a16:creationId xmlns:a16="http://schemas.microsoft.com/office/drawing/2014/main" id="{DE10B836-C4A7-4952-8D31-A0DA4A7F9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19413" y="3468929"/>
                  <a:ext cx="542126" cy="48305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00">
                  <a:extLst>
                    <a:ext uri="{FF2B5EF4-FFF2-40B4-BE49-F238E27FC236}">
                      <a16:creationId xmlns:a16="http://schemas.microsoft.com/office/drawing/2014/main" id="{4A735F8C-7196-9BE7-9FB3-0B5643032BC3}"/>
                    </a:ext>
                  </a:extLst>
                </p:cNvPr>
                <p:cNvSpPr txBox="1"/>
                <p:nvPr/>
              </p:nvSpPr>
              <p:spPr bwMode="auto">
                <a:xfrm>
                  <a:off x="5483511" y="2491049"/>
                  <a:ext cx="1448588" cy="7678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r>
                    <a:rPr lang="en-US" altLang="ko-KR" dirty="0">
                      <a:solidFill>
                        <a:schemeClr val="tx1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en-US" altLang="ko-KR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Object 100">
                  <a:extLst>
                    <a:ext uri="{FF2B5EF4-FFF2-40B4-BE49-F238E27FC236}">
                      <a16:creationId xmlns:a16="http://schemas.microsoft.com/office/drawing/2014/main" id="{4A735F8C-7196-9BE7-9FB3-0B5643032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83511" y="2491049"/>
                  <a:ext cx="1448588" cy="767875"/>
                </a:xfrm>
                <a:prstGeom prst="rect">
                  <a:avLst/>
                </a:prstGeom>
                <a:blipFill>
                  <a:blip r:embed="rId3"/>
                  <a:stretch>
                    <a:fillRect l="-8571" t="-11828" b="-215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74B3AD3-EB8E-2D3E-4FA2-B703111A4EAD}"/>
                </a:ext>
              </a:extLst>
            </p:cNvPr>
            <p:cNvCxnSpPr/>
            <p:nvPr/>
          </p:nvCxnSpPr>
          <p:spPr bwMode="auto">
            <a:xfrm flipV="1">
              <a:off x="3380118" y="3771926"/>
              <a:ext cx="435213" cy="267995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A0844499-8D3C-A80D-849F-798E6BED729F}"/>
                </a:ext>
              </a:extLst>
            </p:cNvPr>
            <p:cNvCxnSpPr/>
            <p:nvPr/>
          </p:nvCxnSpPr>
          <p:spPr bwMode="auto">
            <a:xfrm flipH="1" flipV="1">
              <a:off x="5163174" y="2297344"/>
              <a:ext cx="261534" cy="496725"/>
            </a:xfrm>
            <a:prstGeom prst="straightConnector1">
              <a:avLst/>
            </a:prstGeom>
            <a:noFill/>
            <a:ln w="666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bject 100">
                  <a:extLst>
                    <a:ext uri="{FF2B5EF4-FFF2-40B4-BE49-F238E27FC236}">
                      <a16:creationId xmlns:a16="http://schemas.microsoft.com/office/drawing/2014/main" id="{F3B85FD1-880E-50A4-05EF-77C791D7476C}"/>
                    </a:ext>
                  </a:extLst>
                </p:cNvPr>
                <p:cNvSpPr txBox="1"/>
                <p:nvPr/>
              </p:nvSpPr>
              <p:spPr bwMode="auto">
                <a:xfrm>
                  <a:off x="3221611" y="3330899"/>
                  <a:ext cx="504056" cy="6297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Object 100">
                  <a:extLst>
                    <a:ext uri="{FF2B5EF4-FFF2-40B4-BE49-F238E27FC236}">
                      <a16:creationId xmlns:a16="http://schemas.microsoft.com/office/drawing/2014/main" id="{F3B85FD1-880E-50A4-05EF-77C791D74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21611" y="3330899"/>
                  <a:ext cx="504056" cy="629774"/>
                </a:xfrm>
                <a:prstGeom prst="rect">
                  <a:avLst/>
                </a:prstGeom>
                <a:blipFill>
                  <a:blip r:embed="rId4"/>
                  <a:stretch>
                    <a:fillRect t="-1316" r="-4262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Object 100">
                  <a:extLst>
                    <a:ext uri="{FF2B5EF4-FFF2-40B4-BE49-F238E27FC236}">
                      <a16:creationId xmlns:a16="http://schemas.microsoft.com/office/drawing/2014/main" id="{E3BB43FB-F7CF-8305-7DA3-1CD645DA1B81}"/>
                    </a:ext>
                  </a:extLst>
                </p:cNvPr>
                <p:cNvSpPr txBox="1"/>
                <p:nvPr/>
              </p:nvSpPr>
              <p:spPr bwMode="auto">
                <a:xfrm>
                  <a:off x="5049501" y="1770898"/>
                  <a:ext cx="504056" cy="62977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oMath>
                    </m:oMathPara>
                  </a14:m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Object 100">
                  <a:extLst>
                    <a:ext uri="{FF2B5EF4-FFF2-40B4-BE49-F238E27FC236}">
                      <a16:creationId xmlns:a16="http://schemas.microsoft.com/office/drawing/2014/main" id="{E3BB43FB-F7CF-8305-7DA3-1CD645DA1B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49501" y="1770898"/>
                  <a:ext cx="504056" cy="62977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E0A1FB-6CF8-8AD2-4484-51624D9654A2}"/>
                  </a:ext>
                </a:extLst>
              </p:cNvPr>
              <p:cNvSpPr txBox="1"/>
              <p:nvPr/>
            </p:nvSpPr>
            <p:spPr>
              <a:xfrm>
                <a:off x="539552" y="3115442"/>
                <a:ext cx="374441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s-ES" altLang="ko-KR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, </m:t>
                      </m:r>
                      <m:r>
                        <a:rPr lang="en-US" altLang="ko-KR" sz="2800" b="0" i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altLang="ko-K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E0A1FB-6CF8-8AD2-4484-51624D965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115442"/>
                <a:ext cx="374441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719301-862C-40D3-8EA9-8F2B8559614F}"/>
                  </a:ext>
                </a:extLst>
              </p:cNvPr>
              <p:cNvSpPr txBox="1"/>
              <p:nvPr/>
            </p:nvSpPr>
            <p:spPr>
              <a:xfrm>
                <a:off x="539552" y="3700439"/>
                <a:ext cx="3744417" cy="9526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s-ES" altLang="ko-KR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 </m:t>
                      </m:r>
                      <m:rad>
                        <m:radPr>
                          <m:degHide m:val="on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ko-K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𝑎𝑟𝑐𝑡𝑎𝑛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719301-862C-40D3-8EA9-8F2B85596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700439"/>
                <a:ext cx="3744417" cy="9526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9852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6F96C-70C8-FDF7-FA7D-F68FF121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DD2C97-9F02-F6E1-9090-CDEA3D22E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극좌표계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CA610-1170-1551-188C-60B346D8C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Vector2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59B54D-12D1-4CF1-5FFB-FE9012D5A9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398178-0F72-F2EB-5C7C-1FA89120CFF1}"/>
              </a:ext>
            </a:extLst>
          </p:cNvPr>
          <p:cNvSpPr txBox="1"/>
          <p:nvPr/>
        </p:nvSpPr>
        <p:spPr>
          <a:xfrm>
            <a:off x="539750" y="2348880"/>
            <a:ext cx="6552530" cy="10772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Angle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 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atan2f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563678-415C-1DDF-8C4D-B07BF6C87843}"/>
              </a:ext>
            </a:extLst>
          </p:cNvPr>
          <p:cNvSpPr txBox="1"/>
          <p:nvPr/>
        </p:nvSpPr>
        <p:spPr>
          <a:xfrm>
            <a:off x="539750" y="1268760"/>
            <a:ext cx="6552530" cy="10772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   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::</a:t>
            </a:r>
            <a:r>
              <a:rPr lang="en-US" altLang="ko-KR" sz="1600" dirty="0">
                <a:solidFill>
                  <a:srgbClr val="88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sqrtf</a:t>
            </a:r>
            <a:r>
              <a:rPr lang="en-US" altLang="ko-KR" sz="1600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Y)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8B123-23ED-F093-656D-4C227C9640E7}"/>
              </a:ext>
            </a:extLst>
          </p:cNvPr>
          <p:cNvSpPr txBox="1"/>
          <p:nvPr/>
        </p:nvSpPr>
        <p:spPr>
          <a:xfrm>
            <a:off x="539749" y="3429000"/>
            <a:ext cx="6552531" cy="1077218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ToPolarCoordinate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Size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(), 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Angle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B22B5-143C-260E-754F-0F75EAAF93C3}"/>
              </a:ext>
            </a:extLst>
          </p:cNvPr>
          <p:cNvSpPr txBox="1"/>
          <p:nvPr/>
        </p:nvSpPr>
        <p:spPr>
          <a:xfrm>
            <a:off x="539748" y="4509120"/>
            <a:ext cx="6552532" cy="1569660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ToCartesianCoordinate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 </a:t>
            </a: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endParaRPr lang="en-US" altLang="ko-KR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float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6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6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GetSinCosRad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6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6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* </a:t>
            </a:r>
            <a:r>
              <a:rPr lang="en-US" altLang="ko-KR" sz="16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9918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A5CB0-AF52-BC91-D346-FAE5C206A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E262C-1497-65ED-EDD8-391E8727F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4-4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소용돌이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5B4EDC-DF2E-4E35-637B-C5C1CF645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tree/4-5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1DB0CA-700C-0DE7-99B7-07640F332FA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F51114-FC64-7A58-3AF0-5F0F2471F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370" y="1336118"/>
            <a:ext cx="2935472" cy="2956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2B07C4-B3AE-437F-8821-54DDE40A81AA}"/>
              </a:ext>
            </a:extLst>
          </p:cNvPr>
          <p:cNvSpPr txBox="1"/>
          <p:nvPr/>
        </p:nvSpPr>
        <p:spPr>
          <a:xfrm>
            <a:off x="578387" y="1323543"/>
            <a:ext cx="5394938" cy="418576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 좌표계로 변경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ToPolarCoordinate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극좌표계의 각 정보로부터 색상을 결정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8F08C4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&lt;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{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   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}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TwoPI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극좌표계의 크기 정보로부터 회전 크기 결정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ratio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maxLength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weight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Lerp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5.f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ratio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극좌표계를 사용해 회전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+=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Deg2Rad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currentDegree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*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weight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최종 값을 데카르트 좌표계로 변환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cartesianV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polarV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4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ToCartesian</a:t>
            </a:r>
            <a:r>
              <a:rPr lang="en-US" altLang="ko-KR" sz="1400" dirty="0">
                <a:solidFill>
                  <a:srgbClr val="88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Coordinate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  <a:endParaRPr lang="en-US" altLang="ko-KR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4253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AB46A6F-8132-D2F5-CC50-9BE93AD6C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행렬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CDF472D4-5155-9951-9FB8-7BE7AFCA0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가상세계의 변환 도구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ACEC0F-F845-ACA7-2879-CB27DD54B1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2995769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D827DC-138E-93B3-0110-D644EC3B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 </a:t>
            </a:r>
            <a:r>
              <a:rPr lang="ko-KR" altLang="en-US" dirty="0"/>
              <a:t>선형성</a:t>
            </a:r>
            <a:r>
              <a:rPr lang="en-US" altLang="ko-KR" dirty="0"/>
              <a:t>: </a:t>
            </a:r>
            <a:r>
              <a:rPr lang="ko-KR" altLang="en-US" dirty="0"/>
              <a:t>예측 가능한 비례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3F789-017E-6313-77DB-C90E1ED1B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선형의 두 조건</a:t>
            </a:r>
            <a:endParaRPr lang="en-US" altLang="ko-KR" dirty="0"/>
          </a:p>
          <a:p>
            <a:pPr lvl="1"/>
            <a:r>
              <a:rPr lang="ko-KR" altLang="en-US" dirty="0"/>
              <a:t>가법성 </a:t>
            </a:r>
            <a:r>
              <a:rPr lang="en-US" altLang="ko-KR" dirty="0"/>
              <a:t>(Additivity)</a:t>
            </a:r>
          </a:p>
          <a:p>
            <a:pPr lvl="2"/>
            <a:r>
              <a:rPr lang="ko-KR" altLang="en-US" dirty="0"/>
              <a:t>입력의 합 → 출력의 합</a:t>
            </a:r>
            <a:endParaRPr lang="en-US" altLang="ko-KR" dirty="0"/>
          </a:p>
          <a:p>
            <a:pPr lvl="2"/>
            <a:r>
              <a:rPr lang="es-ES" altLang="ko-KR" dirty="0"/>
              <a:t>f(x + y) = f(x) + f(y)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차 동차성 </a:t>
            </a:r>
            <a:r>
              <a:rPr lang="en-US" altLang="ko-KR" dirty="0"/>
              <a:t>(Homogeneity)</a:t>
            </a:r>
          </a:p>
          <a:p>
            <a:pPr lvl="2"/>
            <a:r>
              <a:rPr lang="ko-KR" altLang="en-US" dirty="0"/>
              <a:t>입력의 스칼라 배 → 출력의 동일한 스칼라 배</a:t>
            </a:r>
            <a:endParaRPr lang="en-US" altLang="ko-KR" dirty="0"/>
          </a:p>
          <a:p>
            <a:pPr lvl="2"/>
            <a:r>
              <a:rPr lang="pt-BR" altLang="ko-KR" dirty="0"/>
              <a:t>f(</a:t>
            </a:r>
            <a:r>
              <a:rPr lang="en-US" altLang="ko-KR" dirty="0"/>
              <a:t>α</a:t>
            </a:r>
            <a:r>
              <a:rPr lang="pt-BR" altLang="ko-KR" dirty="0"/>
              <a:t>x) = </a:t>
            </a:r>
            <a:r>
              <a:rPr lang="en-US" altLang="ko-KR" dirty="0"/>
              <a:t>α</a:t>
            </a:r>
            <a:r>
              <a:rPr lang="pt-BR" altLang="ko-KR" dirty="0"/>
              <a:t>f(x)</a:t>
            </a:r>
          </a:p>
          <a:p>
            <a:pPr lvl="1"/>
            <a:endParaRPr lang="pt-BR" altLang="ko-KR" dirty="0"/>
          </a:p>
          <a:p>
            <a:pPr lvl="1"/>
            <a:r>
              <a:rPr lang="es-ES" altLang="ko-KR" dirty="0"/>
              <a:t>f(</a:t>
            </a:r>
            <a:r>
              <a:rPr lang="en-US" altLang="ko-KR" dirty="0"/>
              <a:t>α</a:t>
            </a:r>
            <a:r>
              <a:rPr lang="es-ES" altLang="ko-KR" dirty="0"/>
              <a:t>x + </a:t>
            </a:r>
            <a:r>
              <a:rPr lang="en-US" altLang="ko-KR" dirty="0"/>
              <a:t>β</a:t>
            </a:r>
            <a:r>
              <a:rPr lang="es-ES" altLang="ko-KR" dirty="0"/>
              <a:t>y) = </a:t>
            </a:r>
            <a:r>
              <a:rPr lang="en-US" altLang="ko-KR" dirty="0"/>
              <a:t>α</a:t>
            </a:r>
            <a:r>
              <a:rPr lang="es-ES" altLang="ko-KR" dirty="0"/>
              <a:t>f(x) + </a:t>
            </a:r>
            <a:r>
              <a:rPr lang="en-US" altLang="ko-KR" dirty="0"/>
              <a:t>β</a:t>
            </a:r>
            <a:r>
              <a:rPr lang="es-ES" altLang="ko-KR" dirty="0"/>
              <a:t>f(y)</a:t>
            </a:r>
            <a:endParaRPr lang="pt-BR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C36E5-F2A9-86C6-E56C-FF2B2D4993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C5BB3C-FB0E-41DC-9F35-CCFADA0FBC8D}"/>
                  </a:ext>
                </a:extLst>
              </p:cNvPr>
              <p:cNvSpPr txBox="1"/>
              <p:nvPr/>
            </p:nvSpPr>
            <p:spPr>
              <a:xfrm>
                <a:off x="827585" y="4797152"/>
                <a:ext cx="3528392" cy="8167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 ⋅ </m:t>
                              </m:r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C5BB3C-FB0E-41DC-9F35-CCFADA0FB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5" y="4797152"/>
                <a:ext cx="3528392" cy="816762"/>
              </a:xfrm>
              <a:prstGeom prst="rect">
                <a:avLst/>
              </a:prstGeom>
              <a:blipFill>
                <a:blip r:embed="rId2"/>
                <a:stretch>
                  <a:fillRect l="-1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79DABC-767A-2565-E55B-7E771CEBDCA2}"/>
                  </a:ext>
                </a:extLst>
              </p:cNvPr>
              <p:cNvSpPr txBox="1"/>
              <p:nvPr/>
            </p:nvSpPr>
            <p:spPr>
              <a:xfrm>
                <a:off x="4355977" y="1988840"/>
                <a:ext cx="252027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79DABC-767A-2565-E55B-7E771CEBD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7" y="1988840"/>
                <a:ext cx="2520279" cy="369332"/>
              </a:xfrm>
              <a:prstGeom prst="rect">
                <a:avLst/>
              </a:prstGeom>
              <a:blipFill>
                <a:blip r:embed="rId3"/>
                <a:stretch>
                  <a:fillRect l="-10412" t="-170492" r="-5811" b="-2590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793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584AC-01B7-C325-7D48-F7D52393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5.1.1 </a:t>
            </a:r>
            <a:r>
              <a:rPr lang="ko-KR" altLang="en-US" dirty="0"/>
              <a:t>선형함수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169A03-BEA1-BAEF-CD35-4F1DE9AA6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 함수</a:t>
            </a:r>
            <a:endParaRPr lang="en-US" altLang="ko-KR" dirty="0"/>
          </a:p>
          <a:p>
            <a:pPr lvl="1"/>
            <a:r>
              <a:rPr lang="ko-KR" altLang="en-US" dirty="0"/>
              <a:t>직선함수</a:t>
            </a:r>
            <a:r>
              <a:rPr lang="en-US" altLang="ko-KR" dirty="0"/>
              <a:t>: </a:t>
            </a:r>
            <a:r>
              <a:rPr lang="es-ES" altLang="ko-KR" dirty="0"/>
              <a:t>f(x) = </a:t>
            </a:r>
            <a:r>
              <a:rPr lang="en-US" altLang="ko-KR" dirty="0"/>
              <a:t>α</a:t>
            </a:r>
            <a:r>
              <a:rPr lang="es-ES" altLang="ko-KR" dirty="0"/>
              <a:t>x, </a:t>
            </a:r>
            <a:r>
              <a:rPr lang="ko-KR" altLang="en-US" dirty="0"/>
              <a:t>또는 </a:t>
            </a:r>
            <a:r>
              <a:rPr lang="en-US" altLang="ko-KR" dirty="0"/>
              <a:t>y = α</a:t>
            </a:r>
            <a:r>
              <a:rPr lang="es-ES" altLang="ko-KR" dirty="0"/>
              <a:t>x</a:t>
            </a:r>
            <a:endParaRPr lang="pt-BR" altLang="ko-KR" dirty="0"/>
          </a:p>
          <a:p>
            <a:pPr lvl="1"/>
            <a:endParaRPr lang="en-US" altLang="ko-KR" dirty="0"/>
          </a:p>
          <a:p>
            <a:r>
              <a:rPr lang="es-ES" altLang="ko-KR" dirty="0"/>
              <a:t>f(x) = </a:t>
            </a:r>
            <a:r>
              <a:rPr lang="en-US" altLang="ko-KR" dirty="0"/>
              <a:t>α</a:t>
            </a:r>
            <a:r>
              <a:rPr lang="es-ES" altLang="ko-KR" dirty="0"/>
              <a:t>x </a:t>
            </a:r>
            <a:r>
              <a:rPr lang="ko-KR" altLang="en-US" dirty="0"/>
              <a:t>가</a:t>
            </a:r>
            <a:r>
              <a:rPr lang="es-ES" altLang="ko-KR" dirty="0"/>
              <a:t> </a:t>
            </a:r>
            <a:r>
              <a:rPr lang="ko-KR" altLang="en-US" dirty="0"/>
              <a:t>선형함수 인지 증명</a:t>
            </a:r>
            <a:endParaRPr lang="es-ES" altLang="ko-KR" sz="2400" dirty="0"/>
          </a:p>
          <a:p>
            <a:pPr marL="457200" lvl="1" indent="0">
              <a:buNone/>
            </a:pPr>
            <a:r>
              <a:rPr lang="es-ES" altLang="ko-KR" dirty="0"/>
              <a:t>f(x</a:t>
            </a:r>
            <a:r>
              <a:rPr lang="es-ES" altLang="ko-KR" baseline="-25000" dirty="0"/>
              <a:t>1</a:t>
            </a:r>
            <a:r>
              <a:rPr lang="es-ES" altLang="ko-KR" dirty="0"/>
              <a:t> + x</a:t>
            </a:r>
            <a:r>
              <a:rPr lang="es-ES" altLang="ko-KR" baseline="-25000" dirty="0"/>
              <a:t>2</a:t>
            </a:r>
            <a:r>
              <a:rPr lang="es-ES" altLang="ko-KR" dirty="0"/>
              <a:t>) = </a:t>
            </a:r>
            <a:r>
              <a:rPr lang="en-US" altLang="ko-KR" dirty="0"/>
              <a:t>α(</a:t>
            </a:r>
            <a:r>
              <a:rPr lang="es-ES" altLang="ko-KR" dirty="0"/>
              <a:t>x</a:t>
            </a:r>
            <a:r>
              <a:rPr lang="es-ES" altLang="ko-KR" baseline="-25000" dirty="0"/>
              <a:t>1</a:t>
            </a:r>
            <a:r>
              <a:rPr lang="es-ES" altLang="ko-KR" dirty="0"/>
              <a:t> + x</a:t>
            </a:r>
            <a:r>
              <a:rPr lang="es-ES" altLang="ko-KR" baseline="-25000" dirty="0"/>
              <a:t>2</a:t>
            </a:r>
            <a:r>
              <a:rPr lang="es-ES" altLang="ko-KR" dirty="0"/>
              <a:t>)</a:t>
            </a:r>
            <a:br>
              <a:rPr lang="es-ES" altLang="ko-KR" dirty="0"/>
            </a:br>
            <a:r>
              <a:rPr lang="es-ES" altLang="ko-KR" dirty="0"/>
              <a:t>= </a:t>
            </a:r>
            <a:r>
              <a:rPr lang="en-US" altLang="ko-KR" dirty="0"/>
              <a:t>α</a:t>
            </a:r>
            <a:r>
              <a:rPr lang="es-ES" altLang="ko-KR" dirty="0"/>
              <a:t>x</a:t>
            </a:r>
            <a:r>
              <a:rPr lang="es-ES" altLang="ko-KR" baseline="-25000" dirty="0"/>
              <a:t>1</a:t>
            </a:r>
            <a:r>
              <a:rPr lang="es-ES" altLang="ko-KR" dirty="0"/>
              <a:t> + </a:t>
            </a:r>
            <a:r>
              <a:rPr lang="en-US" altLang="ko-KR" dirty="0"/>
              <a:t>α</a:t>
            </a:r>
            <a:r>
              <a:rPr lang="es-ES" altLang="ko-KR" dirty="0"/>
              <a:t>x</a:t>
            </a:r>
            <a:r>
              <a:rPr lang="es-ES" altLang="ko-KR" baseline="-25000" dirty="0"/>
              <a:t>2</a:t>
            </a:r>
            <a:br>
              <a:rPr lang="es-ES" altLang="ko-KR" baseline="-25000" dirty="0"/>
            </a:br>
            <a:r>
              <a:rPr lang="es-ES" altLang="ko-KR" dirty="0"/>
              <a:t>= f</a:t>
            </a:r>
            <a:r>
              <a:rPr lang="en-US" altLang="ko-KR" dirty="0"/>
              <a:t>(</a:t>
            </a:r>
            <a:r>
              <a:rPr lang="es-ES" altLang="ko-KR" dirty="0"/>
              <a:t>x</a:t>
            </a:r>
            <a:r>
              <a:rPr lang="es-ES" altLang="ko-KR" baseline="-25000" dirty="0"/>
              <a:t>1</a:t>
            </a:r>
            <a:r>
              <a:rPr lang="es-ES" altLang="ko-KR" dirty="0"/>
              <a:t>) + f</a:t>
            </a:r>
            <a:r>
              <a:rPr lang="en-US" altLang="ko-KR" dirty="0"/>
              <a:t>(</a:t>
            </a:r>
            <a:r>
              <a:rPr lang="es-ES" altLang="ko-KR" dirty="0"/>
              <a:t>x</a:t>
            </a:r>
            <a:r>
              <a:rPr lang="es-ES" altLang="ko-KR" baseline="-25000" dirty="0"/>
              <a:t>2</a:t>
            </a:r>
            <a:r>
              <a:rPr lang="es-ES" altLang="ko-KR" dirty="0"/>
              <a:t>)</a:t>
            </a:r>
          </a:p>
          <a:p>
            <a:pPr marL="457200" lvl="1" indent="0">
              <a:buNone/>
            </a:pPr>
            <a:r>
              <a:rPr lang="es-ES" altLang="ko-KR" dirty="0"/>
              <a:t>f(</a:t>
            </a:r>
            <a:r>
              <a:rPr lang="en-US" altLang="ko-KR" dirty="0"/>
              <a:t>κ</a:t>
            </a:r>
            <a:r>
              <a:rPr lang="es-ES" altLang="ko-KR" dirty="0"/>
              <a:t>x) = </a:t>
            </a:r>
            <a:r>
              <a:rPr lang="en-US" altLang="ko-KR" dirty="0"/>
              <a:t>α(κ</a:t>
            </a:r>
            <a:r>
              <a:rPr lang="es-ES" altLang="ko-KR" dirty="0"/>
              <a:t>x) = </a:t>
            </a:r>
            <a:r>
              <a:rPr lang="en-US" altLang="ko-KR" dirty="0"/>
              <a:t>κ(α</a:t>
            </a:r>
            <a:r>
              <a:rPr lang="es-ES" altLang="ko-KR" dirty="0"/>
              <a:t>x) = </a:t>
            </a:r>
            <a:r>
              <a:rPr lang="en-US" altLang="ko-KR" dirty="0"/>
              <a:t>κ</a:t>
            </a:r>
            <a:r>
              <a:rPr lang="es-ES" altLang="ko-KR" dirty="0"/>
              <a:t>f</a:t>
            </a:r>
            <a:r>
              <a:rPr lang="en-US" altLang="ko-KR" dirty="0"/>
              <a:t>(</a:t>
            </a:r>
            <a:r>
              <a:rPr lang="es-ES" altLang="ko-KR" dirty="0"/>
              <a:t>x)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1365DB-12C6-072C-B75B-B8761120A3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5632127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480A-1E6E-0BBD-87AD-29CF68D4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9303F-8467-7BA3-3B10-313084FF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5.1.1 </a:t>
            </a:r>
            <a:r>
              <a:rPr lang="ko-KR" altLang="en-US" dirty="0"/>
              <a:t>선형함수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AF2436-E2FB-7507-057E-1671644C1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ko-KR" sz="2400" dirty="0"/>
              <a:t>f(x) = </a:t>
            </a:r>
            <a:r>
              <a:rPr lang="en-US" altLang="ko-KR" sz="2400" dirty="0"/>
              <a:t>α</a:t>
            </a:r>
            <a:r>
              <a:rPr lang="es-ES" altLang="ko-KR" sz="2400" dirty="0"/>
              <a:t>x</a:t>
            </a:r>
            <a:r>
              <a:rPr lang="es-ES" altLang="ko-KR" sz="2400" baseline="30000" dirty="0"/>
              <a:t>2</a:t>
            </a:r>
            <a:r>
              <a:rPr lang="es-ES" altLang="ko-KR" sz="2400" dirty="0"/>
              <a:t> </a:t>
            </a:r>
            <a:r>
              <a:rPr lang="ko-KR" altLang="en-US" sz="2400" dirty="0"/>
              <a:t>는 선형함수</a:t>
            </a:r>
            <a:r>
              <a:rPr lang="en-US" altLang="ko-KR" sz="2400" dirty="0"/>
              <a:t>?</a:t>
            </a:r>
            <a:endParaRPr lang="es-ES" altLang="ko-KR" sz="2000" dirty="0"/>
          </a:p>
          <a:p>
            <a:pPr marL="457200" lvl="1" indent="0">
              <a:buNone/>
            </a:pPr>
            <a:r>
              <a:rPr lang="es-ES" altLang="ko-KR" sz="2000" dirty="0"/>
              <a:t>f(x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= </a:t>
            </a:r>
            <a:r>
              <a:rPr lang="en-US" altLang="ko-KR" sz="2000" dirty="0"/>
              <a:t>α(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</a:t>
            </a:r>
            <a:r>
              <a:rPr lang="es-ES" altLang="ko-KR" sz="2000" baseline="30000" dirty="0"/>
              <a:t>2</a:t>
            </a:r>
            <a:r>
              <a:rPr lang="es-ES" altLang="ko-KR" sz="2000" dirty="0"/>
              <a:t> </a:t>
            </a:r>
            <a:br>
              <a:rPr lang="es-ES" altLang="ko-KR" sz="2000" dirty="0"/>
            </a:br>
            <a:r>
              <a:rPr lang="es-ES" altLang="ko-KR" sz="2000" dirty="0"/>
              <a:t>=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baseline="30000" dirty="0"/>
              <a:t>2</a:t>
            </a:r>
            <a:r>
              <a:rPr lang="es-ES" altLang="ko-KR" sz="2000" dirty="0"/>
              <a:t> +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es-ES" altLang="ko-KR" sz="2000" baseline="30000" dirty="0"/>
              <a:t>2</a:t>
            </a:r>
            <a:r>
              <a:rPr lang="es-ES" altLang="ko-KR" sz="2000" dirty="0"/>
              <a:t> + 2</a:t>
            </a:r>
            <a:r>
              <a:rPr lang="en-US" altLang="ko-KR" sz="2000" dirty="0"/>
              <a:t> α 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br>
              <a:rPr lang="es-ES" altLang="ko-KR" sz="2000" baseline="-25000" dirty="0"/>
            </a:br>
            <a:r>
              <a:rPr lang="es-ES" altLang="ko-KR" sz="2000" dirty="0"/>
              <a:t>= f(x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) + f(x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+ 2</a:t>
            </a:r>
            <a:r>
              <a:rPr lang="en-US" altLang="ko-KR" sz="2000" dirty="0"/>
              <a:t> α 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ko-KR" altLang="en-US" sz="2000" dirty="0"/>
              <a:t> → 선형이 아님</a:t>
            </a:r>
            <a:br>
              <a:rPr lang="es-ES" altLang="ko-KR" sz="2000" baseline="-25000" dirty="0"/>
            </a:br>
            <a:endParaRPr lang="es-ES" altLang="ko-KR" sz="2000" baseline="-25000" dirty="0"/>
          </a:p>
          <a:p>
            <a:r>
              <a:rPr lang="es-ES" altLang="ko-KR" sz="2400" dirty="0"/>
              <a:t>f(x) = </a:t>
            </a:r>
            <a:r>
              <a:rPr lang="en-US" altLang="ko-KR" sz="2400" dirty="0"/>
              <a:t>α</a:t>
            </a:r>
            <a:r>
              <a:rPr lang="es-ES" altLang="ko-KR" sz="2400" dirty="0"/>
              <a:t>x+</a:t>
            </a:r>
            <a:r>
              <a:rPr lang="en-US" altLang="ko-KR" sz="2400" dirty="0"/>
              <a:t>β</a:t>
            </a:r>
            <a:r>
              <a:rPr lang="es-ES" altLang="ko-KR" sz="2400" dirty="0"/>
              <a:t> </a:t>
            </a:r>
            <a:r>
              <a:rPr lang="ko-KR" altLang="en-US" sz="2400" dirty="0"/>
              <a:t>가</a:t>
            </a:r>
            <a:r>
              <a:rPr lang="es-ES" altLang="ko-KR" sz="2400" dirty="0"/>
              <a:t> </a:t>
            </a:r>
            <a:r>
              <a:rPr lang="ko-KR" altLang="en-US" sz="2400" dirty="0"/>
              <a:t>선형함수 인지 증명</a:t>
            </a:r>
            <a:endParaRPr lang="es-ES" altLang="ko-KR" sz="2000" dirty="0"/>
          </a:p>
          <a:p>
            <a:pPr marL="457200" lvl="1" indent="0">
              <a:buNone/>
            </a:pPr>
            <a:r>
              <a:rPr lang="es-ES" altLang="ko-KR" sz="2000" dirty="0"/>
              <a:t>f(x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= </a:t>
            </a:r>
            <a:r>
              <a:rPr lang="en-US" altLang="ko-KR" sz="2000" dirty="0"/>
              <a:t>α(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+ </a:t>
            </a:r>
            <a:r>
              <a:rPr lang="en-US" altLang="ko-KR" sz="2000" dirty="0"/>
              <a:t>β</a:t>
            </a:r>
            <a:br>
              <a:rPr lang="es-ES" altLang="ko-KR" sz="2000" dirty="0"/>
            </a:br>
            <a:r>
              <a:rPr lang="es-ES" altLang="ko-KR" sz="2000" dirty="0"/>
              <a:t>=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 + </a:t>
            </a:r>
            <a:r>
              <a:rPr lang="en-US" altLang="ko-KR" sz="2000" dirty="0"/>
              <a:t>α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 + </a:t>
            </a:r>
            <a:r>
              <a:rPr lang="en-US" altLang="ko-KR" sz="2000" dirty="0"/>
              <a:t>β</a:t>
            </a:r>
            <a:br>
              <a:rPr lang="es-ES" altLang="ko-KR" sz="2000" baseline="-25000" dirty="0"/>
            </a:br>
            <a:r>
              <a:rPr lang="es-ES" altLang="ko-KR" sz="2000" dirty="0"/>
              <a:t>= f</a:t>
            </a:r>
            <a:r>
              <a:rPr lang="en-US" altLang="ko-KR" sz="2000" dirty="0"/>
              <a:t>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1</a:t>
            </a:r>
            <a:r>
              <a:rPr lang="es-ES" altLang="ko-KR" sz="2000" dirty="0"/>
              <a:t>) + f</a:t>
            </a:r>
            <a:r>
              <a:rPr lang="en-US" altLang="ko-KR" sz="2000" dirty="0"/>
              <a:t>(</a:t>
            </a:r>
            <a:r>
              <a:rPr lang="es-ES" altLang="ko-KR" sz="2000" dirty="0"/>
              <a:t>x</a:t>
            </a:r>
            <a:r>
              <a:rPr lang="es-ES" altLang="ko-KR" sz="2000" baseline="-25000" dirty="0"/>
              <a:t>2</a:t>
            </a:r>
            <a:r>
              <a:rPr lang="es-ES" altLang="ko-KR" sz="2000" dirty="0"/>
              <a:t>) - </a:t>
            </a:r>
            <a:r>
              <a:rPr lang="en-US" altLang="ko-KR" sz="2000" dirty="0"/>
              <a:t>β</a:t>
            </a:r>
            <a:r>
              <a:rPr lang="ko-KR" altLang="en-US" sz="2000" dirty="0"/>
              <a:t> → 선형이 아님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7AEED8-01F2-2DFC-BE89-BC5A9D922A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909807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3C5E9-88D4-6982-3D4A-684AA4CE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5.1.2 </a:t>
            </a:r>
            <a:r>
              <a:rPr lang="ko-KR" altLang="en-US" dirty="0"/>
              <a:t>벡터 공간의 선형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D9A53D-D070-6EEB-C626-3D0AD2971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벡터 공간의 선형 변환</a:t>
                </a:r>
                <a:endParaRPr lang="en-US" altLang="ko-KR" b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1"/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선형 변환 함수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에</a:t>
                </a:r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대해서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도 선형</a:t>
                </a:r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?</a:t>
                </a:r>
              </a:p>
              <a:p>
                <a:pPr lvl="2"/>
                <a:endParaRPr lang="en-US" altLang="ko-KR" b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ko-KR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2</a:t>
                </a:r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차원 벡터에서 증명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altLang="ko-KR" b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𝑐𝑥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0" dirty="0">
                  <a:solidFill>
                    <a:srgbClr val="000000"/>
                  </a:solidFill>
                </a:endParaRPr>
              </a:p>
              <a:p>
                <a:pPr lvl="3"/>
                <a:endParaRPr lang="en-US" altLang="ko-KR" b="0" dirty="0"/>
              </a:p>
              <a:p>
                <a:r>
                  <a:rPr lang="ko-KR" altLang="en-US" b="0" dirty="0"/>
                  <a:t>가법성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D9A53D-D070-6EEB-C626-3D0AD2971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17B555-81D2-B911-2613-242A194A46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D116A9-AE0D-8FE8-9FF7-826FAC087ED3}"/>
                  </a:ext>
                </a:extLst>
              </p:cNvPr>
              <p:cNvSpPr txBox="1"/>
              <p:nvPr/>
            </p:nvSpPr>
            <p:spPr>
              <a:xfrm>
                <a:off x="107504" y="3933056"/>
                <a:ext cx="8856984" cy="23558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dirty="0">
                  <a:solidFill>
                    <a:srgbClr val="00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+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ko-KR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D116A9-AE0D-8FE8-9FF7-826FAC087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933056"/>
                <a:ext cx="8856984" cy="2355838"/>
              </a:xfrm>
              <a:prstGeom prst="rect">
                <a:avLst/>
              </a:prstGeom>
              <a:blipFill>
                <a:blip r:embed="rId3"/>
                <a:stretch>
                  <a:fillRect l="-619" b="-41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6350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2C44B-DD59-8104-70DE-7BBB8F44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67035-EFC7-E4F8-6424-5F78DDEC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5.1.2 </a:t>
            </a:r>
            <a:r>
              <a:rPr lang="ko-KR" altLang="en-US" dirty="0"/>
              <a:t>벡터 공간의 선형 변환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398C6C-65FC-5436-AEBE-DE52FFC901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스칼라 곱</a:t>
                </a:r>
                <a:endParaRPr lang="en-US" altLang="ko-KR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acc>
                          <m:accPr>
                            <m:chr m:val="⃗"/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𝑏𝑦</m:t>
                            </m:r>
                          </m:e>
                        </m:d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,  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𝑐𝑥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d>
                      </m:e>
                    </m:d>
                  </m:oMath>
                </a14:m>
                <a:endParaRPr lang="ko-KR" altLang="en-US" b="0" dirty="0"/>
              </a:p>
              <a:p>
                <a:pPr lvl="4"/>
                <a:endParaRPr lang="en-US" altLang="ko-KR" b="0" dirty="0"/>
              </a:p>
              <a:p>
                <a:r>
                  <a:rPr lang="ko-KR" altLang="en-US" b="0" dirty="0"/>
                  <a:t>증명</a:t>
                </a:r>
                <a:endParaRPr lang="en-US" altLang="ko-KR" b="0" dirty="0"/>
              </a:p>
              <a:p>
                <a:endParaRPr lang="en-US" altLang="ko-KR" b="0" dirty="0"/>
              </a:p>
              <a:p>
                <a:endParaRPr lang="en-US" altLang="ko-KR" b="0" dirty="0"/>
              </a:p>
              <a:p>
                <a:endParaRPr lang="en-US" altLang="ko-KR" b="0" dirty="0"/>
              </a:p>
              <a:p>
                <a:endParaRPr lang="en-US" altLang="ko-KR" b="0" dirty="0"/>
              </a:p>
              <a:p>
                <a:r>
                  <a:rPr lang="ko-KR" altLang="en-US" b="0" dirty="0"/>
                  <a:t>회전 변환</a:t>
                </a:r>
                <a:r>
                  <a:rPr lang="en-US" altLang="ko-KR" b="0" dirty="0"/>
                  <a:t>: </a:t>
                </a:r>
                <a:r>
                  <a:rPr lang="ko-KR" altLang="en-US" b="0" dirty="0"/>
                  <a:t>선형 변환</a:t>
                </a:r>
                <a:endParaRPr lang="en-US" altLang="ko-KR" b="0" dirty="0"/>
              </a:p>
              <a:p>
                <a:endParaRPr lang="ko-KR" altLang="en-US" b="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398C6C-65FC-5436-AEBE-DE52FFC901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7932E77-CB16-D352-69BC-DE7C0A6DB0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25B8B3-F38A-4847-8A87-8673DEAF1A58}"/>
                  </a:ext>
                </a:extLst>
              </p:cNvPr>
              <p:cNvSpPr txBox="1"/>
              <p:nvPr/>
            </p:nvSpPr>
            <p:spPr>
              <a:xfrm>
                <a:off x="395536" y="2564904"/>
                <a:ext cx="6264696" cy="1664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acc>
                            <m:accPr>
                              <m:chr m:val="⃗"/>
                              <m:ctrlP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𝑏𝑦</m:t>
                              </m:r>
                            </m:e>
                          </m:d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,  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b="0" dirty="0">
                  <a:solidFill>
                    <a:srgbClr val="00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𝑏𝑦</m:t>
                              </m:r>
                            </m:e>
                          </m:d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,  </m:t>
                          </m:r>
                          <m:d>
                            <m:dPr>
                              <m:ctrlP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altLang="ko-K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𝑏𝑦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𝑐𝑥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d>
                    </m:oMath>
                  </m:oMathPara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altLang="ko-KR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           =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𝑘𝑓</m:t>
                    </m:r>
                    <m:d>
                      <m:dPr>
                        <m:ctrlPr>
                          <a:rPr lang="en-US" altLang="ko-KR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en-US" altLang="ko-KR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25B8B3-F38A-4847-8A87-8673DEAF1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564904"/>
                <a:ext cx="6264696" cy="1664686"/>
              </a:xfrm>
              <a:prstGeom prst="rect">
                <a:avLst/>
              </a:prstGeom>
              <a:blipFill>
                <a:blip r:embed="rId3"/>
                <a:stretch>
                  <a:fillRect b="-7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6E8FA8-0337-3253-C1A4-B842FEE03818}"/>
                  </a:ext>
                </a:extLst>
              </p:cNvPr>
              <p:cNvSpPr txBox="1"/>
              <p:nvPr/>
            </p:nvSpPr>
            <p:spPr>
              <a:xfrm>
                <a:off x="573871" y="5085184"/>
                <a:ext cx="3662450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ko-K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s-ES" altLang="ko-KR" sz="28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 +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  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6E8FA8-0337-3253-C1A4-B842FEE03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71" y="5085184"/>
                <a:ext cx="3662450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C0E390-6DD6-401A-BBD8-4F7518AF9A15}"/>
                  </a:ext>
                </a:extLst>
              </p:cNvPr>
              <p:cNvSpPr txBox="1"/>
              <p:nvPr/>
            </p:nvSpPr>
            <p:spPr>
              <a:xfrm>
                <a:off x="4883663" y="5059354"/>
                <a:ext cx="1992593" cy="8617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altLang="ko-K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     </m:t>
                      </m:r>
                      <m:r>
                        <a:rPr lang="en-US" altLang="ko-KR" sz="2800" i="0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altLang="ko-KR" sz="280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C0E390-6DD6-401A-BBD8-4F7518AF9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663" y="5059354"/>
                <a:ext cx="1992593" cy="8617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9955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E1C68-4963-A4CE-1213-2125852FD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행렬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ECBC8F-5B18-4726-5DAF-F319F627BF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sz="2400" dirty="0"/>
                  <a:t>행렬</a:t>
                </a:r>
                <a:r>
                  <a:rPr lang="en-US" altLang="ko-KR" sz="2400" dirty="0"/>
                  <a:t>(Matrix)</a:t>
                </a:r>
              </a:p>
              <a:p>
                <a:pPr lvl="1"/>
                <a:r>
                  <a:rPr lang="en-US" altLang="ko-KR" sz="2000" dirty="0"/>
                  <a:t>m</a:t>
                </a:r>
                <a:r>
                  <a:rPr lang="ko-KR" altLang="en-US" sz="2000" dirty="0"/>
                  <a:t>개의 행</a:t>
                </a:r>
                <a:r>
                  <a:rPr lang="en-US" altLang="ko-KR" sz="2000" dirty="0"/>
                  <a:t>(Row)</a:t>
                </a:r>
                <a:r>
                  <a:rPr lang="ko-KR" altLang="en-US" sz="2000" dirty="0"/>
                  <a:t>과 </a:t>
                </a:r>
                <a:r>
                  <a:rPr lang="en-US" altLang="ko-KR" sz="2000" dirty="0"/>
                  <a:t>n</a:t>
                </a:r>
                <a:r>
                  <a:rPr lang="ko-KR" altLang="en-US" sz="2000" dirty="0"/>
                  <a:t>개의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열</a:t>
                </a:r>
                <a:r>
                  <a:rPr lang="en-US" altLang="ko-KR" sz="2000" dirty="0"/>
                  <a:t>(Colum)</a:t>
                </a:r>
                <a:r>
                  <a:rPr lang="ko-KR" altLang="en-US" sz="2000" dirty="0"/>
                  <a:t>로 구성된 직사각형 형태의 수 배열</a:t>
                </a:r>
                <a:endParaRPr lang="en-US" altLang="ko-KR" sz="20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pPr lvl="1"/>
                <a:endParaRPr lang="en-US" altLang="ko-KR" sz="2000" dirty="0"/>
              </a:p>
              <a:p>
                <a:r>
                  <a:rPr lang="ko-KR" altLang="en-US" sz="2400" dirty="0"/>
                  <a:t>행벡터 </a:t>
                </a:r>
                <a:r>
                  <a:rPr lang="en-US" altLang="ko-KR" sz="2400" dirty="0"/>
                  <a:t>(Row Vector)</a:t>
                </a:r>
              </a:p>
              <a:p>
                <a:pPr lvl="1"/>
                <a:r>
                  <a:rPr lang="ko-KR" altLang="en-US" sz="2000" dirty="0"/>
                  <a:t>하나의 행</a:t>
                </a:r>
                <a:r>
                  <a:rPr lang="en-US" altLang="ko-KR" sz="2000" dirty="0"/>
                  <a:t>(row)</a:t>
                </a:r>
                <a:r>
                  <a:rPr lang="ko-KR" altLang="en-US" sz="2000" dirty="0"/>
                  <a:t>으로 이루어진 행렬</a:t>
                </a:r>
                <a:endParaRPr lang="en-US" altLang="ko-KR" sz="2000" dirty="0"/>
              </a:p>
              <a:p>
                <a:pPr lvl="1"/>
                <a:r>
                  <a:rPr lang="en-US" altLang="ko-KR" sz="2000" dirty="0"/>
                  <a:t>1 × n</a:t>
                </a:r>
              </a:p>
              <a:p>
                <a:pPr lvl="1"/>
                <a:r>
                  <a:rPr lang="en-US" altLang="ko-KR" sz="2000" dirty="0"/>
                  <a:t>[ a₁ a₂… a</a:t>
                </a:r>
                <a:r>
                  <a:rPr lang="en-US" altLang="ko-KR" sz="2000" baseline="-25000" dirty="0"/>
                  <a:t>n</a:t>
                </a:r>
                <a:r>
                  <a:rPr lang="en-US" altLang="ko-KR" sz="2000" dirty="0"/>
                  <a:t> ]</a:t>
                </a:r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열벡터 </a:t>
                </a:r>
                <a:r>
                  <a:rPr lang="en-US" altLang="ko-KR" sz="2400" dirty="0"/>
                  <a:t>(Column Vector)</a:t>
                </a:r>
              </a:p>
              <a:p>
                <a:pPr lvl="1"/>
                <a:r>
                  <a:rPr lang="en-US" altLang="ko-KR" sz="2000" dirty="0"/>
                  <a:t>n × 1</a:t>
                </a:r>
              </a:p>
              <a:p>
                <a:pPr lvl="1"/>
                <a:r>
                  <a:rPr lang="ko-KR" altLang="en-US" sz="2000" dirty="0"/>
                  <a:t>하나의 열</a:t>
                </a:r>
                <a:r>
                  <a:rPr lang="en-US" altLang="ko-KR" sz="2000" dirty="0"/>
                  <a:t>(column)</a:t>
                </a:r>
                <a:r>
                  <a:rPr lang="ko-KR" altLang="en-US" sz="2000" dirty="0"/>
                  <a:t>로 이루어진</a:t>
                </a:r>
                <a:r>
                  <a:rPr lang="en-US" altLang="ko-KR" sz="2000" dirty="0"/>
                  <a:t> </a:t>
                </a:r>
                <a:r>
                  <a:rPr lang="ko-KR" altLang="en-US" sz="2000" dirty="0"/>
                  <a:t>행렬</a:t>
                </a:r>
                <a:endParaRPr lang="en-US" altLang="ko-KR" sz="2000" dirty="0"/>
              </a:p>
              <a:p>
                <a:pPr lvl="1"/>
                <a:endParaRPr lang="en-US" altLang="ko-KR" sz="20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ECBC8F-5B18-4726-5DAF-F319F627BF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6" t="-837" b="-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B1C7CA-0791-F219-9336-0DE9F6DF25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0A3302-DE62-EF96-D1B4-9E15709B5FD1}"/>
                  </a:ext>
                </a:extLst>
              </p:cNvPr>
              <p:cNvSpPr txBox="1"/>
              <p:nvPr/>
            </p:nvSpPr>
            <p:spPr>
              <a:xfrm>
                <a:off x="5724128" y="4869160"/>
                <a:ext cx="887999" cy="1379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0A3302-DE62-EF96-D1B4-9E15709B5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4869160"/>
                <a:ext cx="887999" cy="13796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53B2E7-E6B2-58B4-A42B-C88E84576742}"/>
                  </a:ext>
                </a:extLst>
              </p:cNvPr>
              <p:cNvSpPr txBox="1"/>
              <p:nvPr/>
            </p:nvSpPr>
            <p:spPr>
              <a:xfrm>
                <a:off x="2411760" y="1700808"/>
                <a:ext cx="3312368" cy="8637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𝒎𝒏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53B2E7-E6B2-58B4-A42B-C88E84576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700808"/>
                <a:ext cx="3312368" cy="863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5396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C56D-5732-F011-1D2D-E3BB7A1A3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B234A-8013-3D82-A172-6CFF6B59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 </a:t>
            </a:r>
            <a:r>
              <a:rPr lang="ko-KR" altLang="en-US" dirty="0"/>
              <a:t>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BEA303-E31F-9B43-9644-304573749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정방 행렬 </a:t>
            </a:r>
            <a:r>
              <a:rPr lang="en-US" altLang="ko-KR" dirty="0"/>
              <a:t>(Square</a:t>
            </a:r>
            <a:r>
              <a:rPr lang="ko-KR" altLang="en-US" dirty="0"/>
              <a:t> </a:t>
            </a:r>
            <a:r>
              <a:rPr lang="en-US" altLang="ko-KR" dirty="0"/>
              <a:t>Matrix)</a:t>
            </a:r>
          </a:p>
          <a:p>
            <a:pPr lvl="1"/>
            <a:r>
              <a:rPr lang="ko-KR" altLang="en-US" dirty="0"/>
              <a:t>행과 열의 크기가 같은 </a:t>
            </a:r>
            <a:r>
              <a:rPr lang="en-US" altLang="ko-KR" dirty="0"/>
              <a:t>n X n </a:t>
            </a:r>
            <a:r>
              <a:rPr lang="ko-KR" altLang="en-US" dirty="0"/>
              <a:t>행렬</a:t>
            </a:r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7D54F2-8CF7-4971-5188-8676F3BCB8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C79AE4-B443-B85B-481C-673017ED9470}"/>
                  </a:ext>
                </a:extLst>
              </p:cNvPr>
              <p:cNvSpPr txBox="1"/>
              <p:nvPr/>
            </p:nvSpPr>
            <p:spPr>
              <a:xfrm>
                <a:off x="971600" y="1875232"/>
                <a:ext cx="3960440" cy="9777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𝒏𝒏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  <m:e/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/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AC79AE4-B443-B85B-481C-673017ED9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875232"/>
                <a:ext cx="3960440" cy="9777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B3996A-53CE-93FC-B84A-729E3822DDE5}"/>
                  </a:ext>
                </a:extLst>
              </p:cNvPr>
              <p:cNvSpPr txBox="1"/>
              <p:nvPr/>
            </p:nvSpPr>
            <p:spPr>
              <a:xfrm>
                <a:off x="827584" y="3241356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 1</m:t>
                        </m:r>
                      </m:sub>
                    </m:sSub>
                    <m:r>
                      <a:rPr lang="ko-KR" alt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B3996A-53CE-93FC-B84A-729E3822D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241356"/>
                <a:ext cx="4752528" cy="461665"/>
              </a:xfrm>
              <a:prstGeom prst="rect">
                <a:avLst/>
              </a:prstGeom>
              <a:blipFill>
                <a:blip r:embed="rId3"/>
                <a:stretch>
                  <a:fillRect l="-385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E0D630-DA39-5FE3-8A06-2ECF41D80CB0}"/>
                  </a:ext>
                </a:extLst>
              </p:cNvPr>
              <p:cNvSpPr txBox="1"/>
              <p:nvPr/>
            </p:nvSpPr>
            <p:spPr>
              <a:xfrm>
                <a:off x="827584" y="3812909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𝑟𝑜𝑤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E0D630-DA39-5FE3-8A06-2ECF41D80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812909"/>
                <a:ext cx="4752528" cy="461665"/>
              </a:xfrm>
              <a:prstGeom prst="rect">
                <a:avLst/>
              </a:prstGeom>
              <a:blipFill>
                <a:blip r:embed="rId4"/>
                <a:stretch>
                  <a:fillRect l="-385" b="-26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2AC2B5-A4BB-A313-5B6D-C02BBBAD5219}"/>
                  </a:ext>
                </a:extLst>
              </p:cNvPr>
              <p:cNvSpPr txBox="1"/>
              <p:nvPr/>
            </p:nvSpPr>
            <p:spPr>
              <a:xfrm>
                <a:off x="827584" y="4384462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𝑐𝑜𝑙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 1</m:t>
                        </m:r>
                      </m:sub>
                    </m:sSub>
                    <m:r>
                      <a:rPr lang="ko-KR" alt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2AC2B5-A4BB-A313-5B6D-C02BBBAD5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384462"/>
                <a:ext cx="4752528" cy="461665"/>
              </a:xfrm>
              <a:prstGeom prst="rect">
                <a:avLst/>
              </a:prstGeom>
              <a:blipFill>
                <a:blip r:embed="rId5"/>
                <a:stretch>
                  <a:fillRect l="-385" b="-6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831B5D-72EC-2FFB-2630-0E1D2DE54579}"/>
                  </a:ext>
                </a:extLst>
              </p:cNvPr>
              <p:cNvSpPr txBox="1"/>
              <p:nvPr/>
            </p:nvSpPr>
            <p:spPr>
              <a:xfrm>
                <a:off x="827584" y="4956015"/>
                <a:ext cx="475252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𝑐𝑜𝑙</m:t>
                        </m:r>
                        <m:r>
                          <a:rPr lang="en-US" altLang="ko-KR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 1</m:t>
                        </m:r>
                      </m:sub>
                    </m:sSub>
                    <m:r>
                      <a:rPr lang="ko-KR" alt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831B5D-72EC-2FFB-2630-0E1D2DE54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4956015"/>
                <a:ext cx="4752528" cy="461665"/>
              </a:xfrm>
              <a:prstGeom prst="rect">
                <a:avLst/>
              </a:prstGeom>
              <a:blipFill>
                <a:blip r:embed="rId6"/>
                <a:stretch>
                  <a:fillRect l="-385" b="-6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5083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CF105-88D3-48B1-D7AA-C8C769F4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5.2.1 </a:t>
            </a:r>
            <a:r>
              <a:rPr lang="ko-KR" altLang="en-US" dirty="0"/>
              <a:t>행렬의 기본 연산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85287-83A3-8691-A80C-CC64D51D8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덧셈</a:t>
            </a:r>
            <a:endParaRPr lang="en-US" altLang="ko-KR" dirty="0"/>
          </a:p>
          <a:p>
            <a:pPr lvl="1"/>
            <a:r>
              <a:rPr lang="ko-KR" altLang="en-US" dirty="0"/>
              <a:t>같은 차원에서만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스칼라 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전치 </a:t>
            </a:r>
            <a:r>
              <a:rPr lang="en-US" altLang="ko-KR" dirty="0"/>
              <a:t>(Transpose)</a:t>
            </a:r>
          </a:p>
          <a:p>
            <a:endParaRPr lang="en-US" altLang="ko-KR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7F575A-0AF2-EEC4-C7A2-712593DE19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226F9-377A-D60E-42F1-EE5F89A3D98E}"/>
                  </a:ext>
                </a:extLst>
              </p:cNvPr>
              <p:cNvSpPr txBox="1"/>
              <p:nvPr/>
            </p:nvSpPr>
            <p:spPr>
              <a:xfrm>
                <a:off x="740851" y="1772816"/>
                <a:ext cx="8281168" cy="5821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6226F9-377A-D60E-42F1-EE5F89A3D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51" y="1772816"/>
                <a:ext cx="8281168" cy="582147"/>
              </a:xfrm>
              <a:prstGeom prst="rect">
                <a:avLst/>
              </a:prstGeom>
              <a:blipFill>
                <a:blip r:embed="rId2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054280-5647-DBBB-CD86-3EDB338CD12B}"/>
                  </a:ext>
                </a:extLst>
              </p:cNvPr>
              <p:cNvSpPr txBox="1"/>
              <p:nvPr/>
            </p:nvSpPr>
            <p:spPr>
              <a:xfrm>
                <a:off x="680654" y="3369635"/>
                <a:ext cx="2595202" cy="5123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054280-5647-DBBB-CD86-3EDB338CD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54" y="3369635"/>
                <a:ext cx="2595202" cy="5123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539C27-8679-FDFA-C7E5-94289B006496}"/>
                  </a:ext>
                </a:extLst>
              </p:cNvPr>
              <p:cNvSpPr txBox="1"/>
              <p:nvPr/>
            </p:nvSpPr>
            <p:spPr>
              <a:xfrm>
                <a:off x="3241969" y="3334754"/>
                <a:ext cx="2194127" cy="5821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539C27-8679-FDFA-C7E5-94289B006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969" y="3334754"/>
                <a:ext cx="2194127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F581B8-0A7B-4BAA-7546-D31FDD244052}"/>
                  </a:ext>
                </a:extLst>
              </p:cNvPr>
              <p:cNvSpPr txBox="1"/>
              <p:nvPr/>
            </p:nvSpPr>
            <p:spPr>
              <a:xfrm>
                <a:off x="740851" y="4896691"/>
                <a:ext cx="188693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𝑛𝑚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F581B8-0A7B-4BAA-7546-D31FDD244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851" y="4896691"/>
                <a:ext cx="1886934" cy="369332"/>
              </a:xfrm>
              <a:prstGeom prst="rect">
                <a:avLst/>
              </a:prstGeom>
              <a:blipFill>
                <a:blip r:embed="rId5"/>
                <a:stretch>
                  <a:fillRect l="-5825"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71246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33421-ED23-9F6E-F9B2-958FA732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F5E898-4594-C8D9-576E-75011B146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곱셈</a:t>
            </a:r>
          </a:p>
          <a:p>
            <a:pPr lvl="1"/>
            <a:r>
              <a:rPr lang="ko-KR" altLang="en-US" dirty="0"/>
              <a:t>행렬의 곱셈은 앞 행렬 열 개수와 뒤 행렬 행 개수 같을 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앞 행렬 각 행과 뒤 행렬 각 열 내적으로 정의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C324B8-6AF6-5B50-AAC1-D31AA869B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287F8B-42AD-9D87-BC62-99ECC5FAB4A6}"/>
                  </a:ext>
                </a:extLst>
              </p:cNvPr>
              <p:cNvSpPr txBox="1"/>
              <p:nvPr/>
            </p:nvSpPr>
            <p:spPr>
              <a:xfrm>
                <a:off x="5076056" y="2895155"/>
                <a:ext cx="2664296" cy="532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287F8B-42AD-9D87-BC62-99ECC5FAB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2895155"/>
                <a:ext cx="2664296" cy="532005"/>
              </a:xfrm>
              <a:prstGeom prst="rect">
                <a:avLst/>
              </a:prstGeom>
              <a:blipFill>
                <a:blip r:embed="rId2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6CB9B-4BEA-F160-792C-15865C7C137D}"/>
                  </a:ext>
                </a:extLst>
              </p:cNvPr>
              <p:cNvSpPr txBox="1"/>
              <p:nvPr/>
            </p:nvSpPr>
            <p:spPr>
              <a:xfrm>
                <a:off x="1043608" y="2564904"/>
                <a:ext cx="3528392" cy="11925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32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3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6CB9B-4BEA-F160-792C-15865C7C1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564904"/>
                <a:ext cx="3528392" cy="11925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1922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6E35-6398-4EAE-480C-423158DD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1BF46-052D-6340-4E7D-9EB70EA8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996004-EDD5-59AF-E055-3E5F26AEC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곱셈</a:t>
            </a:r>
          </a:p>
          <a:p>
            <a:pPr lvl="1"/>
            <a:r>
              <a:rPr lang="ko-KR" altLang="en-US" dirty="0"/>
              <a:t>결합 법칙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AAC37B-0A32-1DA9-5066-7084E50F54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029FA3-CBB9-CF49-6CC6-9823E7166D4A}"/>
                  </a:ext>
                </a:extLst>
              </p:cNvPr>
              <p:cNvSpPr txBox="1"/>
              <p:nvPr/>
            </p:nvSpPr>
            <p:spPr>
              <a:xfrm>
                <a:off x="1110256" y="1772816"/>
                <a:ext cx="7355734" cy="39760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ko-KR" sz="20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b="0" i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altLang="ko-KR" sz="200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 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 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𝐵𝐶</m:t>
                          </m:r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029FA3-CBB9-CF49-6CC6-9823E7166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56" y="1772816"/>
                <a:ext cx="7355734" cy="3976088"/>
              </a:xfrm>
              <a:prstGeom prst="rect">
                <a:avLst/>
              </a:prstGeom>
              <a:blipFill>
                <a:blip r:embed="rId2"/>
                <a:stretch>
                  <a:fillRect l="-11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320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7EC51-2836-0845-D262-E4F6D83D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2E12B-AF05-C84D-9957-3182A842A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1C1F0-627C-D049-D40C-8A5034335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행렬의 곱셈</a:t>
            </a:r>
          </a:p>
          <a:p>
            <a:pPr lvl="1"/>
            <a:r>
              <a:rPr lang="ko-KR" altLang="en-US" dirty="0"/>
              <a:t>교환법칙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전치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5EDDD0-B5A3-AD33-4393-B7F10F8A4A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F31B6-2449-BE01-3E99-19625CBBD99C}"/>
                  </a:ext>
                </a:extLst>
              </p:cNvPr>
              <p:cNvSpPr txBox="1"/>
              <p:nvPr/>
            </p:nvSpPr>
            <p:spPr>
              <a:xfrm>
                <a:off x="1110256" y="1772816"/>
                <a:ext cx="2237608" cy="12804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= 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𝐵𝐴</m:t>
                          </m:r>
                        </m:e>
                      </m:d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ko-KR" sz="2000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𝐵𝐴</m:t>
                        </m:r>
                      </m:e>
                    </m:d>
                  </m:oMath>
                </a14:m>
                <a:endParaRPr lang="en-US" altLang="ko-KR" sz="2000" dirty="0"/>
              </a:p>
              <a:p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CF31B6-2449-BE01-3E99-19625CBBD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56" y="1772816"/>
                <a:ext cx="2237608" cy="12804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E6A17-0C64-7729-58A5-A4B97FF31C4B}"/>
                  </a:ext>
                </a:extLst>
              </p:cNvPr>
              <p:cNvSpPr txBox="1"/>
              <p:nvPr/>
            </p:nvSpPr>
            <p:spPr>
              <a:xfrm>
                <a:off x="1110256" y="3838337"/>
                <a:ext cx="3710982" cy="1408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altLang="ko-KR" sz="2000" b="0" i="0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𝐴𝐵</m:t>
                              </m:r>
                            </m:e>
                          </m:d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000" b="0" dirty="0"/>
              </a:p>
              <a:p>
                <a:r>
                  <a:rPr lang="ko-KR" alt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altLang="ko-KR" sz="200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200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2000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ko-KR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ko-KR" sz="2000" b="0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altLang="ko-KR" sz="2000" dirty="0"/>
              </a:p>
              <a:p>
                <a:r>
                  <a:rPr lang="en-US" altLang="ko-KR" sz="2000" dirty="0"/>
                  <a:t>         </a:t>
                </a:r>
                <a14:m>
                  <m:oMath xmlns:m="http://schemas.openxmlformats.org/officeDocument/2006/math">
                    <m:r>
                      <a:rPr lang="en-US" altLang="ko-KR" sz="200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4CE6A17-0C64-7729-58A5-A4B97FF31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256" y="3838337"/>
                <a:ext cx="3710982" cy="1408271"/>
              </a:xfrm>
              <a:prstGeom prst="rect">
                <a:avLst/>
              </a:prstGeom>
              <a:blipFill>
                <a:blip r:embed="rId3"/>
                <a:stretch>
                  <a:fillRect l="-164"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941671-1527-4387-B574-DE92BB0D47D3}"/>
                  </a:ext>
                </a:extLst>
              </p:cNvPr>
              <p:cNvSpPr txBox="1"/>
              <p:nvPr/>
            </p:nvSpPr>
            <p:spPr>
              <a:xfrm>
                <a:off x="5823990" y="4276469"/>
                <a:ext cx="2708450" cy="532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3200" b="0" i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941671-1527-4387-B574-DE92BB0D4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0" y="4276469"/>
                <a:ext cx="2708450" cy="532005"/>
              </a:xfrm>
              <a:prstGeom prst="rect">
                <a:avLst/>
              </a:prstGeom>
              <a:blipFill>
                <a:blip r:embed="rId4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800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A584-4C1F-A6BB-3675-82F424ADF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8EEFEC-6B4A-29A1-C274-4A71E1643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5.2.2 </a:t>
            </a:r>
            <a:r>
              <a:rPr lang="ko-KR" altLang="en-US" dirty="0"/>
              <a:t>행렬의 곱셈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30B8DE-4186-8CDF-C746-D788554ED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벡터 행렬의 곱셈</a:t>
            </a:r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C8306F-DB47-58FC-AF11-FA22F9E2E0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3CD649-07CB-E444-206B-4EDC43533D47}"/>
                  </a:ext>
                </a:extLst>
              </p:cNvPr>
              <p:cNvSpPr txBox="1"/>
              <p:nvPr/>
            </p:nvSpPr>
            <p:spPr>
              <a:xfrm>
                <a:off x="755576" y="1412776"/>
                <a:ext cx="6408712" cy="1661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b="0" i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600" b="0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en-US" altLang="ko-KR" sz="3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36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3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60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3600" b="0" i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sz="3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altLang="ko-KR" sz="36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36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3CD649-07CB-E444-206B-4EDC4353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12776"/>
                <a:ext cx="6408712" cy="1661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0030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EBD21-810F-C5F3-30B5-CDF5C2D1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AB5E4-F4B7-1A29-B577-4E8A9F64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 </a:t>
            </a:r>
            <a:r>
              <a:rPr lang="ko-KR" altLang="en-US" dirty="0"/>
              <a:t>행렬의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24576-2029-FE66-FBDF-4646C0696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벡터</a:t>
            </a:r>
            <a:endParaRPr lang="en-US" altLang="ko-KR" dirty="0"/>
          </a:p>
          <a:p>
            <a:pPr lvl="1"/>
            <a:r>
              <a:rPr lang="ko-KR" altLang="en-US" dirty="0"/>
              <a:t>기저 벡터로 구성한 행렬로 표기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4970FB-0131-ED4F-52A3-B30A18E370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ADBDD0-1BDA-DE94-1659-7233833D59B7}"/>
                  </a:ext>
                </a:extLst>
              </p:cNvPr>
              <p:cNvSpPr txBox="1"/>
              <p:nvPr/>
            </p:nvSpPr>
            <p:spPr>
              <a:xfrm>
                <a:off x="1194926" y="4086649"/>
                <a:ext cx="2376264" cy="658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b="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ADBDD0-1BDA-DE94-1659-7233833D5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926" y="4086649"/>
                <a:ext cx="2376264" cy="658129"/>
              </a:xfrm>
              <a:prstGeom prst="rect">
                <a:avLst/>
              </a:prstGeom>
              <a:blipFill>
                <a:blip r:embed="rId2"/>
                <a:stretch>
                  <a:fillRect l="-7692" b="-18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1A32F1-DA49-1F9C-4EB3-7BD11B6BD475}"/>
                  </a:ext>
                </a:extLst>
              </p:cNvPr>
              <p:cNvSpPr txBox="1"/>
              <p:nvPr/>
            </p:nvSpPr>
            <p:spPr>
              <a:xfrm>
                <a:off x="899592" y="1844824"/>
                <a:ext cx="28043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acc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= 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 + </m:t>
                      </m:r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1A32F1-DA49-1F9C-4EB3-7BD11B6BD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844824"/>
                <a:ext cx="2804372" cy="400110"/>
              </a:xfrm>
              <a:prstGeom prst="rect">
                <a:avLst/>
              </a:prstGeom>
              <a:blipFill>
                <a:blip r:embed="rId3"/>
                <a:stretch>
                  <a:fillRect t="-3077" b="-1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F4DB24-9D50-F61D-62B0-C21E3CEEBF32}"/>
                  </a:ext>
                </a:extLst>
              </p:cNvPr>
              <p:cNvSpPr txBox="1"/>
              <p:nvPr/>
            </p:nvSpPr>
            <p:spPr>
              <a:xfrm>
                <a:off x="1169672" y="2638563"/>
                <a:ext cx="5508511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r>
                  <a:rPr lang="en-US" altLang="ko-KR" sz="2000" dirty="0"/>
                  <a:t> 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AF4DB24-9D50-F61D-62B0-C21E3CEEB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72" y="2638563"/>
                <a:ext cx="5508511" cy="446404"/>
              </a:xfrm>
              <a:prstGeom prst="rect">
                <a:avLst/>
              </a:prstGeom>
              <a:blipFill>
                <a:blip r:embed="rId4"/>
                <a:stretch>
                  <a:fillRect t="-8219" b="-13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6E76BE-CB48-5EB5-4D2A-214854F6B55F}"/>
                  </a:ext>
                </a:extLst>
              </p:cNvPr>
              <p:cNvSpPr txBox="1"/>
              <p:nvPr/>
            </p:nvSpPr>
            <p:spPr>
              <a:xfrm>
                <a:off x="3059833" y="1859399"/>
                <a:ext cx="4824535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ko-KR" sz="20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6E76BE-CB48-5EB5-4D2A-214854F6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3" y="1859399"/>
                <a:ext cx="4824535" cy="446404"/>
              </a:xfrm>
              <a:prstGeom prst="rect">
                <a:avLst/>
              </a:prstGeom>
              <a:blipFill>
                <a:blip r:embed="rId5"/>
                <a:stretch>
                  <a:fillRect b="-54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ADBC1-1F61-C23C-D748-8DE4C301BFF1}"/>
                  </a:ext>
                </a:extLst>
              </p:cNvPr>
              <p:cNvSpPr txBox="1"/>
              <p:nvPr/>
            </p:nvSpPr>
            <p:spPr>
              <a:xfrm>
                <a:off x="1156721" y="3069796"/>
                <a:ext cx="5508511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ko-KR" sz="2000" dirty="0"/>
                  <a:t>+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sSub>
                          <m:sSubPr>
                            <m:ctrlP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acc>
                      <m:accPr>
                        <m:chr m:val="̂"/>
                        <m:ctrlPr>
                          <a:rPr lang="en-US" altLang="ko-KR" sz="2000" b="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000" b="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ADBC1-1F61-C23C-D748-8DE4C301B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721" y="3069796"/>
                <a:ext cx="5508511" cy="446404"/>
              </a:xfrm>
              <a:prstGeom prst="rect">
                <a:avLst/>
              </a:prstGeom>
              <a:blipFill>
                <a:blip r:embed="rId6"/>
                <a:stretch>
                  <a:fillRect t="-8219" b="-13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0D088-65B2-8EB6-FDBE-49FC81C5C130}"/>
                  </a:ext>
                </a:extLst>
              </p:cNvPr>
              <p:cNvSpPr txBox="1"/>
              <p:nvPr/>
            </p:nvSpPr>
            <p:spPr>
              <a:xfrm>
                <a:off x="1163196" y="3516200"/>
                <a:ext cx="3658042" cy="4464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,  </m:t>
                          </m:r>
                          <m:r>
                            <a:rPr lang="en-US" altLang="ko-KR" sz="20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sz="2000" b="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E0D088-65B2-8EB6-FDBE-49FC81C5C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196" y="3516200"/>
                <a:ext cx="3658042" cy="446404"/>
              </a:xfrm>
              <a:prstGeom prst="rect">
                <a:avLst/>
              </a:prstGeom>
              <a:blipFill>
                <a:blip r:embed="rId7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9C03FC-6430-35D8-0DEB-9E7D987E03D0}"/>
                  </a:ext>
                </a:extLst>
              </p:cNvPr>
              <p:cNvSpPr txBox="1"/>
              <p:nvPr/>
            </p:nvSpPr>
            <p:spPr>
              <a:xfrm>
                <a:off x="1126925" y="4842269"/>
                <a:ext cx="2376264" cy="709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2400" b="0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sz="2400" b="0" i="1" dirty="0">
                            <a:latin typeface="Cambria Math" panose="02040503050406030204" pitchFamily="18" charset="0"/>
                          </a:rPr>
                          <m:t> </m:t>
                        </m:r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,  </m:t>
                        </m:r>
                        <m:sSub>
                          <m:sSubPr>
                            <m:ctrlPr>
                              <a:rPr lang="en-US" altLang="ko-KR" sz="24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sz="2400" b="0" i="1" dirty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400" b="0" i="1" dirty="0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9C03FC-6430-35D8-0DEB-9E7D987E0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925" y="4842269"/>
                <a:ext cx="2376264" cy="7099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1D633F-D94C-9A4A-E10C-8B92E2BAD8ED}"/>
                  </a:ext>
                </a:extLst>
              </p:cNvPr>
              <p:cNvSpPr txBox="1"/>
              <p:nvPr/>
            </p:nvSpPr>
            <p:spPr>
              <a:xfrm>
                <a:off x="4139952" y="4868173"/>
                <a:ext cx="1631487" cy="658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05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1D633F-D94C-9A4A-E10C-8B92E2BAD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52" y="4868173"/>
                <a:ext cx="1631487" cy="6581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BAC008-F813-CD5E-F75A-CF8705E027D8}"/>
                  </a:ext>
                </a:extLst>
              </p:cNvPr>
              <p:cNvSpPr txBox="1"/>
              <p:nvPr/>
            </p:nvSpPr>
            <p:spPr>
              <a:xfrm>
                <a:off x="5868144" y="4966404"/>
                <a:ext cx="142342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400" b="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ko-KR" sz="2400" b="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US" altLang="ko-KR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,  </m:t>
                          </m:r>
                          <m:sSub>
                            <m:sSubPr>
                              <m:ctrlPr>
                                <a:rPr lang="en-US" altLang="ko-KR" sz="2400" b="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2400" b="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24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400" b="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</m:oMath>
                  </m:oMathPara>
                </a14:m>
                <a:endParaRPr lang="ko-KR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BAC008-F813-CD5E-F75A-CF8705E02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4966404"/>
                <a:ext cx="1423429" cy="461665"/>
              </a:xfrm>
              <a:prstGeom prst="rect">
                <a:avLst/>
              </a:prstGeom>
              <a:blipFill>
                <a:blip r:embed="rId10"/>
                <a:stretch>
                  <a:fillRect t="-1333"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6463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C7DE-A55B-1ADE-AAA0-A2F9240F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86408-8480-C5D3-8665-9F4FB247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5.3.1 </a:t>
            </a:r>
            <a:r>
              <a:rPr lang="ko-KR" altLang="en-US" dirty="0"/>
              <a:t>크기 변환행렬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B45C0C-9F4A-5153-547C-A309E87A2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크기 변환 행렬 </a:t>
            </a:r>
            <a:r>
              <a:rPr lang="en-US" altLang="ko-KR" dirty="0"/>
              <a:t>(Scaling</a:t>
            </a:r>
            <a:r>
              <a:rPr lang="ko-KR" altLang="en-US" dirty="0"/>
              <a:t> </a:t>
            </a:r>
            <a:r>
              <a:rPr lang="en-US" altLang="ko-KR" dirty="0"/>
              <a:t>Matrix)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회전 변환 → 크기 변환 ≠ 크기 변환 → 회전 변환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87686D-D313-CA08-72AB-9D0218EFF1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37E515-E302-2C89-1C63-EF957EB18A5D}"/>
                  </a:ext>
                </a:extLst>
              </p:cNvPr>
              <p:cNvSpPr txBox="1"/>
              <p:nvPr/>
            </p:nvSpPr>
            <p:spPr>
              <a:xfrm>
                <a:off x="547511" y="1280471"/>
                <a:ext cx="2595202" cy="7291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0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137E515-E302-2C89-1C63-EF957EB18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11" y="1280471"/>
                <a:ext cx="2595202" cy="7291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F3C28-F3A7-B07A-934F-DD350D6E90B7}"/>
                  </a:ext>
                </a:extLst>
              </p:cNvPr>
              <p:cNvSpPr txBox="1"/>
              <p:nvPr/>
            </p:nvSpPr>
            <p:spPr>
              <a:xfrm>
                <a:off x="577307" y="2734862"/>
                <a:ext cx="8056938" cy="8298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43F3C28-F3A7-B07A-934F-DD350D6E9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7" y="2734862"/>
                <a:ext cx="8056938" cy="829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5F92BE-B14E-31F8-D045-F55920148CB2}"/>
                  </a:ext>
                </a:extLst>
              </p:cNvPr>
              <p:cNvSpPr txBox="1"/>
              <p:nvPr/>
            </p:nvSpPr>
            <p:spPr>
              <a:xfrm>
                <a:off x="577307" y="4544638"/>
                <a:ext cx="5688632" cy="4249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F5F92BE-B14E-31F8-D045-F55920148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7" y="4544638"/>
                <a:ext cx="5688632" cy="424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33E4D5-83CD-CA66-BA60-142D1326F77C}"/>
                  </a:ext>
                </a:extLst>
              </p:cNvPr>
              <p:cNvSpPr txBox="1"/>
              <p:nvPr/>
            </p:nvSpPr>
            <p:spPr>
              <a:xfrm>
                <a:off x="577307" y="3736155"/>
                <a:ext cx="8056938" cy="7354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33E4D5-83CD-CA66-BA60-142D1326F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07" y="3736155"/>
                <a:ext cx="8056938" cy="7354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9772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86514-5521-7045-4A3D-8304055F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36E697-7FD4-AD37-1507-BE19E70E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5.3.2 </a:t>
            </a:r>
            <a:r>
              <a:rPr lang="ko-KR" altLang="en-US" dirty="0"/>
              <a:t>회전 변환행렬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EEA94-6DF3-C0CB-AA40-AF28283DA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회전 변환행렬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B4FFC-CB19-2C18-427C-07A7CC1F1B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3DD568-3A9D-6A59-EE5E-B0DDF2134A01}"/>
                  </a:ext>
                </a:extLst>
              </p:cNvPr>
              <p:cNvSpPr txBox="1"/>
              <p:nvPr/>
            </p:nvSpPr>
            <p:spPr>
              <a:xfrm>
                <a:off x="827584" y="1525044"/>
                <a:ext cx="2595202" cy="548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3DD568-3A9D-6A59-EE5E-B0DDF2134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525044"/>
                <a:ext cx="2595202" cy="5488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40E4F2-8769-BCA2-C7AC-291E6FC0C671}"/>
                  </a:ext>
                </a:extLst>
              </p:cNvPr>
              <p:cNvSpPr txBox="1"/>
              <p:nvPr/>
            </p:nvSpPr>
            <p:spPr>
              <a:xfrm>
                <a:off x="827584" y="2555587"/>
                <a:ext cx="2595202" cy="5488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40E4F2-8769-BCA2-C7AC-291E6FC0C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555587"/>
                <a:ext cx="2595202" cy="548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B8653B-5F5A-C78A-706A-8F056DF9DD99}"/>
                  </a:ext>
                </a:extLst>
              </p:cNvPr>
              <p:cNvSpPr txBox="1"/>
              <p:nvPr/>
            </p:nvSpPr>
            <p:spPr>
              <a:xfrm>
                <a:off x="2915816" y="1590639"/>
                <a:ext cx="2232248" cy="417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B8653B-5F5A-C78A-706A-8F056DF9D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590639"/>
                <a:ext cx="2232248" cy="4176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83FB68-DD61-C16D-A59E-A6D7207B0E95}"/>
                  </a:ext>
                </a:extLst>
              </p:cNvPr>
              <p:cNvSpPr txBox="1"/>
              <p:nvPr/>
            </p:nvSpPr>
            <p:spPr>
              <a:xfrm>
                <a:off x="2915816" y="2575016"/>
                <a:ext cx="2232248" cy="510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83FB68-DD61-C16D-A59E-A6D7207B0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2575016"/>
                <a:ext cx="2232248" cy="510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CBE2A4-2223-EE29-899A-C9B064EB1FD2}"/>
                  </a:ext>
                </a:extLst>
              </p:cNvPr>
              <p:cNvSpPr txBox="1"/>
              <p:nvPr/>
            </p:nvSpPr>
            <p:spPr>
              <a:xfrm>
                <a:off x="827584" y="3586130"/>
                <a:ext cx="3634947" cy="6191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𝑠𝑖𝑛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𝑐𝑜𝑠</m:t>
                                </m:r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3CBE2A4-2223-EE29-899A-C9B064EB1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586130"/>
                <a:ext cx="3634947" cy="6191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9062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0368-E4CC-3E44-B633-E983DFA3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BEC85B-49ED-F0BD-CBE5-D059CEDF1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5.3.3 </a:t>
            </a:r>
            <a:r>
              <a:rPr lang="ko-KR" altLang="en-US" dirty="0"/>
              <a:t>전단 변환행렬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2272F-F636-5579-F2C3-705B345C1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전단 변환행렬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87F890C-4970-99AE-D1BC-E7ADCEF8CF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935556-36EF-DD0E-70F1-ED6EFB08122D}"/>
                  </a:ext>
                </a:extLst>
              </p:cNvPr>
              <p:cNvSpPr txBox="1"/>
              <p:nvPr/>
            </p:nvSpPr>
            <p:spPr>
              <a:xfrm>
                <a:off x="611560" y="1412776"/>
                <a:ext cx="2595202" cy="9237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935556-36EF-DD0E-70F1-ED6EFB081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412776"/>
                <a:ext cx="2595202" cy="9237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035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2D612-0759-DDF9-A3E4-98E02789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5.3.4 </a:t>
            </a:r>
            <a:r>
              <a:rPr lang="ko-KR" altLang="en-US" dirty="0"/>
              <a:t>삼각함수의 덧셈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90CD32-7702-7B09-12D2-6EFF80C6E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삼각함수의 덧셈 정리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945559-AEFF-C009-3E0B-772A932021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C047D-7C67-6727-2105-0A4394F4F2E2}"/>
                  </a:ext>
                </a:extLst>
              </p:cNvPr>
              <p:cNvSpPr txBox="1"/>
              <p:nvPr/>
            </p:nvSpPr>
            <p:spPr>
              <a:xfrm>
                <a:off x="532830" y="1255857"/>
                <a:ext cx="756064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s-E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8C047D-7C67-6727-2105-0A4394F4F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830" y="1255857"/>
                <a:ext cx="7560642" cy="307777"/>
              </a:xfrm>
              <a:prstGeom prst="rect">
                <a:avLst/>
              </a:prstGeom>
              <a:blipFill>
                <a:blip r:embed="rId2"/>
                <a:stretch>
                  <a:fillRect l="-806" b="-37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D1FCC-89E8-7339-6A1D-7E46B2CCC737}"/>
                  </a:ext>
                </a:extLst>
              </p:cNvPr>
              <p:cNvSpPr txBox="1"/>
              <p:nvPr/>
            </p:nvSpPr>
            <p:spPr>
              <a:xfrm>
                <a:off x="539750" y="1563634"/>
                <a:ext cx="777949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e>
                      </m:func>
                      <m:r>
                        <a:rPr lang="es-E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D1FCC-89E8-7339-6A1D-7E46B2CCC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563634"/>
                <a:ext cx="7779490" cy="307777"/>
              </a:xfrm>
              <a:prstGeom prst="rect">
                <a:avLst/>
              </a:prstGeom>
              <a:blipFill>
                <a:blip r:embed="rId3"/>
                <a:stretch>
                  <a:fillRect l="-1176" b="-38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41565-F328-9665-1670-BC3CAE356BA5}"/>
                  </a:ext>
                </a:extLst>
              </p:cNvPr>
              <p:cNvSpPr txBox="1"/>
              <p:nvPr/>
            </p:nvSpPr>
            <p:spPr>
              <a:xfrm>
                <a:off x="539750" y="2233653"/>
                <a:ext cx="3634947" cy="5091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841565-F328-9665-1670-BC3CAE356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2233653"/>
                <a:ext cx="3634947" cy="5091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6B9E8F-2430-A5CD-AAE9-442667AAE42E}"/>
                  </a:ext>
                </a:extLst>
              </p:cNvPr>
              <p:cNvSpPr txBox="1"/>
              <p:nvPr/>
            </p:nvSpPr>
            <p:spPr>
              <a:xfrm>
                <a:off x="3203848" y="2136607"/>
                <a:ext cx="2880320" cy="700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6B9E8F-2430-A5CD-AAE9-442667AAE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2136607"/>
                <a:ext cx="2880320" cy="700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066B15-C39D-3C97-D7DB-FC6F3CC31AE1}"/>
                  </a:ext>
                </a:extLst>
              </p:cNvPr>
              <p:cNvSpPr txBox="1"/>
              <p:nvPr/>
            </p:nvSpPr>
            <p:spPr>
              <a:xfrm>
                <a:off x="1183726" y="4871129"/>
                <a:ext cx="4176266" cy="6111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20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𝛼</m:t>
                                        </m:r>
                                        <m:r>
                                          <a:rPr lang="en-US" altLang="ko-KR" sz="20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ko-KR" altLang="en-US" sz="2000" i="1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F066B15-C39D-3C97-D7DB-FC6F3CC31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726" y="4871129"/>
                <a:ext cx="4176266" cy="6111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E9B18-7E56-6696-D638-FFAD14523487}"/>
                  </a:ext>
                </a:extLst>
              </p:cNvPr>
              <p:cNvSpPr txBox="1"/>
              <p:nvPr/>
            </p:nvSpPr>
            <p:spPr>
              <a:xfrm>
                <a:off x="1187624" y="3635607"/>
                <a:ext cx="7135514" cy="585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r>
                                  <a:rPr lang="ko-KR" altLang="en-US" sz="20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3E9B18-7E56-6696-D638-FFAD14523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635607"/>
                <a:ext cx="7135514" cy="585481"/>
              </a:xfrm>
              <a:prstGeom prst="rect">
                <a:avLst/>
              </a:prstGeom>
              <a:blipFill>
                <a:blip r:embed="rId7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07B75D-034C-111E-E10A-C1AD4C24DDF8}"/>
                  </a:ext>
                </a:extLst>
              </p:cNvPr>
              <p:cNvSpPr txBox="1"/>
              <p:nvPr/>
            </p:nvSpPr>
            <p:spPr>
              <a:xfrm>
                <a:off x="467742" y="3031468"/>
                <a:ext cx="4896346" cy="585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07B75D-034C-111E-E10A-C1AD4C24D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742" y="3031468"/>
                <a:ext cx="4896346" cy="585481"/>
              </a:xfrm>
              <a:prstGeom prst="rect">
                <a:avLst/>
              </a:prstGeom>
              <a:blipFill>
                <a:blip r:embed="rId8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95BEEE-CEDE-51B3-9982-39A5ED8B801A}"/>
                  </a:ext>
                </a:extLst>
              </p:cNvPr>
              <p:cNvSpPr txBox="1"/>
              <p:nvPr/>
            </p:nvSpPr>
            <p:spPr>
              <a:xfrm>
                <a:off x="1183726" y="4239746"/>
                <a:ext cx="7135514" cy="5854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ko-KR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ko-KR" altLang="en-US" sz="2000" b="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195BEEE-CEDE-51B3-9982-39A5ED8B8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726" y="4239746"/>
                <a:ext cx="7135514" cy="5854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3C49F1-7888-ACFA-6707-9C2C51FE36B8}"/>
                  </a:ext>
                </a:extLst>
              </p:cNvPr>
              <p:cNvSpPr txBox="1"/>
              <p:nvPr/>
            </p:nvSpPr>
            <p:spPr>
              <a:xfrm>
                <a:off x="1115616" y="5532230"/>
                <a:ext cx="1224136" cy="427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73C49F1-7888-ACFA-6707-9C2C51FE3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616" y="5532230"/>
                <a:ext cx="1224136" cy="427425"/>
              </a:xfrm>
              <a:prstGeom prst="rect">
                <a:avLst/>
              </a:prstGeom>
              <a:blipFill>
                <a:blip r:embed="rId10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7101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7124-0B28-EB49-B0E0-135873B9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853E21-84FA-D19C-D7E9-25D3B0E3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5-1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하트의</a:t>
            </a:r>
            <a:r>
              <a:rPr lang="en-US" altLang="ko-KR" dirty="0"/>
              <a:t> </a:t>
            </a:r>
            <a:r>
              <a:rPr lang="ko-KR" altLang="en-US" dirty="0"/>
              <a:t>크기 변환 회전 변환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C5A241-A62B-652F-48C2-BE06E7339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tree/5-1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315AFC-586C-B3D1-B629-FCBC8DFDFE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1B2C7-B7E5-3574-E8D8-9600C5874302}"/>
              </a:ext>
            </a:extLst>
          </p:cNvPr>
          <p:cNvSpPr txBox="1"/>
          <p:nvPr/>
        </p:nvSpPr>
        <p:spPr>
          <a:xfrm>
            <a:off x="107504" y="1284945"/>
            <a:ext cx="5904656" cy="95410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&amp;)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friend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operator*=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&amp;, </a:t>
            </a:r>
            <a:r>
              <a:rPr lang="en-US" altLang="ko-KR" sz="1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const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&amp;)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8CA529-F625-ED53-4B0B-B649295D7A93}"/>
              </a:ext>
            </a:extLst>
          </p:cNvPr>
          <p:cNvSpPr txBox="1"/>
          <p:nvPr/>
        </p:nvSpPr>
        <p:spPr>
          <a:xfrm>
            <a:off x="109373" y="4915060"/>
            <a:ext cx="5904656" cy="954107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1.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점에 행렬을 적용한다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transformedV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2.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변환된 점을 이동한다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translatedV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transformedV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+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73FA6F-EADE-7484-1EBA-7D7497D4909E}"/>
              </a:ext>
            </a:extLst>
          </p:cNvPr>
          <p:cNvSpPr txBox="1"/>
          <p:nvPr/>
        </p:nvSpPr>
        <p:spPr>
          <a:xfrm>
            <a:off x="107504" y="2239097"/>
            <a:ext cx="5904656" cy="2677656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 변환 행렬의 기저 벡터와 행렬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(-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 변환 행렬의 기저 벡터와 행렬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UnitY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</a:t>
            </a:r>
            <a:r>
              <a:rPr lang="en-US" altLang="ko-KR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ko-KR" altLang="en-US" sz="1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회전의 순서로 진행하는 합성 변환 행렬의 계산</a:t>
            </a:r>
            <a:endParaRPr lang="ko-KR" altLang="en-US" sz="14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4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finalMatrix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4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1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968563-4018-9B0E-EC7B-E8A624737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725" y="1284945"/>
            <a:ext cx="3149206" cy="318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106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3AB2-BB7B-9A73-1AA9-DBC99804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90F1C-8B9B-7399-BE5C-9AF8B61A6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 </a:t>
            </a:r>
            <a:r>
              <a:rPr lang="ko-KR" altLang="en-US" dirty="0"/>
              <a:t>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34BFB1-8EEC-37F4-A921-9EA388998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항등행렬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역행렬</a:t>
            </a:r>
            <a:endParaRPr lang="en-US" altLang="ko-KR" dirty="0"/>
          </a:p>
          <a:p>
            <a:pPr lvl="1"/>
            <a:r>
              <a:rPr lang="ko-KR" altLang="en-US" dirty="0"/>
              <a:t>행렬에 곱했을 때 단위행렬이 되는 행렬</a:t>
            </a:r>
            <a:endParaRPr lang="en-US" altLang="ko-KR" dirty="0"/>
          </a:p>
          <a:p>
            <a:pPr lvl="1"/>
            <a:r>
              <a:rPr lang="en-US" altLang="ko-KR" dirty="0"/>
              <a:t>A A</a:t>
            </a:r>
            <a:r>
              <a:rPr lang="en-US" altLang="ko-KR" baseline="30000" dirty="0"/>
              <a:t>-1</a:t>
            </a:r>
            <a:r>
              <a:rPr lang="en-US" altLang="ko-KR" dirty="0"/>
              <a:t> = A</a:t>
            </a:r>
            <a:r>
              <a:rPr lang="en-US" altLang="ko-KR" baseline="30000" dirty="0"/>
              <a:t>-1 </a:t>
            </a:r>
            <a:r>
              <a:rPr lang="en-US" altLang="ko-KR" dirty="0"/>
              <a:t>A = I</a:t>
            </a:r>
          </a:p>
          <a:p>
            <a:pPr lvl="1"/>
            <a:endParaRPr lang="en-US" altLang="ko-KR" baseline="30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9B515B-CCB9-FD62-0395-6325A61F00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B93B7-B47A-64E0-BAF0-D6F4E2D6BBF5}"/>
                  </a:ext>
                </a:extLst>
              </p:cNvPr>
              <p:cNvSpPr txBox="1"/>
              <p:nvPr/>
            </p:nvSpPr>
            <p:spPr>
              <a:xfrm>
                <a:off x="860798" y="1340768"/>
                <a:ext cx="205501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8EB93B7-B47A-64E0-BAF0-D6F4E2D6B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798" y="1340768"/>
                <a:ext cx="2055018" cy="369332"/>
              </a:xfrm>
              <a:prstGeom prst="rect">
                <a:avLst/>
              </a:prstGeom>
              <a:blipFill>
                <a:blip r:embed="rId2"/>
                <a:stretch>
                  <a:fillRect l="-5045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94643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4FA0-0DB3-ECCD-1587-9E03BDEB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4F514-6C8B-B3DF-65A5-3DDBDB549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5.4.1 </a:t>
            </a:r>
            <a:r>
              <a:rPr lang="ko-KR" altLang="en-US" dirty="0"/>
              <a:t>역행렬 존재 판별식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6B7850-DF6D-9980-7726-AEA0B134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역행렬 존재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det(M) = ad -bc</a:t>
            </a:r>
            <a:r>
              <a:rPr lang="ko-KR" altLang="en-US" dirty="0"/>
              <a:t>≠</a:t>
            </a:r>
            <a:r>
              <a:rPr lang="en-US" altLang="ko-KR" dirty="0"/>
              <a:t> 0</a:t>
            </a:r>
          </a:p>
          <a:p>
            <a:pPr lvl="1"/>
            <a:endParaRPr lang="ko-KR" altLang="en-US" baseline="30000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C346D9-4B9C-8900-9F53-52239D6C68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AC9470-64F7-8A5D-2720-6E2672A5EFE0}"/>
                  </a:ext>
                </a:extLst>
              </p:cNvPr>
              <p:cNvSpPr txBox="1"/>
              <p:nvPr/>
            </p:nvSpPr>
            <p:spPr>
              <a:xfrm>
                <a:off x="827584" y="1268760"/>
                <a:ext cx="9217024" cy="7271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AC9470-64F7-8A5D-2720-6E2672A5E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1268760"/>
                <a:ext cx="9217024" cy="7271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2B5FC-A956-255C-0FF0-9F7FD818B099}"/>
                  </a:ext>
                </a:extLst>
              </p:cNvPr>
              <p:cNvSpPr txBox="1"/>
              <p:nvPr/>
            </p:nvSpPr>
            <p:spPr>
              <a:xfrm>
                <a:off x="683568" y="3173204"/>
                <a:ext cx="4248472" cy="8703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𝑑𝑒𝑡</m:t>
                          </m:r>
                          <m:d>
                            <m:dPr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92B5FC-A956-255C-0FF0-9F7FD818B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173204"/>
                <a:ext cx="4248472" cy="870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3451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F0B8-DEC5-AF7A-E0D3-95341425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1539E-5D8C-5D89-A29D-3EA696351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5.4.2 </a:t>
            </a:r>
            <a:r>
              <a:rPr lang="ko-KR" altLang="en-US" dirty="0"/>
              <a:t>크기 변환행렬의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BD21A-6852-D7E8-0A0E-A6E5B7FF7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크기 변환 행렬 </a:t>
            </a:r>
            <a:r>
              <a:rPr lang="en-US" altLang="ko-KR" dirty="0"/>
              <a:t>(Scaling</a:t>
            </a:r>
            <a:r>
              <a:rPr lang="ko-KR" altLang="en-US" dirty="0"/>
              <a:t> </a:t>
            </a:r>
            <a:r>
              <a:rPr lang="en-US" altLang="ko-KR" dirty="0"/>
              <a:t>Matrix)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역행렬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AE3321-F150-E568-6A05-6F8152F373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5EB1D-3B3B-1C82-4057-376223B64194}"/>
                  </a:ext>
                </a:extLst>
              </p:cNvPr>
              <p:cNvSpPr txBox="1"/>
              <p:nvPr/>
            </p:nvSpPr>
            <p:spPr>
              <a:xfrm>
                <a:off x="683568" y="1484784"/>
                <a:ext cx="3456384" cy="850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65EB1D-3B3B-1C82-4057-376223B64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484784"/>
                <a:ext cx="3456384" cy="850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D4F245-E70C-DDA5-4526-4FA9A1C1F889}"/>
                  </a:ext>
                </a:extLst>
              </p:cNvPr>
              <p:cNvSpPr txBox="1"/>
              <p:nvPr/>
            </p:nvSpPr>
            <p:spPr>
              <a:xfrm>
                <a:off x="683568" y="3763803"/>
                <a:ext cx="3240360" cy="20456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= 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28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1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0D4F245-E70C-DDA5-4526-4FA9A1C1F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763803"/>
                <a:ext cx="3240360" cy="2045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762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C48D-7494-F5D4-AB32-454290B6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10626B-DAED-765C-8648-77EB26DEC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5.4.3 </a:t>
            </a:r>
            <a:r>
              <a:rPr lang="ko-KR" altLang="en-US" dirty="0"/>
              <a:t>전단 변환행렬의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10A1F5-12EA-3EC1-1EBF-382196934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전단 행렬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전단행렬 역행렬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814E877-6668-1567-8636-EBF5E88F44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20F558-E098-F04A-5E4E-E1A77D64A237}"/>
                  </a:ext>
                </a:extLst>
              </p:cNvPr>
              <p:cNvSpPr txBox="1"/>
              <p:nvPr/>
            </p:nvSpPr>
            <p:spPr>
              <a:xfrm>
                <a:off x="611560" y="1412776"/>
                <a:ext cx="2595202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20F558-E098-F04A-5E4E-E1A77D64A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412776"/>
                <a:ext cx="2595202" cy="7184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B6AF0-A3B9-617F-28C3-46B15EC0124E}"/>
                  </a:ext>
                </a:extLst>
              </p:cNvPr>
              <p:cNvSpPr txBox="1"/>
              <p:nvPr/>
            </p:nvSpPr>
            <p:spPr>
              <a:xfrm>
                <a:off x="539750" y="3416093"/>
                <a:ext cx="2595202" cy="7184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1B6AF0-A3B9-617F-28C3-46B15EC01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3416093"/>
                <a:ext cx="2595202" cy="718466"/>
              </a:xfrm>
              <a:prstGeom prst="rect">
                <a:avLst/>
              </a:prstGeom>
              <a:blipFill>
                <a:blip r:embed="rId3"/>
                <a:stretch>
                  <a:fillRect l="-2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7138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3C41-72AE-3B16-3E55-3414563D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95BEF-F8D2-446A-4CD0-25B22D44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5.4.4 </a:t>
            </a:r>
            <a:r>
              <a:rPr lang="ko-KR" altLang="en-US" dirty="0"/>
              <a:t>회전 변환행렬의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E7BCF-A680-5251-9C7E-E43B0B8FD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회전행렬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회전행렬 역행렬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FC4685-33CA-034E-51D5-ADAD02555A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39118-3319-1820-764F-4FC9B5449644}"/>
                  </a:ext>
                </a:extLst>
              </p:cNvPr>
              <p:cNvSpPr txBox="1"/>
              <p:nvPr/>
            </p:nvSpPr>
            <p:spPr>
              <a:xfrm>
                <a:off x="611561" y="1268760"/>
                <a:ext cx="2808312" cy="51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339118-3319-1820-764F-4FC9B5449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1" y="1268760"/>
                <a:ext cx="2808312" cy="5158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A7656-42A4-3F39-7063-C367158C243D}"/>
                  </a:ext>
                </a:extLst>
              </p:cNvPr>
              <p:cNvSpPr txBox="1"/>
              <p:nvPr/>
            </p:nvSpPr>
            <p:spPr>
              <a:xfrm>
                <a:off x="611560" y="2913153"/>
                <a:ext cx="2952328" cy="515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sz="2000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2A7656-42A4-3F39-7063-C367158C2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913153"/>
                <a:ext cx="2952328" cy="5158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DDE614-28A5-DC5B-3A04-8D07D6D8EEDC}"/>
                  </a:ext>
                </a:extLst>
              </p:cNvPr>
              <p:cNvSpPr txBox="1"/>
              <p:nvPr/>
            </p:nvSpPr>
            <p:spPr>
              <a:xfrm>
                <a:off x="1043608" y="3501008"/>
                <a:ext cx="482453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0DDE614-28A5-DC5B-3A04-8D07D6D8E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501008"/>
                <a:ext cx="4824536" cy="369332"/>
              </a:xfrm>
              <a:prstGeom prst="rect">
                <a:avLst/>
              </a:prstGeom>
              <a:blipFill>
                <a:blip r:embed="rId4"/>
                <a:stretch>
                  <a:fillRect l="-1136" b="-98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7620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D7F6-0588-D2DD-7383-46690A9C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398B1-AD06-A26A-D3B5-5FD6BC62F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5.4.5 </a:t>
            </a:r>
            <a:r>
              <a:rPr lang="ko-KR" altLang="en-US" dirty="0"/>
              <a:t>행렬 곱의 역행렬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D26828-8E92-F6A5-5E81-D007F73EB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행렬곱의 역행렬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7860B8-9841-E61C-9B3D-647C30FA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F01DB2-D871-68CF-FCCB-87EA2D84390C}"/>
                  </a:ext>
                </a:extLst>
              </p:cNvPr>
              <p:cNvSpPr txBox="1"/>
              <p:nvPr/>
            </p:nvSpPr>
            <p:spPr>
              <a:xfrm>
                <a:off x="755576" y="1412776"/>
                <a:ext cx="3168352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20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   </m:t>
                      </m:r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 </m:t>
                          </m:r>
                        </m:e>
                      </m:d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20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F01DB2-D871-68CF-FCCB-87EA2D843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12776"/>
                <a:ext cx="3168352" cy="1231106"/>
              </a:xfrm>
              <a:prstGeom prst="rect">
                <a:avLst/>
              </a:prstGeom>
              <a:blipFill>
                <a:blip r:embed="rId2"/>
                <a:stretch>
                  <a:fillRect l="-2885" b="-2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9CAB5F-4D78-98A2-2D05-5DA2AAF12139}"/>
                  </a:ext>
                </a:extLst>
              </p:cNvPr>
              <p:cNvSpPr txBox="1"/>
              <p:nvPr/>
            </p:nvSpPr>
            <p:spPr>
              <a:xfrm>
                <a:off x="755576" y="2996952"/>
                <a:ext cx="316835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9CAB5F-4D78-98A2-2D05-5DA2AAF121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2996952"/>
                <a:ext cx="3168352" cy="307777"/>
              </a:xfrm>
              <a:prstGeom prst="rect">
                <a:avLst/>
              </a:prstGeom>
              <a:blipFill>
                <a:blip r:embed="rId3"/>
                <a:stretch>
                  <a:fillRect l="-2308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6586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9403-72AE-F6AC-6AC0-F5B3438A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09956E-059D-9BB9-9C81-0F90A22C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5-2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역행렬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6637F9-722E-0BAA-DB9E-521B80F0E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tree/5-2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E1C703-4AF2-0827-F03F-5B92DDC1F4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15EBB5-6E95-EBBE-5952-C80F0220D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741" y="1116512"/>
            <a:ext cx="4732342" cy="23124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3A7495-D8DF-3FD3-76F0-057043BB5EAE}"/>
              </a:ext>
            </a:extLst>
          </p:cNvPr>
          <p:cNvSpPr txBox="1"/>
          <p:nvPr/>
        </p:nvSpPr>
        <p:spPr>
          <a:xfrm>
            <a:off x="255065" y="1116512"/>
            <a:ext cx="3651115" cy="5078313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 변환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 변환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Math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9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GetSinCos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currentDegree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(-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sin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cos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전단 변환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currentShear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합성 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크기 변환 행렬의 역행렬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float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invScale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/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invScale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0.f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invScale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회전 변환 행렬의 역행렬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9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Transpose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전단 변환 행렬의 역행렬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::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UnitX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(-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currentShear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1.f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ishBasis1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ishBasis2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역행렬의 합성행렬</a:t>
            </a: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 ( </a:t>
            </a:r>
            <a:r>
              <a:rPr lang="ko-KR" altLang="en-US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역순으로 조합하기 </a:t>
            </a:r>
            <a:r>
              <a:rPr lang="en-US" altLang="ko-KR" sz="9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  <a:endParaRPr lang="ko-KR" altLang="en-US" sz="9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9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Matrix2x2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icMatrix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irMatrix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9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ishMatrix</a:t>
            </a:r>
            <a:r>
              <a:rPr lang="en-US" altLang="ko-KR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89BE0-5BC9-CCB7-39AE-7B248A053812}"/>
              </a:ext>
            </a:extLst>
          </p:cNvPr>
          <p:cNvSpPr txBox="1"/>
          <p:nvPr/>
        </p:nvSpPr>
        <p:spPr>
          <a:xfrm>
            <a:off x="3995936" y="4996299"/>
            <a:ext cx="4680520" cy="1169551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왼쪽 하트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변환 행렬을 적용하기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left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cMatrix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DrawPoint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left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-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pivot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//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오른쪽 하트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 </a:t>
            </a:r>
            <a:r>
              <a:rPr lang="ko-KR" altLang="en-US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왼쪽 하트에 추가로 역행렬을 적용하기 </a:t>
            </a:r>
            <a:r>
              <a:rPr lang="en-US" altLang="ko-KR" sz="10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)</a:t>
            </a:r>
            <a:endParaRPr lang="ko-KR" altLang="en-US" sz="1000" dirty="0">
              <a:solidFill>
                <a:srgbClr val="000000"/>
              </a:solidFill>
              <a:effectLst/>
              <a:latin typeface="Consolas" panose="020B0609020204030204" pitchFamily="49" charset="0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00" dirty="0">
                <a:solidFill>
                  <a:srgbClr val="216F85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Vector2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right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=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icMatrix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*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left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DrawPoint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right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8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+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pivot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, </a:t>
            </a:r>
            <a:r>
              <a:rPr lang="en-US" altLang="ko-KR" sz="1000" dirty="0">
                <a:solidFill>
                  <a:srgbClr val="00008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hsv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.</a:t>
            </a:r>
            <a:r>
              <a:rPr lang="en-US" altLang="ko-KR" sz="1000" dirty="0">
                <a:solidFill>
                  <a:srgbClr val="88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ToLinearColor</a:t>
            </a:r>
            <a:r>
              <a:rPr lang="en-US" altLang="ko-KR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Bitstream Vera Sans Mono" panose="020B0609030804020204" pitchFamily="49" charset="-127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49870883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9491D-2806-BDDC-9110-351D4B50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CC9FEE6E-7CD9-7903-6496-F52C36039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아핀 공간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FBEC8FEB-DB0F-A91B-BA18-CDFED50872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움직이는 가상 세계의 구축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F9C35A-E29E-74ED-F6C9-9C33FFC17F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9105080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5088-6C11-F07D-AEE8-411C1E07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04294-CF09-42BD-8D50-9D5B70D7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F594E-4F7A-67C1-9D51-CC38663A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공간의 필요성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동차 변환 행렬을 사용하면 표현 가능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C8BFAF-3C29-3FF9-D2CC-1C31E885A2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C93AA9-A09E-C055-F762-725B13ECC025}"/>
                  </a:ext>
                </a:extLst>
              </p:cNvPr>
              <p:cNvSpPr txBox="1"/>
              <p:nvPr/>
            </p:nvSpPr>
            <p:spPr>
              <a:xfrm>
                <a:off x="875272" y="1564068"/>
                <a:ext cx="3024336" cy="6562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+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C93AA9-A09E-C055-F762-725B13ECC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72" y="1564068"/>
                <a:ext cx="3024336" cy="656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70D2B6-9EDF-C7B5-F350-04052F7CC547}"/>
                  </a:ext>
                </a:extLst>
              </p:cNvPr>
              <p:cNvSpPr txBox="1"/>
              <p:nvPr/>
            </p:nvSpPr>
            <p:spPr>
              <a:xfrm>
                <a:off x="971600" y="4365104"/>
                <a:ext cx="4572000" cy="1068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70D2B6-9EDF-C7B5-F350-04052F7CC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365104"/>
                <a:ext cx="4572000" cy="10689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168B5D37-3E10-05CB-44A0-22552152625E}"/>
              </a:ext>
            </a:extLst>
          </p:cNvPr>
          <p:cNvGrpSpPr/>
          <p:nvPr/>
        </p:nvGrpSpPr>
        <p:grpSpPr>
          <a:xfrm>
            <a:off x="4283968" y="1135124"/>
            <a:ext cx="3096344" cy="2170298"/>
            <a:chOff x="4211960" y="1546734"/>
            <a:chExt cx="3096344" cy="217029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E825D70D-F5FB-EC74-4DE4-CDFDE493F931}"/>
                </a:ext>
              </a:extLst>
            </p:cNvPr>
            <p:cNvSpPr/>
            <p:nvPr/>
          </p:nvSpPr>
          <p:spPr bwMode="auto">
            <a:xfrm>
              <a:off x="4211960" y="1546734"/>
              <a:ext cx="3096344" cy="2170298"/>
            </a:xfrm>
            <a:prstGeom prst="round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0000" tIns="46800" rIns="90000" bIns="468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수식을 만족하는</a:t>
              </a:r>
              <a:endPara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2x2 </a:t>
              </a:r>
              <a:r>
                <a:rPr kumimoji="1" lang="ko-KR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정방 행렬 </a:t>
              </a:r>
              <a:r>
                <a:rPr lang="en-US" altLang="ko-KR" sz="20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M</a:t>
              </a:r>
              <a:r>
                <a:rPr lang="ko-KR" altLang="en-US" sz="20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없음</a:t>
              </a:r>
              <a:r>
                <a:rPr kumimoji="1" lang="ko-KR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116061-A9BB-FF1A-EBFA-FD50E68823E7}"/>
                    </a:ext>
                  </a:extLst>
                </p:cNvPr>
                <p:cNvSpPr txBox="1"/>
                <p:nvPr/>
              </p:nvSpPr>
              <p:spPr>
                <a:xfrm>
                  <a:off x="4558082" y="2855888"/>
                  <a:ext cx="2534198" cy="65594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7116061-A9BB-FF1A-EBFA-FD50E6882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082" y="2855888"/>
                  <a:ext cx="2534198" cy="65594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376607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A3958-3C40-3AAD-301E-516F53CC4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0E092-36F1-0248-2D61-0DAB0DF30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36B20D-A3AB-CEC9-5235-F5C432524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공간</a:t>
            </a:r>
            <a:endParaRPr lang="en-US" altLang="ko-KR" sz="2400" dirty="0"/>
          </a:p>
          <a:p>
            <a:pPr lvl="1"/>
            <a:r>
              <a:rPr lang="ko-KR" altLang="en-US" sz="2000" dirty="0"/>
              <a:t>아핀 공간은 점과 벡터의 관계</a:t>
            </a:r>
            <a:r>
              <a:rPr lang="en-US" altLang="ko-KR" sz="2000" dirty="0"/>
              <a:t>(</a:t>
            </a:r>
            <a:r>
              <a:rPr lang="ko-KR" altLang="en-US" sz="2000" dirty="0"/>
              <a:t>연산</a:t>
            </a:r>
            <a:r>
              <a:rPr lang="en-US" altLang="ko-KR" sz="2000" dirty="0"/>
              <a:t>)</a:t>
            </a:r>
            <a:r>
              <a:rPr lang="ko-KR" altLang="en-US" sz="2000" dirty="0"/>
              <a:t>로 정의되는 공간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점</a:t>
            </a:r>
            <a:r>
              <a:rPr lang="en-US" altLang="ko-KR" sz="2400" dirty="0"/>
              <a:t>(</a:t>
            </a:r>
            <a:r>
              <a:rPr lang="ko-KR" altLang="en-US" sz="2400" dirty="0"/>
              <a:t>위치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+ </a:t>
            </a:r>
            <a:r>
              <a:rPr lang="ko-KR" altLang="en-US" sz="2400" dirty="0"/>
              <a:t>벡터 → 새로운 점</a:t>
            </a:r>
            <a:r>
              <a:rPr lang="en-US" altLang="ko-KR" sz="2400" dirty="0"/>
              <a:t>(</a:t>
            </a:r>
            <a:r>
              <a:rPr lang="ko-KR" altLang="en-US" sz="2400" dirty="0"/>
              <a:t>위치</a:t>
            </a:r>
            <a:r>
              <a:rPr lang="en-US" altLang="ko-KR" sz="2400" dirty="0"/>
              <a:t>)</a:t>
            </a:r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동차 좌표 표현</a:t>
            </a:r>
            <a:r>
              <a:rPr lang="en-US" altLang="ko-KR" sz="2400" dirty="0"/>
              <a:t>(3</a:t>
            </a:r>
            <a:r>
              <a:rPr lang="ko-KR" altLang="en-US" sz="2400" dirty="0"/>
              <a:t>차원</a:t>
            </a:r>
            <a:r>
              <a:rPr lang="en-US" altLang="ko-KR" sz="2400" dirty="0"/>
              <a:t>)</a:t>
            </a:r>
          </a:p>
          <a:p>
            <a:pPr lvl="1"/>
            <a:r>
              <a:rPr lang="ko-KR" altLang="en-US" sz="2000" dirty="0"/>
              <a:t>위치</a:t>
            </a:r>
            <a:r>
              <a:rPr lang="en-US" altLang="ko-KR" sz="2000" dirty="0"/>
              <a:t>: (x, y, z, 1)</a:t>
            </a:r>
          </a:p>
          <a:p>
            <a:pPr lvl="1"/>
            <a:r>
              <a:rPr lang="ko-KR" altLang="en-US" sz="2000" dirty="0"/>
              <a:t>벡터</a:t>
            </a:r>
            <a:r>
              <a:rPr lang="en-US" altLang="ko-KR" sz="2000" dirty="0"/>
              <a:t>: (x, y, z, 0)</a:t>
            </a:r>
          </a:p>
          <a:p>
            <a:pPr lvl="1"/>
            <a:endParaRPr lang="en-US" altLang="ko-KR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942FE4-4A41-5CD5-E3C4-1B54854F93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FCBC59-0DE1-ECFE-BA72-96948A58341F}"/>
                  </a:ext>
                </a:extLst>
              </p:cNvPr>
              <p:cNvSpPr txBox="1"/>
              <p:nvPr/>
            </p:nvSpPr>
            <p:spPr>
              <a:xfrm>
                <a:off x="611560" y="2810260"/>
                <a:ext cx="266429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 =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CFCBC59-0DE1-ECFE-BA72-96948A583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810260"/>
                <a:ext cx="2664296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20973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7570A-A8E3-26F0-F5EE-535231C4D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160E5-8A0F-91A1-E6F2-E8711F75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6F3B40-463F-0886-2B5A-B33E99C8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변환</a:t>
            </a:r>
          </a:p>
          <a:p>
            <a:pPr lvl="1"/>
            <a:r>
              <a:rPr lang="ko-KR" altLang="en-US" sz="2000" dirty="0"/>
              <a:t>선형 변환 </a:t>
            </a:r>
            <a:r>
              <a:rPr lang="en-US" altLang="ko-KR" sz="2000" dirty="0"/>
              <a:t>+ </a:t>
            </a:r>
            <a:r>
              <a:rPr lang="ko-KR" altLang="en-US" sz="2000" dirty="0"/>
              <a:t>평행 이동</a:t>
            </a:r>
          </a:p>
          <a:p>
            <a:pPr lvl="1"/>
            <a:r>
              <a:rPr lang="ko-KR" altLang="en-US" sz="2000" dirty="0"/>
              <a:t>직선 유지</a:t>
            </a:r>
          </a:p>
          <a:p>
            <a:pPr lvl="1"/>
            <a:r>
              <a:rPr lang="ko-KR" altLang="en-US" sz="2000" dirty="0"/>
              <a:t>평행성 유지</a:t>
            </a:r>
          </a:p>
          <a:p>
            <a:pPr lvl="1"/>
            <a:r>
              <a:rPr lang="ko-KR" altLang="en-US" sz="2000" dirty="0"/>
              <a:t>길이 </a:t>
            </a:r>
            <a:r>
              <a:rPr lang="en-US" altLang="ko-KR" sz="2000" dirty="0"/>
              <a:t>/ </a:t>
            </a:r>
            <a:r>
              <a:rPr lang="ko-KR" altLang="en-US" sz="2000" dirty="0"/>
              <a:t>각도 보존 </a:t>
            </a:r>
            <a:r>
              <a:rPr lang="en-US" altLang="ko-KR" sz="2000" dirty="0"/>
              <a:t>X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아핀 변환 행렬</a:t>
            </a:r>
          </a:p>
          <a:p>
            <a:pPr lvl="1"/>
            <a:r>
              <a:rPr lang="ko-KR" altLang="en-US" sz="2000" dirty="0"/>
              <a:t>선형 변환 행렬 </a:t>
            </a:r>
            <a:r>
              <a:rPr lang="en-US" altLang="ko-KR" sz="2000" dirty="0"/>
              <a:t>+ </a:t>
            </a:r>
            <a:r>
              <a:rPr lang="ko-KR" altLang="en-US" sz="2000" dirty="0"/>
              <a:t>이동 벡터 구조</a:t>
            </a:r>
          </a:p>
          <a:p>
            <a:endParaRPr lang="ko-KR" altLang="en-US" sz="2400" dirty="0"/>
          </a:p>
          <a:p>
            <a:r>
              <a:rPr lang="ko-KR" altLang="en-US" sz="2400" dirty="0"/>
              <a:t>형태 </a:t>
            </a:r>
            <a:r>
              <a:rPr lang="en-US" altLang="ko-KR" sz="2400" dirty="0"/>
              <a:t>(3D)</a:t>
            </a:r>
          </a:p>
          <a:p>
            <a:pPr lvl="1"/>
            <a:r>
              <a:rPr lang="en-US" altLang="ko-KR" sz="2000" dirty="0"/>
              <a:t>x' = R·x + T</a:t>
            </a:r>
          </a:p>
          <a:p>
            <a:pPr lvl="1"/>
            <a:r>
              <a:rPr lang="en-US" altLang="ko-KR" sz="2000" dirty="0"/>
              <a:t>R → </a:t>
            </a:r>
            <a:r>
              <a:rPr lang="ko-KR" altLang="en-US" sz="2000" dirty="0"/>
              <a:t>회전 </a:t>
            </a:r>
            <a:r>
              <a:rPr lang="en-US" altLang="ko-KR" sz="2000" dirty="0"/>
              <a:t>/ </a:t>
            </a:r>
            <a:r>
              <a:rPr lang="ko-KR" altLang="en-US" sz="2000" dirty="0"/>
              <a:t>스케일 </a:t>
            </a:r>
            <a:r>
              <a:rPr lang="en-US" altLang="ko-KR" sz="2000" dirty="0"/>
              <a:t>/ </a:t>
            </a:r>
            <a:r>
              <a:rPr lang="ko-KR" altLang="en-US" sz="2000" dirty="0"/>
              <a:t>전단</a:t>
            </a:r>
          </a:p>
          <a:p>
            <a:pPr lvl="1"/>
            <a:r>
              <a:rPr lang="en-US" altLang="ko-KR" sz="2000" dirty="0"/>
              <a:t>T → </a:t>
            </a:r>
            <a:r>
              <a:rPr lang="ko-KR" altLang="en-US" sz="2000" dirty="0"/>
              <a:t>평행 이동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09914A-CA37-9466-4A1F-CC14883040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276175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F048-3A41-3098-0C4F-A51F4569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F51AF-BBC0-A515-AE39-CCFB00C6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6.1 </a:t>
            </a:r>
            <a:r>
              <a:rPr lang="ko-KR" altLang="en-US" dirty="0"/>
              <a:t>이동</a:t>
            </a:r>
            <a:r>
              <a:rPr lang="en-US" altLang="ko-KR" dirty="0"/>
              <a:t> </a:t>
            </a:r>
            <a:r>
              <a:rPr lang="ko-KR" altLang="en-US" dirty="0"/>
              <a:t>변환을 위한 아핀 공간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0EF84B-59D4-88C1-6347-DC9230D4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크기</a:t>
            </a:r>
            <a:r>
              <a:rPr lang="en-US" altLang="ko-KR" sz="2400" dirty="0"/>
              <a:t>/</a:t>
            </a:r>
            <a:r>
              <a:rPr lang="ko-KR" altLang="en-US" sz="2400" dirty="0"/>
              <a:t>회전</a:t>
            </a:r>
            <a:r>
              <a:rPr lang="en-US" altLang="ko-KR" sz="2400" dirty="0"/>
              <a:t>/</a:t>
            </a:r>
            <a:r>
              <a:rPr lang="ko-KR" altLang="en-US" sz="2400" dirty="0"/>
              <a:t>이동 변환</a:t>
            </a:r>
            <a:r>
              <a:rPr lang="en-US" altLang="ko-KR" sz="2400" dirty="0"/>
              <a:t> </a:t>
            </a:r>
            <a:r>
              <a:rPr lang="ko-KR" altLang="en-US" sz="2400" dirty="0"/>
              <a:t>행렬 </a:t>
            </a:r>
            <a:r>
              <a:rPr lang="en-US" altLang="ko-KR" sz="2400" dirty="0"/>
              <a:t>(Translate</a:t>
            </a:r>
            <a:r>
              <a:rPr lang="ko-KR" altLang="en-US" sz="2400" dirty="0"/>
              <a:t> </a:t>
            </a:r>
            <a:r>
              <a:rPr lang="en-US" altLang="ko-KR" sz="2400" dirty="0"/>
              <a:t>Transform</a:t>
            </a:r>
            <a:r>
              <a:rPr lang="ko-KR" altLang="en-US" sz="2400" dirty="0"/>
              <a:t> </a:t>
            </a:r>
            <a:r>
              <a:rPr lang="en-US" altLang="ko-KR" sz="2400" dirty="0"/>
              <a:t>Matrix)</a:t>
            </a: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  <a:p>
            <a:pPr lvl="1"/>
            <a:endParaRPr lang="en-US" altLang="ko-KR" sz="2000" dirty="0">
              <a:sym typeface="Wingdings" panose="05000000000000000000" pitchFamily="2" charset="2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A816BA-EF10-F839-DDBA-327B8B94F3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87559E-A304-7C86-F83C-270AE05F477D}"/>
                  </a:ext>
                </a:extLst>
              </p:cNvPr>
              <p:cNvSpPr txBox="1"/>
              <p:nvPr/>
            </p:nvSpPr>
            <p:spPr>
              <a:xfrm>
                <a:off x="4459411" y="1520131"/>
                <a:ext cx="3136925" cy="112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87559E-A304-7C86-F83C-270AE05F4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411" y="1520131"/>
                <a:ext cx="3136925" cy="1129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979CA9-B4F7-F073-A38E-8AB99C3164C5}"/>
                  </a:ext>
                </a:extLst>
              </p:cNvPr>
              <p:cNvSpPr txBox="1"/>
              <p:nvPr/>
            </p:nvSpPr>
            <p:spPr>
              <a:xfrm>
                <a:off x="746422" y="1595024"/>
                <a:ext cx="3568973" cy="9797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C979CA9-B4F7-F073-A38E-8AB99C316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22" y="1595024"/>
                <a:ext cx="3568973" cy="979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0CCE15-F3BB-C46F-4099-D93EAC1093A9}"/>
                  </a:ext>
                </a:extLst>
              </p:cNvPr>
              <p:cNvSpPr txBox="1"/>
              <p:nvPr/>
            </p:nvSpPr>
            <p:spPr>
              <a:xfrm>
                <a:off x="746422" y="3029117"/>
                <a:ext cx="2560861" cy="112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30CCE15-F3BB-C46F-4099-D93EAC109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22" y="3029117"/>
                <a:ext cx="2560861" cy="1129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1A1062-7003-4D76-6951-DE1E2DBDDCD2}"/>
                  </a:ext>
                </a:extLst>
              </p:cNvPr>
              <p:cNvSpPr txBox="1"/>
              <p:nvPr/>
            </p:nvSpPr>
            <p:spPr>
              <a:xfrm>
                <a:off x="746422" y="4616221"/>
                <a:ext cx="5081141" cy="11890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b="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1A1062-7003-4D76-6951-DE1E2DBD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22" y="4616221"/>
                <a:ext cx="5081141" cy="11890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17734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218D-5316-8F5A-F250-5BFE13F9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EA63CE-9781-BFFC-956F-7E48F9B3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6-1 </a:t>
            </a:r>
            <a:r>
              <a:rPr lang="ko-KR" altLang="en-US" dirty="0"/>
              <a:t>실습</a:t>
            </a:r>
            <a:r>
              <a:rPr lang="en-US" altLang="ko-KR" dirty="0"/>
              <a:t>: </a:t>
            </a:r>
            <a:r>
              <a:rPr lang="ko-KR" altLang="en-US" dirty="0"/>
              <a:t>행렬 곱셈으로 이동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2A53E-69FF-BF41-9381-92D0A30C2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Project tree/6-1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65E9B9-B909-3BBC-1951-6F0AA8D4B4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4F288-9FD4-4F33-E53B-BEF737323557}"/>
              </a:ext>
            </a:extLst>
          </p:cNvPr>
          <p:cNvSpPr txBox="1"/>
          <p:nvPr/>
        </p:nvSpPr>
        <p:spPr>
          <a:xfrm>
            <a:off x="107504" y="1284945"/>
            <a:ext cx="5328589" cy="900246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 행렬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크기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currentScale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currentScale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UnitZ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817ABD-C3F2-E29E-4EED-765DED81CA08}"/>
              </a:ext>
            </a:extLst>
          </p:cNvPr>
          <p:cNvSpPr txBox="1"/>
          <p:nvPr/>
        </p:nvSpPr>
        <p:spPr>
          <a:xfrm>
            <a:off x="107478" y="2205588"/>
            <a:ext cx="5328615" cy="1223412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 행렬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회전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0000FF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float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Math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88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GetSinCos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currentDegree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(-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sin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cos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UnitZ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788A0B-4E0D-4C25-2E43-2A96DDFD636D}"/>
              </a:ext>
            </a:extLst>
          </p:cNvPr>
          <p:cNvSpPr txBox="1"/>
          <p:nvPr/>
        </p:nvSpPr>
        <p:spPr>
          <a:xfrm>
            <a:off x="107479" y="3449397"/>
            <a:ext cx="5328616" cy="900246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 행렬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이동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 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= </a:t>
            </a: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::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UnitY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currentPosition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tBasis1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tBasis2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tBasis3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2A7F52-19AA-34BE-FDD0-9BD33A6F6FAA}"/>
              </a:ext>
            </a:extLst>
          </p:cNvPr>
          <p:cNvSpPr txBox="1"/>
          <p:nvPr/>
        </p:nvSpPr>
        <p:spPr>
          <a:xfrm>
            <a:off x="107478" y="4547049"/>
            <a:ext cx="5328617" cy="415498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모든 아핀 변환을 곱한 합성 행렬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크기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회전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-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이동 순으로 적용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Matrix3x3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tMatrix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ko-KR" altLang="en-US" sz="105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rMatrix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ko-KR" altLang="en-US" sz="105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sMatrix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ED9E5-1A5D-8901-FE48-54DC2D0E09C4}"/>
              </a:ext>
            </a:extLst>
          </p:cNvPr>
          <p:cNvSpPr txBox="1"/>
          <p:nvPr/>
        </p:nvSpPr>
        <p:spPr>
          <a:xfrm>
            <a:off x="115838" y="5293463"/>
            <a:ext cx="5320258" cy="900246"/>
          </a:xfrm>
          <a:prstGeom prst="rect">
            <a:avLst/>
          </a:prstGeom>
          <a:noFill/>
          <a:ln w="22225"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곱셈을 위해 하트를 구성하는 벡터를 </a:t>
            </a: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3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차원으로 변경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newV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, </a:t>
            </a:r>
            <a:r>
              <a:rPr lang="en-US" altLang="ko-KR" sz="105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1.f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  <a:p>
            <a:pPr>
              <a:buNone/>
            </a:pP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</a:t>
            </a:r>
          </a:p>
          <a:p>
            <a:pPr>
              <a:buNone/>
            </a:pPr>
            <a:r>
              <a:rPr lang="en-US" altLang="ko-KR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// </a:t>
            </a:r>
            <a:r>
              <a:rPr lang="ko-KR" altLang="en-US" sz="1050" dirty="0">
                <a:solidFill>
                  <a:srgbClr val="008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아핀 변환을 적용하고 마지막 차원의 값을 제거하고 사용	</a:t>
            </a:r>
            <a:endParaRPr lang="ko-KR" altLang="en-US" sz="105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105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Vector3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finalV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=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finalMatrix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ko-KR" altLang="en-US" sz="1050" dirty="0">
                <a:solidFill>
                  <a:srgbClr val="008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*</a:t>
            </a:r>
            <a:r>
              <a:rPr lang="ko-KR" altLang="en-US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</a:t>
            </a:r>
            <a:r>
              <a:rPr lang="en-US" altLang="ko-KR" sz="105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newV</a:t>
            </a:r>
            <a:r>
              <a:rPr lang="en-US" altLang="ko-KR" sz="105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;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0032AE4-09B7-138A-AEEA-F40969F4E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488" y="2636912"/>
            <a:ext cx="3514342" cy="358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11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F4349-5D9D-9454-A81D-D11B0CEC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599AC-EB2C-7DC6-20C8-C7D07A33B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6.2.1 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마지막 차원 값이 </a:t>
            </a:r>
            <a:r>
              <a:rPr lang="en-US" altLang="ko-KR" dirty="0"/>
              <a:t>1</a:t>
            </a:r>
            <a:r>
              <a:rPr lang="ko-KR" altLang="en-US" dirty="0"/>
              <a:t>인 아핀 공간의 원소를 점</a:t>
            </a:r>
            <a:r>
              <a:rPr lang="en-US" altLang="ko-KR" dirty="0"/>
              <a:t>(Point)</a:t>
            </a:r>
          </a:p>
          <a:p>
            <a:pPr lvl="1"/>
            <a:r>
              <a:rPr lang="ko-KR" altLang="en-US" dirty="0"/>
              <a:t>행렬 곱을 사용</a:t>
            </a:r>
            <a:r>
              <a:rPr lang="en-US" altLang="ko-KR" dirty="0"/>
              <a:t>, </a:t>
            </a:r>
            <a:r>
              <a:rPr lang="ko-KR" altLang="en-US" dirty="0"/>
              <a:t>이동 가능</a:t>
            </a:r>
            <a:endParaRPr lang="en-US" altLang="ko-KR" dirty="0"/>
          </a:p>
          <a:p>
            <a:pPr lvl="1"/>
            <a:r>
              <a:rPr lang="ko-KR" altLang="en-US" dirty="0"/>
              <a:t>가상 공간에서 이동은 점을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차원 점</a:t>
            </a:r>
            <a:r>
              <a:rPr lang="en-US" altLang="ko-KR" dirty="0"/>
              <a:t>: (x, y, 1)</a:t>
            </a:r>
          </a:p>
          <a:p>
            <a:pPr lvl="2"/>
            <a:r>
              <a:rPr lang="en-US" altLang="ko-KR" dirty="0"/>
              <a:t>(x, y, 2) → (x + 2a, y + 2b , 2) 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차원 점</a:t>
            </a:r>
            <a:r>
              <a:rPr lang="en-US" altLang="ko-KR" dirty="0"/>
              <a:t>: (x, y, z, 1)</a:t>
            </a:r>
          </a:p>
          <a:p>
            <a:pPr lvl="1"/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DABD25-FA7F-651F-40EC-388E9C98E1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B431B-2AAA-8A07-6B08-F16A1F873274}"/>
                  </a:ext>
                </a:extLst>
              </p:cNvPr>
              <p:cNvSpPr txBox="1"/>
              <p:nvPr/>
            </p:nvSpPr>
            <p:spPr>
              <a:xfrm>
                <a:off x="1187624" y="3933056"/>
                <a:ext cx="4572000" cy="10769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0CB431B-2AAA-8A07-6B08-F16A1F873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3933056"/>
                <a:ext cx="4572000" cy="10769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8078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5E86F-B883-F528-3079-45054E85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391DB-8997-8BEF-10EB-AE5861D0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C7F876-A8C1-6269-8A86-5550BC4DD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6.2.2 </a:t>
            </a:r>
            <a:r>
              <a:rPr lang="ko-KR" altLang="en-US" dirty="0"/>
              <a:t>이동 벡터</a:t>
            </a:r>
            <a:endParaRPr lang="en-US" altLang="ko-KR" dirty="0"/>
          </a:p>
          <a:p>
            <a:pPr lvl="1"/>
            <a:r>
              <a:rPr lang="ko-KR" altLang="en-US" dirty="0"/>
              <a:t>아핀 공간에 닫혀 있음</a:t>
            </a:r>
            <a:endParaRPr lang="en-US" altLang="ko-KR" dirty="0"/>
          </a:p>
          <a:p>
            <a:pPr lvl="1"/>
            <a:r>
              <a:rPr lang="ko-KR" altLang="en-US" dirty="0"/>
              <a:t>아핀 공간 벡터  </a:t>
            </a:r>
            <a:r>
              <a:rPr lang="en-US" altLang="ko-KR" dirty="0"/>
              <a:t>== </a:t>
            </a:r>
            <a:r>
              <a:rPr lang="ko-KR" altLang="en-US" dirty="0"/>
              <a:t>이동 벡터</a:t>
            </a:r>
            <a:r>
              <a:rPr lang="en-US" altLang="ko-KR" dirty="0"/>
              <a:t>, </a:t>
            </a:r>
            <a:r>
              <a:rPr lang="ko-KR" altLang="en-US" dirty="0"/>
              <a:t>또는 변위 벡터</a:t>
            </a:r>
            <a:r>
              <a:rPr lang="en-US" altLang="ko-KR" dirty="0"/>
              <a:t>(Displacement vector)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D4A8F3-43B2-01B6-9F20-C02806A913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417C7-5001-2B90-9116-773E522AC93B}"/>
                  </a:ext>
                </a:extLst>
              </p:cNvPr>
              <p:cNvSpPr txBox="1"/>
              <p:nvPr/>
            </p:nvSpPr>
            <p:spPr>
              <a:xfrm>
                <a:off x="1043608" y="2662530"/>
                <a:ext cx="18722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C417C7-5001-2B90-9116-773E522AC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2662530"/>
                <a:ext cx="1872208" cy="369332"/>
              </a:xfrm>
              <a:prstGeom prst="rect">
                <a:avLst/>
              </a:prstGeom>
              <a:blipFill>
                <a:blip r:embed="rId2"/>
                <a:stretch>
                  <a:fillRect l="-5537" t="-35000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7B402F-6D56-CD63-A2BC-5E40D45F4F19}"/>
                  </a:ext>
                </a:extLst>
              </p:cNvPr>
              <p:cNvSpPr txBox="1"/>
              <p:nvPr/>
            </p:nvSpPr>
            <p:spPr>
              <a:xfrm>
                <a:off x="1043608" y="3203684"/>
                <a:ext cx="489654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7B402F-6D56-CD63-A2BC-5E40D45F4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203684"/>
                <a:ext cx="4896544" cy="369332"/>
              </a:xfrm>
              <a:prstGeom prst="rect">
                <a:avLst/>
              </a:prstGeom>
              <a:blipFill>
                <a:blip r:embed="rId3"/>
                <a:stretch>
                  <a:fillRect l="-1868" t="-35000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77998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CB00C-7C84-85C2-D823-3322D0A5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3478B-BB5B-94AC-28E1-1709DA236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F6FB07-0866-32DB-A85B-4BE481076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점과 벡터 정의</a:t>
            </a:r>
            <a:endParaRPr lang="en-US" altLang="ko-KR" sz="2400" dirty="0"/>
          </a:p>
          <a:p>
            <a:pPr lvl="1"/>
            <a:r>
              <a:rPr lang="ko-KR" altLang="en-US" sz="2000" dirty="0"/>
              <a:t>점</a:t>
            </a:r>
            <a:r>
              <a:rPr lang="en-US" altLang="ko-KR" sz="2000" dirty="0"/>
              <a:t>: </a:t>
            </a:r>
            <a:r>
              <a:rPr lang="ko-KR" altLang="en-US" sz="2000" dirty="0"/>
              <a:t>물체를 표현하고 위치를 지정</a:t>
            </a:r>
            <a:endParaRPr lang="en-US" altLang="ko-KR" sz="2000" dirty="0"/>
          </a:p>
          <a:p>
            <a:pPr lvl="2"/>
            <a:r>
              <a:rPr lang="ko-KR" altLang="en-US" sz="1800" dirty="0"/>
              <a:t>동차 좌표 차원 값 </a:t>
            </a:r>
            <a:r>
              <a:rPr lang="en-US" altLang="ko-KR" sz="1800" dirty="0"/>
              <a:t>= 1</a:t>
            </a:r>
          </a:p>
          <a:p>
            <a:pPr lvl="1"/>
            <a:r>
              <a:rPr lang="ko-KR" altLang="en-US" sz="2000" dirty="0"/>
              <a:t>이동 벡터</a:t>
            </a:r>
            <a:r>
              <a:rPr lang="en-US" altLang="ko-KR" sz="2000" dirty="0"/>
              <a:t>: </a:t>
            </a:r>
            <a:r>
              <a:rPr lang="ko-KR" altLang="en-US" sz="2000" dirty="0"/>
              <a:t>물체의 이동에 사용</a:t>
            </a:r>
            <a:endParaRPr lang="en-US" altLang="ko-KR" sz="2000" dirty="0"/>
          </a:p>
          <a:p>
            <a:pPr lvl="2"/>
            <a:r>
              <a:rPr lang="ko-KR" altLang="en-US" sz="1800" dirty="0"/>
              <a:t>동차좌표 차원 값 </a:t>
            </a:r>
            <a:r>
              <a:rPr lang="en-US" altLang="ko-KR" sz="1800" dirty="0"/>
              <a:t>= 0</a:t>
            </a:r>
          </a:p>
          <a:p>
            <a:pPr lvl="1"/>
            <a:endParaRPr lang="en-US" altLang="ko-KR" sz="2000" dirty="0"/>
          </a:p>
          <a:p>
            <a:pPr lvl="1"/>
            <a:r>
              <a:rPr lang="ko-KR" altLang="en-US" sz="2000" dirty="0"/>
              <a:t>정리</a:t>
            </a:r>
            <a:endParaRPr lang="en-US" altLang="ko-KR" sz="2000" dirty="0"/>
          </a:p>
          <a:p>
            <a:pPr lvl="2"/>
            <a:r>
              <a:rPr lang="ko-KR" altLang="en-US" sz="1800" dirty="0"/>
              <a:t>점 </a:t>
            </a:r>
            <a:r>
              <a:rPr lang="en-US" altLang="ko-KR" sz="1800" dirty="0"/>
              <a:t>- </a:t>
            </a:r>
            <a:r>
              <a:rPr lang="ko-KR" altLang="en-US" sz="1800" dirty="0"/>
              <a:t>점 </a:t>
            </a:r>
            <a:r>
              <a:rPr lang="en-US" altLang="ko-KR" sz="1800" dirty="0"/>
              <a:t>= </a:t>
            </a:r>
            <a:r>
              <a:rPr lang="ko-KR" altLang="en-US" sz="1800" dirty="0"/>
              <a:t>벡터</a:t>
            </a:r>
            <a:endParaRPr lang="en-US" altLang="ko-KR" sz="1800" dirty="0"/>
          </a:p>
          <a:p>
            <a:pPr lvl="2"/>
            <a:r>
              <a:rPr lang="ko-KR" altLang="en-US" sz="1800" dirty="0"/>
              <a:t>점 </a:t>
            </a:r>
            <a:r>
              <a:rPr lang="en-US" altLang="ko-KR" sz="1800" dirty="0"/>
              <a:t>+</a:t>
            </a:r>
            <a:r>
              <a:rPr lang="ko-KR" altLang="en-US" sz="1800" dirty="0"/>
              <a:t>벡터 </a:t>
            </a:r>
            <a:r>
              <a:rPr lang="en-US" altLang="ko-KR" sz="1800" dirty="0"/>
              <a:t>= </a:t>
            </a:r>
            <a:r>
              <a:rPr lang="ko-KR" altLang="en-US" sz="1800" dirty="0"/>
              <a:t>점</a:t>
            </a:r>
            <a:endParaRPr lang="en-US" altLang="ko-KR" sz="1800" dirty="0"/>
          </a:p>
          <a:p>
            <a:pPr lvl="2"/>
            <a:r>
              <a:rPr lang="ko-KR" altLang="en-US" sz="1800" dirty="0"/>
              <a:t>벡터 </a:t>
            </a:r>
            <a:r>
              <a:rPr lang="en-US" altLang="ko-KR" sz="1800" dirty="0"/>
              <a:t>+ </a:t>
            </a:r>
            <a:r>
              <a:rPr lang="ko-KR" altLang="en-US" sz="1800" dirty="0"/>
              <a:t>벡터 </a:t>
            </a:r>
            <a:r>
              <a:rPr lang="en-US" altLang="ko-KR" sz="1800" dirty="0"/>
              <a:t>= </a:t>
            </a:r>
            <a:r>
              <a:rPr lang="ko-KR" altLang="en-US" sz="1800" dirty="0"/>
              <a:t>벡터</a:t>
            </a:r>
            <a:endParaRPr lang="en-US" altLang="ko-KR" sz="1800" dirty="0"/>
          </a:p>
          <a:p>
            <a:pPr lvl="2"/>
            <a:r>
              <a:rPr lang="ko-KR" altLang="en-US" sz="1800" dirty="0"/>
              <a:t>점 </a:t>
            </a:r>
            <a:r>
              <a:rPr lang="en-US" altLang="ko-KR" sz="1800" dirty="0"/>
              <a:t>+ </a:t>
            </a:r>
            <a:r>
              <a:rPr lang="ko-KR" altLang="en-US" sz="1800" dirty="0"/>
              <a:t>점 ≠ 점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r>
              <a:rPr lang="en-US" altLang="ko-KR" sz="2400" dirty="0"/>
              <a:t>0 </a:t>
            </a:r>
            <a:r>
              <a:rPr lang="ko-KR" altLang="en-US" sz="2400" dirty="0"/>
              <a:t>벡터</a:t>
            </a:r>
            <a:endParaRPr lang="en-US" altLang="ko-KR" sz="2400" dirty="0"/>
          </a:p>
          <a:p>
            <a:pPr lvl="2"/>
            <a:r>
              <a:rPr lang="ko-KR" altLang="en-US" sz="1800" dirty="0"/>
              <a:t>아핀 공간에서 같은 점들의 차</a:t>
            </a:r>
            <a:endParaRPr lang="en-US" altLang="ko-KR" sz="1800" dirty="0"/>
          </a:p>
          <a:p>
            <a:pPr lvl="2"/>
            <a:r>
              <a:rPr lang="en-US" altLang="ko-KR" sz="1800" dirty="0"/>
              <a:t>2</a:t>
            </a:r>
            <a:r>
              <a:rPr lang="ko-KR" altLang="en-US" sz="1800" dirty="0"/>
              <a:t>차원</a:t>
            </a:r>
            <a:r>
              <a:rPr lang="en-US" altLang="ko-KR" sz="1800" dirty="0"/>
              <a:t>: (0,0,1), 3</a:t>
            </a:r>
            <a:r>
              <a:rPr lang="ko-KR" altLang="en-US" sz="1800" dirty="0"/>
              <a:t>차원</a:t>
            </a:r>
            <a:r>
              <a:rPr lang="en-US" altLang="ko-KR" sz="1800" dirty="0"/>
              <a:t>: (0,0,0,1)</a:t>
            </a:r>
            <a:endParaRPr lang="ko-KR" altLang="en-US" sz="1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BA0D16-0CF1-C3FB-FED6-473AD32660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E2A51A-3ACB-06F6-2955-A19A371E0135}"/>
                  </a:ext>
                </a:extLst>
              </p:cNvPr>
              <p:cNvSpPr txBox="1"/>
              <p:nvPr/>
            </p:nvSpPr>
            <p:spPr>
              <a:xfrm>
                <a:off x="3635896" y="4365104"/>
                <a:ext cx="187220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 − 0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E2A51A-3ACB-06F6-2955-A19A371E0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4365104"/>
                <a:ext cx="1872208" cy="369332"/>
              </a:xfrm>
              <a:prstGeom prst="rect">
                <a:avLst/>
              </a:prstGeom>
              <a:blipFill>
                <a:blip r:embed="rId2"/>
                <a:stretch>
                  <a:fillRect l="-4870" t="-32787" b="-114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30689-6DA8-2742-7FF4-F4DC9780CAE6}"/>
                  </a:ext>
                </a:extLst>
              </p:cNvPr>
              <p:cNvSpPr txBox="1"/>
              <p:nvPr/>
            </p:nvSpPr>
            <p:spPr>
              <a:xfrm>
                <a:off x="3632105" y="4734436"/>
                <a:ext cx="454029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0,0,1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730689-6DA8-2742-7FF4-F4DC9780C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105" y="4734436"/>
                <a:ext cx="4540295" cy="369332"/>
              </a:xfrm>
              <a:prstGeom prst="rect">
                <a:avLst/>
              </a:prstGeom>
              <a:blipFill>
                <a:blip r:embed="rId3"/>
                <a:stretch>
                  <a:fillRect l="-2148" t="-35000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7390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F81B7-697E-4CA1-1C0F-158C8B3F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E4C62-472A-2353-1D76-2863F9F1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6.2 </a:t>
            </a:r>
            <a:r>
              <a:rPr lang="ko-KR" altLang="en-US" dirty="0"/>
              <a:t>아핀 공간의 구성 요소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E1BDC-CA90-31E9-2EFD-AABAA8F7E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6.2.4 </a:t>
            </a:r>
            <a:r>
              <a:rPr lang="ko-KR" altLang="en-US" dirty="0"/>
              <a:t>아핀 공간 특징</a:t>
            </a:r>
            <a:endParaRPr lang="en-US" altLang="ko-KR" dirty="0"/>
          </a:p>
          <a:p>
            <a:pPr lvl="1"/>
            <a:r>
              <a:rPr lang="ko-KR" altLang="en-US" dirty="0"/>
              <a:t>점</a:t>
            </a:r>
            <a:r>
              <a:rPr lang="en-US" altLang="ko-KR" dirty="0"/>
              <a:t>: </a:t>
            </a:r>
            <a:r>
              <a:rPr lang="ko-KR" altLang="en-US" dirty="0"/>
              <a:t>차원을 하나 늘리고 마지막 값 </a:t>
            </a:r>
            <a:r>
              <a:rPr lang="en-US" altLang="ko-KR" dirty="0"/>
              <a:t>→ 1</a:t>
            </a:r>
          </a:p>
          <a:p>
            <a:pPr lvl="2"/>
            <a:r>
              <a:rPr lang="en-US" altLang="ko-KR" dirty="0"/>
              <a:t>ex) 2</a:t>
            </a:r>
            <a:r>
              <a:rPr lang="ko-KR" altLang="en-US" dirty="0"/>
              <a:t>차원</a:t>
            </a:r>
            <a:r>
              <a:rPr lang="en-US" altLang="ko-KR" dirty="0"/>
              <a:t>: (x,y,1) , n</a:t>
            </a:r>
            <a:r>
              <a:rPr lang="ko-KR" altLang="en-US" dirty="0"/>
              <a:t>차원</a:t>
            </a:r>
            <a:r>
              <a:rPr lang="en-US" altLang="ko-KR" dirty="0"/>
              <a:t>: (p</a:t>
            </a:r>
            <a:r>
              <a:rPr lang="en-US" altLang="ko-KR" baseline="-25000" dirty="0"/>
              <a:t>1</a:t>
            </a:r>
            <a:r>
              <a:rPr lang="en-US" altLang="ko-KR" dirty="0"/>
              <a:t>, … p</a:t>
            </a:r>
            <a:r>
              <a:rPr lang="en-US" altLang="ko-KR" baseline="-25000" dirty="0"/>
              <a:t>n</a:t>
            </a:r>
            <a:r>
              <a:rPr lang="en-US" altLang="ko-KR" dirty="0"/>
              <a:t>, 1)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벡터</a:t>
            </a:r>
            <a:r>
              <a:rPr lang="en-US" altLang="ko-KR" dirty="0"/>
              <a:t> → </a:t>
            </a:r>
            <a:r>
              <a:rPr lang="ko-KR" altLang="en-US" dirty="0"/>
              <a:t>변위 벡터</a:t>
            </a:r>
            <a:r>
              <a:rPr lang="en-US" altLang="ko-KR" dirty="0"/>
              <a:t>: </a:t>
            </a:r>
            <a:r>
              <a:rPr lang="ko-KR" altLang="en-US" dirty="0"/>
              <a:t>마지막 값 </a:t>
            </a:r>
            <a:r>
              <a:rPr lang="en-US" altLang="ko-KR" dirty="0"/>
              <a:t>→ 0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1459DF-457E-F5FD-8CBF-6875581D87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98279970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5B05-7F92-FF38-4ECA-F93C3A010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A7BDA-E4E9-9ABC-7C6C-0B6B363B9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아핀 결합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21F8F07-C26B-9886-55EC-3ACB0B5D4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두 점 사이의 선형 결합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 = 1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이면 점의 생성 가능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아핀 결합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아핀 공간에서 점의 스칼라 곱과 점 사이 덧셈은 정의 안됨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단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계수의 합이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인 경우에 한해 점들의 결합이 허용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21F8F07-C26B-9886-55EC-3ACB0B5D4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DB96B0-1B5B-D255-4827-70D46EF1BE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F3A47-AF7D-64D3-9114-ABE39BD3C874}"/>
                  </a:ext>
                </a:extLst>
              </p:cNvPr>
              <p:cNvSpPr txBox="1"/>
              <p:nvPr/>
            </p:nvSpPr>
            <p:spPr>
              <a:xfrm>
                <a:off x="683568" y="1362834"/>
                <a:ext cx="692303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, 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 +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F3A47-AF7D-64D3-9114-ABE39BD3C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362834"/>
                <a:ext cx="6923038" cy="369332"/>
              </a:xfrm>
              <a:prstGeom prst="rect">
                <a:avLst/>
              </a:prstGeom>
              <a:blipFill>
                <a:blip r:embed="rId3"/>
                <a:stretch>
                  <a:fillRect l="-1056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79BB4A-337F-B25E-29EB-B184F7C1EB5C}"/>
                  </a:ext>
                </a:extLst>
              </p:cNvPr>
              <p:cNvSpPr txBox="1"/>
              <p:nvPr/>
            </p:nvSpPr>
            <p:spPr>
              <a:xfrm>
                <a:off x="935088" y="4676809"/>
                <a:ext cx="4968552" cy="745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 =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 +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79BB4A-337F-B25E-29EB-B184F7C1E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88" y="4676809"/>
                <a:ext cx="4968552" cy="745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E5BB8-1736-FE24-9EDF-405DFC9C823B}"/>
                  </a:ext>
                </a:extLst>
              </p:cNvPr>
              <p:cNvSpPr txBox="1"/>
              <p:nvPr/>
            </p:nvSpPr>
            <p:spPr>
              <a:xfrm>
                <a:off x="6948264" y="4620270"/>
                <a:ext cx="1440160" cy="837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7AE5BB8-1736-FE24-9EDF-405DFC9C8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264" y="4620270"/>
                <a:ext cx="1440160" cy="837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화살표: 왼쪽 7">
            <a:extLst>
              <a:ext uri="{FF2B5EF4-FFF2-40B4-BE49-F238E27FC236}">
                <a16:creationId xmlns:a16="http://schemas.microsoft.com/office/drawing/2014/main" id="{703236C4-A2A6-290F-B160-926EE69D3162}"/>
              </a:ext>
            </a:extLst>
          </p:cNvPr>
          <p:cNvSpPr/>
          <p:nvPr/>
        </p:nvSpPr>
        <p:spPr bwMode="auto">
          <a:xfrm>
            <a:off x="5903640" y="4676809"/>
            <a:ext cx="684076" cy="618138"/>
          </a:xfrm>
          <a:prstGeom prst="lef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245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1D31A-6A6C-928A-51C2-0F9C6543D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9D847-8F6B-CF59-04A2-5B0EAB0B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 </a:t>
            </a:r>
            <a:r>
              <a:rPr lang="ko-KR" altLang="en-US" dirty="0"/>
              <a:t>아핀 결합 유도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909E37-CA92-0910-DB97-7996B075F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아핀 결합 유도</a:t>
            </a:r>
            <a:endParaRPr lang="en-US" altLang="ko-KR" sz="2400" dirty="0"/>
          </a:p>
          <a:p>
            <a:pPr lvl="1"/>
            <a:r>
              <a:rPr lang="ko-KR" altLang="en-US" sz="2000" dirty="0"/>
              <a:t>점의 스칼라 곱</a:t>
            </a:r>
            <a:r>
              <a:rPr lang="en-US" altLang="ko-KR" sz="2000" dirty="0"/>
              <a:t>, </a:t>
            </a:r>
            <a:r>
              <a:rPr lang="ko-KR" altLang="en-US" sz="2000" dirty="0"/>
              <a:t>점 </a:t>
            </a:r>
            <a:r>
              <a:rPr lang="en-US" altLang="ko-KR" sz="2000" dirty="0"/>
              <a:t>+ </a:t>
            </a:r>
            <a:r>
              <a:rPr lang="ko-KR" altLang="en-US" sz="2000" dirty="0"/>
              <a:t>점의 덧셈 연산을 잊어야</a:t>
            </a:r>
            <a:endParaRPr lang="en-US" altLang="ko-KR" sz="2000" dirty="0"/>
          </a:p>
          <a:p>
            <a:pPr lvl="1"/>
            <a:r>
              <a:rPr lang="ko-KR" altLang="en-US" sz="2000" dirty="0"/>
              <a:t>오직 수식으로만 이해</a:t>
            </a:r>
            <a:endParaRPr lang="en-US" altLang="ko-KR" sz="2000" dirty="0"/>
          </a:p>
          <a:p>
            <a:pPr lvl="1"/>
            <a:r>
              <a:rPr lang="en-US" altLang="ko-KR" sz="2000" i="1" dirty="0"/>
              <a:t>P</a:t>
            </a:r>
            <a:r>
              <a:rPr lang="en-US" altLang="ko-KR" sz="2000" i="1" baseline="-25000" dirty="0"/>
              <a:t>o</a:t>
            </a:r>
            <a:r>
              <a:rPr lang="en-US" altLang="ko-KR" sz="2000" dirty="0"/>
              <a:t> : </a:t>
            </a:r>
            <a:r>
              <a:rPr lang="ko-KR" altLang="en-US" sz="2000" dirty="0"/>
              <a:t> 원점이 아닌 기준점</a:t>
            </a:r>
            <a:endParaRPr lang="en-US" altLang="ko-KR" sz="2000" baseline="-250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B0157F-8B6C-2CFE-C96A-7D316168C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EFF97-B57D-E44D-C45B-5991396AAEAA}"/>
                  </a:ext>
                </a:extLst>
              </p:cNvPr>
              <p:cNvSpPr txBox="1"/>
              <p:nvPr/>
            </p:nvSpPr>
            <p:spPr>
              <a:xfrm>
                <a:off x="611560" y="2636912"/>
                <a:ext cx="5256584" cy="15220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 + 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</m:oMath>
                  </m:oMathPara>
                </a14:m>
                <a:endParaRPr lang="en-US" altLang="ko-KR" dirty="0"/>
              </a:p>
              <a:p>
                <a:r>
                  <a:rPr lang="en-US" altLang="ko-KR" dirty="0"/>
                  <a:t>    =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 +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/>
                  <a:t>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  −  </m:t>
                            </m:r>
                            <m:sSub>
                              <m:sSubPr>
                                <m:ctrlP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ko-KR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/>
                  <a:t>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 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⋯−</m:t>
                        </m:r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4EFF97-B57D-E44D-C45B-5991396AA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36912"/>
                <a:ext cx="5256584" cy="1522083"/>
              </a:xfrm>
              <a:prstGeom prst="rect">
                <a:avLst/>
              </a:prstGeom>
              <a:blipFill>
                <a:blip r:embed="rId2"/>
                <a:stretch>
                  <a:fillRect t="-14859" r="-2202" b="-630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BB82B6-E2DF-9DA0-C512-53A8E9A0F7AB}"/>
                  </a:ext>
                </a:extLst>
              </p:cNvPr>
              <p:cNvSpPr txBox="1"/>
              <p:nvPr/>
            </p:nvSpPr>
            <p:spPr>
              <a:xfrm>
                <a:off x="467041" y="4550268"/>
                <a:ext cx="33344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⋯−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BB82B6-E2DF-9DA0-C512-53A8E9A0F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041" y="4550268"/>
                <a:ext cx="3334483" cy="461665"/>
              </a:xfrm>
              <a:prstGeom prst="rect">
                <a:avLst/>
              </a:prstGeom>
              <a:blipFill>
                <a:blip r:embed="rId3"/>
                <a:stretch>
                  <a:fillRect l="-548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5C10E4-D5C4-9C2F-89B9-EEDDB75BF374}"/>
                  </a:ext>
                </a:extLst>
              </p:cNvPr>
              <p:cNvSpPr txBox="1"/>
              <p:nvPr/>
            </p:nvSpPr>
            <p:spPr>
              <a:xfrm>
                <a:off x="4539385" y="4549778"/>
                <a:ext cx="30065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85C10E4-D5C4-9C2F-89B9-EEDDB75BF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385" y="4549778"/>
                <a:ext cx="3006555" cy="461665"/>
              </a:xfrm>
              <a:prstGeom prst="rect">
                <a:avLst/>
              </a:prstGeom>
              <a:blipFill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58E18985-EDC3-88CE-C512-2F4AB6F7EDB1}"/>
              </a:ext>
            </a:extLst>
          </p:cNvPr>
          <p:cNvSpPr/>
          <p:nvPr/>
        </p:nvSpPr>
        <p:spPr bwMode="auto">
          <a:xfrm>
            <a:off x="3967655" y="4550268"/>
            <a:ext cx="504057" cy="461665"/>
          </a:xfrm>
          <a:prstGeom prst="righ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9A71F0-71CE-D43B-035C-93E6E17F7C18}"/>
                  </a:ext>
                </a:extLst>
              </p:cNvPr>
              <p:cNvSpPr txBox="1"/>
              <p:nvPr/>
            </p:nvSpPr>
            <p:spPr>
              <a:xfrm>
                <a:off x="466813" y="5501181"/>
                <a:ext cx="2171359" cy="8943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∃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9A71F0-71CE-D43B-035C-93E6E17F7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13" y="5501181"/>
                <a:ext cx="2171359" cy="894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C68589E4-837B-CBDD-3A50-76D782F4D86C}"/>
              </a:ext>
            </a:extLst>
          </p:cNvPr>
          <p:cNvSpPr txBox="1"/>
          <p:nvPr/>
        </p:nvSpPr>
        <p:spPr>
          <a:xfrm>
            <a:off x="3563889" y="5596176"/>
            <a:ext cx="1944216" cy="584775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3200" b="1" dirty="0">
                <a:solidFill>
                  <a:srgbClr val="216F85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</a:rPr>
              <a:t>아핀 결합</a:t>
            </a:r>
            <a:endParaRPr lang="en-US" altLang="ko-KR" sz="3200" b="1" dirty="0">
              <a:solidFill>
                <a:srgbClr val="000000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화살표: 왼쪽 16">
            <a:extLst>
              <a:ext uri="{FF2B5EF4-FFF2-40B4-BE49-F238E27FC236}">
                <a16:creationId xmlns:a16="http://schemas.microsoft.com/office/drawing/2014/main" id="{0C9DC5C7-3F6D-8441-A771-63503D05EF22}"/>
              </a:ext>
            </a:extLst>
          </p:cNvPr>
          <p:cNvSpPr/>
          <p:nvPr/>
        </p:nvSpPr>
        <p:spPr bwMode="auto">
          <a:xfrm>
            <a:off x="2721404" y="5639285"/>
            <a:ext cx="684076" cy="618138"/>
          </a:xfrm>
          <a:prstGeom prst="leftArrow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417D46-D405-4D0D-59C7-4979560D9605}"/>
                  </a:ext>
                </a:extLst>
              </p:cNvPr>
              <p:cNvSpPr txBox="1"/>
              <p:nvPr/>
            </p:nvSpPr>
            <p:spPr>
              <a:xfrm>
                <a:off x="3967655" y="2852936"/>
                <a:ext cx="23042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ko-KR" i="1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 −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417D46-D405-4D0D-59C7-4979560D9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655" y="2852936"/>
                <a:ext cx="2304256" cy="461665"/>
              </a:xfrm>
              <a:prstGeom prst="rect">
                <a:avLst/>
              </a:prstGeom>
              <a:blipFill>
                <a:blip r:embed="rId6"/>
                <a:stretch>
                  <a:fillRect t="-14474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C28F67-7B22-4366-92FC-4F67640EFE36}"/>
                  </a:ext>
                </a:extLst>
              </p:cNvPr>
              <p:cNvSpPr txBox="1"/>
              <p:nvPr/>
            </p:nvSpPr>
            <p:spPr>
              <a:xfrm>
                <a:off x="6150685" y="5247272"/>
                <a:ext cx="2790510" cy="1164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C28F67-7B22-4366-92FC-4F67640EF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685" y="5247272"/>
                <a:ext cx="2790510" cy="116467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8627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C06F-3332-DB09-B662-653082D6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96">
            <a:extLst>
              <a:ext uri="{FF2B5EF4-FFF2-40B4-BE49-F238E27FC236}">
                <a16:creationId xmlns:a16="http://schemas.microsoft.com/office/drawing/2014/main" id="{4D97A8C1-DF79-C481-91A1-E7FFA68224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07391" y="2240190"/>
            <a:ext cx="1640873" cy="826680"/>
          </a:xfrm>
          <a:prstGeom prst="line">
            <a:avLst/>
          </a:prstGeom>
          <a:noFill/>
          <a:ln w="25400">
            <a:solidFill>
              <a:srgbClr val="7030A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1E9E5A0-F110-B8DC-7B1F-3266E883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6.3.1 </a:t>
            </a:r>
            <a:r>
              <a:rPr lang="ko-KR" altLang="en-US" dirty="0"/>
              <a:t>두 점의 결합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BB5F653-255C-2EB2-EF7C-2CBD809A18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두 점의 결합</a:t>
                </a:r>
                <a:endParaRPr lang="en-US" altLang="ko-KR" dirty="0"/>
              </a:p>
              <a:p>
                <a:pPr lvl="1"/>
                <a:r>
                  <a:rPr lang="ko-KR" altLang="en-US" b="0" dirty="0"/>
                  <a:t>선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형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결</m:t>
                    </m:r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합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 = 1</m:t>
                    </m:r>
                  </m:oMath>
                </a14:m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= 1</m:t>
                    </m:r>
                  </m:oMath>
                </a14:m>
                <a:endParaRPr lang="en-US" altLang="ko-KR" b="0" dirty="0"/>
              </a:p>
              <a:p>
                <a:pPr lvl="1"/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= 0</m:t>
                    </m:r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r>
                  <a:rPr lang="ko-KR" altLang="en-US" dirty="0"/>
                  <a:t>직선의 방정식</a:t>
                </a:r>
                <a:endParaRPr lang="en-US" altLang="ko-KR" dirty="0"/>
              </a:p>
              <a:p>
                <a:pPr marL="457200" lvl="1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BB5F653-255C-2EB2-EF7C-2CBD809A1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6999CD-6714-0912-947C-B774972C8A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3234A-67B9-C138-6AB2-1138F5DACE82}"/>
                  </a:ext>
                </a:extLst>
              </p:cNvPr>
              <p:cNvSpPr txBox="1"/>
              <p:nvPr/>
            </p:nvSpPr>
            <p:spPr>
              <a:xfrm>
                <a:off x="1259633" y="1700808"/>
                <a:ext cx="327523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3234A-67B9-C138-6AB2-1138F5DAC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3" y="1700808"/>
                <a:ext cx="3275235" cy="369332"/>
              </a:xfrm>
              <a:prstGeom prst="rect">
                <a:avLst/>
              </a:prstGeom>
              <a:blipFill>
                <a:blip r:embed="rId3"/>
                <a:stretch>
                  <a:fillRect l="-2421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BA7C91-86A7-FC7A-A2A6-BBEAA4ABE029}"/>
                  </a:ext>
                </a:extLst>
              </p:cNvPr>
              <p:cNvSpPr txBox="1"/>
              <p:nvPr/>
            </p:nvSpPr>
            <p:spPr>
              <a:xfrm>
                <a:off x="1259633" y="2852936"/>
                <a:ext cx="352839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1⋅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+0=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BA7C91-86A7-FC7A-A2A6-BBEAA4ABE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3" y="2852936"/>
                <a:ext cx="3528393" cy="369332"/>
              </a:xfrm>
              <a:prstGeom prst="rect">
                <a:avLst/>
              </a:prstGeom>
              <a:blipFill>
                <a:blip r:embed="rId4"/>
                <a:stretch>
                  <a:fillRect l="-3114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1BD729-D519-02CF-6922-FEFF98D19675}"/>
                  </a:ext>
                </a:extLst>
              </p:cNvPr>
              <p:cNvSpPr txBox="1"/>
              <p:nvPr/>
            </p:nvSpPr>
            <p:spPr>
              <a:xfrm>
                <a:off x="1259633" y="3820398"/>
                <a:ext cx="319534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1⋅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1BD729-D519-02CF-6922-FEFF98D19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3" y="3820398"/>
                <a:ext cx="3195349" cy="369332"/>
              </a:xfrm>
              <a:prstGeom prst="rect">
                <a:avLst/>
              </a:prstGeom>
              <a:blipFill>
                <a:blip r:embed="rId5"/>
                <a:stretch>
                  <a:fillRect l="-3435" b="-1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EB85B3-239D-FFFB-5F8D-3DEFAC8C9D78}"/>
                  </a:ext>
                </a:extLst>
              </p:cNvPr>
              <p:cNvSpPr txBox="1"/>
              <p:nvPr/>
            </p:nvSpPr>
            <p:spPr>
              <a:xfrm>
                <a:off x="1318132" y="6011996"/>
                <a:ext cx="405448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EB85B3-239D-FFFB-5F8D-3DEFAC8C9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32" y="6011996"/>
                <a:ext cx="4054483" cy="369332"/>
              </a:xfrm>
              <a:prstGeom prst="rect">
                <a:avLst/>
              </a:prstGeom>
              <a:blipFill>
                <a:blip r:embed="rId6"/>
                <a:stretch>
                  <a:fillRect l="-2556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Arc 104">
            <a:extLst>
              <a:ext uri="{FF2B5EF4-FFF2-40B4-BE49-F238E27FC236}">
                <a16:creationId xmlns:a16="http://schemas.microsoft.com/office/drawing/2014/main" id="{7BE6ECC3-892D-108A-255A-365FB2C600DC}"/>
              </a:ext>
            </a:extLst>
          </p:cNvPr>
          <p:cNvSpPr>
            <a:spLocks/>
          </p:cNvSpPr>
          <p:nvPr/>
        </p:nvSpPr>
        <p:spPr bwMode="auto">
          <a:xfrm rot="9134488" flipV="1">
            <a:off x="6950879" y="1722973"/>
            <a:ext cx="1166382" cy="262822"/>
          </a:xfrm>
          <a:custGeom>
            <a:avLst/>
            <a:gdLst>
              <a:gd name="T0" fmla="*/ 0 w 40588"/>
              <a:gd name="T1" fmla="*/ 727464 h 21600"/>
              <a:gd name="T2" fmla="*/ 5700539 w 40588"/>
              <a:gd name="T3" fmla="*/ 746450 h 21600"/>
              <a:gd name="T4" fmla="*/ 2840854 w 40588"/>
              <a:gd name="T5" fmla="*/ 1120536 h 21600"/>
              <a:gd name="T6" fmla="*/ 0 60000 65536"/>
              <a:gd name="T7" fmla="*/ 0 60000 65536"/>
              <a:gd name="T8" fmla="*/ 0 60000 65536"/>
              <a:gd name="T9" fmla="*/ 0 w 40588"/>
              <a:gd name="T10" fmla="*/ 0 h 21600"/>
              <a:gd name="T11" fmla="*/ 40588 w 405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88" h="21600" fill="none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</a:path>
              <a:path w="40588" h="21600" stroke="0" extrusionOk="0">
                <a:moveTo>
                  <a:pt x="-1" y="14022"/>
                </a:moveTo>
                <a:cubicBezTo>
                  <a:pt x="3159" y="5588"/>
                  <a:pt x="11220" y="-1"/>
                  <a:pt x="20227" y="0"/>
                </a:cubicBezTo>
                <a:cubicBezTo>
                  <a:pt x="29376" y="0"/>
                  <a:pt x="37533" y="5764"/>
                  <a:pt x="40587" y="14389"/>
                </a:cubicBezTo>
                <a:lnTo>
                  <a:pt x="20227" y="21600"/>
                </a:lnTo>
                <a:close/>
              </a:path>
            </a:pathLst>
          </a:custGeom>
          <a:noFill/>
          <a:ln w="15875">
            <a:solidFill>
              <a:srgbClr val="0070C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26">
                <a:extLst>
                  <a:ext uri="{FF2B5EF4-FFF2-40B4-BE49-F238E27FC236}">
                    <a16:creationId xmlns:a16="http://schemas.microsoft.com/office/drawing/2014/main" id="{A0226392-2AB4-8510-7D9F-B6FC33A94884}"/>
                  </a:ext>
                </a:extLst>
              </p:cNvPr>
              <p:cNvSpPr txBox="1"/>
              <p:nvPr/>
            </p:nvSpPr>
            <p:spPr bwMode="auto">
              <a:xfrm>
                <a:off x="8168781" y="1674317"/>
                <a:ext cx="883028" cy="5658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Object 126">
                <a:extLst>
                  <a:ext uri="{FF2B5EF4-FFF2-40B4-BE49-F238E27FC236}">
                    <a16:creationId xmlns:a16="http://schemas.microsoft.com/office/drawing/2014/main" id="{A0226392-2AB4-8510-7D9F-B6FC33A94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68781" y="1674317"/>
                <a:ext cx="883028" cy="565874"/>
              </a:xfrm>
              <a:prstGeom prst="rect">
                <a:avLst/>
              </a:prstGeom>
              <a:blipFill>
                <a:blip r:embed="rId7"/>
                <a:stretch>
                  <a:fillRect l="-13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Oval 91">
            <a:extLst>
              <a:ext uri="{FF2B5EF4-FFF2-40B4-BE49-F238E27FC236}">
                <a16:creationId xmlns:a16="http://schemas.microsoft.com/office/drawing/2014/main" id="{C3743A08-7531-C18D-994E-BE77F0CCF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031" y="2996952"/>
            <a:ext cx="244049" cy="241368"/>
          </a:xfrm>
          <a:prstGeom prst="ellipse">
            <a:avLst/>
          </a:prstGeom>
          <a:solidFill>
            <a:srgbClr val="7030A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28">
                <a:extLst>
                  <a:ext uri="{FF2B5EF4-FFF2-40B4-BE49-F238E27FC236}">
                    <a16:creationId xmlns:a16="http://schemas.microsoft.com/office/drawing/2014/main" id="{74D10602-6316-AA80-C85D-F64C53F28EEB}"/>
                  </a:ext>
                </a:extLst>
              </p:cNvPr>
              <p:cNvSpPr txBox="1"/>
              <p:nvPr/>
            </p:nvSpPr>
            <p:spPr bwMode="auto">
              <a:xfrm>
                <a:off x="6475782" y="1771697"/>
                <a:ext cx="713593" cy="5336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Object 128">
                <a:extLst>
                  <a:ext uri="{FF2B5EF4-FFF2-40B4-BE49-F238E27FC236}">
                    <a16:creationId xmlns:a16="http://schemas.microsoft.com/office/drawing/2014/main" id="{74D10602-6316-AA80-C85D-F64C53F28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5782" y="1771697"/>
                <a:ext cx="713593" cy="533691"/>
              </a:xfrm>
              <a:prstGeom prst="rect">
                <a:avLst/>
              </a:prstGeom>
              <a:blipFill>
                <a:blip r:embed="rId8"/>
                <a:stretch>
                  <a:fillRect t="-14943" r="-68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89">
            <a:extLst>
              <a:ext uri="{FF2B5EF4-FFF2-40B4-BE49-F238E27FC236}">
                <a16:creationId xmlns:a16="http://schemas.microsoft.com/office/drawing/2014/main" id="{DEBC2891-2284-673A-2AE7-577281ABD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2917" y="2118167"/>
            <a:ext cx="244049" cy="244049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D2A2D1-246F-DD1F-9723-5CC2D31893C4}"/>
                  </a:ext>
                </a:extLst>
              </p:cNvPr>
              <p:cNvSpPr txBox="1"/>
              <p:nvPr/>
            </p:nvSpPr>
            <p:spPr>
              <a:xfrm>
                <a:off x="4957835" y="3238320"/>
                <a:ext cx="668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4D2A2D1-246F-DD1F-9723-5CC2D3189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835" y="3238320"/>
                <a:ext cx="668490" cy="461665"/>
              </a:xfrm>
              <a:prstGeom prst="rect">
                <a:avLst/>
              </a:prstGeom>
              <a:blipFill>
                <a:blip r:embed="rId9"/>
                <a:stretch>
                  <a:fillRect l="-1818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FF6A7D-54D6-554A-5EF2-9C9390223545}"/>
                  </a:ext>
                </a:extLst>
              </p:cNvPr>
              <p:cNvSpPr txBox="1"/>
              <p:nvPr/>
            </p:nvSpPr>
            <p:spPr>
              <a:xfrm>
                <a:off x="6829484" y="2369081"/>
                <a:ext cx="668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CFF6A7D-54D6-554A-5EF2-9C9390223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484" y="2369081"/>
                <a:ext cx="668490" cy="461665"/>
              </a:xfrm>
              <a:prstGeom prst="rect">
                <a:avLst/>
              </a:prstGeom>
              <a:blipFill>
                <a:blip r:embed="rId10"/>
                <a:stretch>
                  <a:fillRect l="-1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EFD1CA4-1519-6AB2-0B16-0C1528C3D997}"/>
                  </a:ext>
                </a:extLst>
              </p:cNvPr>
              <p:cNvSpPr txBox="1"/>
              <p:nvPr/>
            </p:nvSpPr>
            <p:spPr>
              <a:xfrm>
                <a:off x="7222483" y="1296716"/>
                <a:ext cx="66849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EFD1CA4-1519-6AB2-0B16-0C1528C3D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483" y="1296716"/>
                <a:ext cx="66849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4FB57E6-3A97-A072-B172-57D1DAD8470E}"/>
                  </a:ext>
                </a:extLst>
              </p:cNvPr>
              <p:cNvSpPr txBox="1"/>
              <p:nvPr/>
            </p:nvSpPr>
            <p:spPr>
              <a:xfrm>
                <a:off x="5823602" y="2303365"/>
                <a:ext cx="90807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4FB57E6-3A97-A072-B172-57D1DAD84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602" y="2303365"/>
                <a:ext cx="908079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864267-87F6-24F2-E308-74B5D50834E1}"/>
                  </a:ext>
                </a:extLst>
              </p:cNvPr>
              <p:cNvSpPr txBox="1"/>
              <p:nvPr/>
            </p:nvSpPr>
            <p:spPr>
              <a:xfrm>
                <a:off x="1331641" y="4958215"/>
                <a:ext cx="319534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6864267-87F6-24F2-E308-74B5D5083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1" y="4958215"/>
                <a:ext cx="3195349" cy="369332"/>
              </a:xfrm>
              <a:prstGeom prst="rect">
                <a:avLst/>
              </a:prstGeom>
              <a:blipFill>
                <a:blip r:embed="rId13"/>
                <a:stretch>
                  <a:fillRect l="-2286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2C73AE-5CD2-7D50-A4F0-EF2A6D925724}"/>
                  </a:ext>
                </a:extLst>
              </p:cNvPr>
              <p:cNvSpPr txBox="1"/>
              <p:nvPr/>
            </p:nvSpPr>
            <p:spPr>
              <a:xfrm>
                <a:off x="1331640" y="5435932"/>
                <a:ext cx="36613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2C73AE-5CD2-7D50-A4F0-EF2A6D925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5435932"/>
                <a:ext cx="3661353" cy="369332"/>
              </a:xfrm>
              <a:prstGeom prst="rect">
                <a:avLst/>
              </a:prstGeom>
              <a:blipFill>
                <a:blip r:embed="rId14"/>
                <a:stretch>
                  <a:fillRect l="-1997" t="-35000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ine 96">
            <a:extLst>
              <a:ext uri="{FF2B5EF4-FFF2-40B4-BE49-F238E27FC236}">
                <a16:creationId xmlns:a16="http://schemas.microsoft.com/office/drawing/2014/main" id="{034A06E7-812D-EFBC-458E-5F6DEA0A01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6966" y="1608601"/>
            <a:ext cx="1161074" cy="584955"/>
          </a:xfrm>
          <a:prstGeom prst="line">
            <a:avLst/>
          </a:prstGeom>
          <a:noFill/>
          <a:ln w="25400">
            <a:solidFill>
              <a:srgbClr val="0070C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61711" tIns="30855" rIns="61711" bIns="30855">
            <a:spAutoFit/>
          </a:bodyPr>
          <a:lstStyle/>
          <a:p>
            <a:endParaRPr lang="ko-KR" altLang="en-US" dirty="0"/>
          </a:p>
        </p:txBody>
      </p:sp>
      <p:sp>
        <p:nvSpPr>
          <p:cNvPr id="15" name="Oval 93">
            <a:extLst>
              <a:ext uri="{FF2B5EF4-FFF2-40B4-BE49-F238E27FC236}">
                <a16:creationId xmlns:a16="http://schemas.microsoft.com/office/drawing/2014/main" id="{84268F45-57F0-5CDA-2D4E-C57BB5865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7831" y="1542397"/>
            <a:ext cx="244050" cy="244050"/>
          </a:xfrm>
          <a:prstGeom prst="ellipse">
            <a:avLst/>
          </a:prstGeom>
          <a:solidFill>
            <a:srgbClr val="7030A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347041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A2E5-3802-67EC-E1BB-7A1D7D02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23B24-633F-4D14-1E2C-A778B9AE8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6.3.1 </a:t>
            </a:r>
            <a:r>
              <a:rPr lang="ko-KR" altLang="en-US" dirty="0"/>
              <a:t>두 점의 결합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BB5A73-E99C-EE5A-7EFE-7B74597EED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직선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ko-K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 &lt;∞</m:t>
                    </m:r>
                  </m:oMath>
                </a14:m>
                <a:endParaRPr lang="en-US" altLang="ko-KR" b="0" dirty="0">
                  <a:ea typeface="Cambria Math" panose="02040503050406030204" pitchFamily="18" charset="0"/>
                </a:endParaRP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반직선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 &lt;∞</m:t>
                    </m:r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선분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0≤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>
                        <a:latin typeface="Cambria Math" panose="02040503050406030204" pitchFamily="18" charset="0"/>
                      </a:rPr>
                      <m:t> ≤1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BB5A73-E99C-EE5A-7EFE-7B74597EED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0" t="-1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ABCF55-02AD-8139-C2D1-79908EA4864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A585C03-7E78-5AA1-7DAF-FC44AA9804B6}"/>
              </a:ext>
            </a:extLst>
          </p:cNvPr>
          <p:cNvGrpSpPr/>
          <p:nvPr/>
        </p:nvGrpSpPr>
        <p:grpSpPr>
          <a:xfrm>
            <a:off x="2987824" y="1052736"/>
            <a:ext cx="2673390" cy="1427746"/>
            <a:chOff x="5448280" y="1628800"/>
            <a:chExt cx="2673390" cy="1427746"/>
          </a:xfrm>
        </p:grpSpPr>
        <p:sp>
          <p:nvSpPr>
            <p:cNvPr id="16" name="Line 96">
              <a:extLst>
                <a:ext uri="{FF2B5EF4-FFF2-40B4-BE49-F238E27FC236}">
                  <a16:creationId xmlns:a16="http://schemas.microsoft.com/office/drawing/2014/main" id="{EF01C2FC-ABD2-E75F-C2B7-BE1756FBD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6325" y="1628800"/>
              <a:ext cx="2402059" cy="1224136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 type="stealth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2" name="Arc 104">
              <a:extLst>
                <a:ext uri="{FF2B5EF4-FFF2-40B4-BE49-F238E27FC236}">
                  <a16:creationId xmlns:a16="http://schemas.microsoft.com/office/drawing/2014/main" id="{66693E6E-7F57-3A87-5F37-260D5EE88ED2}"/>
                </a:ext>
              </a:extLst>
            </p:cNvPr>
            <p:cNvSpPr>
              <a:spLocks/>
            </p:cNvSpPr>
            <p:nvPr/>
          </p:nvSpPr>
          <p:spPr bwMode="auto">
            <a:xfrm rot="9134488" flipV="1">
              <a:off x="5448280" y="1795509"/>
              <a:ext cx="2673390" cy="677457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158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30" name="Oval 91">
              <a:extLst>
                <a:ext uri="{FF2B5EF4-FFF2-40B4-BE49-F238E27FC236}">
                  <a16:creationId xmlns:a16="http://schemas.microsoft.com/office/drawing/2014/main" id="{6BDE1020-DD0D-4DEC-3596-67D1F6970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7827" y="2412162"/>
              <a:ext cx="244049" cy="241368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20E4A23-B965-E6C2-8478-6C76072EB2E4}"/>
                    </a:ext>
                  </a:extLst>
                </p:cNvPr>
                <p:cNvSpPr txBox="1"/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20E4A23-B965-E6C2-8478-6C76072EB2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2752"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93">
              <a:extLst>
                <a:ext uri="{FF2B5EF4-FFF2-40B4-BE49-F238E27FC236}">
                  <a16:creationId xmlns:a16="http://schemas.microsoft.com/office/drawing/2014/main" id="{FA0906E6-3A8D-1829-3B21-9E25157B4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020" y="1833589"/>
              <a:ext cx="244050" cy="244050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E43176B-1C28-2EF6-41FF-0AA17C2EF038}"/>
                    </a:ext>
                  </a:extLst>
                </p:cNvPr>
                <p:cNvSpPr txBox="1"/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E43176B-1C28-2EF6-41FF-0AA17C2EF0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818"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F827094-E829-3027-B285-2F7F2CAD4C46}"/>
              </a:ext>
            </a:extLst>
          </p:cNvPr>
          <p:cNvGrpSpPr/>
          <p:nvPr/>
        </p:nvGrpSpPr>
        <p:grpSpPr>
          <a:xfrm>
            <a:off x="3165869" y="2912168"/>
            <a:ext cx="2589114" cy="1222957"/>
            <a:chOff x="5491421" y="1833589"/>
            <a:chExt cx="2589114" cy="1222957"/>
          </a:xfrm>
        </p:grpSpPr>
        <p:sp>
          <p:nvSpPr>
            <p:cNvPr id="12" name="Line 96">
              <a:extLst>
                <a:ext uri="{FF2B5EF4-FFF2-40B4-BE49-F238E27FC236}">
                  <a16:creationId xmlns:a16="http://schemas.microsoft.com/office/drawing/2014/main" id="{9D584036-87E0-1A8C-01ED-001B4E52D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6326" y="1955614"/>
              <a:ext cx="1785720" cy="89732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14" name="Arc 104">
              <a:extLst>
                <a:ext uri="{FF2B5EF4-FFF2-40B4-BE49-F238E27FC236}">
                  <a16:creationId xmlns:a16="http://schemas.microsoft.com/office/drawing/2014/main" id="{683F362B-C646-38B4-BA2F-7287BDFF7181}"/>
                </a:ext>
              </a:extLst>
            </p:cNvPr>
            <p:cNvSpPr>
              <a:spLocks/>
            </p:cNvSpPr>
            <p:nvPr/>
          </p:nvSpPr>
          <p:spPr bwMode="auto">
            <a:xfrm rot="9134488" flipV="1">
              <a:off x="5491421" y="1970104"/>
              <a:ext cx="1923644" cy="677457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158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17" name="Oval 91">
              <a:extLst>
                <a:ext uri="{FF2B5EF4-FFF2-40B4-BE49-F238E27FC236}">
                  <a16:creationId xmlns:a16="http://schemas.microsoft.com/office/drawing/2014/main" id="{E85A1F2F-173E-DC06-893A-D8D38C1E5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7827" y="2412162"/>
              <a:ext cx="244049" cy="241368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55798D6-61A1-1DB2-B9D5-FB34EB94CB05}"/>
                    </a:ext>
                  </a:extLst>
                </p:cNvPr>
                <p:cNvSpPr txBox="1"/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55798D6-61A1-1DB2-B9D5-FB34EB94C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3780" y="2594881"/>
                  <a:ext cx="668490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752"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Oval 93">
              <a:extLst>
                <a:ext uri="{FF2B5EF4-FFF2-40B4-BE49-F238E27FC236}">
                  <a16:creationId xmlns:a16="http://schemas.microsoft.com/office/drawing/2014/main" id="{3842EC1F-7A94-2FAA-4BAF-6BA42BB13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020" y="1833589"/>
              <a:ext cx="244050" cy="244050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B234831-6FC9-E70E-0B34-13D41480DBB7}"/>
                    </a:ext>
                  </a:extLst>
                </p:cNvPr>
                <p:cNvSpPr txBox="1"/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B234831-6FC9-E70E-0B34-13D41480D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1818"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7FBE0A7-BBB2-874F-179A-DFC280B39ADE}"/>
              </a:ext>
            </a:extLst>
          </p:cNvPr>
          <p:cNvGrpSpPr/>
          <p:nvPr/>
        </p:nvGrpSpPr>
        <p:grpSpPr>
          <a:xfrm>
            <a:off x="3300774" y="4716098"/>
            <a:ext cx="2589114" cy="1459601"/>
            <a:chOff x="5491421" y="1833589"/>
            <a:chExt cx="2589114" cy="1459601"/>
          </a:xfrm>
        </p:grpSpPr>
        <p:sp>
          <p:nvSpPr>
            <p:cNvPr id="24" name="Line 96">
              <a:extLst>
                <a:ext uri="{FF2B5EF4-FFF2-40B4-BE49-F238E27FC236}">
                  <a16:creationId xmlns:a16="http://schemas.microsoft.com/office/drawing/2014/main" id="{5704E332-A429-11C7-9DD8-06076FBD0C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6326" y="1955614"/>
              <a:ext cx="1785720" cy="89732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61711" tIns="30855" rIns="61711" bIns="30855">
              <a:spAutoFit/>
            </a:bodyPr>
            <a:lstStyle/>
            <a:p>
              <a:endParaRPr lang="ko-KR" altLang="en-US" dirty="0"/>
            </a:p>
          </p:txBody>
        </p:sp>
        <p:sp>
          <p:nvSpPr>
            <p:cNvPr id="25" name="Arc 104">
              <a:extLst>
                <a:ext uri="{FF2B5EF4-FFF2-40B4-BE49-F238E27FC236}">
                  <a16:creationId xmlns:a16="http://schemas.microsoft.com/office/drawing/2014/main" id="{4C27EBD3-DAEE-6DF9-0812-312B602A9302}"/>
                </a:ext>
              </a:extLst>
            </p:cNvPr>
            <p:cNvSpPr>
              <a:spLocks/>
            </p:cNvSpPr>
            <p:nvPr/>
          </p:nvSpPr>
          <p:spPr bwMode="auto">
            <a:xfrm rot="9134488" flipV="1">
              <a:off x="5491421" y="1970104"/>
              <a:ext cx="1923644" cy="677457"/>
            </a:xfrm>
            <a:custGeom>
              <a:avLst/>
              <a:gdLst>
                <a:gd name="T0" fmla="*/ 0 w 40588"/>
                <a:gd name="T1" fmla="*/ 727464 h 21600"/>
                <a:gd name="T2" fmla="*/ 5700539 w 40588"/>
                <a:gd name="T3" fmla="*/ 746450 h 21600"/>
                <a:gd name="T4" fmla="*/ 2840854 w 40588"/>
                <a:gd name="T5" fmla="*/ 1120536 h 21600"/>
                <a:gd name="T6" fmla="*/ 0 60000 65536"/>
                <a:gd name="T7" fmla="*/ 0 60000 65536"/>
                <a:gd name="T8" fmla="*/ 0 60000 65536"/>
                <a:gd name="T9" fmla="*/ 0 w 40588"/>
                <a:gd name="T10" fmla="*/ 0 h 21600"/>
                <a:gd name="T11" fmla="*/ 40588 w 4058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588" h="21600" fill="none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</a:path>
                <a:path w="40588" h="21600" stroke="0" extrusionOk="0">
                  <a:moveTo>
                    <a:pt x="-1" y="14022"/>
                  </a:moveTo>
                  <a:cubicBezTo>
                    <a:pt x="3159" y="5588"/>
                    <a:pt x="11220" y="-1"/>
                    <a:pt x="20227" y="0"/>
                  </a:cubicBezTo>
                  <a:cubicBezTo>
                    <a:pt x="29376" y="0"/>
                    <a:pt x="37533" y="5764"/>
                    <a:pt x="40587" y="14389"/>
                  </a:cubicBezTo>
                  <a:lnTo>
                    <a:pt x="20227" y="21600"/>
                  </a:lnTo>
                  <a:close/>
                </a:path>
              </a:pathLst>
            </a:custGeom>
            <a:noFill/>
            <a:ln w="15875">
              <a:solidFill>
                <a:srgbClr val="0070C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p:sp>
          <p:nvSpPr>
            <p:cNvPr id="26" name="Oval 91">
              <a:extLst>
                <a:ext uri="{FF2B5EF4-FFF2-40B4-BE49-F238E27FC236}">
                  <a16:creationId xmlns:a16="http://schemas.microsoft.com/office/drawing/2014/main" id="{57FDAB1A-4F1E-CF9E-6702-73FC584C4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6879" y="2698685"/>
              <a:ext cx="244049" cy="241368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1689C7-F7B8-4FB3-A441-7706557F6228}"/>
                    </a:ext>
                  </a:extLst>
                </p:cNvPr>
                <p:cNvSpPr txBox="1"/>
                <p:nvPr/>
              </p:nvSpPr>
              <p:spPr>
                <a:xfrm>
                  <a:off x="5720732" y="2831525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71689C7-F7B8-4FB3-A441-7706557F62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0732" y="2831525"/>
                  <a:ext cx="66849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1818" b="-394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93">
              <a:extLst>
                <a:ext uri="{FF2B5EF4-FFF2-40B4-BE49-F238E27FC236}">
                  <a16:creationId xmlns:a16="http://schemas.microsoft.com/office/drawing/2014/main" id="{8C26E964-D835-6BF7-6A0A-04C3795EC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020" y="1833589"/>
              <a:ext cx="244050" cy="244050"/>
            </a:xfrm>
            <a:prstGeom prst="ellipse">
              <a:avLst/>
            </a:prstGeom>
            <a:solidFill>
              <a:srgbClr val="7030A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EA7B479-F970-BAF7-374F-02990CFCC15E}"/>
                    </a:ext>
                  </a:extLst>
                </p:cNvPr>
                <p:cNvSpPr txBox="1"/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ko-KR" altLang="en-US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EA7B479-F970-BAF7-374F-02990CFCC1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045" y="1955614"/>
                  <a:ext cx="66849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752" b="-4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380670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22112-E379-F809-C6DB-7735910D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6.4.1 </a:t>
            </a:r>
            <a:r>
              <a:rPr lang="ko-KR" altLang="en-US" dirty="0"/>
              <a:t>벡터를 모니터의 점으로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783ADF-111B-B0F9-1AE2-18B4D262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라인 레스터 화</a:t>
            </a:r>
            <a:r>
              <a:rPr lang="en-US" altLang="ko-KR" dirty="0"/>
              <a:t>(Line Rasterization)</a:t>
            </a:r>
          </a:p>
          <a:p>
            <a:pPr lvl="1"/>
            <a:r>
              <a:rPr lang="ko-KR" altLang="en-US" dirty="0"/>
              <a:t>두 점을 연결하는 선을 픽셀 단위로 근사하여 표현하는 과정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왼손 좌표계 화면 </a:t>
            </a:r>
            <a:r>
              <a:rPr lang="en-US" altLang="ko-KR" dirty="0"/>
              <a:t>+ </a:t>
            </a:r>
            <a:r>
              <a:rPr lang="ko-KR" altLang="en-US" dirty="0"/>
              <a:t>중점 사용</a:t>
            </a:r>
            <a:endParaRPr lang="en-US" altLang="ko-KR" dirty="0"/>
          </a:p>
          <a:p>
            <a:pPr lvl="2"/>
            <a:r>
              <a:rPr lang="ko-KR" altLang="en-US" dirty="0"/>
              <a:t>좌상단 </a:t>
            </a:r>
            <a:r>
              <a:rPr lang="en-US" altLang="ko-KR" dirty="0"/>
              <a:t>(0,0)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우하단 </a:t>
            </a:r>
            <a:r>
              <a:rPr lang="en-US" altLang="ko-KR" dirty="0">
                <a:sym typeface="Wingdings" panose="05000000000000000000" pitchFamily="2" charset="2"/>
              </a:rPr>
              <a:t>(Screen W, Screen H)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BC639-EABB-F048-0854-7E4724498E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C9725C-A4FA-0009-6A4E-893955D7C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844824"/>
            <a:ext cx="3777858" cy="24482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204954-30F4-9B8B-C5CA-7FDD87BBE687}"/>
              </a:ext>
            </a:extLst>
          </p:cNvPr>
          <p:cNvSpPr txBox="1"/>
          <p:nvPr/>
        </p:nvSpPr>
        <p:spPr>
          <a:xfrm>
            <a:off x="968810" y="5589240"/>
            <a:ext cx="7704856" cy="707886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000" dirty="0">
                <a:solidFill>
                  <a:srgbClr val="216F85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ScreenPoint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(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InPos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+ 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InScreenSize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X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20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0.5f</a:t>
            </a:r>
            <a:endParaRPr lang="en-US" altLang="ko-KR" sz="2000" dirty="0">
              <a:solidFill>
                <a:srgbClr val="000000"/>
              </a:solidFill>
              <a:effectLst/>
              <a:latin typeface="Bitstream Vera Sans Mono" panose="020B0609030804020204" pitchFamily="49" charset="-127"/>
              <a:ea typeface="Bitstream Vera Sans Mono" panose="020B0609030804020204" pitchFamily="49" charset="-127"/>
            </a:endParaRPr>
          </a:p>
          <a:p>
            <a:pPr>
              <a:buNone/>
            </a:pP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         , -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InPos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+ 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InScreenSize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.</a:t>
            </a:r>
            <a:r>
              <a:rPr lang="en-US" altLang="ko-KR" sz="2000" dirty="0">
                <a:solidFill>
                  <a:srgbClr val="00008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Y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 * </a:t>
            </a:r>
            <a:r>
              <a:rPr lang="en-US" altLang="ko-KR" sz="2000" dirty="0">
                <a:solidFill>
                  <a:srgbClr val="FF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0.5f</a:t>
            </a:r>
            <a:r>
              <a:rPr lang="en-US" altLang="ko-KR" sz="2000" dirty="0">
                <a:solidFill>
                  <a:srgbClr val="000000"/>
                </a:solidFill>
                <a:effectLst/>
                <a:latin typeface="Bitstream Vera Sans Mono" panose="020B0609030804020204" pitchFamily="49" charset="-127"/>
                <a:ea typeface="Bitstream Vera Sans Mono" panose="020B0609030804020204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271607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2DEA-1223-B064-643D-CB159D94B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85463-5F44-ED10-ECA0-072E66FBA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6.4.2 </a:t>
            </a:r>
            <a:r>
              <a:rPr lang="ko-KR" altLang="en-US" dirty="0"/>
              <a:t>선 그리기 알고리즘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4ACCF-63A6-B2B2-62D9-A2E398702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브레젠험 알고리즘 </a:t>
            </a:r>
            <a:r>
              <a:rPr lang="en-US" altLang="ko-KR" sz="2400" dirty="0"/>
              <a:t>(Bresenham)</a:t>
            </a:r>
          </a:p>
          <a:p>
            <a:pPr lvl="1"/>
            <a:r>
              <a:rPr lang="ko-KR" altLang="en-US" sz="2000" dirty="0"/>
              <a:t>정수 연산만 사용</a:t>
            </a:r>
          </a:p>
          <a:p>
            <a:pPr lvl="1"/>
            <a:r>
              <a:rPr lang="ko-KR" altLang="en-US" sz="2000" dirty="0"/>
              <a:t>오차 누적으로 픽셀 선택</a:t>
            </a:r>
          </a:p>
          <a:p>
            <a:pPr lvl="1"/>
            <a:r>
              <a:rPr lang="ko-KR" altLang="en-US" sz="2000" dirty="0"/>
              <a:t>빠름 </a:t>
            </a:r>
            <a:r>
              <a:rPr lang="en-US" altLang="ko-KR" sz="2000" dirty="0"/>
              <a:t>(GPU </a:t>
            </a:r>
            <a:r>
              <a:rPr lang="ko-KR" altLang="en-US" sz="2000" dirty="0"/>
              <a:t>이전 시대 핵심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가장 널리 사용됨</a:t>
            </a:r>
          </a:p>
          <a:p>
            <a:r>
              <a:rPr lang="ko-KR" altLang="en-US" sz="2400" dirty="0"/>
              <a:t>동작 원리</a:t>
            </a:r>
            <a:endParaRPr lang="en-US" altLang="ko-KR" sz="2400" dirty="0"/>
          </a:p>
          <a:p>
            <a:pPr lvl="1"/>
            <a:r>
              <a:rPr lang="ko-KR" altLang="en-US" sz="2000" dirty="0"/>
              <a:t>현재 픽셀에서 다음 픽셀 결정</a:t>
            </a:r>
          </a:p>
          <a:p>
            <a:pPr lvl="1"/>
            <a:r>
              <a:rPr lang="ko-KR" altLang="en-US" sz="2000" dirty="0"/>
              <a:t>두 후보 중 더 가까운 픽셀 선택</a:t>
            </a:r>
          </a:p>
          <a:p>
            <a:pPr lvl="1"/>
            <a:r>
              <a:rPr lang="ko-KR" altLang="en-US" sz="2000" dirty="0"/>
              <a:t>오차</a:t>
            </a:r>
            <a:r>
              <a:rPr lang="en-US" altLang="ko-KR" sz="2000" dirty="0"/>
              <a:t>(error) </a:t>
            </a:r>
            <a:r>
              <a:rPr lang="ko-KR" altLang="en-US" sz="2000" dirty="0"/>
              <a:t>누적하여 판단</a:t>
            </a:r>
          </a:p>
          <a:p>
            <a:r>
              <a:rPr lang="ko-KR" altLang="en-US" sz="2400" dirty="0"/>
              <a:t>처리 과정</a:t>
            </a:r>
          </a:p>
          <a:p>
            <a:pPr lvl="1"/>
            <a:r>
              <a:rPr lang="ko-KR" altLang="en-US" sz="2000" dirty="0"/>
              <a:t>시작점 → 끝점 설정</a:t>
            </a:r>
          </a:p>
          <a:p>
            <a:pPr lvl="1"/>
            <a:r>
              <a:rPr lang="ko-KR" altLang="en-US" sz="2000" dirty="0"/>
              <a:t>기울기 계산</a:t>
            </a:r>
          </a:p>
          <a:p>
            <a:pPr lvl="1"/>
            <a:r>
              <a:rPr lang="ko-KR" altLang="en-US" sz="2000" dirty="0"/>
              <a:t>한 축 기준으로 반복</a:t>
            </a:r>
          </a:p>
          <a:p>
            <a:pPr lvl="1"/>
            <a:r>
              <a:rPr lang="ko-KR" altLang="en-US" sz="2000" dirty="0"/>
              <a:t>오차 값으로 픽셀 선택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684B57-E464-2A9E-A0D3-06F2DAC019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C3F4EB-A5D9-076B-6097-D05326D17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131" y="2816794"/>
            <a:ext cx="3546675" cy="35466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4039E35-1749-1384-BEA1-1EE128D25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666" y="890085"/>
            <a:ext cx="3576140" cy="18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789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83E8-8B22-38AA-C9B1-CABBFB5D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A83C1-7AA9-8690-8D98-CD7B2C46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6.4.3 </a:t>
            </a:r>
            <a:r>
              <a:rPr lang="ko-KR" altLang="en-US" dirty="0"/>
              <a:t>라인 클리핑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595B86-12E1-8AEA-DA19-E1F000F2A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/>
              <a:t>코헨</a:t>
            </a:r>
            <a:r>
              <a:rPr lang="en-US" altLang="ko-KR" sz="2000" dirty="0"/>
              <a:t>-</a:t>
            </a:r>
            <a:r>
              <a:rPr lang="ko-KR" altLang="en-US" sz="2000" dirty="0"/>
              <a:t>서덜렌드 라인 클리핑</a:t>
            </a:r>
            <a:endParaRPr lang="en-US" altLang="ko-KR" sz="2000" dirty="0"/>
          </a:p>
          <a:p>
            <a:pPr lvl="1"/>
            <a:r>
              <a:rPr lang="ko-KR" altLang="en-US" sz="1800" dirty="0"/>
              <a:t>직선 </a:t>
            </a:r>
            <a:r>
              <a:rPr lang="en-US" altLang="ko-KR" sz="1800" dirty="0"/>
              <a:t>vs </a:t>
            </a:r>
            <a:r>
              <a:rPr lang="ko-KR" altLang="en-US" sz="1800" dirty="0"/>
              <a:t>사각형 영역 클리핑 </a:t>
            </a:r>
          </a:p>
          <a:p>
            <a:pPr lvl="1"/>
            <a:r>
              <a:rPr lang="ko-KR" altLang="en-US" sz="1800" dirty="0"/>
              <a:t>빠른 판정 </a:t>
            </a:r>
            <a:endParaRPr lang="en-US" altLang="ko-KR" sz="1800" dirty="0"/>
          </a:p>
          <a:p>
            <a:pPr lvl="2"/>
            <a:endParaRPr lang="ko-KR" altLang="en-US" sz="1400" dirty="0"/>
          </a:p>
          <a:p>
            <a:r>
              <a:rPr lang="en-US" altLang="ko-KR" sz="2000" dirty="0"/>
              <a:t>Outcode</a:t>
            </a:r>
          </a:p>
          <a:p>
            <a:pPr lvl="1"/>
            <a:r>
              <a:rPr lang="ko-KR" altLang="en-US" sz="1800" dirty="0"/>
              <a:t>점 위치</a:t>
            </a:r>
            <a:r>
              <a:rPr lang="en-US" altLang="ko-KR" sz="1800" dirty="0"/>
              <a:t>: 4</a:t>
            </a:r>
            <a:r>
              <a:rPr lang="ko-KR" altLang="en-US" sz="1800" dirty="0"/>
              <a:t>비트</a:t>
            </a:r>
            <a:r>
              <a:rPr lang="en-US" altLang="ko-KR" sz="1800" dirty="0"/>
              <a:t>(0000)</a:t>
            </a:r>
          </a:p>
          <a:p>
            <a:pPr lvl="2"/>
            <a:r>
              <a:rPr lang="en-US" altLang="ko-KR" sz="1400" dirty="0"/>
              <a:t>10XX </a:t>
            </a:r>
            <a:r>
              <a:rPr lang="ko-KR" altLang="en-US" sz="1400" dirty="0"/>
              <a:t>상 </a:t>
            </a:r>
            <a:r>
              <a:rPr lang="en-US" altLang="ko-KR" sz="1400" dirty="0"/>
              <a:t>01XX </a:t>
            </a:r>
            <a:r>
              <a:rPr lang="ko-KR" altLang="en-US" sz="1400" dirty="0"/>
              <a:t>하</a:t>
            </a:r>
            <a:endParaRPr lang="en-US" altLang="ko-KR" sz="1400" dirty="0"/>
          </a:p>
          <a:p>
            <a:pPr lvl="2"/>
            <a:r>
              <a:rPr lang="en-US" altLang="ko-KR" sz="1400" dirty="0"/>
              <a:t>XX01 </a:t>
            </a:r>
            <a:r>
              <a:rPr lang="ko-KR" altLang="en-US" sz="1400" dirty="0"/>
              <a:t>좌 </a:t>
            </a:r>
            <a:r>
              <a:rPr lang="en-US" altLang="ko-KR" sz="1400" dirty="0"/>
              <a:t>XX10:</a:t>
            </a:r>
            <a:r>
              <a:rPr lang="ko-KR" altLang="en-US" sz="1400" dirty="0"/>
              <a:t> 우</a:t>
            </a:r>
            <a:endParaRPr lang="en-US" altLang="ko-KR" sz="1400" dirty="0"/>
          </a:p>
          <a:p>
            <a:pPr lvl="2"/>
            <a:endParaRPr lang="en-US" altLang="ko-KR" sz="1800" dirty="0"/>
          </a:p>
          <a:p>
            <a:r>
              <a:rPr lang="ko-KR" altLang="en-US" sz="2000" dirty="0"/>
              <a:t>판정</a:t>
            </a:r>
          </a:p>
          <a:p>
            <a:pPr lvl="1"/>
            <a:r>
              <a:rPr lang="en-US" altLang="ko-KR" sz="1800" dirty="0"/>
              <a:t>OR:</a:t>
            </a:r>
            <a:r>
              <a:rPr lang="ko-KR" altLang="en-US" sz="1800" dirty="0"/>
              <a:t> 하나라도 밖에 있는가</a:t>
            </a:r>
            <a:r>
              <a:rPr lang="en-US" altLang="ko-KR" sz="1800" dirty="0"/>
              <a:t>?</a:t>
            </a:r>
          </a:p>
          <a:p>
            <a:pPr lvl="1"/>
            <a:r>
              <a:rPr lang="en-US" altLang="ko-KR" sz="1800" dirty="0"/>
              <a:t>AND: </a:t>
            </a:r>
            <a:r>
              <a:rPr lang="ko-KR" altLang="en-US" sz="1800" dirty="0"/>
              <a:t>둘 다 밖에 있는가</a:t>
            </a:r>
            <a:r>
              <a:rPr lang="en-US" altLang="ko-KR" sz="1800" dirty="0"/>
              <a:t>?</a:t>
            </a:r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점 </a:t>
            </a:r>
            <a:r>
              <a:rPr lang="en-US" altLang="ko-KR" sz="1800" dirty="0"/>
              <a:t>P1 → code1, P2 → code2 </a:t>
            </a:r>
          </a:p>
          <a:p>
            <a:pPr lvl="2"/>
            <a:r>
              <a:rPr lang="en-US" altLang="ko-KR" sz="1400" dirty="0"/>
              <a:t>code1 |(OR) code2 == 0</a:t>
            </a:r>
            <a:br>
              <a:rPr lang="en-US" altLang="ko-KR" sz="1400" dirty="0"/>
            </a:br>
            <a:r>
              <a:rPr lang="en-US" altLang="ko-KR" sz="1400" dirty="0"/>
              <a:t>→ </a:t>
            </a:r>
            <a:r>
              <a:rPr lang="ko-KR" altLang="en-US" sz="1400" dirty="0"/>
              <a:t>그대로 사용 </a:t>
            </a:r>
            <a:r>
              <a:rPr lang="en-US" altLang="ko-KR" sz="1400" dirty="0"/>
              <a:t>(Trivial Accept)</a:t>
            </a:r>
            <a:endParaRPr lang="ko-KR" altLang="en-US" sz="1400" dirty="0"/>
          </a:p>
          <a:p>
            <a:pPr lvl="2"/>
            <a:r>
              <a:rPr lang="en-US" altLang="ko-KR" sz="1400" dirty="0"/>
              <a:t>code1 &amp;(AND) code2 ≠ 0</a:t>
            </a:r>
            <a:br>
              <a:rPr lang="en-US" altLang="ko-KR" sz="1400" dirty="0"/>
            </a:br>
            <a:r>
              <a:rPr lang="en-US" altLang="ko-KR" sz="1400" dirty="0"/>
              <a:t>→ </a:t>
            </a:r>
            <a:r>
              <a:rPr lang="ko-KR" altLang="en-US" sz="1400" dirty="0"/>
              <a:t>절대 내부로 못 들어옴</a:t>
            </a:r>
            <a:r>
              <a:rPr lang="en-US" altLang="ko-KR" sz="1400" dirty="0"/>
              <a:t>. </a:t>
            </a:r>
            <a:r>
              <a:rPr lang="ko-KR" altLang="en-US" sz="1400" dirty="0"/>
              <a:t>버림 </a:t>
            </a:r>
            <a:r>
              <a:rPr lang="en-US" altLang="ko-KR" sz="1400" dirty="0"/>
              <a:t>(Trivial Reject)</a:t>
            </a:r>
            <a:r>
              <a:rPr lang="ko-KR" altLang="en-US" sz="1400" dirty="0"/>
              <a:t>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96DD8-59C0-0781-F7FB-6999A491E6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ECF21F5-7FB4-FD22-CB60-C8D6B359CB40}"/>
              </a:ext>
            </a:extLst>
          </p:cNvPr>
          <p:cNvGrpSpPr/>
          <p:nvPr/>
        </p:nvGrpSpPr>
        <p:grpSpPr>
          <a:xfrm>
            <a:off x="6228184" y="800075"/>
            <a:ext cx="2016223" cy="5616624"/>
            <a:chOff x="5154313" y="1055006"/>
            <a:chExt cx="1522047" cy="3742146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3A7DC8B-C353-73C5-9B5B-A59362CA6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4514" y="1055006"/>
              <a:ext cx="1521644" cy="117284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FCC0EAC-A822-A63C-BC75-F6EACD0B3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4313" y="2339502"/>
              <a:ext cx="1522047" cy="1173154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21FB352-3846-9347-09D5-86D5E961B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4514" y="3624309"/>
              <a:ext cx="1521644" cy="1172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14768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83E8-8B22-38AA-C9B1-CABBFB5D7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9A83C1-7AA9-8690-8D98-CD7B2C46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595B86-12E1-8AEA-DA19-E1F000F2A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아핀 공간</a:t>
            </a:r>
            <a:endParaRPr lang="en-US" altLang="ko-KR" dirty="0"/>
          </a:p>
          <a:p>
            <a:pPr lvl="1"/>
            <a:r>
              <a:rPr lang="ko-KR" altLang="en-US" dirty="0"/>
              <a:t>점 과 벡터의 연산으로 구성된 공간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= </a:t>
            </a:r>
            <a:r>
              <a:rPr lang="ko-KR" altLang="en-US" dirty="0"/>
              <a:t>점 </a:t>
            </a:r>
            <a:r>
              <a:rPr lang="en-US" altLang="ko-KR" dirty="0"/>
              <a:t>+ </a:t>
            </a:r>
            <a:r>
              <a:rPr lang="ko-KR" altLang="en-US" dirty="0"/>
              <a:t>벡터</a:t>
            </a:r>
            <a:endParaRPr lang="en-US" altLang="ko-KR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아핀 공간 특성</a:t>
            </a:r>
            <a:endParaRPr lang="en-US" altLang="ko-KR" sz="2400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- </a:t>
            </a:r>
            <a:r>
              <a:rPr lang="ko-KR" altLang="en-US" dirty="0"/>
              <a:t>점 </a:t>
            </a:r>
            <a:r>
              <a:rPr lang="en-US" altLang="ko-KR" dirty="0"/>
              <a:t>= </a:t>
            </a:r>
            <a:r>
              <a:rPr lang="ko-KR" altLang="en-US" dirty="0"/>
              <a:t>벡터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+</a:t>
            </a:r>
            <a:r>
              <a:rPr lang="ko-KR" altLang="en-US" dirty="0"/>
              <a:t>벡터 </a:t>
            </a:r>
            <a:r>
              <a:rPr lang="en-US" altLang="ko-KR" dirty="0"/>
              <a:t>= </a:t>
            </a:r>
            <a:r>
              <a:rPr lang="ko-KR" altLang="en-US" dirty="0"/>
              <a:t>점</a:t>
            </a:r>
            <a:endParaRPr lang="en-US" altLang="ko-KR" dirty="0"/>
          </a:p>
          <a:p>
            <a:pPr lvl="1"/>
            <a:r>
              <a:rPr lang="ko-KR" altLang="en-US" dirty="0"/>
              <a:t>벡터 </a:t>
            </a:r>
            <a:r>
              <a:rPr lang="en-US" altLang="ko-KR" dirty="0"/>
              <a:t>+ </a:t>
            </a:r>
            <a:r>
              <a:rPr lang="ko-KR" altLang="en-US" dirty="0"/>
              <a:t>벡터 </a:t>
            </a:r>
            <a:r>
              <a:rPr lang="en-US" altLang="ko-KR" dirty="0"/>
              <a:t>= </a:t>
            </a:r>
            <a:r>
              <a:rPr lang="ko-KR" altLang="en-US" dirty="0"/>
              <a:t>벡터</a:t>
            </a:r>
            <a:endParaRPr lang="en-US" altLang="ko-KR" dirty="0"/>
          </a:p>
          <a:p>
            <a:pPr lvl="1"/>
            <a:r>
              <a:rPr lang="ko-KR" altLang="en-US" dirty="0"/>
              <a:t>점 </a:t>
            </a:r>
            <a:r>
              <a:rPr lang="en-US" altLang="ko-KR" dirty="0"/>
              <a:t>+ </a:t>
            </a:r>
            <a:r>
              <a:rPr lang="ko-KR" altLang="en-US" dirty="0"/>
              <a:t>점 ≠ 점</a:t>
            </a:r>
            <a:endParaRPr lang="en-US" altLang="ko-KR" dirty="0"/>
          </a:p>
          <a:p>
            <a:pPr lvl="2"/>
            <a:endParaRPr lang="en-US" altLang="ko-KR" sz="2400" dirty="0"/>
          </a:p>
          <a:p>
            <a:r>
              <a:rPr lang="ko-KR" altLang="en-US" dirty="0"/>
              <a:t>아핀 공간의 선형 결합</a:t>
            </a:r>
            <a:endParaRPr lang="en-US" altLang="ko-KR" dirty="0"/>
          </a:p>
          <a:p>
            <a:pPr lvl="1"/>
            <a:endParaRPr lang="ko-KR" altLang="en-US" sz="11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196DD8-59C0-0781-F7FB-6999A491E6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F8AC20-4CA2-46E9-97EB-114A07065E05}"/>
                  </a:ext>
                </a:extLst>
              </p:cNvPr>
              <p:cNvSpPr txBox="1"/>
              <p:nvPr/>
            </p:nvSpPr>
            <p:spPr>
              <a:xfrm>
                <a:off x="4355976" y="4761126"/>
                <a:ext cx="2790510" cy="11646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36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36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ko-KR" sz="36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BF8AC20-4CA2-46E9-97EB-114A07065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4761126"/>
                <a:ext cx="2790510" cy="11646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553732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6120</TotalTime>
  <Words>5646</Words>
  <Application>Microsoft Office PowerPoint</Application>
  <PresentationFormat>화면 슬라이드 쇼(4:3)</PresentationFormat>
  <Paragraphs>1210</Paragraphs>
  <Slides>88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100" baseType="lpstr">
      <vt:lpstr>Bitstream Vera Sans Mono</vt:lpstr>
      <vt:lpstr>HY견고딕</vt:lpstr>
      <vt:lpstr>가을체</vt:lpstr>
      <vt:lpstr>굴림</vt:lpstr>
      <vt:lpstr>나눔고딕</vt:lpstr>
      <vt:lpstr>나눔고딕 ExtraBold</vt:lpstr>
      <vt:lpstr>맑은 고딕</vt:lpstr>
      <vt:lpstr>Arial</vt:lpstr>
      <vt:lpstr>Cambria Math</vt:lpstr>
      <vt:lpstr>Consolas</vt:lpstr>
      <vt:lpstr>Wingdings</vt:lpstr>
      <vt:lpstr>기본 디자인</vt:lpstr>
      <vt:lpstr>1. 수</vt:lpstr>
      <vt:lpstr>2.1 수와 집합</vt:lpstr>
      <vt:lpstr>2.1.1 연산과 수의 구조</vt:lpstr>
      <vt:lpstr>2.1.1.1 이항 연산 성질</vt:lpstr>
      <vt:lpstr>2.1.3 수의 표현</vt:lpstr>
      <vt:lpstr>2.2 함수</vt:lpstr>
      <vt:lpstr>2.2.1 함수의 종류</vt:lpstr>
      <vt:lpstr>2.2.2 합성함수</vt:lpstr>
      <vt:lpstr>2.2.3 항등함수와 역함수</vt:lpstr>
      <vt:lpstr>2.2.4 좌표 평면</vt:lpstr>
      <vt:lpstr>3. 벡터</vt:lpstr>
      <vt:lpstr>3.1 데카르트 좌표계</vt:lpstr>
      <vt:lpstr>3.2.1 스칼라와 벡터</vt:lpstr>
      <vt:lpstr>3.2.1 벡터의 종류</vt:lpstr>
      <vt:lpstr>3.2.2 벡터 공간의 연산</vt:lpstr>
      <vt:lpstr>3.2.2 벡터 공간의 연산</vt:lpstr>
      <vt:lpstr>3.1 실습 - 헬로 벡터</vt:lpstr>
      <vt:lpstr>3.2.3 벡터의 크기와 이동</vt:lpstr>
      <vt:lpstr>3.3 벡터 곱셈</vt:lpstr>
      <vt:lpstr>3.3 내적: 두 벡터의 각도</vt:lpstr>
      <vt:lpstr>3.3 벡터 곱셈</vt:lpstr>
      <vt:lpstr>3.2 실습: 벡터 원 그리기</vt:lpstr>
      <vt:lpstr>3.3 벡터의 결합과 생성</vt:lpstr>
      <vt:lpstr>3.3 벡터의 결합과 생성</vt:lpstr>
      <vt:lpstr>3.3 벡터의 결합과 생성</vt:lpstr>
      <vt:lpstr>4. 삼각함수</vt:lpstr>
      <vt:lpstr>4.1 삼각함수</vt:lpstr>
      <vt:lpstr>4.1 삼각함수</vt:lpstr>
      <vt:lpstr>4.1.1 삼각함수의 성질</vt:lpstr>
      <vt:lpstr>4.1.1 삼각함수의 성질</vt:lpstr>
      <vt:lpstr>4.1.1 삼각함수의 성질</vt:lpstr>
      <vt:lpstr>4.1.1 삼각함수의 성질</vt:lpstr>
      <vt:lpstr>4.1.2 각의 측정법</vt:lpstr>
      <vt:lpstr>4.1.2 각의 측정법</vt:lpstr>
      <vt:lpstr>4-1 실습: 삼각함수로 하트 그리기</vt:lpstr>
      <vt:lpstr>4-2 실습: 하트에 무지개 색상</vt:lpstr>
      <vt:lpstr>4-3 실습: 두근 대는 하트</vt:lpstr>
      <vt:lpstr>4.2 삼각함수를 활용한 물체의 회전</vt:lpstr>
      <vt:lpstr>4.2 삼각함수를 활용한 물체의 회전</vt:lpstr>
      <vt:lpstr>4-4 실습: 하트 회전</vt:lpstr>
      <vt:lpstr>4.3 삼각함수의 역함수</vt:lpstr>
      <vt:lpstr>4.4 극좌표계</vt:lpstr>
      <vt:lpstr>4.4 극좌표계</vt:lpstr>
      <vt:lpstr>4-4 실습: 소용돌이 효과</vt:lpstr>
      <vt:lpstr>5. 행렬</vt:lpstr>
      <vt:lpstr>5.1 선형성: 예측 가능한 비례 관계</vt:lpstr>
      <vt:lpstr>5.1.1 선형함수</vt:lpstr>
      <vt:lpstr>5.1.1 선형함수</vt:lpstr>
      <vt:lpstr>5.1.2 벡터 공간의 선형 변환</vt:lpstr>
      <vt:lpstr>5.1.2 벡터 공간의 선형 변환</vt:lpstr>
      <vt:lpstr>5.2 행렬</vt:lpstr>
      <vt:lpstr>5.2 행렬</vt:lpstr>
      <vt:lpstr>5.2.1 행렬의 기본 연산</vt:lpstr>
      <vt:lpstr>5.2.2 행렬의 곱셈</vt:lpstr>
      <vt:lpstr>5.2.2 행렬의 곱셈</vt:lpstr>
      <vt:lpstr>5.2.2 행렬의 곱셈</vt:lpstr>
      <vt:lpstr>5.2.2 행렬의 곱셈</vt:lpstr>
      <vt:lpstr>5.3 행렬의 설계</vt:lpstr>
      <vt:lpstr>5.3.1 크기 변환행렬</vt:lpstr>
      <vt:lpstr>5.3.2 회전 변환행렬</vt:lpstr>
      <vt:lpstr>5.3.3 전단 변환행렬</vt:lpstr>
      <vt:lpstr>5.3.4 삼각함수의 덧셈 정리</vt:lpstr>
      <vt:lpstr>5-1 실습: 하트의 크기 변환 회전 변환</vt:lpstr>
      <vt:lpstr>5.4 역행렬</vt:lpstr>
      <vt:lpstr>5.4.1 역행렬 존재 판별식</vt:lpstr>
      <vt:lpstr>5.4.2 크기 변환행렬의 역행렬</vt:lpstr>
      <vt:lpstr>5.4.3 전단 변환행렬의 역행렬</vt:lpstr>
      <vt:lpstr>5.4.4 회전 변환행렬의 역행렬</vt:lpstr>
      <vt:lpstr>5.4.5 행렬 곱의 역행렬</vt:lpstr>
      <vt:lpstr>5-2 실습: 역행렬 사용</vt:lpstr>
      <vt:lpstr>6. 아핀 공간</vt:lpstr>
      <vt:lpstr>6.1 이동 변환을 위한 아핀 공간</vt:lpstr>
      <vt:lpstr>6.1 이동 변환을 위한 아핀 공간</vt:lpstr>
      <vt:lpstr>6.1 이동 변환을 위한 아핀 공간</vt:lpstr>
      <vt:lpstr>6.1 이동 변환을 위한 아핀 공간</vt:lpstr>
      <vt:lpstr>6-1 실습: 행렬 곱셈으로 이동 구현</vt:lpstr>
      <vt:lpstr>6.2 아핀 공간의 구성 요소</vt:lpstr>
      <vt:lpstr>6.2 아핀 공간의 구성 요소</vt:lpstr>
      <vt:lpstr>6.2 아핀 공간의 구성 요소</vt:lpstr>
      <vt:lpstr>6.2 아핀 공간의 구성 요소</vt:lpstr>
      <vt:lpstr>6.3 아핀 결합</vt:lpstr>
      <vt:lpstr>6.3 아핀 결합 유도</vt:lpstr>
      <vt:lpstr>6.3.1 두 점의 결합</vt:lpstr>
      <vt:lpstr>6.3.1 두 점의 결합</vt:lpstr>
      <vt:lpstr>6.4.1 벡터를 모니터의 점으로 표현</vt:lpstr>
      <vt:lpstr>6.4.2 선 그리기 알고리즘</vt:lpstr>
      <vt:lpstr>6.4.3 라인 클리핑</vt:lpstr>
      <vt:lpstr>6.정리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228</cp:revision>
  <dcterms:created xsi:type="dcterms:W3CDTF">2003-11-30T16:03:20Z</dcterms:created>
  <dcterms:modified xsi:type="dcterms:W3CDTF">2026-04-02T13:08:40Z</dcterms:modified>
</cp:coreProperties>
</file>