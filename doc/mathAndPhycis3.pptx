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0"/>
  </p:notesMasterIdLst>
  <p:sldIdLst>
    <p:sldId id="454" r:id="rId2"/>
    <p:sldId id="457" r:id="rId3"/>
    <p:sldId id="493" r:id="rId4"/>
    <p:sldId id="458" r:id="rId5"/>
    <p:sldId id="459" r:id="rId6"/>
    <p:sldId id="494" r:id="rId7"/>
    <p:sldId id="495" r:id="rId8"/>
    <p:sldId id="460" r:id="rId9"/>
    <p:sldId id="496" r:id="rId10"/>
    <p:sldId id="461" r:id="rId11"/>
    <p:sldId id="462" r:id="rId12"/>
    <p:sldId id="497" r:id="rId13"/>
    <p:sldId id="504" r:id="rId14"/>
    <p:sldId id="498" r:id="rId15"/>
    <p:sldId id="499" r:id="rId16"/>
    <p:sldId id="463" r:id="rId17"/>
    <p:sldId id="464" r:id="rId18"/>
    <p:sldId id="465" r:id="rId19"/>
    <p:sldId id="501" r:id="rId20"/>
    <p:sldId id="500" r:id="rId21"/>
    <p:sldId id="467" r:id="rId22"/>
    <p:sldId id="468" r:id="rId23"/>
    <p:sldId id="502" r:id="rId24"/>
    <p:sldId id="503" r:id="rId25"/>
    <p:sldId id="508" r:id="rId26"/>
    <p:sldId id="521" r:id="rId27"/>
    <p:sldId id="506" r:id="rId28"/>
    <p:sldId id="505" r:id="rId29"/>
    <p:sldId id="507" r:id="rId30"/>
    <p:sldId id="520" r:id="rId31"/>
    <p:sldId id="509" r:id="rId32"/>
    <p:sldId id="523" r:id="rId33"/>
    <p:sldId id="522" r:id="rId34"/>
    <p:sldId id="524" r:id="rId35"/>
    <p:sldId id="510" r:id="rId36"/>
    <p:sldId id="525" r:id="rId37"/>
    <p:sldId id="526" r:id="rId38"/>
    <p:sldId id="527" r:id="rId39"/>
    <p:sldId id="511" r:id="rId40"/>
    <p:sldId id="512" r:id="rId41"/>
    <p:sldId id="528" r:id="rId42"/>
    <p:sldId id="529" r:id="rId43"/>
    <p:sldId id="513" r:id="rId44"/>
    <p:sldId id="514" r:id="rId45"/>
    <p:sldId id="530" r:id="rId46"/>
    <p:sldId id="531" r:id="rId47"/>
    <p:sldId id="532" r:id="rId48"/>
    <p:sldId id="533" r:id="rId49"/>
    <p:sldId id="515" r:id="rId50"/>
    <p:sldId id="516" r:id="rId51"/>
    <p:sldId id="517" r:id="rId52"/>
    <p:sldId id="535" r:id="rId53"/>
    <p:sldId id="534" r:id="rId54"/>
    <p:sldId id="536" r:id="rId55"/>
    <p:sldId id="518" r:id="rId56"/>
    <p:sldId id="537" r:id="rId57"/>
    <p:sldId id="538" r:id="rId58"/>
    <p:sldId id="519" r:id="rId59"/>
  </p:sldIdLst>
  <p:sldSz cx="9144000" cy="6858000" type="screen4x3"/>
  <p:notesSz cx="6858000" cy="9144000"/>
  <p:embeddedFontLst>
    <p:embeddedFont>
      <p:font typeface="Bitstream Vera Sans Mono" panose="020B0609030804020204" pitchFamily="49" charset="-127"/>
      <p:regular r:id="rId61"/>
    </p:embeddedFont>
    <p:embeddedFont>
      <p:font typeface="Cambria Math" panose="02040503050406030204" pitchFamily="18" charset="0"/>
      <p:regular r:id="rId62"/>
    </p:embeddedFont>
    <p:embeddedFont>
      <p:font typeface="D2Coding" panose="020B0609020101020101" pitchFamily="49" charset="-127"/>
      <p:regular r:id="rId63"/>
      <p:bold r:id="rId64"/>
    </p:embeddedFont>
    <p:embeddedFont>
      <p:font typeface="HY견고딕" panose="02030600000101010101" pitchFamily="18" charset="-127"/>
      <p:regular r:id="rId65"/>
    </p:embeddedFont>
    <p:embeddedFont>
      <p:font typeface="가을체" panose="02030600000101010101" pitchFamily="18" charset="-127"/>
      <p:regular r:id="rId66"/>
    </p:embeddedFont>
    <p:embeddedFont>
      <p:font typeface="나눔바른고딕" panose="020B0603020101020101" pitchFamily="50" charset="-127"/>
      <p:regular r:id="rId67"/>
      <p:bold r:id="rId68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FFCC"/>
    <a:srgbClr val="008000"/>
    <a:srgbClr val="CC0000"/>
    <a:srgbClr val="009900"/>
    <a:srgbClr val="FF00FF"/>
    <a:srgbClr val="FF9900"/>
    <a:srgbClr val="FF0000"/>
    <a:srgbClr val="CC00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81" autoAdjust="0"/>
    <p:restoredTop sz="94582" autoAdjust="0"/>
  </p:normalViewPr>
  <p:slideViewPr>
    <p:cSldViewPr>
      <p:cViewPr>
        <p:scale>
          <a:sx n="125" d="100"/>
          <a:sy n="125" d="100"/>
        </p:scale>
        <p:origin x="1482" y="138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/>
            </a:lvl1pPr>
            <a:lvl2pPr>
              <a:buSzPct val="60000"/>
              <a:defRPr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0.png"/><Relationship Id="rId7" Type="http://schemas.openxmlformats.org/officeDocument/2006/relationships/image" Target="../media/image470.png"/><Relationship Id="rId12" Type="http://schemas.openxmlformats.org/officeDocument/2006/relationships/image" Target="../media/image52.png"/><Relationship Id="rId2" Type="http://schemas.openxmlformats.org/officeDocument/2006/relationships/hyperlink" Target="https://en.wikipedia.org/wiki/Gimbal_lock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11" Type="http://schemas.openxmlformats.org/officeDocument/2006/relationships/image" Target="../media/image51.png"/><Relationship Id="rId5" Type="http://schemas.openxmlformats.org/officeDocument/2006/relationships/image" Target="../media/image450.png"/><Relationship Id="rId10" Type="http://schemas.openxmlformats.org/officeDocument/2006/relationships/image" Target="../media/image50.png"/><Relationship Id="rId4" Type="http://schemas.openxmlformats.org/officeDocument/2006/relationships/image" Target="../media/image440.png"/><Relationship Id="rId9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10" Type="http://schemas.openxmlformats.org/officeDocument/2006/relationships/image" Target="../media/image153.png"/><Relationship Id="rId4" Type="http://schemas.openxmlformats.org/officeDocument/2006/relationships/image" Target="../media/image147.png"/><Relationship Id="rId9" Type="http://schemas.openxmlformats.org/officeDocument/2006/relationships/image" Target="../media/image15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10" Type="http://schemas.openxmlformats.org/officeDocument/2006/relationships/image" Target="../media/image162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2.png"/><Relationship Id="rId7" Type="http://schemas.openxmlformats.org/officeDocument/2006/relationships/image" Target="../media/image186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10" Type="http://schemas.openxmlformats.org/officeDocument/2006/relationships/image" Target="../media/image189.png"/><Relationship Id="rId4" Type="http://schemas.openxmlformats.org/officeDocument/2006/relationships/image" Target="../media/image183.png"/><Relationship Id="rId9" Type="http://schemas.openxmlformats.org/officeDocument/2006/relationships/image" Target="../media/image18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E4E74-A08A-3A8C-4DF0-2CD0F049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B010465-670E-74BD-2F82-6F9FCB4FA4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10. 3</a:t>
            </a:r>
            <a:r>
              <a:rPr lang="ko-KR" altLang="en-US" dirty="0"/>
              <a:t>차원 공간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0E4878B0-C1F7-77CA-FFC6-0132BA0003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입체 공간의 생성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0E596F-52EC-4A7A-F14A-AECB0B748B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96832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89535-0B44-2A79-B3B3-4FB1A5F39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C84FE8-48F3-303F-A842-C6B849235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10.1 3</a:t>
            </a:r>
            <a:r>
              <a:rPr lang="ko-KR" altLang="en-US" dirty="0"/>
              <a:t>차원 공간의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EE8DCD-74B4-6095-142A-7A349D3C4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오른손 좌표계 </a:t>
            </a:r>
            <a:r>
              <a:rPr lang="en-US" altLang="ko-KR" dirty="0"/>
              <a:t>vs</a:t>
            </a:r>
            <a:r>
              <a:rPr lang="ko-KR" altLang="en-US" dirty="0"/>
              <a:t> 왼손 좌표계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F4B515-177E-5639-1225-714A5D7A78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3E19378-09AC-4678-9E80-C5117566B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556792"/>
            <a:ext cx="4968552" cy="408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17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C7338-F43F-D9DD-E7CF-C4BBAD8B6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CED93-699B-0A26-0A43-BE5C1651E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10.1 3</a:t>
            </a:r>
            <a:r>
              <a:rPr lang="ko-KR" altLang="en-US" dirty="0"/>
              <a:t>차원 공간의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3357F0-1BCD-D02B-AE20-4BEBF82C1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오른손 좌표계 왼손 좌표계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3D Max, OpenGL, Unity, Unreal</a:t>
            </a:r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890B82-A873-81A2-ED95-1A6461E095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19758E0-2A8F-7431-5D97-30B9CA9DA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47" y="1412777"/>
            <a:ext cx="5709186" cy="201622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83A905C-1C13-7929-5C99-4CC6943A7E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711" y="4559922"/>
            <a:ext cx="1796283" cy="177062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BF6CA9E-58CC-D5C5-0380-0BA03F3D12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94" y="4728418"/>
            <a:ext cx="1771051" cy="166417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CE6AE5B-2E26-81F4-5E37-75E9193D2B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324" y="4643917"/>
            <a:ext cx="1796284" cy="168662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0CEA841-6EC7-7CAD-2EB3-6C24618C44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456" y="4627634"/>
            <a:ext cx="1796283" cy="178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84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06C3F-3F6E-653A-258C-87B13A243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422E2-5EB3-05B6-978B-5127197B6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 </a:t>
            </a:r>
            <a:r>
              <a:rPr lang="ko-KR" altLang="en-US" dirty="0"/>
              <a:t>삼차원 공간의 트랜스 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00032F-0941-4377-0C8D-D94C7BDC8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 축의 기저벡터로 만들어지는 회전행렬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C535C9-4798-A6CB-8C42-0613F7657C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BEE2B6-9981-87DE-732C-E79275346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3356992"/>
            <a:ext cx="6232637" cy="30243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B23C09-78FF-BEC0-E6A9-49FC3E4FC6B1}"/>
                  </a:ext>
                </a:extLst>
              </p:cNvPr>
              <p:cNvSpPr txBox="1"/>
              <p:nvPr/>
            </p:nvSpPr>
            <p:spPr>
              <a:xfrm>
                <a:off x="1143804" y="1628800"/>
                <a:ext cx="3168352" cy="11711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B23C09-78FF-BEC0-E6A9-49FC3E4FC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804" y="1628800"/>
                <a:ext cx="3168352" cy="1171154"/>
              </a:xfrm>
              <a:prstGeom prst="rect">
                <a:avLst/>
              </a:prstGeom>
              <a:blipFill>
                <a:blip r:embed="rId3"/>
                <a:stretch>
                  <a:fillRect l="-1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3A742F-3838-2849-CD20-5E1D12A46E42}"/>
                  </a:ext>
                </a:extLst>
              </p:cNvPr>
              <p:cNvSpPr txBox="1"/>
              <p:nvPr/>
            </p:nvSpPr>
            <p:spPr>
              <a:xfrm>
                <a:off x="3841116" y="1628800"/>
                <a:ext cx="3168352" cy="11711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3A742F-3838-2849-CD20-5E1D12A46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116" y="1628800"/>
                <a:ext cx="3168352" cy="11711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0003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DB2C-AC66-8457-930F-E1FF762F0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36DB17-111B-CE14-D52E-C1FC5E187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10.2.1 </a:t>
            </a:r>
            <a:r>
              <a:rPr lang="ko-KR" altLang="en-US" dirty="0"/>
              <a:t>오일러 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5DA5F9-A378-FE53-7818-B06FA5D78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오일러 회전</a:t>
            </a:r>
            <a:endParaRPr lang="en-US" altLang="ko-KR" dirty="0"/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차원 좌표계</a:t>
            </a:r>
            <a:r>
              <a:rPr lang="en-US" altLang="ko-KR" dirty="0"/>
              <a:t>(x, y, z)</a:t>
            </a:r>
            <a:r>
              <a:rPr lang="ko-KR" altLang="en-US" dirty="0"/>
              <a:t>에서</a:t>
            </a:r>
            <a:r>
              <a:rPr lang="en-US" altLang="ko-KR" dirty="0"/>
              <a:t> X, Y, Z</a:t>
            </a:r>
            <a:r>
              <a:rPr lang="ko-KR" altLang="en-US" dirty="0"/>
              <a:t> 축을 기준으로 물체를 순차적으로 회전</a:t>
            </a:r>
            <a:r>
              <a:rPr lang="en-US" altLang="ko-KR" dirty="0"/>
              <a:t>,</a:t>
            </a:r>
            <a:r>
              <a:rPr lang="ko-KR" altLang="en-US" dirty="0"/>
              <a:t> 방향을 결정하는 방식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유니티 엔진 오일러 각 </a:t>
            </a:r>
            <a:r>
              <a:rPr lang="en-US" altLang="ko-KR" dirty="0"/>
              <a:t>3</a:t>
            </a:r>
            <a:r>
              <a:rPr lang="ko-KR" altLang="en-US" dirty="0"/>
              <a:t>차원 회전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1DE6BF-8C43-7035-4864-A94A34EB84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6EA62E-CCA3-1106-45E7-9C7FE692E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08" y="3068960"/>
            <a:ext cx="8001384" cy="25665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6EF354-80D3-9C83-0C4E-8E4B8B9EDC3C}"/>
                  </a:ext>
                </a:extLst>
              </p:cNvPr>
              <p:cNvSpPr txBox="1"/>
              <p:nvPr/>
            </p:nvSpPr>
            <p:spPr>
              <a:xfrm>
                <a:off x="2915816" y="5781410"/>
                <a:ext cx="3024138" cy="6374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36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3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6EF354-80D3-9C83-0C4E-8E4B8B9ED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5781410"/>
                <a:ext cx="3024138" cy="6374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2359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DB3DD-FFC6-ACEE-1BC0-221D54BC0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F1923F-1631-FFCF-43B6-5F8863E2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10.2.1 </a:t>
            </a:r>
            <a:r>
              <a:rPr lang="ko-KR" altLang="en-US" dirty="0"/>
              <a:t>오일러 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17894E-519B-BFE5-C4A2-D4C3E529B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오일러 각</a:t>
            </a:r>
            <a:r>
              <a:rPr lang="en-US" altLang="ko-KR" sz="2400" dirty="0"/>
              <a:t>: vector </a:t>
            </a:r>
            <a:r>
              <a:rPr lang="ko-KR" altLang="en-US" sz="2400" dirty="0"/>
              <a:t>표현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요</a:t>
            </a:r>
            <a:r>
              <a:rPr lang="en-US" altLang="ko-KR" sz="2400" dirty="0"/>
              <a:t>(Y: Yaw), </a:t>
            </a:r>
            <a:r>
              <a:rPr lang="ko-KR" altLang="en-US" sz="2400" dirty="0"/>
              <a:t>롤</a:t>
            </a:r>
            <a:r>
              <a:rPr lang="en-US" altLang="ko-KR" sz="2400" dirty="0"/>
              <a:t>(Z: Roll), </a:t>
            </a:r>
            <a:r>
              <a:rPr lang="ko-KR" altLang="en-US" sz="2400" dirty="0"/>
              <a:t>피치</a:t>
            </a:r>
            <a:r>
              <a:rPr lang="en-US" altLang="ko-KR" sz="2400" dirty="0"/>
              <a:t>(X: Pitch) </a:t>
            </a:r>
            <a:r>
              <a:rPr lang="ko-KR" altLang="en-US" sz="2400" dirty="0"/>
              <a:t>회전</a:t>
            </a:r>
            <a:endParaRPr lang="en-US" altLang="ko-KR" sz="2400" dirty="0"/>
          </a:p>
          <a:p>
            <a:pPr lvl="1"/>
            <a:r>
              <a:rPr lang="ko-KR" altLang="en-US" sz="2000" dirty="0"/>
              <a:t>표준 기저 벡터 축을 기준으로 회전 ← 항공기 회전 표현</a:t>
            </a:r>
            <a:r>
              <a:rPr lang="en-US" altLang="ko-KR" sz="2000" dirty="0"/>
              <a:t>, </a:t>
            </a:r>
            <a:r>
              <a:rPr lang="ko-KR" altLang="en-US" sz="2000" dirty="0"/>
              <a:t>게임에서 사용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4A312C-EF16-F4F2-1EAA-6EB6DE7189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F4A63D-2674-DDDF-AE2E-169B59764C10}"/>
                  </a:ext>
                </a:extLst>
              </p:cNvPr>
              <p:cNvSpPr txBox="1"/>
              <p:nvPr/>
            </p:nvSpPr>
            <p:spPr>
              <a:xfrm>
                <a:off x="3563888" y="1052736"/>
                <a:ext cx="3024138" cy="5665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3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3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3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F4A63D-2674-DDDF-AE2E-169B59764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888" y="1052736"/>
                <a:ext cx="3024138" cy="5665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BF9F3622-B2D9-636D-EBA2-09EBFEAE9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3212976"/>
            <a:ext cx="4140460" cy="308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040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AA720-82AC-6CBB-86AF-C8EE30DEC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31F086-3683-AB73-09B2-38E3E96A8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10.2.1 </a:t>
            </a:r>
            <a:r>
              <a:rPr lang="ko-KR" altLang="en-US" dirty="0"/>
              <a:t>오일러 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BE15E1-B219-C607-F44E-FBCD317FB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X </a:t>
            </a:r>
            <a:r>
              <a:rPr lang="ko-KR" altLang="en-US" sz="2400" dirty="0"/>
              <a:t>축 회전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Y </a:t>
            </a:r>
            <a:r>
              <a:rPr lang="ko-KR" altLang="en-US" sz="2400" dirty="0"/>
              <a:t>축 회전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Z</a:t>
            </a:r>
            <a:r>
              <a:rPr lang="ko-KR" altLang="en-US" sz="2400" dirty="0"/>
              <a:t> 축 회전</a:t>
            </a:r>
            <a:endParaRPr lang="en-US" altLang="ko-KR" sz="2400" dirty="0"/>
          </a:p>
          <a:p>
            <a:endParaRPr lang="en-US" altLang="ko-KR" sz="2400" dirty="0"/>
          </a:p>
          <a:p>
            <a:pPr lvl="2"/>
            <a:endParaRPr lang="en-US" altLang="ko-KR" sz="1600" dirty="0"/>
          </a:p>
          <a:p>
            <a:r>
              <a:rPr lang="ko-KR" altLang="en-US" sz="2400" dirty="0"/>
              <a:t>축 회전</a:t>
            </a:r>
            <a:r>
              <a:rPr lang="en-US" altLang="ko-KR" sz="2400" dirty="0"/>
              <a:t>: </a:t>
            </a:r>
            <a:r>
              <a:rPr lang="en-US" altLang="ko-KR" sz="2000" dirty="0"/>
              <a:t>X </a:t>
            </a:r>
            <a:r>
              <a:rPr lang="ko-KR" altLang="en-US" sz="2000" dirty="0"/>
              <a:t>→ </a:t>
            </a:r>
            <a:r>
              <a:rPr lang="en-US" altLang="ko-KR" sz="2000" dirty="0"/>
              <a:t>Y</a:t>
            </a:r>
            <a:r>
              <a:rPr lang="ko-KR" altLang="en-US" sz="2000" dirty="0"/>
              <a:t> → </a:t>
            </a:r>
            <a:r>
              <a:rPr lang="en-US" altLang="ko-KR" sz="2000" dirty="0"/>
              <a:t>Z </a:t>
            </a:r>
            <a:r>
              <a:rPr lang="ko-KR" altLang="en-US" sz="2000" dirty="0"/>
              <a:t>→ </a:t>
            </a:r>
            <a:r>
              <a:rPr lang="en-US" altLang="ko-KR" sz="2000" dirty="0"/>
              <a:t>X </a:t>
            </a:r>
            <a:r>
              <a:rPr lang="ko-KR" altLang="en-US" sz="2000" dirty="0"/>
              <a:t>→ </a:t>
            </a:r>
            <a:r>
              <a:rPr lang="en-US" altLang="ko-KR" sz="2000" dirty="0"/>
              <a:t>Y</a:t>
            </a:r>
          </a:p>
          <a:p>
            <a:pPr lvl="1"/>
            <a:r>
              <a:rPr lang="en-US" altLang="ko-KR" sz="2000" dirty="0"/>
              <a:t>Y</a:t>
            </a:r>
            <a:r>
              <a:rPr lang="ko-KR" altLang="en-US" sz="2000" dirty="0"/>
              <a:t>축에 직교하는 평면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en-US" altLang="ko-KR" sz="2000" dirty="0"/>
              <a:t>zx (0)  xz(X)</a:t>
            </a:r>
          </a:p>
          <a:p>
            <a:pPr lvl="1"/>
            <a:r>
              <a:rPr lang="en-US" altLang="ko-KR" sz="2000" dirty="0"/>
              <a:t>X</a:t>
            </a:r>
            <a:r>
              <a:rPr lang="ko-KR" altLang="en-US" sz="2000" dirty="0"/>
              <a:t>축에 직교하는 평면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en-US" altLang="ko-KR" sz="2000" dirty="0"/>
              <a:t>yz</a:t>
            </a:r>
          </a:p>
          <a:p>
            <a:pPr lvl="1"/>
            <a:r>
              <a:rPr lang="en-US" altLang="ko-KR" sz="2000" dirty="0"/>
              <a:t>Z</a:t>
            </a:r>
            <a:r>
              <a:rPr lang="ko-KR" altLang="en-US" sz="2000" dirty="0"/>
              <a:t>축에 직교하는 평면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en-US" altLang="ko-KR" sz="2000" dirty="0"/>
              <a:t>xy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850C1FA-992A-1B39-C4DF-1D79D1F18A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D3A108-871C-2CD4-1966-DD70A5D3594B}"/>
                  </a:ext>
                </a:extLst>
              </p:cNvPr>
              <p:cNvSpPr txBox="1"/>
              <p:nvPr/>
            </p:nvSpPr>
            <p:spPr>
              <a:xfrm>
                <a:off x="2339752" y="764704"/>
                <a:ext cx="4680520" cy="9766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D3A108-871C-2CD4-1966-DD70A5D35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764704"/>
                <a:ext cx="4680520" cy="9766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E9EBD5-92F8-F493-262E-6F6355EE3144}"/>
                  </a:ext>
                </a:extLst>
              </p:cNvPr>
              <p:cNvSpPr txBox="1"/>
              <p:nvPr/>
            </p:nvSpPr>
            <p:spPr>
              <a:xfrm>
                <a:off x="2339751" y="2060848"/>
                <a:ext cx="4680521" cy="9798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/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/>
                            </m:mr>
                            <m:mr>
                              <m:e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E9EBD5-92F8-F493-262E-6F6355EE3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1" y="2060848"/>
                <a:ext cx="4680521" cy="9798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287FF8-A444-4633-C42D-F6DE0EE9F551}"/>
                  </a:ext>
                </a:extLst>
              </p:cNvPr>
              <p:cNvSpPr txBox="1"/>
              <p:nvPr/>
            </p:nvSpPr>
            <p:spPr>
              <a:xfrm>
                <a:off x="2345150" y="3501008"/>
                <a:ext cx="4680520" cy="9797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/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/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287FF8-A444-4633-C42D-F6DE0EE9F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150" y="3501008"/>
                <a:ext cx="4680520" cy="9797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1569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D5DDE-644E-1514-B93D-777295CE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10.2.2 </a:t>
            </a:r>
            <a:r>
              <a:rPr lang="ko-KR" altLang="en-US" dirty="0"/>
              <a:t>회전 행렬의 유도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A4DA4C4-ABF2-2126-C76B-E55A346B93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>
                    <a:latin typeface="+mn-ea"/>
                  </a:rPr>
                  <a:t>오일러 각 조합에 대한 경우의 수</a:t>
                </a:r>
                <a:endParaRPr lang="en-US" altLang="ko-KR" dirty="0">
                  <a:latin typeface="+mn-ea"/>
                </a:endParaRPr>
              </a:p>
              <a:p>
                <a:endParaRPr lang="en-US" altLang="ko-KR" dirty="0">
                  <a:latin typeface="+mn-ea"/>
                </a:endParaRPr>
              </a:p>
              <a:p>
                <a:endParaRPr lang="en-US" altLang="ko-KR" dirty="0">
                  <a:latin typeface="+mn-ea"/>
                </a:endParaRPr>
              </a:p>
              <a:p>
                <a:endParaRPr lang="en-US" altLang="ko-KR" dirty="0">
                  <a:latin typeface="+mn-ea"/>
                </a:endParaRPr>
              </a:p>
              <a:p>
                <a:endParaRPr lang="en-US" altLang="ko-KR" dirty="0">
                  <a:latin typeface="+mn-ea"/>
                </a:endParaRPr>
              </a:p>
              <a:p>
                <a:endParaRPr lang="en-US" altLang="ko-KR" dirty="0">
                  <a:latin typeface="+mn-ea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𝒚𝒂𝒘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𝒑𝒊𝒕𝒄𝒉</m:t>
                        </m:r>
                      </m:sub>
                    </m:sSub>
                    <m:r>
                      <a:rPr lang="en-US" altLang="ko-K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𝒓𝒐𝒍𝒍</m:t>
                        </m:r>
                      </m:sub>
                    </m:sSub>
                  </m:oMath>
                </a14:m>
                <a:endParaRPr lang="ko-KR" altLang="en-US" i="1" dirty="0">
                  <a:latin typeface="Cambria Math" panose="02040503050406030204" pitchFamily="18" charset="0"/>
                </a:endParaRPr>
              </a:p>
              <a:p>
                <a:endParaRPr lang="ko-KR" altLang="en-US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A4DA4C4-ABF2-2126-C76B-E55A346B93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0F1248-E0E3-D98D-AD1B-1BB022BB91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A6C6FD-EBBD-AA48-A185-8867F0406E97}"/>
                  </a:ext>
                </a:extLst>
              </p:cNvPr>
              <p:cNvSpPr txBox="1"/>
              <p:nvPr/>
            </p:nvSpPr>
            <p:spPr>
              <a:xfrm>
                <a:off x="340299" y="4408858"/>
                <a:ext cx="2808311" cy="642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  <a:p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A6C6FD-EBBD-AA48-A185-8867F0406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99" y="4408858"/>
                <a:ext cx="2808311" cy="642868"/>
              </a:xfrm>
              <a:prstGeom prst="rect">
                <a:avLst/>
              </a:prstGeom>
              <a:blipFill>
                <a:blip r:embed="rId3"/>
                <a:stretch>
                  <a:fillRect l="-32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62460D-D5CA-8912-F993-11C8A8F4CD08}"/>
                  </a:ext>
                </a:extLst>
              </p:cNvPr>
              <p:cNvSpPr txBox="1"/>
              <p:nvPr/>
            </p:nvSpPr>
            <p:spPr>
              <a:xfrm>
                <a:off x="611560" y="5716983"/>
                <a:ext cx="7436604" cy="88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ko-KR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62460D-D5CA-8912-F993-11C8A8F4C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5716983"/>
                <a:ext cx="7436604" cy="880369"/>
              </a:xfrm>
              <a:prstGeom prst="rect">
                <a:avLst/>
              </a:prstGeom>
              <a:blipFill>
                <a:blip r:embed="rId4"/>
                <a:stretch>
                  <a:fillRect r="-54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015CCA-9FA1-01B5-B0A1-456FB8CBBC6D}"/>
                  </a:ext>
                </a:extLst>
              </p:cNvPr>
              <p:cNvSpPr txBox="1"/>
              <p:nvPr/>
            </p:nvSpPr>
            <p:spPr>
              <a:xfrm>
                <a:off x="2843808" y="4730343"/>
                <a:ext cx="2736304" cy="8803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l-GR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l-GR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l-GR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l-GR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E015CCA-9FA1-01B5-B0A1-456FB8CBB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808" y="4730343"/>
                <a:ext cx="2736304" cy="8803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AC266E-9BAF-C457-7F9A-B43E9D71DD30}"/>
                  </a:ext>
                </a:extLst>
              </p:cNvPr>
              <p:cNvSpPr txBox="1"/>
              <p:nvPr/>
            </p:nvSpPr>
            <p:spPr>
              <a:xfrm>
                <a:off x="629504" y="4783427"/>
                <a:ext cx="3096344" cy="7325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AC266E-9BAF-C457-7F9A-B43E9D71D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504" y="4783427"/>
                <a:ext cx="3096344" cy="7325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DF8F3B-59C5-9C4E-7A39-18635C916E59}"/>
                  </a:ext>
                </a:extLst>
              </p:cNvPr>
              <p:cNvSpPr txBox="1"/>
              <p:nvPr/>
            </p:nvSpPr>
            <p:spPr>
              <a:xfrm>
                <a:off x="4840799" y="4777484"/>
                <a:ext cx="2035457" cy="7401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DF8F3B-59C5-9C4E-7A39-18635C916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799" y="4777484"/>
                <a:ext cx="2035457" cy="7401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EA1343D-17B6-A347-8892-99AA6EE5A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848501"/>
              </p:ext>
            </p:extLst>
          </p:nvPr>
        </p:nvGraphicFramePr>
        <p:xfrm>
          <a:off x="467544" y="1263406"/>
          <a:ext cx="4968552" cy="2165595"/>
        </p:xfrm>
        <a:graphic>
          <a:graphicData uri="http://schemas.openxmlformats.org/drawingml/2006/table">
            <a:tbl>
              <a:tblPr/>
              <a:tblGrid>
                <a:gridCol w="1131301">
                  <a:extLst>
                    <a:ext uri="{9D8B030D-6E8A-4147-A177-3AD203B41FA5}">
                      <a16:colId xmlns:a16="http://schemas.microsoft.com/office/drawing/2014/main" val="2380502331"/>
                    </a:ext>
                  </a:extLst>
                </a:gridCol>
                <a:gridCol w="1544073">
                  <a:extLst>
                    <a:ext uri="{9D8B030D-6E8A-4147-A177-3AD203B41FA5}">
                      <a16:colId xmlns:a16="http://schemas.microsoft.com/office/drawing/2014/main" val="4150619077"/>
                    </a:ext>
                  </a:extLst>
                </a:gridCol>
                <a:gridCol w="2293178">
                  <a:extLst>
                    <a:ext uri="{9D8B030D-6E8A-4147-A177-3AD203B41FA5}">
                      <a16:colId xmlns:a16="http://schemas.microsoft.com/office/drawing/2014/main" val="488819299"/>
                    </a:ext>
                  </a:extLst>
                </a:gridCol>
              </a:tblGrid>
              <a:tr h="33406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경우</a:t>
                      </a:r>
                      <a:endParaRPr lang="ko-KR" altLang="en-US" sz="2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회전축의 순서</a:t>
                      </a:r>
                      <a:endParaRPr lang="ko-KR" altLang="en-US" sz="2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회전 동작의 순서</a:t>
                      </a:r>
                      <a:endParaRPr lang="ko-KR" altLang="en-US" sz="28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270548"/>
                  </a:ext>
                </a:extLst>
              </a:tr>
              <a:tr h="3663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3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 → y → z</a:t>
                      </a:r>
                      <a:endParaRPr lang="en-US" sz="3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피치 → 요 → 롤</a:t>
                      </a:r>
                      <a:endParaRPr lang="ko-KR" altLang="en-US" sz="3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951699"/>
                  </a:ext>
                </a:extLst>
              </a:tr>
              <a:tr h="3663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3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 → z → y</a:t>
                      </a:r>
                      <a:endParaRPr lang="en-US" sz="3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피치 → 롤 → 요</a:t>
                      </a:r>
                      <a:endParaRPr lang="ko-KR" altLang="en-US" sz="3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439338"/>
                  </a:ext>
                </a:extLst>
              </a:tr>
              <a:tr h="3663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3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 → x → z</a:t>
                      </a:r>
                      <a:endParaRPr lang="en-US" sz="3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 → 피치 → 롤</a:t>
                      </a:r>
                      <a:endParaRPr lang="ko-KR" altLang="en-US" sz="3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732775"/>
                  </a:ext>
                </a:extLst>
              </a:tr>
              <a:tr h="3663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3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y → z → x</a:t>
                      </a:r>
                      <a:endParaRPr lang="en-US" sz="3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 → 롤 → 피치</a:t>
                      </a:r>
                      <a:endParaRPr lang="ko-KR" altLang="en-US" sz="3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424155"/>
                  </a:ext>
                </a:extLst>
              </a:tr>
              <a:tr h="3663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3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 → y → x</a:t>
                      </a:r>
                      <a:endParaRPr lang="en-US" sz="3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롤 → 요 → 피치</a:t>
                      </a:r>
                      <a:endParaRPr lang="ko-KR" altLang="en-US" sz="3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27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757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EA3B1-7E6E-EB54-EF25-7505C8C93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BFC70-67BD-2715-686C-CE3C48AE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10.2.2 </a:t>
            </a:r>
            <a:r>
              <a:rPr lang="ko-KR" altLang="en-US" dirty="0"/>
              <a:t>회전 행렬의 유도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B959BC-2558-0C55-CFB1-07CEEFAC0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X, Y, Z</a:t>
            </a:r>
          </a:p>
          <a:p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로컬 축 벡터와 회전 행렬</a:t>
            </a:r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로컬 축 벡터</a:t>
            </a:r>
            <a:endParaRPr lang="en-US" altLang="ko-KR" dirty="0">
              <a:latin typeface="+mn-ea"/>
            </a:endParaRPr>
          </a:p>
          <a:p>
            <a:pPr lvl="1"/>
            <a:endParaRPr lang="en-US" altLang="ko-KR" dirty="0">
              <a:latin typeface="+mn-ea"/>
            </a:endParaRPr>
          </a:p>
          <a:p>
            <a:pPr lvl="1"/>
            <a:endParaRPr lang="en-US" altLang="ko-KR" dirty="0">
              <a:latin typeface="+mn-ea"/>
            </a:endParaRPr>
          </a:p>
          <a:p>
            <a:pPr lvl="1"/>
            <a:r>
              <a:rPr lang="ko-KR" altLang="en-US" dirty="0">
                <a:latin typeface="+mn-ea"/>
              </a:rPr>
              <a:t>회전 행렬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EC79DC-491E-0294-D075-61327786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CE4800-F540-661E-CE8B-3884389FBA26}"/>
                  </a:ext>
                </a:extLst>
              </p:cNvPr>
              <p:cNvSpPr txBox="1"/>
              <p:nvPr/>
            </p:nvSpPr>
            <p:spPr>
              <a:xfrm>
                <a:off x="431540" y="1270655"/>
                <a:ext cx="828092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𝑙𝑜𝑐𝑎𝑙</m:t>
                          </m:r>
                        </m:sub>
                      </m:sSub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, −</m:t>
                          </m:r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CCE4800-F540-661E-CE8B-3884389FB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40" y="1270655"/>
                <a:ext cx="8280920" cy="276999"/>
              </a:xfrm>
              <a:prstGeom prst="rect">
                <a:avLst/>
              </a:prstGeom>
              <a:blipFill>
                <a:blip r:embed="rId2"/>
                <a:stretch>
                  <a:fillRect l="-1031" b="-36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D189BC-B330-3137-D208-B99496ACB8D4}"/>
                  </a:ext>
                </a:extLst>
              </p:cNvPr>
              <p:cNvSpPr txBox="1"/>
              <p:nvPr/>
            </p:nvSpPr>
            <p:spPr>
              <a:xfrm>
                <a:off x="433609" y="1685210"/>
                <a:ext cx="828092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𝑙𝑜𝑐𝑎𝑙</m:t>
                          </m:r>
                        </m:sub>
                      </m:sSub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D189BC-B330-3137-D208-B99496ACB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09" y="1685210"/>
                <a:ext cx="8280920" cy="276999"/>
              </a:xfrm>
              <a:prstGeom prst="rect">
                <a:avLst/>
              </a:prstGeom>
              <a:blipFill>
                <a:blip r:embed="rId3"/>
                <a:stretch>
                  <a:fillRect l="-957" b="-36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DDA0A6E-983F-E752-BC9C-C303D353E888}"/>
                  </a:ext>
                </a:extLst>
              </p:cNvPr>
              <p:cNvSpPr txBox="1"/>
              <p:nvPr/>
            </p:nvSpPr>
            <p:spPr>
              <a:xfrm>
                <a:off x="434866" y="2133659"/>
                <a:ext cx="482121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𝑙𝑜𝑐𝑎𝑙</m:t>
                          </m:r>
                        </m:sub>
                      </m:sSub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, −</m:t>
                          </m:r>
                          <m:func>
                            <m:funcPr>
                              <m:ctrlPr>
                                <a:rPr lang="en-US" altLang="ko-KR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ko-KR" altLang="en-US" sz="1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, </m:t>
                          </m:r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ko-KR" alt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DDA0A6E-983F-E752-BC9C-C303D353E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66" y="2133659"/>
                <a:ext cx="4821210" cy="276999"/>
              </a:xfrm>
              <a:prstGeom prst="rect">
                <a:avLst/>
              </a:prstGeom>
              <a:blipFill>
                <a:blip r:embed="rId4"/>
                <a:stretch>
                  <a:fillRect l="-1643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058598-60EC-7A37-E461-9249DF6EDF0E}"/>
                  </a:ext>
                </a:extLst>
              </p:cNvPr>
              <p:cNvSpPr txBox="1"/>
              <p:nvPr/>
            </p:nvSpPr>
            <p:spPr>
              <a:xfrm>
                <a:off x="897590" y="5172790"/>
                <a:ext cx="3096344" cy="10569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𝑅𝐻𝐿</m:t>
                          </m:r>
                        </m:sub>
                      </m:sSub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18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18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058598-60EC-7A37-E461-9249DF6ED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90" y="5172790"/>
                <a:ext cx="3096344" cy="10569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BD09F9-AF8A-1340-E2CF-5D5E46D1849B}"/>
                  </a:ext>
                </a:extLst>
              </p:cNvPr>
              <p:cNvSpPr txBox="1"/>
              <p:nvPr/>
            </p:nvSpPr>
            <p:spPr>
              <a:xfrm>
                <a:off x="897590" y="3859854"/>
                <a:ext cx="2048902" cy="3186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BD09F9-AF8A-1340-E2CF-5D5E46D18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90" y="3859854"/>
                <a:ext cx="2048902" cy="318677"/>
              </a:xfrm>
              <a:prstGeom prst="rect">
                <a:avLst/>
              </a:prstGeom>
              <a:blipFill>
                <a:blip r:embed="rId6"/>
                <a:stretch>
                  <a:fillRect l="-4167" t="-32692" b="-1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9B5363-876C-D86F-E048-444CC12C5202}"/>
                  </a:ext>
                </a:extLst>
              </p:cNvPr>
              <p:cNvSpPr txBox="1"/>
              <p:nvPr/>
            </p:nvSpPr>
            <p:spPr>
              <a:xfrm>
                <a:off x="2694464" y="3859854"/>
                <a:ext cx="2048902" cy="3186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9B5363-876C-D86F-E048-444CC12C5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464" y="3859854"/>
                <a:ext cx="2048902" cy="318677"/>
              </a:xfrm>
              <a:prstGeom prst="rect">
                <a:avLst/>
              </a:prstGeom>
              <a:blipFill>
                <a:blip r:embed="rId7"/>
                <a:stretch>
                  <a:fillRect l="-4167" t="-32692" b="-1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126865-E309-B9AF-A905-A8F6D3C6A07C}"/>
                  </a:ext>
                </a:extLst>
              </p:cNvPr>
              <p:cNvSpPr txBox="1"/>
              <p:nvPr/>
            </p:nvSpPr>
            <p:spPr>
              <a:xfrm>
                <a:off x="4507457" y="3859854"/>
                <a:ext cx="2048902" cy="3186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altLang="ko-KR" sz="1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1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sz="1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126865-E309-B9AF-A905-A8F6D3C6A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457" y="3859854"/>
                <a:ext cx="2048902" cy="318677"/>
              </a:xfrm>
              <a:prstGeom prst="rect">
                <a:avLst/>
              </a:prstGeom>
              <a:blipFill>
                <a:blip r:embed="rId8"/>
                <a:stretch>
                  <a:fillRect l="-4154" t="-32692" b="-1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906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9C234-E392-E3E2-37E6-334A5E3D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77D55-A52B-10FE-BD8B-732C529D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10.2.3 3</a:t>
            </a:r>
            <a:r>
              <a:rPr lang="ko-KR" altLang="en-US" dirty="0"/>
              <a:t>차원 모델링 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00C8E1-360B-A065-C263-46EAC1316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크기</a:t>
            </a:r>
            <a:r>
              <a:rPr lang="en-US" altLang="ko-KR" dirty="0"/>
              <a:t>(S), </a:t>
            </a:r>
            <a:r>
              <a:rPr lang="ko-KR" altLang="en-US" dirty="0"/>
              <a:t>회전</a:t>
            </a:r>
            <a:r>
              <a:rPr lang="en-US" altLang="ko-KR" dirty="0"/>
              <a:t>(R), </a:t>
            </a:r>
            <a:r>
              <a:rPr lang="ko-KR" altLang="en-US" dirty="0"/>
              <a:t>이동</a:t>
            </a:r>
            <a:r>
              <a:rPr lang="en-US" altLang="ko-KR" dirty="0"/>
              <a:t>(T)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T·R·S </a:t>
            </a:r>
            <a:r>
              <a:rPr lang="ko-KR" altLang="en-US" dirty="0"/>
              <a:t>모델링행렬 </a:t>
            </a:r>
            <a:r>
              <a:rPr lang="en-US" altLang="ko-KR" dirty="0"/>
              <a:t>M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737B67-234C-15F9-8A7C-4ACACF4F4D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7A6E88-97B8-1F67-D00E-902D8C53C23D}"/>
                  </a:ext>
                </a:extLst>
              </p:cNvPr>
              <p:cNvSpPr txBox="1"/>
              <p:nvPr/>
            </p:nvSpPr>
            <p:spPr>
              <a:xfrm>
                <a:off x="539750" y="1340768"/>
                <a:ext cx="2520082" cy="11711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7A6E88-97B8-1F67-D00E-902D8C53C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340768"/>
                <a:ext cx="2520082" cy="1171154"/>
              </a:xfrm>
              <a:prstGeom prst="rect">
                <a:avLst/>
              </a:prstGeom>
              <a:blipFill>
                <a:blip r:embed="rId2"/>
                <a:stretch>
                  <a:fillRect l="-2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5A9916-8AE8-B8CE-D8E4-550C15DB7B87}"/>
                  </a:ext>
                </a:extLst>
              </p:cNvPr>
              <p:cNvSpPr txBox="1"/>
              <p:nvPr/>
            </p:nvSpPr>
            <p:spPr>
              <a:xfrm>
                <a:off x="3018351" y="1337402"/>
                <a:ext cx="3096344" cy="11741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𝑅𝐻𝐿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5A9916-8AE8-B8CE-D8E4-550C15DB7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351" y="1337402"/>
                <a:ext cx="3096344" cy="11741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DD6483-6B0F-C520-6E0F-0C17D0CB1B84}"/>
                  </a:ext>
                </a:extLst>
              </p:cNvPr>
              <p:cNvSpPr txBox="1"/>
              <p:nvPr/>
            </p:nvSpPr>
            <p:spPr>
              <a:xfrm>
                <a:off x="6114695" y="1356073"/>
                <a:ext cx="2478601" cy="11711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DD6483-6B0F-C520-6E0F-0C17D0CB1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695" y="1356073"/>
                <a:ext cx="2478601" cy="11711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5B125B-26A3-C7D0-4C13-CA18F8A6FBDA}"/>
                  </a:ext>
                </a:extLst>
              </p:cNvPr>
              <p:cNvSpPr txBox="1"/>
              <p:nvPr/>
            </p:nvSpPr>
            <p:spPr>
              <a:xfrm>
                <a:off x="683567" y="4077072"/>
                <a:ext cx="5431127" cy="14099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5B125B-26A3-C7D0-4C13-CA18F8A6F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7" y="4077072"/>
                <a:ext cx="5431127" cy="14099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9592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B2C73-8985-6662-BF3D-3D05F2EF7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9DECB-C28C-4DB6-5EFA-B4DA5EFD7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10.3 </a:t>
            </a:r>
            <a:r>
              <a:rPr lang="ko-KR" altLang="en-US" dirty="0"/>
              <a:t>카메라 공간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4AF221-FA29-2B12-EC0A-1856317F6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차원 공간의 카메라 설정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D63672-4828-4C8D-EE55-28661927D2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6C4CC2-867C-A88A-70F6-0249564D0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412776"/>
            <a:ext cx="8285707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44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22012-EC39-CF0E-C525-EA933CF64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4AF9E2-ADD2-ADF5-B996-ED1AC9F5C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10.3 </a:t>
            </a:r>
            <a:r>
              <a:rPr lang="ko-KR" altLang="en-US" dirty="0"/>
              <a:t>카메라 공간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C7259C-D77F-2A9E-97A3-EEC1371A4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뷰 공간으로 재해석된 </a:t>
            </a:r>
            <a:r>
              <a:rPr lang="en-US" altLang="ko-KR" dirty="0"/>
              <a:t>3</a:t>
            </a:r>
            <a:r>
              <a:rPr lang="ko-KR" altLang="en-US" dirty="0"/>
              <a:t>차원 공간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27E78D-1844-F59D-73BC-0856E73F56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745CDB-8682-EF54-6E41-78806C987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419725"/>
            <a:ext cx="8377247" cy="323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61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DC2BC-2DA6-79AE-81A9-E7B1DC7BF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862C4-868D-0398-78B2-BF303609E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10.3 </a:t>
            </a:r>
            <a:r>
              <a:rPr lang="ko-KR" altLang="en-US" dirty="0"/>
              <a:t>카메라 공간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DA2180-5B71-376E-7058-2A20410A7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뷰 공간으로 재해석된 </a:t>
            </a:r>
            <a:r>
              <a:rPr lang="en-US" altLang="ko-KR" dirty="0"/>
              <a:t>3</a:t>
            </a:r>
            <a:r>
              <a:rPr lang="ko-KR" altLang="en-US" dirty="0"/>
              <a:t>차원 공간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C3AA4E-B5A5-CAAD-D781-45D51163EB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Line 2">
            <a:extLst>
              <a:ext uri="{FF2B5EF4-FFF2-40B4-BE49-F238E27FC236}">
                <a16:creationId xmlns:a16="http://schemas.microsoft.com/office/drawing/2014/main" id="{6377D6B7-CF13-B821-028B-CCCB50ACFC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4440" y="3025229"/>
            <a:ext cx="2643187" cy="239713"/>
          </a:xfrm>
          <a:prstGeom prst="line">
            <a:avLst/>
          </a:prstGeom>
          <a:noFill/>
          <a:ln w="25400" cap="rnd">
            <a:solidFill>
              <a:srgbClr val="FF00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Line 3">
            <a:extLst>
              <a:ext uri="{FF2B5EF4-FFF2-40B4-BE49-F238E27FC236}">
                <a16:creationId xmlns:a16="http://schemas.microsoft.com/office/drawing/2014/main" id="{FEF78960-CC12-AC88-4048-7BE6CA1765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2215" y="3025229"/>
            <a:ext cx="2665412" cy="1584325"/>
          </a:xfrm>
          <a:prstGeom prst="line">
            <a:avLst/>
          </a:prstGeom>
          <a:noFill/>
          <a:ln w="25400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977990DE-9D2E-8E27-8557-DE9A0F2C13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6902" y="3025229"/>
            <a:ext cx="720725" cy="1295400"/>
          </a:xfrm>
          <a:prstGeom prst="line">
            <a:avLst/>
          </a:prstGeom>
          <a:noFill/>
          <a:ln w="25400" cap="rnd">
            <a:solidFill>
              <a:schemeClr val="accent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E4B01791-47A4-9EB9-B4A2-77B9749681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4515" y="1972717"/>
            <a:ext cx="2043112" cy="1052512"/>
          </a:xfrm>
          <a:prstGeom prst="line">
            <a:avLst/>
          </a:prstGeom>
          <a:noFill/>
          <a:ln w="25400" cap="rnd">
            <a:solidFill>
              <a:srgbClr val="008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Line 14">
            <a:extLst>
              <a:ext uri="{FF2B5EF4-FFF2-40B4-BE49-F238E27FC236}">
                <a16:creationId xmlns:a16="http://schemas.microsoft.com/office/drawing/2014/main" id="{A64C74C7-69FE-4EA6-3223-DF631D7206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18977" y="3385592"/>
            <a:ext cx="43180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12" name="Line 15">
            <a:extLst>
              <a:ext uri="{FF2B5EF4-FFF2-40B4-BE49-F238E27FC236}">
                <a16:creationId xmlns:a16="http://schemas.microsoft.com/office/drawing/2014/main" id="{DDF3A7BA-75D7-342A-7644-3BEC2F3363F6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2234133" y="3219699"/>
            <a:ext cx="2447925" cy="1522412"/>
          </a:xfrm>
          <a:prstGeom prst="line">
            <a:avLst/>
          </a:prstGeom>
          <a:noFill/>
          <a:ln w="25400" cap="rnd">
            <a:solidFill>
              <a:schemeClr val="accent2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grpSp>
        <p:nvGrpSpPr>
          <p:cNvPr id="13" name="Group 16">
            <a:extLst>
              <a:ext uri="{FF2B5EF4-FFF2-40B4-BE49-F238E27FC236}">
                <a16:creationId xmlns:a16="http://schemas.microsoft.com/office/drawing/2014/main" id="{876AF14D-281F-B4C5-870B-12201C6660C3}"/>
              </a:ext>
            </a:extLst>
          </p:cNvPr>
          <p:cNvGrpSpPr>
            <a:grpSpLocks/>
          </p:cNvGrpSpPr>
          <p:nvPr/>
        </p:nvGrpSpPr>
        <p:grpSpPr bwMode="auto">
          <a:xfrm rot="1800000">
            <a:off x="1980927" y="3055392"/>
            <a:ext cx="381000" cy="330200"/>
            <a:chOff x="96" y="1200"/>
            <a:chExt cx="1104" cy="960"/>
          </a:xfrm>
        </p:grpSpPr>
        <p:sp>
          <p:nvSpPr>
            <p:cNvPr id="43" name="Rectangle 17">
              <a:extLst>
                <a:ext uri="{FF2B5EF4-FFF2-40B4-BE49-F238E27FC236}">
                  <a16:creationId xmlns:a16="http://schemas.microsoft.com/office/drawing/2014/main" id="{06EE7BCB-C36B-5667-CCB9-F04C6786B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536"/>
              <a:ext cx="816" cy="62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44" name="Oval 18">
              <a:extLst>
                <a:ext uri="{FF2B5EF4-FFF2-40B4-BE49-F238E27FC236}">
                  <a16:creationId xmlns:a16="http://schemas.microsoft.com/office/drawing/2014/main" id="{6CA887F2-9CA4-1128-95CE-69D0D23A1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45" name="AutoShape 19">
              <a:extLst>
                <a:ext uri="{FF2B5EF4-FFF2-40B4-BE49-F238E27FC236}">
                  <a16:creationId xmlns:a16="http://schemas.microsoft.com/office/drawing/2014/main" id="{1F6010CB-7516-A8D8-AD37-A41D9499AB4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2" y="1704"/>
              <a:ext cx="528" cy="288"/>
            </a:xfrm>
            <a:custGeom>
              <a:avLst/>
              <a:gdLst>
                <a:gd name="T0" fmla="*/ 11 w 21600"/>
                <a:gd name="T1" fmla="*/ 2 h 21600"/>
                <a:gd name="T2" fmla="*/ 6 w 21600"/>
                <a:gd name="T3" fmla="*/ 4 h 21600"/>
                <a:gd name="T4" fmla="*/ 2 w 21600"/>
                <a:gd name="T5" fmla="*/ 2 h 21600"/>
                <a:gd name="T6" fmla="*/ 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46" name="Oval 20">
              <a:extLst>
                <a:ext uri="{FF2B5EF4-FFF2-40B4-BE49-F238E27FC236}">
                  <a16:creationId xmlns:a16="http://schemas.microsoft.com/office/drawing/2014/main" id="{B967F2A3-F641-9CFC-D055-0763BE77C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200"/>
              <a:ext cx="336" cy="336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28">
                <a:extLst>
                  <a:ext uri="{FF2B5EF4-FFF2-40B4-BE49-F238E27FC236}">
                    <a16:creationId xmlns:a16="http://schemas.microsoft.com/office/drawing/2014/main" id="{498CE9A1-20B9-00D5-654E-A93710528BCD}"/>
                  </a:ext>
                </a:extLst>
              </p:cNvPr>
              <p:cNvSpPr txBox="1"/>
              <p:nvPr/>
            </p:nvSpPr>
            <p:spPr bwMode="auto">
              <a:xfrm>
                <a:off x="1188765" y="4393654"/>
                <a:ext cx="333375" cy="3365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ko-KR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Object 28">
                <a:extLst>
                  <a:ext uri="{FF2B5EF4-FFF2-40B4-BE49-F238E27FC236}">
                    <a16:creationId xmlns:a16="http://schemas.microsoft.com/office/drawing/2014/main" id="{498CE9A1-20B9-00D5-654E-A93710528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8765" y="4393654"/>
                <a:ext cx="333375" cy="336550"/>
              </a:xfrm>
              <a:prstGeom prst="rect">
                <a:avLst/>
              </a:prstGeom>
              <a:blipFill>
                <a:blip r:embed="rId2"/>
                <a:stretch>
                  <a:fillRect b="-254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29">
            <a:extLst>
              <a:ext uri="{FF2B5EF4-FFF2-40B4-BE49-F238E27FC236}">
                <a16:creationId xmlns:a16="http://schemas.microsoft.com/office/drawing/2014/main" id="{F41CC0E2-1496-3729-9C3F-E37FE3D8D6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09902" y="2831554"/>
            <a:ext cx="44132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 dirty="0">
                <a:latin typeface="Times New Roman" panose="02020603050405020304" pitchFamily="18" charset="0"/>
              </a:rPr>
              <a:t>Object</a:t>
            </a:r>
            <a:endParaRPr lang="en-US" altLang="ko-KR" sz="1200" dirty="0">
              <a:latin typeface="Times New Roman" panose="02020603050405020304" pitchFamily="18" charset="0"/>
            </a:endParaRPr>
          </a:p>
        </p:txBody>
      </p:sp>
      <p:sp>
        <p:nvSpPr>
          <p:cNvPr id="16" name="Text Box 30">
            <a:extLst>
              <a:ext uri="{FF2B5EF4-FFF2-40B4-BE49-F238E27FC236}">
                <a16:creationId xmlns:a16="http://schemas.microsoft.com/office/drawing/2014/main" id="{66C10547-2B53-08B6-AFE8-2BEC15B8EB8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31640" y="2952204"/>
            <a:ext cx="525462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6858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1200" b="1" dirty="0">
                <a:latin typeface="Times New Roman" panose="02020603050405020304" pitchFamily="18" charset="0"/>
              </a:rPr>
              <a:t>Camera</a:t>
            </a:r>
            <a:endParaRPr lang="en-US" altLang="ko-KR" sz="1200" dirty="0">
              <a:latin typeface="Times New Roman" panose="02020603050405020304" pitchFamily="18" charset="0"/>
            </a:endParaRPr>
          </a:p>
        </p:txBody>
      </p:sp>
      <p:sp>
        <p:nvSpPr>
          <p:cNvPr id="17" name="Line 31">
            <a:extLst>
              <a:ext uri="{FF2B5EF4-FFF2-40B4-BE49-F238E27FC236}">
                <a16:creationId xmlns:a16="http://schemas.microsoft.com/office/drawing/2014/main" id="{D78577B8-AABD-A979-7F01-D55B13920D5F}"/>
              </a:ext>
            </a:extLst>
          </p:cNvPr>
          <p:cNvSpPr>
            <a:spLocks noChangeShapeType="1"/>
          </p:cNvSpPr>
          <p:nvPr/>
        </p:nvSpPr>
        <p:spPr bwMode="auto">
          <a:xfrm rot="3600000" flipV="1">
            <a:off x="2311127" y="3352255"/>
            <a:ext cx="331787" cy="207962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18" name="Line 32">
            <a:extLst>
              <a:ext uri="{FF2B5EF4-FFF2-40B4-BE49-F238E27FC236}">
                <a16:creationId xmlns:a16="http://schemas.microsoft.com/office/drawing/2014/main" id="{83E13A6C-4A5B-9C28-080C-8845E1CF2D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6827" y="2593429"/>
            <a:ext cx="215900" cy="414338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19" name="Line 33">
            <a:extLst>
              <a:ext uri="{FF2B5EF4-FFF2-40B4-BE49-F238E27FC236}">
                <a16:creationId xmlns:a16="http://schemas.microsoft.com/office/drawing/2014/main" id="{30C277C1-7A99-6513-E5F3-35B5862B54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3802" y="3312567"/>
            <a:ext cx="0" cy="449262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34">
                <a:extLst>
                  <a:ext uri="{FF2B5EF4-FFF2-40B4-BE49-F238E27FC236}">
                    <a16:creationId xmlns:a16="http://schemas.microsoft.com/office/drawing/2014/main" id="{7C68B913-ADFF-A125-D0D1-DCA2E7CB4E21}"/>
                  </a:ext>
                </a:extLst>
              </p:cNvPr>
              <p:cNvSpPr txBox="1"/>
              <p:nvPr/>
            </p:nvSpPr>
            <p:spPr bwMode="auto">
              <a:xfrm>
                <a:off x="1367358" y="3693567"/>
                <a:ext cx="525462" cy="371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𝑦𝑒</m:t>
                      </m:r>
                    </m:oMath>
                  </m:oMathPara>
                </a14:m>
                <a:endParaRPr lang="ko-KR" altLang="en-US" sz="16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Object 34">
                <a:extLst>
                  <a:ext uri="{FF2B5EF4-FFF2-40B4-BE49-F238E27FC236}">
                    <a16:creationId xmlns:a16="http://schemas.microsoft.com/office/drawing/2014/main" id="{7C68B913-ADFF-A125-D0D1-DCA2E7CB4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7358" y="3693567"/>
                <a:ext cx="525462" cy="371475"/>
              </a:xfrm>
              <a:prstGeom prst="rect">
                <a:avLst/>
              </a:prstGeom>
              <a:blipFill>
                <a:blip r:embed="rId3"/>
                <a:stretch>
                  <a:fillRect b="-32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36">
            <a:extLst>
              <a:ext uri="{FF2B5EF4-FFF2-40B4-BE49-F238E27FC236}">
                <a16:creationId xmlns:a16="http://schemas.microsoft.com/office/drawing/2014/main" id="{82B8BF3D-48E0-5D62-BE13-EC11A8E4F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540" y="4623842"/>
            <a:ext cx="144462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p:sp>
        <p:nvSpPr>
          <p:cNvPr id="22" name="Line 39">
            <a:extLst>
              <a:ext uri="{FF2B5EF4-FFF2-40B4-BE49-F238E27FC236}">
                <a16:creationId xmlns:a16="http://schemas.microsoft.com/office/drawing/2014/main" id="{7719B4CC-5A8F-4182-FA49-4C407588A6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17465" y="1656804"/>
            <a:ext cx="677862" cy="1301750"/>
          </a:xfrm>
          <a:prstGeom prst="line">
            <a:avLst/>
          </a:prstGeom>
          <a:noFill/>
          <a:ln w="25400" cap="rnd">
            <a:solidFill>
              <a:srgbClr val="008000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23" name="Line 42">
            <a:extLst>
              <a:ext uri="{FF2B5EF4-FFF2-40B4-BE49-F238E27FC236}">
                <a16:creationId xmlns:a16="http://schemas.microsoft.com/office/drawing/2014/main" id="{89252D57-C5AB-249E-7CAE-698A8CB901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2215" y="3312567"/>
            <a:ext cx="0" cy="1385887"/>
          </a:xfrm>
          <a:prstGeom prst="line">
            <a:avLst/>
          </a:prstGeom>
          <a:noFill/>
          <a:ln w="25400" cap="rnd">
            <a:solidFill>
              <a:srgbClr val="800000"/>
            </a:solidFill>
            <a:prstDash val="sysDot"/>
            <a:round/>
            <a:headEnd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grpSp>
        <p:nvGrpSpPr>
          <p:cNvPr id="24" name="Group 7">
            <a:extLst>
              <a:ext uri="{FF2B5EF4-FFF2-40B4-BE49-F238E27FC236}">
                <a16:creationId xmlns:a16="http://schemas.microsoft.com/office/drawing/2014/main" id="{EF8FAFB4-552D-67BF-2866-97E6B3E844EC}"/>
              </a:ext>
            </a:extLst>
          </p:cNvPr>
          <p:cNvGrpSpPr>
            <a:grpSpLocks/>
          </p:cNvGrpSpPr>
          <p:nvPr/>
        </p:nvGrpSpPr>
        <p:grpSpPr bwMode="auto">
          <a:xfrm>
            <a:off x="4643165" y="2736304"/>
            <a:ext cx="468312" cy="468313"/>
            <a:chOff x="1117" y="3555"/>
            <a:chExt cx="475" cy="472"/>
          </a:xfrm>
        </p:grpSpPr>
        <p:sp>
          <p:nvSpPr>
            <p:cNvPr id="39" name="AutoShape 8">
              <a:extLst>
                <a:ext uri="{FF2B5EF4-FFF2-40B4-BE49-F238E27FC236}">
                  <a16:creationId xmlns:a16="http://schemas.microsoft.com/office/drawing/2014/main" id="{D258D634-CDE0-90EB-9FA6-3A6C9AF14C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400000">
              <a:off x="1345" y="3574"/>
              <a:ext cx="113" cy="317"/>
            </a:xfrm>
            <a:prstGeom prst="can">
              <a:avLst>
                <a:gd name="adj" fmla="val 70133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40" name="AutoShape 9">
              <a:extLst>
                <a:ext uri="{FF2B5EF4-FFF2-40B4-BE49-F238E27FC236}">
                  <a16:creationId xmlns:a16="http://schemas.microsoft.com/office/drawing/2014/main" id="{94429D8C-0D10-2937-BEFF-D24530279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" y="3710"/>
              <a:ext cx="317" cy="317"/>
            </a:xfrm>
            <a:prstGeom prst="cube">
              <a:avLst>
                <a:gd name="adj" fmla="val 3511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41" name="AutoShape 10">
              <a:extLst>
                <a:ext uri="{FF2B5EF4-FFF2-40B4-BE49-F238E27FC236}">
                  <a16:creationId xmlns:a16="http://schemas.microsoft.com/office/drawing/2014/main" id="{2BB7B1C4-0BD4-6E97-819E-DAF139FC8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3" y="3555"/>
              <a:ext cx="113" cy="227"/>
            </a:xfrm>
            <a:prstGeom prst="can">
              <a:avLst>
                <a:gd name="adj" fmla="val 50221"/>
              </a:avLst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42" name="AutoShape 11">
              <a:extLst>
                <a:ext uri="{FF2B5EF4-FFF2-40B4-BE49-F238E27FC236}">
                  <a16:creationId xmlns:a16="http://schemas.microsoft.com/office/drawing/2014/main" id="{E6C6719E-EA6D-7548-2979-0F2A3A70EF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422" y="3749"/>
              <a:ext cx="113" cy="227"/>
            </a:xfrm>
            <a:prstGeom prst="can">
              <a:avLst>
                <a:gd name="adj" fmla="val 30588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43">
                <a:extLst>
                  <a:ext uri="{FF2B5EF4-FFF2-40B4-BE49-F238E27FC236}">
                    <a16:creationId xmlns:a16="http://schemas.microsoft.com/office/drawing/2014/main" id="{294E093E-737B-033A-FC6E-3684CFA0F91E}"/>
                  </a:ext>
                </a:extLst>
              </p:cNvPr>
              <p:cNvSpPr txBox="1"/>
              <p:nvPr/>
            </p:nvSpPr>
            <p:spPr bwMode="auto">
              <a:xfrm>
                <a:off x="4643165" y="2233067"/>
                <a:ext cx="895350" cy="3714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6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Object 43">
                <a:extLst>
                  <a:ext uri="{FF2B5EF4-FFF2-40B4-BE49-F238E27FC236}">
                    <a16:creationId xmlns:a16="http://schemas.microsoft.com/office/drawing/2014/main" id="{294E093E-737B-033A-FC6E-3684CFA0F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3165" y="2233067"/>
                <a:ext cx="895350" cy="371475"/>
              </a:xfrm>
              <a:prstGeom prst="rect">
                <a:avLst/>
              </a:prstGeom>
              <a:blipFill>
                <a:blip r:embed="rId4"/>
                <a:stretch>
                  <a:fillRect t="-13115" r="-8163" b="-98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44">
                <a:extLst>
                  <a:ext uri="{FF2B5EF4-FFF2-40B4-BE49-F238E27FC236}">
                    <a16:creationId xmlns:a16="http://schemas.microsoft.com/office/drawing/2014/main" id="{F4AA73FB-0F19-7695-CD65-46287943DB11}"/>
                  </a:ext>
                </a:extLst>
              </p:cNvPr>
              <p:cNvSpPr txBox="1"/>
              <p:nvPr/>
            </p:nvSpPr>
            <p:spPr bwMode="auto">
              <a:xfrm>
                <a:off x="2698477" y="2725192"/>
                <a:ext cx="1612900" cy="371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𝑦𝑒</m:t>
                      </m:r>
                    </m:oMath>
                  </m:oMathPara>
                </a14:m>
                <a:endParaRPr lang="ko-KR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Object 44">
                <a:extLst>
                  <a:ext uri="{FF2B5EF4-FFF2-40B4-BE49-F238E27FC236}">
                    <a16:creationId xmlns:a16="http://schemas.microsoft.com/office/drawing/2014/main" id="{F4AA73FB-0F19-7695-CD65-46287943D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8477" y="2725192"/>
                <a:ext cx="1612900" cy="371475"/>
              </a:xfrm>
              <a:prstGeom prst="rect">
                <a:avLst/>
              </a:prstGeom>
              <a:blipFill>
                <a:blip r:embed="rId5"/>
                <a:stretch>
                  <a:fillRect b="-295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45">
                <a:extLst>
                  <a:ext uri="{FF2B5EF4-FFF2-40B4-BE49-F238E27FC236}">
                    <a16:creationId xmlns:a16="http://schemas.microsoft.com/office/drawing/2014/main" id="{C73CD7DB-DD33-C88B-B3D1-12F5AAE3E4F8}"/>
                  </a:ext>
                </a:extLst>
              </p:cNvPr>
              <p:cNvSpPr txBox="1"/>
              <p:nvPr/>
            </p:nvSpPr>
            <p:spPr bwMode="auto">
              <a:xfrm>
                <a:off x="4852715" y="3936454"/>
                <a:ext cx="720724" cy="3127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ko-KR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Object 45">
                <a:extLst>
                  <a:ext uri="{FF2B5EF4-FFF2-40B4-BE49-F238E27FC236}">
                    <a16:creationId xmlns:a16="http://schemas.microsoft.com/office/drawing/2014/main" id="{C73CD7DB-DD33-C88B-B3D1-12F5AAE3E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2715" y="3936454"/>
                <a:ext cx="720724" cy="312738"/>
              </a:xfrm>
              <a:prstGeom prst="rect">
                <a:avLst/>
              </a:prstGeom>
              <a:blipFill>
                <a:blip r:embed="rId6"/>
                <a:stretch>
                  <a:fillRect r="-31356" b="-3529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AutoShape 46">
            <a:extLst>
              <a:ext uri="{FF2B5EF4-FFF2-40B4-BE49-F238E27FC236}">
                <a16:creationId xmlns:a16="http://schemas.microsoft.com/office/drawing/2014/main" id="{6E831000-AF0D-029A-CE5B-F937C47AE0E2}"/>
              </a:ext>
            </a:extLst>
          </p:cNvPr>
          <p:cNvCxnSpPr>
            <a:cxnSpLocks noChangeShapeType="1"/>
            <a:stCxn id="29" idx="6"/>
          </p:cNvCxnSpPr>
          <p:nvPr/>
        </p:nvCxnSpPr>
        <p:spPr bwMode="auto">
          <a:xfrm flipV="1">
            <a:off x="4139927" y="4093617"/>
            <a:ext cx="712788" cy="228600"/>
          </a:xfrm>
          <a:prstGeom prst="curvedConnector3">
            <a:avLst>
              <a:gd name="adj1" fmla="val 49889"/>
            </a:avLst>
          </a:prstGeom>
          <a:noFill/>
          <a:ln w="9525">
            <a:solidFill>
              <a:schemeClr val="accent2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Oval 47">
            <a:extLst>
              <a:ext uri="{FF2B5EF4-FFF2-40B4-BE49-F238E27FC236}">
                <a16:creationId xmlns:a16="http://schemas.microsoft.com/office/drawing/2014/main" id="{56524797-2111-20C2-ACED-FA8466E3F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465" y="4249192"/>
            <a:ext cx="144462" cy="144462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48">
                <a:extLst>
                  <a:ext uri="{FF2B5EF4-FFF2-40B4-BE49-F238E27FC236}">
                    <a16:creationId xmlns:a16="http://schemas.microsoft.com/office/drawing/2014/main" id="{7B60D9DF-4F8F-F5F8-2C1E-5AC9422FFA9C}"/>
                  </a:ext>
                </a:extLst>
              </p:cNvPr>
              <p:cNvSpPr txBox="1"/>
              <p:nvPr/>
            </p:nvSpPr>
            <p:spPr bwMode="auto">
              <a:xfrm>
                <a:off x="2898501" y="4223792"/>
                <a:ext cx="937701" cy="3127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ko-KR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ko-KR" altLang="en-US" sz="16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Object 48">
                <a:extLst>
                  <a:ext uri="{FF2B5EF4-FFF2-40B4-BE49-F238E27FC236}">
                    <a16:creationId xmlns:a16="http://schemas.microsoft.com/office/drawing/2014/main" id="{7B60D9DF-4F8F-F5F8-2C1E-5AC9422FF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8501" y="4223792"/>
                <a:ext cx="937701" cy="312737"/>
              </a:xfrm>
              <a:prstGeom prst="rect">
                <a:avLst/>
              </a:prstGeom>
              <a:blipFill>
                <a:blip r:embed="rId7"/>
                <a:stretch>
                  <a:fillRect b="-980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AutoShape 49">
            <a:extLst>
              <a:ext uri="{FF2B5EF4-FFF2-40B4-BE49-F238E27FC236}">
                <a16:creationId xmlns:a16="http://schemas.microsoft.com/office/drawing/2014/main" id="{3794B624-D725-EAFA-5D10-AF126A747471}"/>
              </a:ext>
            </a:extLst>
          </p:cNvPr>
          <p:cNvCxnSpPr>
            <a:cxnSpLocks noChangeShapeType="1"/>
            <a:stCxn id="32" idx="6"/>
          </p:cNvCxnSpPr>
          <p:nvPr/>
        </p:nvCxnSpPr>
        <p:spPr bwMode="auto">
          <a:xfrm flipV="1">
            <a:off x="2195240" y="4380954"/>
            <a:ext cx="712787" cy="228600"/>
          </a:xfrm>
          <a:prstGeom prst="curvedConnector3">
            <a:avLst>
              <a:gd name="adj1" fmla="val 49889"/>
            </a:avLst>
          </a:prstGeom>
          <a:noFill/>
          <a:ln w="9525">
            <a:solidFill>
              <a:srgbClr val="800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Oval 50">
            <a:extLst>
              <a:ext uri="{FF2B5EF4-FFF2-40B4-BE49-F238E27FC236}">
                <a16:creationId xmlns:a16="http://schemas.microsoft.com/office/drawing/2014/main" id="{CA07D306-0A4D-815C-60AB-C07AB3912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0777" y="4536529"/>
            <a:ext cx="144463" cy="144463"/>
          </a:xfrm>
          <a:prstGeom prst="ellipse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51">
                <a:extLst>
                  <a:ext uri="{FF2B5EF4-FFF2-40B4-BE49-F238E27FC236}">
                    <a16:creationId xmlns:a16="http://schemas.microsoft.com/office/drawing/2014/main" id="{6BEE8B95-D688-A5BF-0C89-F4C8A849687D}"/>
                  </a:ext>
                </a:extLst>
              </p:cNvPr>
              <p:cNvSpPr txBox="1"/>
              <p:nvPr/>
            </p:nvSpPr>
            <p:spPr bwMode="auto">
              <a:xfrm>
                <a:off x="3506515" y="1556792"/>
                <a:ext cx="712788" cy="37147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ko-KR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ko-KR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Object 51">
                <a:extLst>
                  <a:ext uri="{FF2B5EF4-FFF2-40B4-BE49-F238E27FC236}">
                    <a16:creationId xmlns:a16="http://schemas.microsoft.com/office/drawing/2014/main" id="{6BEE8B95-D688-A5BF-0C89-F4C8A8496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6515" y="1556792"/>
                <a:ext cx="712788" cy="371475"/>
              </a:xfrm>
              <a:prstGeom prst="rect">
                <a:avLst/>
              </a:prstGeom>
              <a:blipFill>
                <a:blip r:embed="rId8"/>
                <a:stretch>
                  <a:fillRect r="-38462" b="-295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AutoShape 52">
            <a:extLst>
              <a:ext uri="{FF2B5EF4-FFF2-40B4-BE49-F238E27FC236}">
                <a16:creationId xmlns:a16="http://schemas.microsoft.com/office/drawing/2014/main" id="{F567A5DF-DE7A-5EFD-4505-16F6435FAB90}"/>
              </a:ext>
            </a:extLst>
          </p:cNvPr>
          <p:cNvCxnSpPr>
            <a:cxnSpLocks noChangeShapeType="1"/>
            <a:stCxn id="35" idx="6"/>
          </p:cNvCxnSpPr>
          <p:nvPr/>
        </p:nvCxnSpPr>
        <p:spPr bwMode="auto">
          <a:xfrm flipV="1">
            <a:off x="2803252" y="1742529"/>
            <a:ext cx="712788" cy="228600"/>
          </a:xfrm>
          <a:prstGeom prst="curvedConnector3">
            <a:avLst>
              <a:gd name="adj1" fmla="val 49889"/>
            </a:avLst>
          </a:prstGeom>
          <a:noFill/>
          <a:ln w="9525">
            <a:solidFill>
              <a:srgbClr val="800000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Oval 53">
            <a:extLst>
              <a:ext uri="{FF2B5EF4-FFF2-40B4-BE49-F238E27FC236}">
                <a16:creationId xmlns:a16="http://schemas.microsoft.com/office/drawing/2014/main" id="{DAD49821-6C46-6669-5A1E-023572184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8790" y="1898104"/>
            <a:ext cx="144462" cy="144463"/>
          </a:xfrm>
          <a:prstGeom prst="ellipse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12">
                <a:extLst>
                  <a:ext uri="{FF2B5EF4-FFF2-40B4-BE49-F238E27FC236}">
                    <a16:creationId xmlns:a16="http://schemas.microsoft.com/office/drawing/2014/main" id="{AA999903-8005-3EF4-429D-ABCD65C14739}"/>
                  </a:ext>
                </a:extLst>
              </p:cNvPr>
              <p:cNvSpPr txBox="1"/>
              <p:nvPr/>
            </p:nvSpPr>
            <p:spPr bwMode="auto">
              <a:xfrm>
                <a:off x="2122214" y="4752429"/>
                <a:ext cx="1801711" cy="35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0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</m:sub>
                      </m:sSub>
                    </m:oMath>
                  </m:oMathPara>
                </a14:m>
                <a:endParaRPr lang="ko-KR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Object 12">
                <a:extLst>
                  <a:ext uri="{FF2B5EF4-FFF2-40B4-BE49-F238E27FC236}">
                    <a16:creationId xmlns:a16="http://schemas.microsoft.com/office/drawing/2014/main" id="{AA999903-8005-3EF4-429D-ABCD65C14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2214" y="4752429"/>
                <a:ext cx="1801711" cy="350838"/>
              </a:xfrm>
              <a:prstGeom prst="rect">
                <a:avLst/>
              </a:prstGeom>
              <a:blipFill>
                <a:blip r:embed="rId9"/>
                <a:stretch>
                  <a:fillRect t="-3509" b="-140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13">
                <a:extLst>
                  <a:ext uri="{FF2B5EF4-FFF2-40B4-BE49-F238E27FC236}">
                    <a16:creationId xmlns:a16="http://schemas.microsoft.com/office/drawing/2014/main" id="{2A76C3C3-F2A5-1513-D79C-84095C87BCD2}"/>
                  </a:ext>
                </a:extLst>
              </p:cNvPr>
              <p:cNvSpPr txBox="1"/>
              <p:nvPr/>
            </p:nvSpPr>
            <p:spPr bwMode="auto">
              <a:xfrm>
                <a:off x="1835150" y="2089150"/>
                <a:ext cx="590550" cy="3508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</m:sub>
                      </m:sSub>
                    </m:oMath>
                  </m:oMathPara>
                </a14:m>
                <a:endParaRPr lang="ko-KR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7" name="Object 13">
                <a:extLst>
                  <a:ext uri="{FF2B5EF4-FFF2-40B4-BE49-F238E27FC236}">
                    <a16:creationId xmlns:a16="http://schemas.microsoft.com/office/drawing/2014/main" id="{2A76C3C3-F2A5-1513-D79C-84095C87B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35150" y="2089150"/>
                <a:ext cx="590550" cy="350838"/>
              </a:xfrm>
              <a:prstGeom prst="rect">
                <a:avLst/>
              </a:prstGeom>
              <a:blipFill>
                <a:blip r:embed="rId10"/>
                <a:stretch>
                  <a:fillRect t="-3509" r="-60825" b="-263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40">
                <a:extLst>
                  <a:ext uri="{FF2B5EF4-FFF2-40B4-BE49-F238E27FC236}">
                    <a16:creationId xmlns:a16="http://schemas.microsoft.com/office/drawing/2014/main" id="{35486B62-1E16-601F-D164-B82A01E82898}"/>
                  </a:ext>
                </a:extLst>
              </p:cNvPr>
              <p:cNvSpPr txBox="1"/>
              <p:nvPr/>
            </p:nvSpPr>
            <p:spPr bwMode="auto">
              <a:xfrm>
                <a:off x="4714602" y="4465092"/>
                <a:ext cx="571500" cy="3508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ko-KR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𝑐𝑎𝑚𝑒𝑟𝑎</m:t>
                          </m:r>
                        </m:sub>
                      </m:sSub>
                    </m:oMath>
                  </m:oMathPara>
                </a14:m>
                <a:endParaRPr lang="ko-KR" altLang="en-US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Object 40">
                <a:extLst>
                  <a:ext uri="{FF2B5EF4-FFF2-40B4-BE49-F238E27FC236}">
                    <a16:creationId xmlns:a16="http://schemas.microsoft.com/office/drawing/2014/main" id="{35486B62-1E16-601F-D164-B82A01E82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4602" y="4465092"/>
                <a:ext cx="571500" cy="350837"/>
              </a:xfrm>
              <a:prstGeom prst="rect">
                <a:avLst/>
              </a:prstGeom>
              <a:blipFill>
                <a:blip r:embed="rId11"/>
                <a:stretch>
                  <a:fillRect t="-3448" r="-64894" b="-137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7530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E6056-5E03-46A9-0C4C-0381C610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CDA15-FF6E-3EB5-94FF-5A1A3BFF8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10.3 </a:t>
            </a:r>
            <a:r>
              <a:rPr lang="ko-KR" altLang="en-US" dirty="0"/>
              <a:t>카메라 공간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1342939-FCE0-558B-A382-AE1A8F5B31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뷰 행렬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카메라 지역 공간으로 이동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카메라 이동의 역행렬 → 회전의 역행렬 적용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크기 변환 없음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회전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이동 변환 만 존재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카메라 축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ko-KR" altLang="en-US" dirty="0"/>
                  <a:t>카메라 </a:t>
                </a:r>
                <a:r>
                  <a:rPr lang="en-US" altLang="ko-KR" dirty="0"/>
                  <a:t>transform 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acc>
                    <m:r>
                      <a:rPr lang="en-US" altLang="ko-KR" b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b="0" dirty="0">
                  <a:ea typeface="Cambria Math" panose="02040503050406030204" pitchFamily="18" charset="0"/>
                </a:endParaRPr>
              </a:p>
              <a:p>
                <a:pPr lvl="5"/>
                <a:endParaRPr lang="en-US" altLang="ko-KR" b="0" dirty="0">
                  <a:ea typeface="Cambria Math" panose="02040503050406030204" pitchFamily="18" charset="0"/>
                </a:endParaRPr>
              </a:p>
              <a:p>
                <a:r>
                  <a:rPr lang="en-US" altLang="ko-KR" dirty="0"/>
                  <a:t>M</a:t>
                </a:r>
                <a:r>
                  <a:rPr lang="en-US" altLang="ko-KR" baseline="-25000" dirty="0"/>
                  <a:t>_view</a:t>
                </a:r>
                <a:r>
                  <a:rPr lang="en-US" altLang="ko-KR" dirty="0"/>
                  <a:t> = R</a:t>
                </a:r>
                <a:r>
                  <a:rPr lang="en-US" altLang="ko-KR" baseline="-25000" dirty="0"/>
                  <a:t>_camera</a:t>
                </a:r>
                <a:r>
                  <a:rPr lang="en-US" altLang="ko-KR" dirty="0"/>
                  <a:t> </a:t>
                </a:r>
                <a:r>
                  <a:rPr lang="en-US" altLang="ko-KR" baseline="30000" dirty="0"/>
                  <a:t>-1</a:t>
                </a:r>
                <a:r>
                  <a:rPr lang="en-US" altLang="ko-KR" dirty="0"/>
                  <a:t> ·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T</a:t>
                </a:r>
                <a:r>
                  <a:rPr lang="en-US" altLang="ko-KR" baseline="-25000" dirty="0"/>
                  <a:t>_camera</a:t>
                </a:r>
                <a:r>
                  <a:rPr lang="en-US" altLang="ko-KR" baseline="30000" dirty="0"/>
                  <a:t>-1</a:t>
                </a:r>
                <a:r>
                  <a:rPr lang="en-US" altLang="ko-KR" dirty="0"/>
                  <a:t> </a:t>
                </a:r>
                <a:endParaRPr lang="en-US" altLang="ko-KR" b="0" baseline="30000" dirty="0">
                  <a:ea typeface="Cambria Math" panose="02040503050406030204" pitchFamily="18" charset="0"/>
                </a:endParaRPr>
              </a:p>
              <a:p>
                <a:pPr lvl="1"/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1342939-FCE0-558B-A382-AE1A8F5B31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E9EBF2-660E-6A9D-D8BA-0D821E0EF7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B8F9C3-3AA0-C47B-91F1-DD8F21E08CB2}"/>
                  </a:ext>
                </a:extLst>
              </p:cNvPr>
              <p:cNvSpPr txBox="1"/>
              <p:nvPr/>
            </p:nvSpPr>
            <p:spPr>
              <a:xfrm>
                <a:off x="683568" y="3861048"/>
                <a:ext cx="3744416" cy="9935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16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16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B8F9C3-3AA0-C47B-91F1-DD8F21E08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861048"/>
                <a:ext cx="3744416" cy="9935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49EE03-0122-6FEC-4739-5AF8905A1090}"/>
                  </a:ext>
                </a:extLst>
              </p:cNvPr>
              <p:cNvSpPr txBox="1"/>
              <p:nvPr/>
            </p:nvSpPr>
            <p:spPr>
              <a:xfrm>
                <a:off x="3075974" y="3889197"/>
                <a:ext cx="2478601" cy="937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49EE03-0122-6FEC-4739-5AF8905A1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974" y="3889197"/>
                <a:ext cx="2478601" cy="9372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723758-84F9-C247-D85A-87DB21429E2C}"/>
                  </a:ext>
                </a:extLst>
              </p:cNvPr>
              <p:cNvSpPr txBox="1"/>
              <p:nvPr/>
            </p:nvSpPr>
            <p:spPr>
              <a:xfrm>
                <a:off x="683568" y="4968016"/>
                <a:ext cx="5431127" cy="14136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𝑣𝑖𝑒𝑤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723758-84F9-C247-D85A-87DB21429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4968016"/>
                <a:ext cx="5431127" cy="14136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895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07EE8-DC85-1F1E-1D7E-5957E8E74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EF06D1-A593-F775-E277-00B022AF4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10.3 </a:t>
            </a:r>
            <a:r>
              <a:rPr lang="ko-KR" altLang="en-US" dirty="0"/>
              <a:t>카메라 공간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0D79FC-A3A2-1FEF-9B6F-641012EA0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Y </a:t>
            </a:r>
            <a:r>
              <a:rPr lang="ko-KR" altLang="en-US" dirty="0"/>
              <a:t>축으로 </a:t>
            </a:r>
            <a:r>
              <a:rPr lang="en-US" altLang="ko-KR" dirty="0"/>
              <a:t>180</a:t>
            </a:r>
            <a:r>
              <a:rPr lang="ko-KR" altLang="en-US" dirty="0"/>
              <a:t>도 회전</a:t>
            </a:r>
            <a:endParaRPr lang="en-US" altLang="ko-KR" b="0" baseline="30000" dirty="0">
              <a:ea typeface="Cambria Math" panose="02040503050406030204" pitchFamily="18" charset="0"/>
            </a:endParaRPr>
          </a:p>
          <a:p>
            <a:pPr lvl="1"/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E5D8E9-576B-234B-12C2-4661334347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5383E0-600E-4BF1-EC51-871A0E6C159A}"/>
                  </a:ext>
                </a:extLst>
              </p:cNvPr>
              <p:cNvSpPr txBox="1"/>
              <p:nvPr/>
            </p:nvSpPr>
            <p:spPr>
              <a:xfrm>
                <a:off x="899592" y="1412776"/>
                <a:ext cx="6840760" cy="16965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5383E0-600E-4BF1-EC51-871A0E6C1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412776"/>
                <a:ext cx="6840760" cy="16965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2647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9F0FA-5C03-9798-CE5A-BCCC6A4B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AB18E8-1BC6-AC71-F6EA-5A345E3AC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10-1 </a:t>
            </a:r>
            <a:r>
              <a:rPr lang="ko-KR" altLang="en-US" dirty="0"/>
              <a:t>처음 그려보는 </a:t>
            </a:r>
            <a:r>
              <a:rPr lang="en-US" altLang="ko-KR" dirty="0"/>
              <a:t>3</a:t>
            </a:r>
            <a:r>
              <a:rPr lang="ko-KR" altLang="en-US" dirty="0"/>
              <a:t>차원 공간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58A7E7-E06E-F294-E38E-0FBDCBF3F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759CF5-3DF1-7070-3A3A-E7DBDE3F00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3D3DA2-F797-5C50-68AD-342B78D11123}"/>
              </a:ext>
            </a:extLst>
          </p:cNvPr>
          <p:cNvSpPr txBox="1"/>
          <p:nvPr/>
        </p:nvSpPr>
        <p:spPr>
          <a:xfrm>
            <a:off x="359408" y="3199615"/>
            <a:ext cx="5233417" cy="267765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FORCEINLINE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Matrix4x4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CameraObject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GetViewMatrix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 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viewY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GetViewAxes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viewY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_Transform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GetPosition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2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Matrix4x4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Vector4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viewY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Vector4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viewY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Vector4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viewY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Vector4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(-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-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viewY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-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 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E3297C-8282-F8CC-5AE4-C0FDE0DE70A0}"/>
              </a:ext>
            </a:extLst>
          </p:cNvPr>
          <p:cNvSpPr txBox="1"/>
          <p:nvPr/>
        </p:nvSpPr>
        <p:spPr>
          <a:xfrm>
            <a:off x="359408" y="980728"/>
            <a:ext cx="5076687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FORCEINLINE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CameraObject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GetViewAxes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OutViewX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OutViewY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OutViewZ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</a:t>
            </a:r>
            <a:r>
              <a:rPr lang="en-US" altLang="ko-KR" sz="12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로컬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축 값의 반대 방향을 뷰 공간의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축으로 설정</a:t>
            </a:r>
            <a:endParaRPr lang="ko-KR" altLang="en-US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OutViewZ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_Transform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GetLocalZ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OutViewY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_Transform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GetLocalY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OutViewX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_Transform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GetLocalX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A3F61E3-C12B-8445-871A-A75029E82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825" y="980729"/>
            <a:ext cx="3215417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03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7D141-ABD0-48AF-1DDD-D1E1DD6C4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48E4DD-4B04-E9D1-7778-44A78AA9A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10.4 </a:t>
            </a:r>
            <a:r>
              <a:rPr lang="ko-KR" altLang="en-US" dirty="0"/>
              <a:t>오일러 각의 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2F8A56-3956-69E8-2BF5-CD93A1A3B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장점</a:t>
            </a:r>
            <a:endParaRPr lang="en-US" altLang="ko-KR" dirty="0"/>
          </a:p>
          <a:p>
            <a:pPr lvl="1"/>
            <a:r>
              <a:rPr lang="ko-KR" altLang="en-US" dirty="0"/>
              <a:t>회전에 대한 직관적인 인터페이스 제공</a:t>
            </a:r>
            <a:endParaRPr lang="en-US" altLang="ko-KR" dirty="0"/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개의 데이터 만 있으면 회전을 표현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회전을 표현하려면 </a:t>
            </a:r>
            <a:r>
              <a:rPr lang="en-US" altLang="ko-KR" dirty="0"/>
              <a:t>3x3 </a:t>
            </a:r>
            <a:r>
              <a:rPr lang="ko-KR" altLang="en-US" dirty="0"/>
              <a:t>행렬원소 필요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직관적인 표준 기저 벡터 를 회전축으로 사용 → 회전 설계 용이</a:t>
            </a:r>
            <a:endParaRPr lang="en-US" altLang="ko-KR" dirty="0"/>
          </a:p>
          <a:p>
            <a:pPr lvl="1"/>
            <a:r>
              <a:rPr lang="ko-KR" altLang="en-US" dirty="0"/>
              <a:t>회전 설정에서 가장 적합 → 대다수 </a:t>
            </a:r>
            <a:r>
              <a:rPr lang="en-US" altLang="ko-KR" dirty="0"/>
              <a:t>3</a:t>
            </a:r>
            <a:r>
              <a:rPr lang="ko-KR" altLang="en-US" dirty="0"/>
              <a:t>차원 소프트웨어에서 사용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단점</a:t>
            </a:r>
            <a:endParaRPr lang="en-US" altLang="ko-KR" dirty="0"/>
          </a:p>
          <a:p>
            <a:pPr lvl="1"/>
            <a:r>
              <a:rPr lang="ko-KR" altLang="en-US" dirty="0"/>
              <a:t>짐벌락 현상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70BA13-D016-FECE-CB3E-C317C098E1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298811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8FBF9-D6A4-F24C-45C4-B22D7ED03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336158-E1F8-41B8-AF86-48387E385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10.4.1 </a:t>
            </a:r>
            <a:r>
              <a:rPr lang="ko-KR" altLang="en-US" dirty="0"/>
              <a:t>짐벌락 현상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1F3376-9C0B-6D67-A898-6C1235469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짐벌락 현상</a:t>
            </a:r>
            <a:endParaRPr lang="en-US" altLang="ko-KR" dirty="0"/>
          </a:p>
          <a:p>
            <a:pPr lvl="1"/>
            <a:r>
              <a:rPr lang="ko-KR" altLang="en-US" dirty="0"/>
              <a:t>특정 각도에서 두 개의 회전축이 겹쳐</a:t>
            </a:r>
            <a:r>
              <a:rPr lang="en-US" altLang="ko-KR" dirty="0"/>
              <a:t>, </a:t>
            </a:r>
            <a:r>
              <a:rPr lang="ko-KR" altLang="en-US" dirty="0"/>
              <a:t>하나의 자유도 상실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발생 원인</a:t>
            </a:r>
            <a:endParaRPr lang="en-US" altLang="ko-KR" dirty="0"/>
          </a:p>
          <a:p>
            <a:pPr lvl="1"/>
            <a:r>
              <a:rPr lang="ko-KR" altLang="en-US" dirty="0"/>
              <a:t>행렬 연산 순서의 종속성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해결 방법</a:t>
            </a:r>
            <a:endParaRPr lang="en-US" altLang="ko-KR" dirty="0"/>
          </a:p>
          <a:p>
            <a:pPr lvl="1"/>
            <a:r>
              <a:rPr lang="ko-KR" altLang="en-US" dirty="0"/>
              <a:t>쿼터니언</a:t>
            </a:r>
            <a:r>
              <a:rPr lang="en-US" altLang="ko-KR" dirty="0"/>
              <a:t>(Quaternion) </a:t>
            </a:r>
            <a:r>
              <a:rPr lang="ko-KR" altLang="en-US" dirty="0"/>
              <a:t>사용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B43F37-C7CA-FCFC-770A-907927EFC3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85067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DD704-3D99-39EA-E64D-011A13CD6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9D7F68-4555-CE69-3ADD-A5E28BD35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10.4.1 </a:t>
            </a:r>
            <a:r>
              <a:rPr lang="ko-KR" altLang="en-US" dirty="0"/>
              <a:t>짐벌락 현상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7FFBCF-02D6-39DE-4FBD-DBD5616CA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오일러 각도로 인한 자유도 손실</a:t>
            </a:r>
            <a:r>
              <a:rPr lang="en-US" altLang="ko-KR" sz="2000" dirty="0">
                <a:hlinkClick r:id="rId2"/>
              </a:rPr>
              <a:t>https://en.wikipedia.org/wiki/Gimbal_lock</a:t>
            </a:r>
            <a:r>
              <a:rPr lang="en-US" altLang="ko-KR" sz="2000" dirty="0"/>
              <a:t> 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pPr lvl="1"/>
            <a:endParaRPr lang="en-US" altLang="ko-KR" sz="1600" dirty="0"/>
          </a:p>
          <a:p>
            <a:pPr lvl="4"/>
            <a:endParaRPr lang="en-US" altLang="ko-KR" sz="800" dirty="0"/>
          </a:p>
          <a:p>
            <a:r>
              <a:rPr lang="en-US" altLang="ko-KR" sz="2000" dirty="0"/>
              <a:t>β = π/2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pPr lvl="1"/>
            <a:r>
              <a:rPr lang="en-US" altLang="ko-KR" sz="1600" dirty="0"/>
              <a:t>α</a:t>
            </a:r>
            <a:r>
              <a:rPr lang="ko-KR" altLang="en-US" sz="1600" dirty="0"/>
              <a:t>와 </a:t>
            </a:r>
            <a:r>
              <a:rPr lang="en-US" altLang="ko-KR" sz="1600" dirty="0"/>
              <a:t>γ</a:t>
            </a:r>
            <a:r>
              <a:rPr lang="ko-KR" altLang="en-US" sz="1600" dirty="0"/>
              <a:t>의 회전 효과를 구분할 수 없음</a:t>
            </a:r>
            <a:br>
              <a:rPr lang="en-US" altLang="ko-KR" sz="1600" dirty="0"/>
            </a:br>
            <a:endParaRPr lang="en-US" altLang="ko-KR" sz="1600" dirty="0"/>
          </a:p>
          <a:p>
            <a:r>
              <a:rPr lang="ko-KR" altLang="en-US" sz="2000" dirty="0"/>
              <a:t>수학적</a:t>
            </a:r>
            <a:r>
              <a:rPr lang="en-US" altLang="ko-KR" sz="2000" dirty="0"/>
              <a:t>: </a:t>
            </a:r>
            <a:r>
              <a:rPr lang="ko-KR" altLang="en-US" sz="2000" dirty="0"/>
              <a:t>회전 행렬이 </a:t>
            </a:r>
            <a:r>
              <a:rPr lang="en-US" altLang="ko-KR" sz="2000" dirty="0"/>
              <a:t>α</a:t>
            </a:r>
            <a:r>
              <a:rPr lang="ko-KR" altLang="en-US" sz="2000" dirty="0"/>
              <a:t>와 </a:t>
            </a:r>
            <a:r>
              <a:rPr lang="en-US" altLang="ko-KR" sz="2000" dirty="0"/>
              <a:t>γ</a:t>
            </a:r>
            <a:r>
              <a:rPr lang="ko-KR" altLang="en-US" sz="2000" dirty="0"/>
              <a:t>를 독립 변수로 가지지 않고 </a:t>
            </a:r>
            <a:r>
              <a:rPr lang="en-US" altLang="ko-KR" sz="2000" dirty="0"/>
              <a:t>α + γ</a:t>
            </a:r>
            <a:r>
              <a:rPr lang="ko-KR" altLang="en-US" sz="2000" dirty="0"/>
              <a:t>로만 표현</a:t>
            </a:r>
            <a:endParaRPr lang="en-US" altLang="ko-KR" sz="2000" dirty="0"/>
          </a:p>
          <a:p>
            <a:r>
              <a:rPr lang="ko-KR" altLang="en-US" sz="2000" dirty="0"/>
              <a:t>물리적</a:t>
            </a:r>
            <a:r>
              <a:rPr lang="en-US" altLang="ko-KR" sz="2000" dirty="0"/>
              <a:t>: </a:t>
            </a:r>
            <a:r>
              <a:rPr lang="ko-KR" altLang="en-US" sz="2000" dirty="0"/>
              <a:t>두 회전 축이 정렬되어 자유도 </a:t>
            </a:r>
            <a:r>
              <a:rPr lang="en-US" altLang="ko-KR" sz="2000" dirty="0"/>
              <a:t>1</a:t>
            </a:r>
            <a:r>
              <a:rPr lang="ko-KR" altLang="en-US" sz="2000" dirty="0"/>
              <a:t>개가 소실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2728F9-29D6-CD4F-17B9-C30F30699A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D29927-B644-74C2-641B-6A02440FEDF4}"/>
                  </a:ext>
                </a:extLst>
              </p:cNvPr>
              <p:cNvSpPr txBox="1"/>
              <p:nvPr/>
            </p:nvSpPr>
            <p:spPr>
              <a:xfrm>
                <a:off x="522635" y="1556792"/>
                <a:ext cx="2808311" cy="4500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  <a:p>
                <a:endParaRPr lang="ko-KR" alt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9D29927-B644-74C2-641B-6A02440FE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35" y="1556792"/>
                <a:ext cx="2808311" cy="450060"/>
              </a:xfrm>
              <a:prstGeom prst="rect">
                <a:avLst/>
              </a:prstGeom>
              <a:blipFill>
                <a:blip r:embed="rId3"/>
                <a:stretch>
                  <a:fillRect l="-21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321738-D90A-9F81-B62B-A9A5E6BAD96F}"/>
                  </a:ext>
                </a:extLst>
              </p:cNvPr>
              <p:cNvSpPr txBox="1"/>
              <p:nvPr/>
            </p:nvSpPr>
            <p:spPr>
              <a:xfrm>
                <a:off x="5632128" y="3680365"/>
                <a:ext cx="2839517" cy="6847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ko-KR" altLang="en-US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en-US" altLang="ko-KR" sz="1400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ko-KR" altLang="en-US" sz="1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ko-KR" altLang="en-US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ko-KR" altLang="en-US" sz="1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ko-KR" altLang="en-US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ko-KR" altLang="en-US" sz="1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1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ko-KR" altLang="en-US" sz="1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ko-KR" altLang="en-US" sz="1400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321738-D90A-9F81-B62B-A9A5E6BAD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128" y="3680365"/>
                <a:ext cx="2839517" cy="6847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B17E39-5F7C-833D-008E-01C13F4E0849}"/>
                  </a:ext>
                </a:extLst>
              </p:cNvPr>
              <p:cNvSpPr txBox="1"/>
              <p:nvPr/>
            </p:nvSpPr>
            <p:spPr>
              <a:xfrm>
                <a:off x="820297" y="1920565"/>
                <a:ext cx="2736304" cy="569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l-GR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l-GR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l-GR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l-GR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B17E39-5F7C-833D-008E-01C13F4E0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297" y="1920565"/>
                <a:ext cx="2736304" cy="5697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39CAB1-D4EC-FD4C-EED3-9E164A76FEB6}"/>
                  </a:ext>
                </a:extLst>
              </p:cNvPr>
              <p:cNvSpPr txBox="1"/>
              <p:nvPr/>
            </p:nvSpPr>
            <p:spPr>
              <a:xfrm>
                <a:off x="2533083" y="1863081"/>
                <a:ext cx="2254941" cy="6847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4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39CAB1-D4EC-FD4C-EED3-9E164A76F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083" y="1863081"/>
                <a:ext cx="2254941" cy="6847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6DE7DD-A6A0-8152-2179-64570A7D3E64}"/>
                  </a:ext>
                </a:extLst>
              </p:cNvPr>
              <p:cNvSpPr txBox="1"/>
              <p:nvPr/>
            </p:nvSpPr>
            <p:spPr>
              <a:xfrm>
                <a:off x="4269394" y="1917615"/>
                <a:ext cx="1543662" cy="5756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6DE7DD-A6A0-8152-2179-64570A7D3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394" y="1917615"/>
                <a:ext cx="1543662" cy="5756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A65E4F-7416-3DFE-2C65-B70DE591B8EF}"/>
                  </a:ext>
                </a:extLst>
              </p:cNvPr>
              <p:cNvSpPr txBox="1"/>
              <p:nvPr/>
            </p:nvSpPr>
            <p:spPr>
              <a:xfrm>
                <a:off x="797030" y="3072358"/>
                <a:ext cx="2736304" cy="569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l-GR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l-GR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l-GR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l-GR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A65E4F-7416-3DFE-2C65-B70DE591B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30" y="3072358"/>
                <a:ext cx="2736304" cy="569771"/>
              </a:xfrm>
              <a:prstGeom prst="rect">
                <a:avLst/>
              </a:prstGeom>
              <a:blipFill>
                <a:blip r:embed="rId8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80D228-4923-2211-C13B-E3EFEBB6EA1A}"/>
                  </a:ext>
                </a:extLst>
              </p:cNvPr>
              <p:cNvSpPr txBox="1"/>
              <p:nvPr/>
            </p:nvSpPr>
            <p:spPr>
              <a:xfrm>
                <a:off x="2699792" y="3072358"/>
                <a:ext cx="2254941" cy="569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ko-KR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480D228-4923-2211-C13B-E3EFEBB6E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3072358"/>
                <a:ext cx="2254941" cy="569771"/>
              </a:xfrm>
              <a:prstGeom prst="rect">
                <a:avLst/>
              </a:prstGeom>
              <a:blipFill>
                <a:blip r:embed="rId9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7800F4-C926-0DF1-6D9F-8AF2B21EF531}"/>
                  </a:ext>
                </a:extLst>
              </p:cNvPr>
              <p:cNvSpPr txBox="1"/>
              <p:nvPr/>
            </p:nvSpPr>
            <p:spPr>
              <a:xfrm>
                <a:off x="3635896" y="3068960"/>
                <a:ext cx="1512168" cy="5756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A7800F4-C926-0DF1-6D9F-8AF2B21EF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3068960"/>
                <a:ext cx="1512168" cy="5756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E291D6-A8CF-F6B3-ECB6-4E1EC33A3EBD}"/>
                  </a:ext>
                </a:extLst>
              </p:cNvPr>
              <p:cNvSpPr txBox="1"/>
              <p:nvPr/>
            </p:nvSpPr>
            <p:spPr>
              <a:xfrm>
                <a:off x="820297" y="4437112"/>
                <a:ext cx="4543791" cy="2779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+∆</m:t>
                              </m:r>
                            </m:e>
                          </m:d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E291D6-A8CF-F6B3-ECB6-4E1EC33A3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297" y="4437112"/>
                <a:ext cx="4543791" cy="277961"/>
              </a:xfrm>
              <a:prstGeom prst="rect">
                <a:avLst/>
              </a:prstGeom>
              <a:blipFill>
                <a:blip r:embed="rId11"/>
                <a:stretch>
                  <a:fillRect l="-1611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5A7088-CC84-EB0C-1FC8-49E471289455}"/>
                  </a:ext>
                </a:extLst>
              </p:cNvPr>
              <p:cNvSpPr txBox="1"/>
              <p:nvPr/>
            </p:nvSpPr>
            <p:spPr>
              <a:xfrm>
                <a:off x="967438" y="3717779"/>
                <a:ext cx="3888432" cy="6064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5A7088-CC84-EB0C-1FC8-49E471289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438" y="3717779"/>
                <a:ext cx="3888432" cy="606448"/>
              </a:xfrm>
              <a:prstGeom prst="rect">
                <a:avLst/>
              </a:prstGeom>
              <a:blipFill>
                <a:blip r:embed="rId12"/>
                <a:stretch>
                  <a:fillRect r="-183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22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1F84-B614-BAB0-1429-24D62F060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1E4E6-D8C6-EAB0-6DC2-4F40084A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10-2 </a:t>
            </a:r>
            <a:r>
              <a:rPr lang="ko-KR" altLang="en-US" dirty="0"/>
              <a:t>짐벌락 현상의 체험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3F0748-93D1-6847-480A-D54BB84AE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315F30-1BF5-6F66-FC73-CD158A3746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A086324-59B3-B3A6-4366-0C0E5CB3F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036105"/>
            <a:ext cx="2333951" cy="208626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5FF45FA-5C41-B142-4AB4-0F1225252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553" y="1004018"/>
            <a:ext cx="2219635" cy="21434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8484C2D-C27C-77D7-76DD-73EA11F65D66}"/>
              </a:ext>
            </a:extLst>
          </p:cNvPr>
          <p:cNvSpPr txBox="1"/>
          <p:nvPr/>
        </p:nvSpPr>
        <p:spPr>
          <a:xfrm>
            <a:off x="323528" y="3509741"/>
            <a:ext cx="7201050" cy="267765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입력에 따른 플레이어 트랜스폼의 변경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Rotator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goPlayer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GetTransform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GetRotation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IsPressed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InputButton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Space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Pitch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-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90.f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</a:t>
            </a:r>
            <a:endParaRPr lang="en-US" altLang="ko-KR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Pitch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GetAxis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InputAxis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ZAxis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rotateSpeed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InDeltaSeconds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Roll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GetAxis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InputAxis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XAxis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rotateSpeed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InDeltaSeconds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Yaw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+=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GetAxis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InputAxis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2F4F4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YAxis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rotateSpeed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*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InDeltaSeconds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85494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3EDDA-79C1-91EA-19DB-0FF8B10A9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6B81A7-962D-52E9-E48A-FCE833E1F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10.4.2 </a:t>
            </a:r>
            <a:r>
              <a:rPr lang="ko-KR" altLang="en-US" dirty="0"/>
              <a:t>회전 보간의 계산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BDCB87A-BF6C-48FB-5559-358819F867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/>
                  <a:t>회전의 선형 보간</a:t>
                </a:r>
                <a:endParaRPr lang="en-US" altLang="ko-KR" sz="2400" dirty="0"/>
              </a:p>
              <a:p>
                <a:endParaRPr lang="en-US" altLang="ko-KR" sz="2400" dirty="0"/>
              </a:p>
              <a:p>
                <a:pPr lvl="2"/>
                <a:endParaRPr lang="en-US" altLang="ko-KR" sz="1600" dirty="0"/>
              </a:p>
              <a:p>
                <a:r>
                  <a:rPr lang="ko-KR" altLang="en-US" sz="2400" dirty="0"/>
                  <a:t>특정 축 회전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,0,0</m:t>
                        </m:r>
                      </m:e>
                    </m:d>
                  </m:oMath>
                </a14:m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r>
                  <a:rPr lang="ko-KR" altLang="en-US" sz="2400" dirty="0"/>
                  <a:t>특정 축 회전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,0</m:t>
                        </m:r>
                      </m:e>
                    </m:d>
                  </m:oMath>
                </a14:m>
                <a:endParaRPr lang="en-US" altLang="ko-KR" sz="2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BDCB87A-BF6C-48FB-5559-358819F867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6" t="-8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D5E9D9-5F52-B59D-891F-9FD6CF6C29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B6E86F-C1EB-8F9B-5295-BF99E5580E56}"/>
                  </a:ext>
                </a:extLst>
              </p:cNvPr>
              <p:cNvSpPr txBox="1"/>
              <p:nvPr/>
            </p:nvSpPr>
            <p:spPr>
              <a:xfrm>
                <a:off x="683568" y="1175469"/>
                <a:ext cx="532859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𝑠𝑡𝑎𝑟𝑡</m:t>
                          </m:r>
                        </m:sub>
                      </m:sSub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8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𝑒𝑛𝑑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B6E86F-C1EB-8F9B-5295-BF99E5580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175469"/>
                <a:ext cx="532859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23C031-ABB8-0105-3F46-5F354EE534F1}"/>
                  </a:ext>
                </a:extLst>
              </p:cNvPr>
              <p:cNvSpPr txBox="1"/>
              <p:nvPr/>
            </p:nvSpPr>
            <p:spPr>
              <a:xfrm>
                <a:off x="613445" y="2445836"/>
                <a:ext cx="2952328" cy="3350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ko-KR" alt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23C031-ABB8-0105-3F46-5F354EE53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45" y="2445836"/>
                <a:ext cx="2952328" cy="335092"/>
              </a:xfrm>
              <a:prstGeom prst="rect">
                <a:avLst/>
              </a:prstGeom>
              <a:blipFill>
                <a:blip r:embed="rId4"/>
                <a:stretch>
                  <a:fillRect l="-3099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1A61EA-F1B3-C0DB-4136-5BB798F1D947}"/>
                  </a:ext>
                </a:extLst>
              </p:cNvPr>
              <p:cNvSpPr txBox="1"/>
              <p:nvPr/>
            </p:nvSpPr>
            <p:spPr>
              <a:xfrm>
                <a:off x="613445" y="2805876"/>
                <a:ext cx="2952328" cy="3350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ko-KR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ko-KR" alt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1A61EA-F1B3-C0DB-4136-5BB798F1D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45" y="2805876"/>
                <a:ext cx="2952328" cy="335092"/>
              </a:xfrm>
              <a:prstGeom prst="rect">
                <a:avLst/>
              </a:prstGeom>
              <a:blipFill>
                <a:blip r:embed="rId5"/>
                <a:stretch>
                  <a:fillRect l="-3099" b="-25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7DC934-8A5B-7B7C-9095-BC0C9483ACDF}"/>
                  </a:ext>
                </a:extLst>
              </p:cNvPr>
              <p:cNvSpPr txBox="1"/>
              <p:nvPr/>
            </p:nvSpPr>
            <p:spPr>
              <a:xfrm>
                <a:off x="613445" y="3212562"/>
                <a:ext cx="5542731" cy="3350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ko-KR" alt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𝜑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ko-KR" alt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7DC934-8A5B-7B7C-9095-BC0C9483A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45" y="3212562"/>
                <a:ext cx="5542731" cy="335092"/>
              </a:xfrm>
              <a:prstGeom prst="rect">
                <a:avLst/>
              </a:prstGeom>
              <a:blipFill>
                <a:blip r:embed="rId6"/>
                <a:stretch>
                  <a:fillRect l="-1650" b="-25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10D57D-38B7-EA29-4A2E-1CD70E0806F4}"/>
                  </a:ext>
                </a:extLst>
              </p:cNvPr>
              <p:cNvSpPr txBox="1"/>
              <p:nvPr/>
            </p:nvSpPr>
            <p:spPr>
              <a:xfrm>
                <a:off x="610022" y="3644196"/>
                <a:ext cx="4822651" cy="3350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ko-KR" alt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altLang="ko-KR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ko-KR" alt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</m:sub>
                    </m:sSub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10D57D-38B7-EA29-4A2E-1CD70E080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022" y="3644196"/>
                <a:ext cx="4822651" cy="335092"/>
              </a:xfrm>
              <a:prstGeom prst="rect">
                <a:avLst/>
              </a:prstGeom>
              <a:blipFill>
                <a:blip r:embed="rId7"/>
                <a:stretch>
                  <a:fillRect l="-1770" b="-25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E0405A-BEA8-AB15-BA3C-465EC07128A3}"/>
                  </a:ext>
                </a:extLst>
              </p:cNvPr>
              <p:cNvSpPr txBox="1"/>
              <p:nvPr/>
            </p:nvSpPr>
            <p:spPr>
              <a:xfrm>
                <a:off x="6156176" y="3212562"/>
                <a:ext cx="2592537" cy="3350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ko-KR" altLang="en-US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E0405A-BEA8-AB15-BA3C-465EC0712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3212562"/>
                <a:ext cx="2592537" cy="335092"/>
              </a:xfrm>
              <a:prstGeom prst="rect">
                <a:avLst/>
              </a:prstGeom>
              <a:blipFill>
                <a:blip r:embed="rId8"/>
                <a:stretch>
                  <a:fillRect l="-2353" b="-25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115C0B-6D59-5BD6-8958-B7EBD94EAAB9}"/>
                  </a:ext>
                </a:extLst>
              </p:cNvPr>
              <p:cNvSpPr txBox="1"/>
              <p:nvPr/>
            </p:nvSpPr>
            <p:spPr>
              <a:xfrm>
                <a:off x="564877" y="4785747"/>
                <a:ext cx="4572000" cy="494559"/>
              </a:xfrm>
              <a:prstGeom prst="rect">
                <a:avLst/>
              </a:prstGeom>
              <a:noFill/>
              <a:ln w="254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ko-K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115C0B-6D59-5BD6-8958-B7EBD94EA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77" y="4785747"/>
                <a:ext cx="4572000" cy="494559"/>
              </a:xfrm>
              <a:prstGeom prst="rect">
                <a:avLst/>
              </a:prstGeom>
              <a:blipFill>
                <a:blip r:embed="rId9"/>
                <a:stretch>
                  <a:fillRect b="-10588"/>
                </a:stretch>
              </a:blipFill>
              <a:ln w="254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6161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0E3F5-C29A-3E91-920E-D3B971080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F9423-3C8D-01F8-6122-67A7F115D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10.5 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C5727D-F880-AFCB-6A2C-5F3EE04C4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차원 트랜스폼</a:t>
            </a:r>
            <a:endParaRPr lang="en-US" altLang="ko-KR" dirty="0"/>
          </a:p>
          <a:p>
            <a:pPr lvl="1"/>
            <a:r>
              <a:rPr lang="en-US" altLang="ko-KR" dirty="0"/>
              <a:t>T·R·S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카메라 뷰 행렬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오일러 각</a:t>
            </a:r>
            <a:endParaRPr lang="en-US" altLang="ko-KR" dirty="0"/>
          </a:p>
          <a:p>
            <a:pPr lvl="1"/>
            <a:r>
              <a:rPr lang="ko-KR" altLang="en-US" dirty="0"/>
              <a:t>짐벌락</a:t>
            </a:r>
            <a:endParaRPr lang="en-US" altLang="ko-KR" dirty="0"/>
          </a:p>
          <a:p>
            <a:pPr lvl="1"/>
            <a:r>
              <a:rPr lang="ko-KR" altLang="en-US" dirty="0"/>
              <a:t>사원수 보간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0A7DA8-D49D-8DE6-D1BF-ED59A9A1A3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2ADE96-656A-F81A-4D74-65FF2CC2CA87}"/>
                  </a:ext>
                </a:extLst>
              </p:cNvPr>
              <p:cNvSpPr txBox="1"/>
              <p:nvPr/>
            </p:nvSpPr>
            <p:spPr>
              <a:xfrm>
                <a:off x="827585" y="2722171"/>
                <a:ext cx="3384376" cy="14136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𝑣𝑖𝑒𝑤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2ADE96-656A-F81A-4D74-65FF2CC2C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5" y="2722171"/>
                <a:ext cx="3384376" cy="14136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6936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0066-7507-5900-4162-DBFF7BB7A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F043ACE-0B5F-1957-FE38-5B68422211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11. </a:t>
            </a:r>
            <a:r>
              <a:rPr lang="ko-KR" altLang="en-US" dirty="0"/>
              <a:t>외적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90887D9F-F01E-B25D-6F63-FFA6998CB6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차원 공간의 분석과 응용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8FB1018-0D04-6C7B-478C-F280AFE09A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11783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A4BDC-2020-4CC3-254C-1618396C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60143-0D54-43DE-40B1-440FAD512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 </a:t>
            </a:r>
            <a:r>
              <a:rPr lang="ko-KR" altLang="en-US" dirty="0"/>
              <a:t>벡터의 외적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F1089C-A63E-E2F5-3473-B36828A70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외적</a:t>
            </a:r>
            <a:endParaRPr lang="en-US" altLang="ko-KR" dirty="0"/>
          </a:p>
          <a:p>
            <a:pPr lvl="1"/>
            <a:r>
              <a:rPr lang="en-US" altLang="ko-KR" dirty="0"/>
              <a:t>Cross product, Outer product</a:t>
            </a:r>
          </a:p>
          <a:p>
            <a:r>
              <a:rPr lang="ko-KR" altLang="en-US" dirty="0"/>
              <a:t>다양한 외적 계산 방법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105019-D734-25A4-99C3-462315D9E1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6AE81E-E75B-EB35-27AC-FF4E185B1EC4}"/>
                  </a:ext>
                </a:extLst>
              </p:cNvPr>
              <p:cNvSpPr txBox="1"/>
              <p:nvPr/>
            </p:nvSpPr>
            <p:spPr>
              <a:xfrm>
                <a:off x="575431" y="2348880"/>
                <a:ext cx="2123728" cy="44640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0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6AE81E-E75B-EB35-27AC-FF4E185B1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431" y="2348880"/>
                <a:ext cx="2123728" cy="446404"/>
              </a:xfrm>
              <a:prstGeom prst="rect">
                <a:avLst/>
              </a:prstGeom>
              <a:blipFill>
                <a:blip r:embed="rId2"/>
                <a:stretch>
                  <a:fillRect b="-405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651009-C4F9-4EB4-2A66-95AC1866CE6E}"/>
                  </a:ext>
                </a:extLst>
              </p:cNvPr>
              <p:cNvSpPr txBox="1"/>
              <p:nvPr/>
            </p:nvSpPr>
            <p:spPr>
              <a:xfrm>
                <a:off x="2520280" y="2348880"/>
                <a:ext cx="2123728" cy="44640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000" b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651009-C4F9-4EB4-2A66-95AC1866C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0280" y="2348880"/>
                <a:ext cx="2123728" cy="446404"/>
              </a:xfrm>
              <a:prstGeom prst="rect">
                <a:avLst/>
              </a:prstGeom>
              <a:blipFill>
                <a:blip r:embed="rId3"/>
                <a:stretch>
                  <a:fillRect t="-10811" b="-405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65D1E3-37D4-592C-2DA3-B1B2EEC88772}"/>
                  </a:ext>
                </a:extLst>
              </p:cNvPr>
              <p:cNvSpPr txBox="1"/>
              <p:nvPr/>
            </p:nvSpPr>
            <p:spPr>
              <a:xfrm>
                <a:off x="504155" y="3024924"/>
                <a:ext cx="3600201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8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ko-KR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acc>
                        <m:accPr>
                          <m:chr m:val="̂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65D1E3-37D4-592C-2DA3-B1B2EEC887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55" y="3024924"/>
                <a:ext cx="360020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BDACC0-2FF3-EEDB-F7AE-875F0CC7FFB7}"/>
                  </a:ext>
                </a:extLst>
              </p:cNvPr>
              <p:cNvSpPr txBox="1"/>
              <p:nvPr/>
            </p:nvSpPr>
            <p:spPr>
              <a:xfrm>
                <a:off x="504155" y="4293096"/>
                <a:ext cx="3995837" cy="14618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8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0BDACC0-2FF3-EEDB-F7AE-875F0CC7F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55" y="4293096"/>
                <a:ext cx="3995837" cy="14618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DCAA266-8AF2-D04B-6DC2-A942A85DA20B}"/>
                  </a:ext>
                </a:extLst>
              </p:cNvPr>
              <p:cNvSpPr txBox="1"/>
              <p:nvPr/>
            </p:nvSpPr>
            <p:spPr>
              <a:xfrm>
                <a:off x="504155" y="3645024"/>
                <a:ext cx="3563255" cy="5579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8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8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DCAA266-8AF2-D04B-6DC2-A942A85D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55" y="3645024"/>
                <a:ext cx="3563255" cy="5579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8FFFA35-03B8-EFCC-8A69-AC311D1B87F4}"/>
                  </a:ext>
                </a:extLst>
              </p:cNvPr>
              <p:cNvSpPr txBox="1"/>
              <p:nvPr/>
            </p:nvSpPr>
            <p:spPr>
              <a:xfrm>
                <a:off x="504154" y="5865290"/>
                <a:ext cx="7884270" cy="58804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sSub>
                            <m:sSubPr>
                              <m:ctrlP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sSub>
                            <m:sSubPr>
                              <m:ctrlP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8FFFA35-03B8-EFCC-8A69-AC311D1B8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54" y="5865290"/>
                <a:ext cx="7884270" cy="5880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4024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3CFCC-8148-0974-EBA1-19BE21DCB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1BB34-81E8-2F06-A06C-84D67CFEA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 </a:t>
            </a:r>
            <a:r>
              <a:rPr lang="ko-KR" altLang="en-US" dirty="0"/>
              <a:t>벡터의 외적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29DF8E-FA9A-7720-DD88-78303F072C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2B8D74EC-E187-5162-23C0-2EB1EA64CF90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107950" y="692150"/>
                <a:ext cx="8928100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altLang="ko-KR" sz="2800" b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n-US" altLang="ko-KR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𝑠𝑖𝑛</m:t>
                    </m:r>
                    <m:r>
                      <a:rPr lang="ko-KR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</m:t>
                    </m:r>
                    <m:acc>
                      <m:accPr>
                        <m:chr m:val="̂"/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ko-KR" altLang="en-US" sz="2800" dirty="0"/>
                  <a:t> 전개</a:t>
                </a:r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2B8D74EC-E187-5162-23C0-2EB1EA64CF9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950" y="692150"/>
                <a:ext cx="8928100" cy="523220"/>
              </a:xfrm>
              <a:prstGeom prst="rect">
                <a:avLst/>
              </a:prstGeom>
              <a:blipFill>
                <a:blip r:embed="rId2"/>
                <a:stretch>
                  <a:fillRect t="-11765" b="-3411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AE06BD0-26B9-6A2D-1952-A67F7095EC10}"/>
                  </a:ext>
                </a:extLst>
              </p:cNvPr>
              <p:cNvSpPr txBox="1"/>
              <p:nvPr/>
            </p:nvSpPr>
            <p:spPr>
              <a:xfrm>
                <a:off x="536824" y="1556792"/>
                <a:ext cx="2627685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sz="16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600" b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ko-KR" sz="16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6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ko-KR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ko-KR" sz="16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16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16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ko-KR" alt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AE06BD0-26B9-6A2D-1952-A67F7095E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24" y="1556792"/>
                <a:ext cx="2627685" cy="338554"/>
              </a:xfrm>
              <a:prstGeom prst="rect">
                <a:avLst/>
              </a:prstGeom>
              <a:blipFill>
                <a:blip r:embed="rId3"/>
                <a:stretch>
                  <a:fillRect t="-1071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8CF135-22C2-2CBC-686B-090A93B1E439}"/>
                  </a:ext>
                </a:extLst>
              </p:cNvPr>
              <p:cNvSpPr txBox="1"/>
              <p:nvPr/>
            </p:nvSpPr>
            <p:spPr>
              <a:xfrm>
                <a:off x="971600" y="1988840"/>
                <a:ext cx="2216238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6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ko-KR" altLang="en-US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8CF135-22C2-2CBC-686B-090A93B1E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988840"/>
                <a:ext cx="2216238" cy="338554"/>
              </a:xfrm>
              <a:prstGeom prst="rect">
                <a:avLst/>
              </a:prstGeom>
              <a:blipFill>
                <a:blip r:embed="rId4"/>
                <a:stretch>
                  <a:fillRect t="-1071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CB33FB-8799-6E51-C8D7-8DA7B19B29E3}"/>
                  </a:ext>
                </a:extLst>
              </p:cNvPr>
              <p:cNvSpPr txBox="1"/>
              <p:nvPr/>
            </p:nvSpPr>
            <p:spPr>
              <a:xfrm>
                <a:off x="971600" y="2773680"/>
                <a:ext cx="2478481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n-US" altLang="ko-KR" sz="16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CB33FB-8799-6E51-C8D7-8DA7B19B2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2773680"/>
                <a:ext cx="2478481" cy="338554"/>
              </a:xfrm>
              <a:prstGeom prst="rect">
                <a:avLst/>
              </a:prstGeom>
              <a:blipFill>
                <a:blip r:embed="rId5"/>
                <a:stretch>
                  <a:fillRect t="-1071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47DC8D6-146F-74E3-28FF-61719CA4EC8B}"/>
                  </a:ext>
                </a:extLst>
              </p:cNvPr>
              <p:cNvSpPr txBox="1"/>
              <p:nvPr/>
            </p:nvSpPr>
            <p:spPr>
              <a:xfrm>
                <a:off x="971600" y="2381260"/>
                <a:ext cx="2627685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47DC8D6-146F-74E3-28FF-61719CA4E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2381260"/>
                <a:ext cx="2627685" cy="338554"/>
              </a:xfrm>
              <a:prstGeom prst="rect">
                <a:avLst/>
              </a:prstGeom>
              <a:blipFill>
                <a:blip r:embed="rId6"/>
                <a:stretch>
                  <a:fillRect t="-1090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773F3A-80C4-BC41-E0DB-7A091C8BC9F9}"/>
                  </a:ext>
                </a:extLst>
              </p:cNvPr>
              <p:cNvSpPr txBox="1"/>
              <p:nvPr/>
            </p:nvSpPr>
            <p:spPr>
              <a:xfrm>
                <a:off x="971600" y="3140968"/>
                <a:ext cx="7207391" cy="42421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C773F3A-80C4-BC41-E0DB-7A091C8BC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3140968"/>
                <a:ext cx="7207391" cy="424219"/>
              </a:xfrm>
              <a:prstGeom prst="rect">
                <a:avLst/>
              </a:prstGeom>
              <a:blipFill>
                <a:blip r:embed="rId7"/>
                <a:stretch>
                  <a:fillRect b="-142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52FC3D-F4D4-045D-7DAE-42E3513A0561}"/>
                  </a:ext>
                </a:extLst>
              </p:cNvPr>
              <p:cNvSpPr txBox="1"/>
              <p:nvPr/>
            </p:nvSpPr>
            <p:spPr>
              <a:xfrm>
                <a:off x="971600" y="3673594"/>
                <a:ext cx="7207391" cy="142058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52FC3D-F4D4-045D-7DAE-42E3513A0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3673594"/>
                <a:ext cx="7207391" cy="14205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2B6625-CCED-25F5-62E8-25B816522D47}"/>
                  </a:ext>
                </a:extLst>
              </p:cNvPr>
              <p:cNvSpPr txBox="1"/>
              <p:nvPr/>
            </p:nvSpPr>
            <p:spPr>
              <a:xfrm>
                <a:off x="971600" y="5181632"/>
                <a:ext cx="7207391" cy="6236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2B6625-CCED-25F5-62E8-25B816522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5181632"/>
                <a:ext cx="7207391" cy="623632"/>
              </a:xfrm>
              <a:prstGeom prst="rect">
                <a:avLst/>
              </a:prstGeom>
              <a:blipFill>
                <a:blip r:embed="rId9"/>
                <a:stretch>
                  <a:fillRect b="-294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341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EC76A-B22E-61E3-D1AF-ACB74226B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C91A29-9E84-44D8-E5D2-8AEEB746C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 </a:t>
            </a:r>
            <a:r>
              <a:rPr lang="ko-KR" altLang="en-US" dirty="0"/>
              <a:t>벡터의 외적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FBD9A3-4E45-6F2A-DAD1-B2DEFC0779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7E922E2-3350-64BA-811C-919413FCBBAD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107950" y="692150"/>
                <a:ext cx="8928100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altLang="ko-KR" sz="2800" b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n-US" altLang="ko-KR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𝑠𝑖𝑛</m:t>
                    </m:r>
                    <m:r>
                      <a:rPr lang="ko-KR" alt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altLang="ko-K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</m:t>
                    </m:r>
                    <m:acc>
                      <m:accPr>
                        <m:chr m:val="̂"/>
                        <m:ctrlP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ko-KR" altLang="en-US" sz="2800" dirty="0"/>
                  <a:t> 전개</a:t>
                </a:r>
              </a:p>
            </p:txBody>
          </p:sp>
        </mc:Choice>
        <mc:Fallback xmlns="">
          <p:sp>
            <p:nvSpPr>
              <p:cNvPr id="5" name="내용 개체 틀 4">
                <a:extLst>
                  <a:ext uri="{FF2B5EF4-FFF2-40B4-BE49-F238E27FC236}">
                    <a16:creationId xmlns:a16="http://schemas.microsoft.com/office/drawing/2014/main" id="{17E922E2-3350-64BA-811C-919413FCBBA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950" y="692150"/>
                <a:ext cx="8928100" cy="523220"/>
              </a:xfrm>
              <a:prstGeom prst="rect">
                <a:avLst/>
              </a:prstGeom>
              <a:blipFill>
                <a:blip r:embed="rId2"/>
                <a:stretch>
                  <a:fillRect t="-11765" b="-3411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CD4A033-AE51-D3FA-B96E-B9418AD7CDF3}"/>
                  </a:ext>
                </a:extLst>
              </p:cNvPr>
              <p:cNvSpPr txBox="1"/>
              <p:nvPr/>
            </p:nvSpPr>
            <p:spPr>
              <a:xfrm>
                <a:off x="827585" y="2099902"/>
                <a:ext cx="7207391" cy="623632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CD4A033-AE51-D3FA-B96E-B9418AD7C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5" y="2099902"/>
                <a:ext cx="7207391" cy="623632"/>
              </a:xfrm>
              <a:prstGeom prst="rect">
                <a:avLst/>
              </a:prstGeom>
              <a:blipFill>
                <a:blip r:embed="rId3"/>
                <a:stretch>
                  <a:fillRect b="-1942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F78F87-279A-81A4-80ED-FC088BB66B77}"/>
                  </a:ext>
                </a:extLst>
              </p:cNvPr>
              <p:cNvSpPr txBox="1"/>
              <p:nvPr/>
            </p:nvSpPr>
            <p:spPr>
              <a:xfrm>
                <a:off x="827585" y="2779878"/>
                <a:ext cx="7860297" cy="3629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0F78F87-279A-81A4-80ED-FC088BB66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5" y="2779878"/>
                <a:ext cx="7860297" cy="362920"/>
              </a:xfrm>
              <a:prstGeom prst="rect">
                <a:avLst/>
              </a:prstGeom>
              <a:blipFill>
                <a:blip r:embed="rId4"/>
                <a:stretch>
                  <a:fillRect b="-3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282A7-7B9B-E2B8-E0EF-97A17A879982}"/>
                  </a:ext>
                </a:extLst>
              </p:cNvPr>
              <p:cNvSpPr txBox="1"/>
              <p:nvPr/>
            </p:nvSpPr>
            <p:spPr>
              <a:xfrm>
                <a:off x="827585" y="3090617"/>
                <a:ext cx="7880575" cy="3629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282A7-7B9B-E2B8-E0EF-97A17A879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5" y="3090617"/>
                <a:ext cx="7880575" cy="362920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AA07C1-DA9D-3D2E-FC88-F0455D444AA8}"/>
                  </a:ext>
                </a:extLst>
              </p:cNvPr>
              <p:cNvSpPr txBox="1"/>
              <p:nvPr/>
            </p:nvSpPr>
            <p:spPr>
              <a:xfrm>
                <a:off x="827585" y="3508837"/>
                <a:ext cx="4897004" cy="42421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16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AA07C1-DA9D-3D2E-FC88-F0455D444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5" y="3508837"/>
                <a:ext cx="4897004" cy="424219"/>
              </a:xfrm>
              <a:prstGeom prst="rect">
                <a:avLst/>
              </a:prstGeom>
              <a:blipFill>
                <a:blip r:embed="rId6"/>
                <a:stretch>
                  <a:fillRect b="-144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C85E58-FAFC-541C-5E21-0DA488B7F9C9}"/>
                  </a:ext>
                </a:extLst>
              </p:cNvPr>
              <p:cNvSpPr txBox="1"/>
              <p:nvPr/>
            </p:nvSpPr>
            <p:spPr>
              <a:xfrm>
                <a:off x="827585" y="3849580"/>
                <a:ext cx="5041020" cy="42421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,  </m:t>
                              </m:r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,  </m:t>
                              </m:r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C85E58-FAFC-541C-5E21-0DA488B7F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5" y="3849580"/>
                <a:ext cx="5041020" cy="424219"/>
              </a:xfrm>
              <a:prstGeom prst="rect">
                <a:avLst/>
              </a:prstGeom>
              <a:blipFill>
                <a:blip r:embed="rId7"/>
                <a:stretch>
                  <a:fillRect b="-142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ECE6B6-00E9-A563-5DC5-940E18458839}"/>
                  </a:ext>
                </a:extLst>
              </p:cNvPr>
              <p:cNvSpPr txBox="1"/>
              <p:nvPr/>
            </p:nvSpPr>
            <p:spPr>
              <a:xfrm>
                <a:off x="827584" y="4394107"/>
                <a:ext cx="2428455" cy="133914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ko-KR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ECE6B6-00E9-A563-5DC5-940E18458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394107"/>
                <a:ext cx="2428455" cy="13391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91776F-27D6-791A-AFA4-686C7D7A996A}"/>
                  </a:ext>
                </a:extLst>
              </p:cNvPr>
              <p:cNvSpPr txBox="1"/>
              <p:nvPr/>
            </p:nvSpPr>
            <p:spPr>
              <a:xfrm>
                <a:off x="144115" y="1556792"/>
                <a:ext cx="3707805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ko-KR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ko-KR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91776F-27D6-791A-AFA4-686C7D7A99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15" y="1556792"/>
                <a:ext cx="3707805" cy="461665"/>
              </a:xfrm>
              <a:prstGeom prst="rect">
                <a:avLst/>
              </a:prstGeom>
              <a:blipFill>
                <a:blip r:embed="rId9"/>
                <a:stretch>
                  <a:fillRect t="-1710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5475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5737-B5B5-E25E-29E5-9FC67693D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1F526-3D84-05EF-F8F9-C3492433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 </a:t>
            </a:r>
            <a:r>
              <a:rPr lang="ko-KR" altLang="en-US" dirty="0"/>
              <a:t>벡터의 외적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A7653C-F6D2-7CA6-6AE1-1EC29BD59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외적의</a:t>
            </a:r>
            <a:r>
              <a:rPr lang="en-US" altLang="ko-KR" dirty="0"/>
              <a:t> </a:t>
            </a:r>
            <a:r>
              <a:rPr lang="ko-KR" altLang="en-US" dirty="0"/>
              <a:t>성질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외적 덧셈 분배 법칙</a:t>
            </a:r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항 연산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65B5DD2-CB1C-6886-0905-5FA46265E1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516016-56EE-EECD-3FFF-A4110037F617}"/>
                  </a:ext>
                </a:extLst>
              </p:cNvPr>
              <p:cNvSpPr txBox="1"/>
              <p:nvPr/>
            </p:nvSpPr>
            <p:spPr>
              <a:xfrm>
                <a:off x="467544" y="1264626"/>
                <a:ext cx="7993137" cy="8749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16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16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516016-56EE-EECD-3FFF-A4110037F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264626"/>
                <a:ext cx="7993137" cy="8749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81BD28-EDE4-3560-D86D-C1002DE6BCC7}"/>
                  </a:ext>
                </a:extLst>
              </p:cNvPr>
              <p:cNvSpPr txBox="1"/>
              <p:nvPr/>
            </p:nvSpPr>
            <p:spPr>
              <a:xfrm>
                <a:off x="2536959" y="1899799"/>
                <a:ext cx="4896545" cy="37561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81BD28-EDE4-3560-D86D-C1002DE6B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959" y="1899799"/>
                <a:ext cx="4896545" cy="375616"/>
              </a:xfrm>
              <a:prstGeom prst="rect">
                <a:avLst/>
              </a:prstGeom>
              <a:blipFill>
                <a:blip r:embed="rId3"/>
                <a:stretch>
                  <a:fillRect b="-327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EDDD08-9C03-A03B-AD6C-DA3D399DCFF4}"/>
                  </a:ext>
                </a:extLst>
              </p:cNvPr>
              <p:cNvSpPr txBox="1"/>
              <p:nvPr/>
            </p:nvSpPr>
            <p:spPr>
              <a:xfrm>
                <a:off x="2536961" y="1540541"/>
                <a:ext cx="4752528" cy="375616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</m:t>
                          </m:r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EDDD08-9C03-A03B-AD6C-DA3D399DC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961" y="1540541"/>
                <a:ext cx="4752528" cy="375616"/>
              </a:xfrm>
              <a:prstGeom prst="rect">
                <a:avLst/>
              </a:prstGeom>
              <a:blipFill>
                <a:blip r:embed="rId4"/>
                <a:stretch>
                  <a:fillRect b="-327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187D39-7F23-8AC0-AD67-4AC7B35C017C}"/>
                  </a:ext>
                </a:extLst>
              </p:cNvPr>
              <p:cNvSpPr txBox="1"/>
              <p:nvPr/>
            </p:nvSpPr>
            <p:spPr>
              <a:xfrm>
                <a:off x="2549558" y="2246184"/>
                <a:ext cx="4104458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= −</m:t>
                      </m:r>
                      <m:acc>
                        <m:accPr>
                          <m:chr m:val="⃗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187D39-7F23-8AC0-AD67-4AC7B35C0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558" y="2246184"/>
                <a:ext cx="4104458" cy="338554"/>
              </a:xfrm>
              <a:prstGeom prst="rect">
                <a:avLst/>
              </a:prstGeom>
              <a:blipFill>
                <a:blip r:embed="rId5"/>
                <a:stretch>
                  <a:fillRect t="-1071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ABAFDA-076C-C38F-0E36-1DFAC260DDCE}"/>
                  </a:ext>
                </a:extLst>
              </p:cNvPr>
              <p:cNvSpPr txBox="1"/>
              <p:nvPr/>
            </p:nvSpPr>
            <p:spPr>
              <a:xfrm>
                <a:off x="510917" y="2564904"/>
                <a:ext cx="4104458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 = −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ABAFDA-076C-C38F-0E36-1DFAC260D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17" y="2564904"/>
                <a:ext cx="4104458" cy="461665"/>
              </a:xfrm>
              <a:prstGeom prst="rect">
                <a:avLst/>
              </a:prstGeom>
              <a:blipFill>
                <a:blip r:embed="rId6"/>
                <a:stretch>
                  <a:fillRect t="-17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BCAD8F-2C0E-4DD8-B31E-56023FADE630}"/>
                  </a:ext>
                </a:extLst>
              </p:cNvPr>
              <p:cNvSpPr txBox="1"/>
              <p:nvPr/>
            </p:nvSpPr>
            <p:spPr>
              <a:xfrm>
                <a:off x="455927" y="5092071"/>
                <a:ext cx="5685065" cy="46410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1BCAD8F-2C0E-4DD8-B31E-56023FADE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27" y="5092071"/>
                <a:ext cx="5685065" cy="464101"/>
              </a:xfrm>
              <a:prstGeom prst="rect">
                <a:avLst/>
              </a:prstGeom>
              <a:blipFill>
                <a:blip r:embed="rId7"/>
                <a:stretch>
                  <a:fillRect t="-1578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0D4665-2F5D-68DB-D96E-3C18ED5CD192}"/>
                  </a:ext>
                </a:extLst>
              </p:cNvPr>
              <p:cNvSpPr txBox="1"/>
              <p:nvPr/>
            </p:nvSpPr>
            <p:spPr>
              <a:xfrm>
                <a:off x="455927" y="5531926"/>
                <a:ext cx="2896798" cy="38985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acc>
                        <m:accPr>
                          <m:chr m:val="⃗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0D4665-2F5D-68DB-D96E-3C18ED5CD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27" y="5531926"/>
                <a:ext cx="2896798" cy="389850"/>
              </a:xfrm>
              <a:prstGeom prst="rect">
                <a:avLst/>
              </a:prstGeom>
              <a:blipFill>
                <a:blip r:embed="rId8"/>
                <a:stretch>
                  <a:fillRect t="-1093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2F8752-B72C-F846-802E-267A9E85FD8A}"/>
                  </a:ext>
                </a:extLst>
              </p:cNvPr>
              <p:cNvSpPr txBox="1"/>
              <p:nvPr/>
            </p:nvSpPr>
            <p:spPr>
              <a:xfrm>
                <a:off x="3036427" y="5520894"/>
                <a:ext cx="4391581" cy="38985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acc>
                      <m:accPr>
                        <m:chr m:val="⃗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  <m:r>
                          <a:rPr lang="en-US" altLang="ko-KR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acc>
                      <m:accPr>
                        <m:chr m:val="⃗"/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ko-K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altLang="ko-KR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acc>
                      <m:accPr>
                        <m:chr m:val="⃗"/>
                        <m:ctrlPr>
                          <a:rPr lang="en-US" altLang="ko-KR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 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ko-KR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altLang="ko-KR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</m:d>
                    <m:acc>
                      <m:accPr>
                        <m:chr m:val="⃗"/>
                        <m:ctrlPr>
                          <a:rPr lang="en-US" altLang="ko-KR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A2F8752-B72C-F846-802E-267A9E85F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427" y="5520894"/>
                <a:ext cx="4391581" cy="389850"/>
              </a:xfrm>
              <a:prstGeom prst="rect">
                <a:avLst/>
              </a:prstGeom>
              <a:blipFill>
                <a:blip r:embed="rId9"/>
                <a:stretch>
                  <a:fillRect t="-10938" r="-291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030E7CE-6219-9518-5CD4-5B3F06626030}"/>
                  </a:ext>
                </a:extLst>
              </p:cNvPr>
              <p:cNvSpPr txBox="1"/>
              <p:nvPr/>
            </p:nvSpPr>
            <p:spPr>
              <a:xfrm>
                <a:off x="467544" y="5989235"/>
                <a:ext cx="3904910" cy="46410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030E7CE-6219-9518-5CD4-5B3F06626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989235"/>
                <a:ext cx="3904910" cy="464101"/>
              </a:xfrm>
              <a:prstGeom prst="rect">
                <a:avLst/>
              </a:prstGeom>
              <a:blipFill>
                <a:blip r:embed="rId10"/>
                <a:stretch>
                  <a:fillRect t="-1558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22F3D7-1028-C691-91AF-E3C747CFA31D}"/>
                  </a:ext>
                </a:extLst>
              </p:cNvPr>
              <p:cNvSpPr txBox="1"/>
              <p:nvPr/>
            </p:nvSpPr>
            <p:spPr>
              <a:xfrm>
                <a:off x="539750" y="3790079"/>
                <a:ext cx="5685065" cy="53848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acc>
                        <m:accPr>
                          <m:chr m:val="⃗"/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22F3D7-1028-C691-91AF-E3C747CFA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3790079"/>
                <a:ext cx="5685065" cy="53848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131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3A4EA-FDD0-0A76-4220-EC896DAFA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98C3C-E7E9-1F74-D6B4-DB70B472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 </a:t>
            </a:r>
            <a:r>
              <a:rPr lang="ko-KR" altLang="en-US" dirty="0"/>
              <a:t>벡터의 외적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B85581-CD8E-71D1-6D10-289CA72EB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내적과 외적이 가지는 성질 비교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벡터 내적 외적 차이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93C45C-225A-CF50-45B6-47FEB60C84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59A4D8E1-CA2B-188E-8A96-BAADE3C71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11915"/>
              </p:ext>
            </p:extLst>
          </p:nvPr>
        </p:nvGraphicFramePr>
        <p:xfrm>
          <a:off x="530997" y="4149080"/>
          <a:ext cx="6965266" cy="2260704"/>
        </p:xfrm>
        <a:graphic>
          <a:graphicData uri="http://schemas.openxmlformats.org/drawingml/2006/table">
            <a:tbl>
              <a:tblPr/>
              <a:tblGrid>
                <a:gridCol w="1399273">
                  <a:extLst>
                    <a:ext uri="{9D8B030D-6E8A-4147-A177-3AD203B41FA5}">
                      <a16:colId xmlns:a16="http://schemas.microsoft.com/office/drawing/2014/main" val="4060114694"/>
                    </a:ext>
                  </a:extLst>
                </a:gridCol>
                <a:gridCol w="2611974">
                  <a:extLst>
                    <a:ext uri="{9D8B030D-6E8A-4147-A177-3AD203B41FA5}">
                      <a16:colId xmlns:a16="http://schemas.microsoft.com/office/drawing/2014/main" val="3721014087"/>
                    </a:ext>
                  </a:extLst>
                </a:gridCol>
                <a:gridCol w="2954019">
                  <a:extLst>
                    <a:ext uri="{9D8B030D-6E8A-4147-A177-3AD203B41FA5}">
                      <a16:colId xmlns:a16="http://schemas.microsoft.com/office/drawing/2014/main" val="17088658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ko-KR" altLang="en-US" sz="2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내적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외적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32522"/>
                  </a:ext>
                </a:extLst>
              </a:tr>
              <a:tr h="32952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계산 결과</a:t>
                      </a:r>
                      <a:endParaRPr lang="ko-KR" altLang="en-US" sz="2000" b="1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스칼라</a:t>
                      </a:r>
                      <a:endParaRPr lang="ko-KR" altLang="en-US" sz="2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</a:rPr>
                        <a:t>벡터</a:t>
                      </a:r>
                      <a:endParaRPr lang="ko-KR" altLang="en-US" sz="2000" b="1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980956"/>
                  </a:ext>
                </a:extLst>
              </a:tr>
              <a:tr h="32952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교환 법칙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성립함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성립하지 않음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711922"/>
                  </a:ext>
                </a:extLst>
              </a:tr>
              <a:tr h="32952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결합 법칙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성립하지 않음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성립하지 않음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298465"/>
                  </a:ext>
                </a:extLst>
              </a:tr>
              <a:tr h="32952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분배 법칙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성립함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성립함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859093"/>
                  </a:ext>
                </a:extLst>
              </a:tr>
              <a:tr h="32952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연산 방법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같은 위치의 요소만 사용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다른 위치의 요소만 사용</a:t>
                      </a:r>
                      <a:endParaRPr lang="ko-KR" altLang="en-US" sz="2000" dirty="0">
                        <a:effectLst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819860"/>
                  </a:ext>
                </a:extLst>
              </a:tr>
            </a:tbl>
          </a:graphicData>
        </a:graphic>
      </p:graphicFrame>
      <p:pic>
        <p:nvPicPr>
          <p:cNvPr id="22" name="그림 21">
            <a:extLst>
              <a:ext uri="{FF2B5EF4-FFF2-40B4-BE49-F238E27FC236}">
                <a16:creationId xmlns:a16="http://schemas.microsoft.com/office/drawing/2014/main" id="{32E8B552-052C-C1C9-BBB9-DD3A18FC28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05" t="2507" r="4762" b="70946"/>
          <a:stretch>
            <a:fillRect/>
          </a:stretch>
        </p:blipFill>
        <p:spPr>
          <a:xfrm>
            <a:off x="935471" y="1577415"/>
            <a:ext cx="2520280" cy="86409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249ADA2-AD61-2553-EA87-B65A8B8B55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672"/>
          <a:stretch>
            <a:fillRect/>
          </a:stretch>
        </p:blipFill>
        <p:spPr>
          <a:xfrm>
            <a:off x="4211960" y="1196752"/>
            <a:ext cx="3024336" cy="212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20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4EF64-19B1-3C4E-2CE7-BD26D568B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11.1.1 </a:t>
            </a:r>
            <a:r>
              <a:rPr lang="ko-KR" altLang="en-US" dirty="0"/>
              <a:t>평행성 판별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9453AF-9122-9DD3-F8F3-3B4E1C987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두 벡터의 수직</a:t>
            </a:r>
            <a:r>
              <a:rPr lang="en-US" altLang="ko-KR" dirty="0"/>
              <a:t>: </a:t>
            </a:r>
            <a:r>
              <a:rPr lang="ko-KR" altLang="en-US" dirty="0"/>
              <a:t>내적 결과 </a:t>
            </a:r>
            <a:r>
              <a:rPr lang="en-US" altLang="ko-KR" dirty="0"/>
              <a:t>0</a:t>
            </a:r>
          </a:p>
          <a:p>
            <a:endParaRPr lang="en-US" altLang="ko-KR" dirty="0"/>
          </a:p>
          <a:p>
            <a:r>
              <a:rPr lang="ko-KR" altLang="en-US" dirty="0"/>
              <a:t>두 벡터의 수평</a:t>
            </a:r>
            <a:r>
              <a:rPr lang="en-US" altLang="ko-KR" dirty="0"/>
              <a:t>: </a:t>
            </a:r>
            <a:r>
              <a:rPr lang="ko-KR" altLang="en-US" dirty="0"/>
              <a:t>외적 결과 </a:t>
            </a:r>
            <a:r>
              <a:rPr lang="en-US" altLang="ko-KR" dirty="0"/>
              <a:t>0-</a:t>
            </a:r>
            <a:r>
              <a:rPr lang="ko-KR" altLang="en-US" dirty="0"/>
              <a:t>벡터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벡터를 수평 성분</a:t>
            </a:r>
            <a:r>
              <a:rPr lang="en-US" altLang="ko-KR" dirty="0"/>
              <a:t>,</a:t>
            </a:r>
            <a:r>
              <a:rPr lang="ko-KR" altLang="en-US" dirty="0"/>
              <a:t> 수직 성분 분리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22DA8B-8989-BEAB-7002-10A56D9F7A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41B24A-D17C-3A98-A782-1D09BB0897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67" t="3037" r="1389" b="3336"/>
          <a:stretch>
            <a:fillRect/>
          </a:stretch>
        </p:blipFill>
        <p:spPr>
          <a:xfrm>
            <a:off x="827584" y="3429001"/>
            <a:ext cx="4896544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3865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2970-49AA-A601-7742-7F6FB109E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5F4B1-A03F-5B46-13C1-288517ED5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11.1.1 </a:t>
            </a:r>
            <a:r>
              <a:rPr lang="ko-KR" altLang="en-US" dirty="0"/>
              <a:t>평행성 판별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3E0D3EE-F614-B3EC-D72A-EFE5C36E1B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두 벡터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𝑢</m:t>
                        </m:r>
                      </m:e>
                    </m:acc>
                    <m:r>
                      <a:rPr lang="en-US" altLang="ko-KR" b="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, </m:t>
                    </m:r>
                    <m:acc>
                      <m:accPr>
                        <m:chr m:val="⃗"/>
                        <m:ctrlPr>
                          <a:rPr lang="en-US" altLang="ko-KR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𝑣</m:t>
                        </m:r>
                      </m:e>
                    </m:acc>
                  </m:oMath>
                </a14:m>
                <a:r>
                  <a:rPr lang="ko-KR" altLang="en-US" dirty="0"/>
                  <a:t> 가 만들어내는 평행사변형의 넓이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3E0D3EE-F614-B3EC-D72A-EFE5C36E1B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6E2898-7268-2057-E4FA-75C796FDB9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527F22-6DC3-4BBE-32BE-FA9044990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459557"/>
            <a:ext cx="5622758" cy="393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556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41CA8-1701-2F28-21FA-344036DAC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11.1.2 </a:t>
            </a:r>
            <a:r>
              <a:rPr lang="ko-KR" altLang="en-US" dirty="0"/>
              <a:t>법선 벡터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BE6A0F-0A9C-CF80-CED1-85B67BD23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두 벡터의 외적</a:t>
            </a:r>
            <a:r>
              <a:rPr lang="en-US" altLang="ko-KR" dirty="0"/>
              <a:t> </a:t>
            </a:r>
            <a:r>
              <a:rPr lang="ko-KR" altLang="en-US" dirty="0"/>
              <a:t>→ 두 벡터에 직교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법선 벡터를 생성하는 외적 연산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B6B6F-2582-58EB-DEE4-1F0C450A40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17E445-2E20-2363-AFBF-C869B95D762F}"/>
                  </a:ext>
                </a:extLst>
              </p:cNvPr>
              <p:cNvSpPr txBox="1"/>
              <p:nvPr/>
            </p:nvSpPr>
            <p:spPr>
              <a:xfrm>
                <a:off x="1619672" y="1213425"/>
                <a:ext cx="2651282" cy="941348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17E445-2E20-2363-AFBF-C869B95D7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1213425"/>
                <a:ext cx="2651282" cy="9413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EF7EAB-A99B-1525-23D7-645A970B84B1}"/>
                  </a:ext>
                </a:extLst>
              </p:cNvPr>
              <p:cNvSpPr txBox="1"/>
              <p:nvPr/>
            </p:nvSpPr>
            <p:spPr>
              <a:xfrm>
                <a:off x="539750" y="1484044"/>
                <a:ext cx="1367954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EF7EAB-A99B-1525-23D7-645A970B8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484044"/>
                <a:ext cx="1367954" cy="400110"/>
              </a:xfrm>
              <a:prstGeom prst="rect">
                <a:avLst/>
              </a:prstGeom>
              <a:blipFill>
                <a:blip r:embed="rId3"/>
                <a:stretch>
                  <a:fillRect t="-15152" r="-446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0B7039-4C74-5D51-97EB-542659777E99}"/>
                  </a:ext>
                </a:extLst>
              </p:cNvPr>
              <p:cNvSpPr txBox="1"/>
              <p:nvPr/>
            </p:nvSpPr>
            <p:spPr>
              <a:xfrm>
                <a:off x="1607653" y="2055604"/>
                <a:ext cx="2651282" cy="94186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0B7039-4C74-5D51-97EB-542659777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653" y="2055604"/>
                <a:ext cx="2651282" cy="9418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731183-2FFB-9D89-C3D6-2029EC47BF7B}"/>
                  </a:ext>
                </a:extLst>
              </p:cNvPr>
              <p:cNvSpPr txBox="1"/>
              <p:nvPr/>
            </p:nvSpPr>
            <p:spPr>
              <a:xfrm>
                <a:off x="527731" y="2326223"/>
                <a:ext cx="1379973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731183-2FFB-9D89-C3D6-2029EC47B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31" y="2326223"/>
                <a:ext cx="1379973" cy="400110"/>
              </a:xfrm>
              <a:prstGeom prst="rect">
                <a:avLst/>
              </a:prstGeom>
              <a:blipFill>
                <a:blip r:embed="rId5"/>
                <a:stretch>
                  <a:fillRect t="-15385" r="-309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31397D42-4C76-A7D1-8DDF-E121D23E09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156" y="3931318"/>
            <a:ext cx="4135900" cy="236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386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F2FA0-48B6-EE13-E225-3CB3BF0E1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0218ED-649E-E355-0A97-1F9E1134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11.1.2 </a:t>
            </a:r>
            <a:r>
              <a:rPr lang="ko-KR" altLang="en-US" dirty="0"/>
              <a:t>법선 벡터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F192F8-980F-0D6E-1E4E-1038385BC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외적의 연산 순서에 따른 결과 비교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오른손 법칙으로 외적 방향 결정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CC4341-0C34-0D74-012A-9314FF08CF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AC5C43A-CBAF-94E2-0F9E-90CAF73A7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5" y="1340768"/>
            <a:ext cx="3912204" cy="216023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35D0AE8-F259-AA80-A0D5-5D9C815966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14" b="3008"/>
          <a:stretch>
            <a:fillRect/>
          </a:stretch>
        </p:blipFill>
        <p:spPr>
          <a:xfrm>
            <a:off x="755575" y="4293096"/>
            <a:ext cx="4173019" cy="21595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2DD590-1C77-F253-27C1-B7457F5A359C}"/>
                  </a:ext>
                </a:extLst>
              </p:cNvPr>
              <p:cNvSpPr txBox="1"/>
              <p:nvPr/>
            </p:nvSpPr>
            <p:spPr>
              <a:xfrm>
                <a:off x="6228184" y="2132856"/>
                <a:ext cx="1891481" cy="113005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72DD590-1C77-F253-27C1-B7457F5A3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84" y="2132856"/>
                <a:ext cx="1891481" cy="11300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4FA17E5-6CC6-2018-1754-2C66F4D648CC}"/>
              </a:ext>
            </a:extLst>
          </p:cNvPr>
          <p:cNvSpPr txBox="1"/>
          <p:nvPr/>
        </p:nvSpPr>
        <p:spPr>
          <a:xfrm>
            <a:off x="5975468" y="1641008"/>
            <a:ext cx="1891481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latin typeface="+mn-ea"/>
                <a:ea typeface="+mn-ea"/>
              </a:rPr>
              <a:t>법선 벡터</a:t>
            </a:r>
          </a:p>
        </p:txBody>
      </p:sp>
    </p:spTree>
    <p:extLst>
      <p:ext uri="{BB962C8B-B14F-4D97-AF65-F5344CB8AC3E}">
        <p14:creationId xmlns:p14="http://schemas.microsoft.com/office/powerpoint/2010/main" val="8263504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AE3BB-3145-D454-2B06-FD8EFC67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980636-5F95-9139-A154-22991E28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11.1.3 </a:t>
            </a:r>
            <a:r>
              <a:rPr lang="ko-KR" altLang="en-US" dirty="0"/>
              <a:t>좌우 방향 판별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0AADEF-4920-BE88-89B0-3E5999952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좌우 방향 판별을 위한 예시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물체 위치에 따라 달라지는 외적의 결과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BC1E31-C0B6-5C47-BC4E-71531E8989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8B967E9-EF00-2A97-0E42-46D4722B0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352" y="1340768"/>
            <a:ext cx="5119295" cy="216024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F17045C-54BD-ED94-41EF-A35B1FCDF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4" y="4029680"/>
            <a:ext cx="4896545" cy="249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4215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7AD99-769D-27BB-E614-A7DC0E635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9454B5-35F1-FAEE-D8AB-122095396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11.1.3 </a:t>
            </a:r>
            <a:r>
              <a:rPr lang="ko-KR" altLang="en-US" dirty="0"/>
              <a:t>좌우 방향 판별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159F22-7877-5490-1014-6B989FFC7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물체의 좌우 방향 판별을 위한 수식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  <a:p>
            <a:r>
              <a:rPr lang="ko-KR" altLang="en-US" sz="2400" dirty="0"/>
              <a:t>삼각함수에 비례하는 내적과 외적이 가지는 부호 영역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986FE4-438C-317C-4B55-8B2B7C4A84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697BA8-A54F-8E80-2982-DCEF16E5E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70" y="3956062"/>
            <a:ext cx="4377278" cy="25685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8593B446-CA13-C9D6-D7FD-10D7938C74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058719"/>
                  </p:ext>
                </p:extLst>
              </p:nvPr>
            </p:nvGraphicFramePr>
            <p:xfrm>
              <a:off x="626770" y="1196752"/>
              <a:ext cx="6048672" cy="1872208"/>
            </p:xfrm>
            <a:graphic>
              <a:graphicData uri="http://schemas.openxmlformats.org/drawingml/2006/table">
                <a:tbl>
                  <a:tblPr/>
                  <a:tblGrid>
                    <a:gridCol w="3888432">
                      <a:extLst>
                        <a:ext uri="{9D8B030D-6E8A-4147-A177-3AD203B41FA5}">
                          <a16:colId xmlns:a16="http://schemas.microsoft.com/office/drawing/2014/main" val="2588422396"/>
                        </a:ext>
                      </a:extLst>
                    </a:gridCol>
                    <a:gridCol w="2160240">
                      <a:extLst>
                        <a:ext uri="{9D8B030D-6E8A-4147-A177-3AD203B41FA5}">
                          <a16:colId xmlns:a16="http://schemas.microsoft.com/office/drawing/2014/main" val="4266442012"/>
                        </a:ext>
                      </a:extLst>
                    </a:gridCol>
                  </a:tblGrid>
                  <a:tr h="360040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물체의 위치</a:t>
                          </a:r>
                          <a:endParaRPr lang="ko-KR" altLang="en-US" sz="2800" dirty="0">
                            <a:effectLst/>
                          </a:endParaRPr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판별식의 값</a:t>
                          </a:r>
                          <a:endParaRPr lang="ko-KR" altLang="en-US" sz="2800" dirty="0">
                            <a:effectLst/>
                          </a:endParaRPr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335648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물체가 시선 방향에서 왼쪽에 있는 경우</a:t>
                          </a:r>
                          <a:endParaRPr lang="ko-KR" altLang="en-US" sz="2800" dirty="0">
                            <a:effectLst/>
                          </a:endParaRPr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rtl="0" fontAlgn="ctr">
                            <a:buNone/>
                          </a:pPr>
                          <a:r>
                            <a:rPr lang="en-US" altLang="ko-KR" sz="1600" b="0" i="0" baseline="0" dirty="0">
                              <a:latin typeface="+mn-lt"/>
                              <a:ea typeface="Cambria Math" panose="02040503050406030204" pitchFamily="18" charset="0"/>
                            </a:rPr>
                            <a:t> 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endParaRPr lang="es-ES" sz="2800" dirty="0">
                            <a:effectLst/>
                          </a:endParaRPr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4095037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물체가 시선 방향에서 오른쪽에 있는 경우</a:t>
                          </a:r>
                          <a:endParaRPr lang="ko-KR" altLang="en-US" sz="2800" dirty="0">
                            <a:effectLst/>
                          </a:endParaRPr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rtl="0" fontAlgn="ctr">
                            <a:buNone/>
                          </a:pPr>
                          <a:r>
                            <a:rPr lang="en-US" altLang="ko-KR" sz="1600" b="0" dirty="0">
                              <a:ea typeface="Cambria Math" panose="02040503050406030204" pitchFamily="18" charset="0"/>
                            </a:rPr>
                            <a:t> 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&lt;0</m:t>
                              </m:r>
                            </m:oMath>
                          </a14:m>
                          <a:endParaRPr lang="es-ES" altLang="ko-KR" sz="2800" dirty="0">
                            <a:effectLst/>
                          </a:endParaRPr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44657810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물체가 정확히 시선 방향과 일치하는 경우</a:t>
                          </a:r>
                          <a:endParaRPr lang="ko-KR" altLang="en-US" sz="2800" dirty="0">
                            <a:effectLst/>
                          </a:endParaRPr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rtl="0" fontAlgn="ctr">
                            <a:buNone/>
                          </a:pPr>
                          <a:r>
                            <a:rPr lang="en-US" altLang="ko-KR" sz="1600" b="0" dirty="0">
                              <a:ea typeface="Cambria Math" panose="02040503050406030204" pitchFamily="18" charset="0"/>
                            </a:rPr>
                            <a:t>  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s-ES" altLang="ko-KR" sz="2800" dirty="0">
                            <a:effectLst/>
                          </a:endParaRPr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15612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8593B446-CA13-C9D6-D7FD-10D7938C74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6058719"/>
                  </p:ext>
                </p:extLst>
              </p:nvPr>
            </p:nvGraphicFramePr>
            <p:xfrm>
              <a:off x="626770" y="1196752"/>
              <a:ext cx="6048672" cy="1872208"/>
            </p:xfrm>
            <a:graphic>
              <a:graphicData uri="http://schemas.openxmlformats.org/drawingml/2006/table">
                <a:tbl>
                  <a:tblPr/>
                  <a:tblGrid>
                    <a:gridCol w="3888432">
                      <a:extLst>
                        <a:ext uri="{9D8B030D-6E8A-4147-A177-3AD203B41FA5}">
                          <a16:colId xmlns:a16="http://schemas.microsoft.com/office/drawing/2014/main" val="2588422396"/>
                        </a:ext>
                      </a:extLst>
                    </a:gridCol>
                    <a:gridCol w="2160240">
                      <a:extLst>
                        <a:ext uri="{9D8B030D-6E8A-4147-A177-3AD203B41FA5}">
                          <a16:colId xmlns:a16="http://schemas.microsoft.com/office/drawing/2014/main" val="4266442012"/>
                        </a:ext>
                      </a:extLst>
                    </a:gridCol>
                  </a:tblGrid>
                  <a:tr h="360040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물체의 위치</a:t>
                          </a:r>
                          <a:endParaRPr lang="ko-KR" altLang="en-US" sz="2800" dirty="0">
                            <a:effectLst/>
                          </a:endParaRPr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ko-KR" alt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판별식의 값</a:t>
                          </a:r>
                          <a:endParaRPr lang="ko-KR" altLang="en-US" sz="2800" dirty="0">
                            <a:effectLst/>
                          </a:endParaRPr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335648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물체가 시선 방향에서 왼쪽에 있는 경우</a:t>
                          </a:r>
                          <a:endParaRPr lang="ko-KR" altLang="en-US" sz="2800" dirty="0">
                            <a:effectLst/>
                          </a:endParaRPr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82" t="-72289" r="-563" b="-202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4095037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물체가 시선 방향에서 오른쪽에 있는 경우</a:t>
                          </a:r>
                          <a:endParaRPr lang="ko-KR" altLang="en-US" sz="2800" dirty="0">
                            <a:effectLst/>
                          </a:endParaRPr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82" t="-172289" r="-563" b="-102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4657810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pPr rtl="0" fontAlgn="ctr">
                            <a:buNone/>
                          </a:pPr>
                          <a:r>
                            <a:rPr lang="ko-KR" altLang="en-US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물체가 정확히 시선 방향과 일치하는 경우</a:t>
                          </a:r>
                          <a:endParaRPr lang="ko-KR" altLang="en-US" sz="2800" dirty="0">
                            <a:effectLst/>
                          </a:endParaRPr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80000" marR="35992" marT="35992" marB="35992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82" t="-272289" r="-563" b="-2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156121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8FFD8A3-D153-B723-6946-9F61DDBFD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968757"/>
              </p:ext>
            </p:extLst>
          </p:nvPr>
        </p:nvGraphicFramePr>
        <p:xfrm>
          <a:off x="5252109" y="5517232"/>
          <a:ext cx="3136315" cy="858952"/>
        </p:xfrm>
        <a:graphic>
          <a:graphicData uri="http://schemas.openxmlformats.org/drawingml/2006/table">
            <a:tbl>
              <a:tblPr/>
              <a:tblGrid>
                <a:gridCol w="904067">
                  <a:extLst>
                    <a:ext uri="{9D8B030D-6E8A-4147-A177-3AD203B41FA5}">
                      <a16:colId xmlns:a16="http://schemas.microsoft.com/office/drawing/2014/main" val="342962757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398945599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581155836"/>
                    </a:ext>
                  </a:extLst>
                </a:gridCol>
              </a:tblGrid>
              <a:tr h="35489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ko-KR" altLang="en-US" sz="1600" dirty="0">
                        <a:effectLst/>
                      </a:endParaRPr>
                    </a:p>
                  </a:txBody>
                  <a:tcPr marL="36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dirty="0">
                          <a:effectLst/>
                        </a:rPr>
                        <a:t>내적</a:t>
                      </a:r>
                    </a:p>
                  </a:txBody>
                  <a:tcPr marL="36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외적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36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974997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dirty="0">
                          <a:effectLst/>
                        </a:rPr>
                        <a:t>방향 판별</a:t>
                      </a:r>
                    </a:p>
                  </a:txBody>
                  <a:tcPr marL="36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dirty="0">
                          <a:effectLst/>
                        </a:rPr>
                        <a:t>앞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effectLst/>
                        </a:rPr>
                        <a:t>뒤</a:t>
                      </a:r>
                    </a:p>
                  </a:txBody>
                  <a:tcPr marL="36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dirty="0">
                          <a:effectLst/>
                        </a:rPr>
                        <a:t>왼쪽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effectLst/>
                        </a:rPr>
                        <a:t>오른쪽</a:t>
                      </a:r>
                      <a:endParaRPr lang="es-ES" sz="1600" dirty="0">
                        <a:effectLst/>
                      </a:endParaRPr>
                    </a:p>
                  </a:txBody>
                  <a:tcPr marL="36000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959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39156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01FF5-C2A6-0D25-EFE7-B96DE5474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1B20B-0DEE-A617-6125-81648A804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 </a:t>
            </a:r>
            <a:r>
              <a:rPr lang="ko-KR" altLang="en-US" dirty="0"/>
              <a:t>벡터로부터 회전 행렬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037935A-2D79-2B88-BC02-CAB466003E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/>
                  <a:t>물체를 바라보는 카메라의 설정</a:t>
                </a:r>
                <a:endParaRPr lang="en-US" altLang="ko-KR" sz="24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endParaRPr lang="en-US" altLang="ko-KR" sz="2400" dirty="0"/>
              </a:p>
              <a:p>
                <a:pPr lvl="1"/>
                <a:endParaRPr lang="en-US" altLang="ko-KR" sz="2000" dirty="0"/>
              </a:p>
              <a:p>
                <a:r>
                  <a:rPr lang="ko-KR" altLang="en-US" sz="2400" dirty="0"/>
                  <a:t>카메라의 로컬 </a:t>
                </a:r>
                <a14:m>
                  <m:oMath xmlns:m="http://schemas.openxmlformats.org/officeDocument/2006/math"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ko-KR" altLang="en-US" sz="2400" dirty="0"/>
                  <a:t>축 구하기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037935A-2D79-2B88-BC02-CAB466003E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6" t="-8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84E1EA-661B-E90E-B083-058DEDD23F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EDD2823-1CD2-AE0C-64CD-A17A83A3A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3" y="981532"/>
            <a:ext cx="3713157" cy="244746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DD99CA6-563B-726C-9564-7F01F04EE6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3789759"/>
            <a:ext cx="3683631" cy="273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0353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8E03D-51E1-651C-1105-FB8A7CFF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E93314-6F1D-FD07-A3C6-7AE87E9D0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 </a:t>
            </a:r>
            <a:r>
              <a:rPr lang="ko-KR" altLang="en-US" dirty="0"/>
              <a:t>벡터로부터 회전 행렬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1B1A8D7-30AA-73A9-39C3-AE63C3592E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/>
                  <a:t>카메라의 로컬 </a:t>
                </a:r>
                <a14:m>
                  <m:oMath xmlns:m="http://schemas.openxmlformats.org/officeDocument/2006/math"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z="2400" dirty="0"/>
                  <a:t>축 구하기</a:t>
                </a:r>
                <a:endParaRPr lang="en-US" altLang="ko-KR" sz="24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endParaRPr lang="en-US" altLang="ko-KR" sz="2400" dirty="0"/>
              </a:p>
              <a:p>
                <a:pPr lvl="1"/>
                <a:endParaRPr lang="en-US" altLang="ko-KR" sz="2000" dirty="0"/>
              </a:p>
              <a:p>
                <a:r>
                  <a:rPr lang="ko-KR" altLang="en-US" sz="2400" dirty="0"/>
                  <a:t>뷰 공간을 구성하는 </a:t>
                </a:r>
                <a14:m>
                  <m:oMath xmlns:m="http://schemas.openxmlformats.org/officeDocument/2006/math"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2400" dirty="0"/>
                  <a:t>축 구하기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1B1A8D7-30AA-73A9-39C3-AE63C3592E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6" t="-7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C417AB-142C-8F2B-81D5-BE0590B7C6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E7C76A-8136-B22C-AB6F-C86669F18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776" y="829902"/>
            <a:ext cx="3631075" cy="27486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AC57B21-43E8-9E60-00D5-75CEDEAD74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135" y="3736937"/>
            <a:ext cx="3660716" cy="278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367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54CD1-ECE8-731B-DEEB-0BBA5D8FB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C30E8-A49B-55A9-2A6B-87F8C9B0E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 </a:t>
            </a:r>
            <a:r>
              <a:rPr lang="ko-KR" altLang="en-US" dirty="0"/>
              <a:t>벡터로부터 회전 행렬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96393D-8475-9D10-DFB8-FDCCB1AC5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카메라 기저 벡터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거꾸로 뒤집힌 카메라의 뷰 공간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7B4FDA-38E2-AD28-8549-AF5675F177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511C9D-7195-B3D7-EC0E-C3B3F146A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1208" y="3261104"/>
            <a:ext cx="4392488" cy="28052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D9BB53-7390-7F2F-7AD6-446B86EC0F85}"/>
                  </a:ext>
                </a:extLst>
              </p:cNvPr>
              <p:cNvSpPr txBox="1"/>
              <p:nvPr/>
            </p:nvSpPr>
            <p:spPr>
              <a:xfrm>
                <a:off x="827584" y="1323728"/>
                <a:ext cx="2016224" cy="87055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0D9BB53-7390-7F2F-7AD6-446B86EC0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323728"/>
                <a:ext cx="2016224" cy="8705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4C4097-BBA3-1969-7C08-5B20E9CD8442}"/>
                  </a:ext>
                </a:extLst>
              </p:cNvPr>
              <p:cNvSpPr txBox="1"/>
              <p:nvPr/>
            </p:nvSpPr>
            <p:spPr>
              <a:xfrm>
                <a:off x="2906179" y="1528175"/>
                <a:ext cx="1603450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4C4097-BBA3-1969-7C08-5B20E9CD8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179" y="1528175"/>
                <a:ext cx="1603450" cy="461665"/>
              </a:xfrm>
              <a:prstGeom prst="rect">
                <a:avLst/>
              </a:prstGeom>
              <a:blipFill>
                <a:blip r:embed="rId4"/>
                <a:stretch>
                  <a:fillRect l="-1141" t="-1333" r="-17871" b="-1333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0A0B18-CF9D-8E98-1804-851EBDE1AF03}"/>
                  </a:ext>
                </a:extLst>
              </p:cNvPr>
              <p:cNvSpPr txBox="1"/>
              <p:nvPr/>
            </p:nvSpPr>
            <p:spPr>
              <a:xfrm>
                <a:off x="4680012" y="1323728"/>
                <a:ext cx="1332148" cy="870559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0A0B18-CF9D-8E98-1804-851EBDE1A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012" y="1323728"/>
                <a:ext cx="1332148" cy="8705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816552-9EAF-D061-0E64-119E56995FB8}"/>
                  </a:ext>
                </a:extLst>
              </p:cNvPr>
              <p:cNvSpPr txBox="1"/>
              <p:nvPr/>
            </p:nvSpPr>
            <p:spPr>
              <a:xfrm>
                <a:off x="856832" y="3933056"/>
                <a:ext cx="2635048" cy="12414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 = 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816552-9EAF-D061-0E64-119E56995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832" y="3933056"/>
                <a:ext cx="2635048" cy="12414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95829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68043-478C-7940-91B8-D9AE9043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CFFE9-3968-92F5-A45C-94C42E1C3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11.2 </a:t>
            </a:r>
            <a:r>
              <a:rPr lang="ko-KR" altLang="en-US" dirty="0"/>
              <a:t>벡터로부터 회전 행렬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8CC4D76-CCBD-564E-B4FB-54DC19D542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/>
                  <a:t>카메라의 시선 방향이 월드 공간 </a:t>
                </a:r>
                <a14:m>
                  <m:oMath xmlns:m="http://schemas.openxmlformats.org/officeDocument/2006/math"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2400" dirty="0"/>
                  <a:t>축과 평행한 경우</a:t>
                </a:r>
                <a:endParaRPr lang="en-US" altLang="ko-KR" sz="2400" dirty="0"/>
              </a:p>
              <a:p>
                <a:pPr lvl="1"/>
                <a:r>
                  <a:rPr lang="ko-KR" altLang="en-US" sz="2000" dirty="0"/>
                  <a:t>외적 결과 →</a:t>
                </a:r>
                <a:r>
                  <a:rPr lang="en-US" altLang="ko-KR" sz="2000" dirty="0"/>
                  <a:t> 0-</a:t>
                </a:r>
                <a:r>
                  <a:rPr lang="ko-KR" altLang="en-US" sz="2000" dirty="0"/>
                  <a:t>벡터</a:t>
                </a:r>
                <a:endParaRPr lang="en-US" altLang="ko-KR" sz="2000" dirty="0"/>
              </a:p>
              <a:p>
                <a:pPr lvl="1"/>
                <a:r>
                  <a:rPr lang="ko-KR" altLang="en-US" sz="2000" dirty="0"/>
                  <a:t>외적 계산 대신 로컬 </a:t>
                </a:r>
                <a:r>
                  <a:rPr lang="en-US" altLang="ko-KR" sz="2000" dirty="0"/>
                  <a:t>z</a:t>
                </a:r>
                <a:r>
                  <a:rPr lang="ko-KR" altLang="en-US" sz="2000" dirty="0"/>
                  <a:t>축에 직교하는 로컬 </a:t>
                </a:r>
                <a:r>
                  <a:rPr lang="en-US" altLang="ko-KR" sz="2000" dirty="0"/>
                  <a:t>x</a:t>
                </a:r>
                <a:r>
                  <a:rPr lang="ko-KR" altLang="en-US" sz="2000" dirty="0"/>
                  <a:t>축의 값 수동 지정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8CC4D76-CCBD-564E-B4FB-54DC19D54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6" t="-7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17E9C0-EEB1-6BC5-16B8-B48F5F1B21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F51F3F-9518-717F-9C5F-0617146F9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7" y="2204864"/>
            <a:ext cx="4552381" cy="40761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BDBB93-13AF-A798-A585-6E7CB6141543}"/>
              </a:ext>
            </a:extLst>
          </p:cNvPr>
          <p:cNvSpPr txBox="1"/>
          <p:nvPr/>
        </p:nvSpPr>
        <p:spPr>
          <a:xfrm>
            <a:off x="4659885" y="3608387"/>
            <a:ext cx="4232595" cy="267765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단위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축 생성</a:t>
            </a:r>
            <a:endParaRPr lang="ko-KR" altLang="en-US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InTargetPosition</a:t>
            </a:r>
            <a:b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_Transform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GetPosition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()).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GetNormalize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시선 방향과 월드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축이 평행한 경우</a:t>
            </a:r>
            <a:endParaRPr lang="ko-KR" altLang="en-US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2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Math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Abs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&gt;= (</a:t>
            </a:r>
            <a:r>
              <a:rPr lang="en-US" altLang="ko-KR" sz="12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2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SMALL_NUMBER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//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특이 상황에서 로컬 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 </a:t>
            </a:r>
            <a:r>
              <a:rPr lang="ko-KR" altLang="en-US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좌표 값을 임의로 지정</a:t>
            </a:r>
            <a:r>
              <a:rPr lang="en-US" altLang="ko-KR" sz="12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localX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20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20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UnitX</a:t>
            </a:r>
            <a:r>
              <a:rPr lang="en-US" altLang="ko-KR" sz="20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</a:t>
            </a:r>
            <a:endParaRPr lang="en-US" altLang="ko-KR" sz="12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localX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InUp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Cross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localZ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).</a:t>
            </a:r>
            <a:r>
              <a:rPr lang="en-US" altLang="ko-KR" sz="12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GetNormalize</a:t>
            </a: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2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58576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F07BF-DD0F-1C53-F81D-3E1497622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872C7-A5DA-72FE-743B-BD4670D16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11-1 </a:t>
            </a:r>
            <a:r>
              <a:rPr lang="ko-KR" altLang="en-US" dirty="0"/>
              <a:t>항상 물체를 바라보는 카메라의 구현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B88D3F1-D39B-D60F-AD7B-FE8EFC618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504" y="620688"/>
            <a:ext cx="3128445" cy="2474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8FCB5D-45FF-1E80-5D52-39EA6A242C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BAAB25-40F8-D0AC-F412-23F53D842F1A}"/>
              </a:ext>
            </a:extLst>
          </p:cNvPr>
          <p:cNvSpPr txBox="1"/>
          <p:nvPr/>
        </p:nvSpPr>
        <p:spPr>
          <a:xfrm>
            <a:off x="370974" y="3195416"/>
            <a:ext cx="8712968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CameraObject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SetLookAtRotation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InTargetPosition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InUp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단위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축 생성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InTargetPosition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_Transform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GetPosition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GetNormalize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시선 방향과 월드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축이 평행한 경우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Math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Abs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&gt;= (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- </a:t>
            </a:r>
            <a:r>
              <a:rPr lang="en-US" altLang="ko-KR" sz="1400" b="1" dirty="0">
                <a:solidFill>
                  <a:srgbClr val="6F008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SMALL_NUMBER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특이 상황에서 로컬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좌표 값을 임의로 지정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UnitX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} 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InUp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Cross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GetNormalize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}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두 벡터가 직교하고 크기가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이면 결과는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 보장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localY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Cross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_Transform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SetLocalAxes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localX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localY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9067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171B3-56AE-4CD4-B536-29499C064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3C8966-0003-F62D-AEBC-67EA863E3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11.3 </a:t>
            </a:r>
            <a:r>
              <a:rPr lang="ko-KR" altLang="en-US" dirty="0"/>
              <a:t>백페이스 컬링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B95A2B-DA88-6EDE-1E3D-6FEF35229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정점 버퍼와 인덱스 버퍼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89954F-A247-911E-A302-F1063A644E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93247E-2468-38D9-FB8E-2F26BDE4E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340768"/>
            <a:ext cx="4873784" cy="463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096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507C1-5507-BF64-F70F-DF390F49C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8CBE4-687C-9ECB-6D38-A4D88F67D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11.3 </a:t>
            </a:r>
            <a:r>
              <a:rPr lang="ko-KR" altLang="en-US" dirty="0"/>
              <a:t>백페이스 컬링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FD2416-CE7F-24F8-7AD3-839A70C28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점의 순서에 따른 면의 방향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C79616-7370-5703-9891-EF594871E6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EC0527-F310-D696-9534-7AFD7A8B0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268760"/>
            <a:ext cx="8345906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069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385C4-A977-5918-5A71-36B7A70C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A1758E-37BA-0EBC-A492-17D4612E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11.3 </a:t>
            </a:r>
            <a:r>
              <a:rPr lang="ko-KR" altLang="en-US" dirty="0"/>
              <a:t>백페이스 컬링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17695A-0371-EB34-F569-C7B88F7AF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백페이스 컬링 원리</a:t>
            </a:r>
            <a:endParaRPr lang="en-US" altLang="ko-KR" dirty="0"/>
          </a:p>
          <a:p>
            <a:pPr lvl="1"/>
            <a:r>
              <a:rPr lang="ko-KR" altLang="en-US" dirty="0"/>
              <a:t>카메라의 시선 방향</a:t>
            </a:r>
            <a:r>
              <a:rPr lang="en-US" altLang="ko-KR" dirty="0"/>
              <a:t>,</a:t>
            </a:r>
            <a:r>
              <a:rPr lang="ko-KR" altLang="en-US" dirty="0"/>
              <a:t> 삼각형의 법선 내적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F4F6F1-5F92-F54D-C709-FE99209AD9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46C673-4574-D745-4931-7F422BB56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94" y="2204864"/>
            <a:ext cx="8818212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694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D1320-8582-4FCE-33DF-4ADEBBB5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F071E7-587F-7D40-F521-0FB610181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11-2 </a:t>
            </a:r>
            <a:r>
              <a:rPr lang="ko-KR" altLang="en-US" dirty="0"/>
              <a:t>보이지 않는 뒷면 그리기를 건너뛰기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B94E73-1AA0-8A4F-058F-A45F22835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 점 </a:t>
            </a:r>
            <a:r>
              <a:rPr lang="en-US" altLang="ko-KR" dirty="0"/>
              <a:t>P</a:t>
            </a:r>
            <a:r>
              <a:rPr lang="en-US" altLang="ko-KR" baseline="-25000" dirty="0"/>
              <a:t>0</a:t>
            </a:r>
            <a:r>
              <a:rPr lang="en-US" altLang="ko-KR" dirty="0"/>
              <a:t> ,</a:t>
            </a:r>
            <a:r>
              <a:rPr lang="ko-KR" altLang="en-US" dirty="0"/>
              <a:t> </a:t>
            </a:r>
            <a:r>
              <a:rPr lang="en-US" altLang="ko-KR" dirty="0"/>
              <a:t>P</a:t>
            </a:r>
            <a:r>
              <a:rPr lang="en-US" altLang="ko-KR" baseline="-25000" dirty="0"/>
              <a:t>1</a:t>
            </a:r>
            <a:r>
              <a:rPr lang="en-US" altLang="ko-KR" dirty="0"/>
              <a:t>  ,</a:t>
            </a:r>
            <a:r>
              <a:rPr lang="ko-KR" altLang="en-US" dirty="0"/>
              <a:t> </a:t>
            </a:r>
            <a:r>
              <a:rPr lang="en-US" altLang="ko-KR" dirty="0"/>
              <a:t>P</a:t>
            </a:r>
            <a:r>
              <a:rPr lang="en-US" altLang="ko-KR" baseline="-25000" dirty="0"/>
              <a:t>2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50B4410-6737-1399-EEFF-F85B586D71F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75E08A-C722-4EC9-6670-0CE866FCC976}"/>
                  </a:ext>
                </a:extLst>
              </p:cNvPr>
              <p:cNvSpPr txBox="1"/>
              <p:nvPr/>
            </p:nvSpPr>
            <p:spPr>
              <a:xfrm>
                <a:off x="467544" y="1696590"/>
                <a:ext cx="3806352" cy="50642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75E08A-C722-4EC9-6670-0CE866FCC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696590"/>
                <a:ext cx="3806352" cy="5064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82F921-D93E-F2A3-FFD4-F753C97BA543}"/>
                  </a:ext>
                </a:extLst>
              </p:cNvPr>
              <p:cNvSpPr txBox="1"/>
              <p:nvPr/>
            </p:nvSpPr>
            <p:spPr>
              <a:xfrm>
                <a:off x="467544" y="2299727"/>
                <a:ext cx="4104456" cy="517257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0,0,−1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82F921-D93E-F2A3-FFD4-F753C97BA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299727"/>
                <a:ext cx="4104456" cy="5172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40F5A26-715D-1970-AB78-321CCD678AF8}"/>
              </a:ext>
            </a:extLst>
          </p:cNvPr>
          <p:cNvSpPr txBox="1"/>
          <p:nvPr/>
        </p:nvSpPr>
        <p:spPr>
          <a:xfrm>
            <a:off x="467544" y="3415059"/>
            <a:ext cx="7416824" cy="246221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auto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GetRenderer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GameEngine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&amp;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Get3DGameEngine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useBackfaceCulling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//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백페이스 컬링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 </a:t>
            </a:r>
            <a:r>
              <a:rPr lang="ko-KR" altLang="en-US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뒷면이면 그리기 생략 </a:t>
            </a:r>
            <a:r>
              <a:rPr lang="en-US" altLang="ko-KR" sz="1400" b="1" dirty="0">
                <a:solidFill>
                  <a:srgbClr val="008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b="1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edge1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InVertices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InVertices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edge2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InVertices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InVertices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Position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faceNormal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edge1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Cross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edge2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viewDirection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= </a:t>
            </a:r>
            <a:r>
              <a:rPr lang="en-US" altLang="ko-KR" sz="1400" b="1" dirty="0">
                <a:solidFill>
                  <a:srgbClr val="0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en-US" altLang="ko-KR" sz="1400" b="1" dirty="0">
                <a:solidFill>
                  <a:srgbClr val="216F8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Vector3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UnitZ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faceNormal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400" b="1" dirty="0">
                <a:solidFill>
                  <a:srgbClr val="88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Dot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1" dirty="0">
                <a:solidFill>
                  <a:srgbClr val="000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viewDirection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 &gt;=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0.f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</a:p>
          <a:p>
            <a:pPr>
              <a:buNone/>
            </a:pP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b="1" dirty="0">
                <a:solidFill>
                  <a:srgbClr val="8F08C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236539B-BF4F-E4D8-BB45-D2F521742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1171763"/>
            <a:ext cx="2018645" cy="204556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EF9BA50-EFBB-5A35-1C83-5DB349589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975" y="1171763"/>
            <a:ext cx="1963738" cy="204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2756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B120D-C156-7CC6-C45A-12F1ADD0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E34BF8-2159-BC13-71E6-836E70B1D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로드리게스 회전 공식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BA7ABD-5912-0A44-4715-D0808301A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임의의 축에 대한 회전의 개요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회전 평면의 설정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DA74B8-F79F-595C-BD45-3FFDAB59AB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2229AC-D2DA-3F69-4D4C-D34544CD9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764704"/>
            <a:ext cx="3387374" cy="27716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ACADFE0-3D1B-C518-8781-2807DFB36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176" y="3540930"/>
            <a:ext cx="3231312" cy="30202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3356C7-7F86-AF65-1268-AB681F2F98A5}"/>
                  </a:ext>
                </a:extLst>
              </p:cNvPr>
              <p:cNvSpPr txBox="1"/>
              <p:nvPr/>
            </p:nvSpPr>
            <p:spPr>
              <a:xfrm>
                <a:off x="467543" y="4005064"/>
                <a:ext cx="1944217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,1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3356C7-7F86-AF65-1268-AB681F2F9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3" y="4005064"/>
                <a:ext cx="1944217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F74129-93D7-1B1A-913C-939639EA1D76}"/>
                  </a:ext>
                </a:extLst>
              </p:cNvPr>
              <p:cNvSpPr txBox="1"/>
              <p:nvPr/>
            </p:nvSpPr>
            <p:spPr>
              <a:xfrm>
                <a:off x="2411760" y="3979322"/>
                <a:ext cx="2736305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F74129-93D7-1B1A-913C-939639EA1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3979322"/>
                <a:ext cx="2736305" cy="400110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4F07DC-A415-72A6-76EE-420B29D007E4}"/>
                  </a:ext>
                </a:extLst>
              </p:cNvPr>
              <p:cNvSpPr txBox="1"/>
              <p:nvPr/>
            </p:nvSpPr>
            <p:spPr>
              <a:xfrm>
                <a:off x="456495" y="4891928"/>
                <a:ext cx="6120680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14F07DC-A415-72A6-76EE-420B29D00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495" y="4891928"/>
                <a:ext cx="6120680" cy="400110"/>
              </a:xfrm>
              <a:prstGeom prst="rect">
                <a:avLst/>
              </a:prstGeom>
              <a:blipFill>
                <a:blip r:embed="rId6"/>
                <a:stretch>
                  <a:fillRect t="-303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07020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9E042-7B78-117C-7CCC-FF6EF047A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DBE6F-6B68-9A0C-AE46-AEFD64A42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로드리게스 회전 공식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F1A936B-9183-2114-B6A1-5E10C6BF44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벡터 내적의 투영 공식으로 구한 벡터</a:t>
                </a:r>
                <a14:m>
                  <m:oMath xmlns:m="http://schemas.openxmlformats.org/officeDocument/2006/math">
                    <m:r>
                      <a:rPr lang="en-US" altLang="ko-KR" b="0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altLang="ko-KR" b="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𝑣</m:t>
                        </m:r>
                      </m:e>
                    </m:acc>
                  </m:oMath>
                </a14:m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F1A936B-9183-2114-B6A1-5E10C6BF44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75FA76-F193-ADC0-19B5-06AC25509A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ACDE79-4F36-64D9-34AD-5AAE969C9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1340768"/>
            <a:ext cx="4608761" cy="38913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05004E-AAB6-E835-48BE-6CE4A934A2D8}"/>
                  </a:ext>
                </a:extLst>
              </p:cNvPr>
              <p:cNvSpPr txBox="1"/>
              <p:nvPr/>
            </p:nvSpPr>
            <p:spPr>
              <a:xfrm>
                <a:off x="634992" y="2132856"/>
                <a:ext cx="3432952" cy="5797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00</m:t>
                              </m:r>
                            </m:e>
                            <m:sup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05004E-AAB6-E835-48BE-6CE4A934A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92" y="2132856"/>
                <a:ext cx="3432952" cy="5797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2845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D8540-B249-02C6-9717-537184F6E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5FC760-5A50-4E90-81A7-EFD10F98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로드리게스 회전 공식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515217-FBEA-A4D2-161F-E956A84DC9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회전 평면에서의 회전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회전한 점 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𝑃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Noto Sans CJK KR Medium" panose="020B0600000000000000" pitchFamily="34" charset="-127"/>
                      </a:rPr>
                      <m:t>′</m:t>
                    </m:r>
                  </m:oMath>
                </a14:m>
                <a:r>
                  <a:rPr lang="ko-KR" altLang="en-US" dirty="0"/>
                  <a:t>를 구하기 위한</a:t>
                </a:r>
                <a:br>
                  <a:rPr lang="en-US" altLang="ko-KR" dirty="0"/>
                </a:br>
                <a:r>
                  <a:rPr lang="ko-KR" altLang="en-US" dirty="0"/>
                  <a:t>가로 벡터의 계산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515217-FBEA-A4D2-161F-E956A84DC9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D17D51-D955-6076-CA63-8CA7F022F6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73232F-556E-8635-5900-2D8AF38B6B98}"/>
                  </a:ext>
                </a:extLst>
              </p:cNvPr>
              <p:cNvSpPr txBox="1"/>
              <p:nvPr/>
            </p:nvSpPr>
            <p:spPr>
              <a:xfrm>
                <a:off x="414625" y="1310588"/>
                <a:ext cx="3865000" cy="5797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73232F-556E-8635-5900-2D8AF38B6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25" y="1310588"/>
                <a:ext cx="3865000" cy="5797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79F61609-049C-A6DE-B6AE-AF402AC57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302" y="520884"/>
            <a:ext cx="3304138" cy="29628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5B0AF77-0660-9D99-0652-5897038F22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302" y="3485737"/>
            <a:ext cx="3304138" cy="30396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F2CD4C-4B96-A303-4E33-E09E0361B3ED}"/>
                  </a:ext>
                </a:extLst>
              </p:cNvPr>
              <p:cNvSpPr txBox="1"/>
              <p:nvPr/>
            </p:nvSpPr>
            <p:spPr>
              <a:xfrm>
                <a:off x="335015" y="4428442"/>
                <a:ext cx="4952721" cy="5797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F2CD4C-4B96-A303-4E33-E09E0361B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15" y="4428442"/>
                <a:ext cx="4952721" cy="5797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8373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14C0C-C39D-4371-390F-E1CBC6068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1A10B-7AB2-9107-2878-15A22D47B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로드리게스 회전 공식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F296939-FDA4-F826-2BFA-ED10E3DDA0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회전 평면에서 벡터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2400" b="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O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2400" b="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𝑃</m:t>
                        </m:r>
                      </m:e>
                    </m:acc>
                  </m:oMath>
                </a14:m>
                <a:r>
                  <a:rPr lang="ko-KR" altLang="en-US" dirty="0"/>
                  <a:t> 에 직교하는 벡터</a:t>
                </a:r>
                <a:r>
                  <a:rPr lang="en-US" altLang="ko-KR" dirty="0">
                    <a:ea typeface="나눔바른고딕" panose="020B0603020101020101" pitchFamily="50" charset="-127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240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sz="2400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O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2400" b="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𝑄</m:t>
                        </m:r>
                      </m:e>
                    </m:acc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F296939-FDA4-F826-2BFA-ED10E3DDA0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2D8B5A-8B38-8935-2027-DA136A16FF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F17E02-61F5-66E2-5AB5-3891336C1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626" y="1224941"/>
            <a:ext cx="4748878" cy="30320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F579CF-FE0D-A00A-7F8D-9427FA4E5E33}"/>
                  </a:ext>
                </a:extLst>
              </p:cNvPr>
              <p:cNvSpPr txBox="1"/>
              <p:nvPr/>
            </p:nvSpPr>
            <p:spPr>
              <a:xfrm>
                <a:off x="251520" y="1381334"/>
                <a:ext cx="4952721" cy="51001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F579CF-FE0D-A00A-7F8D-9427FA4E5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381334"/>
                <a:ext cx="4952721" cy="5100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1E0B7D-E6ED-DB2B-71CC-1F8762394F80}"/>
                  </a:ext>
                </a:extLst>
              </p:cNvPr>
              <p:cNvSpPr txBox="1"/>
              <p:nvPr/>
            </p:nvSpPr>
            <p:spPr>
              <a:xfrm>
                <a:off x="251520" y="2592355"/>
                <a:ext cx="5256585" cy="3906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41E0B7D-E6ED-DB2B-71CC-1F8762394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2592355"/>
                <a:ext cx="5256585" cy="390620"/>
              </a:xfrm>
              <a:prstGeom prst="rect">
                <a:avLst/>
              </a:prstGeom>
              <a:blipFill>
                <a:blip r:embed="rId5"/>
                <a:stretch>
                  <a:fillRect t="-1563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814B70-7814-3C87-A7EC-941EAA067058}"/>
                  </a:ext>
                </a:extLst>
              </p:cNvPr>
              <p:cNvSpPr txBox="1"/>
              <p:nvPr/>
            </p:nvSpPr>
            <p:spPr>
              <a:xfrm>
                <a:off x="683567" y="2985148"/>
                <a:ext cx="4137671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 −</m:t>
                          </m:r>
                          <m:acc>
                            <m:accPr>
                              <m:chr m:val="̂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814B70-7814-3C87-A7EC-941EAA067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7" y="2985148"/>
                <a:ext cx="4137671" cy="338554"/>
              </a:xfrm>
              <a:prstGeom prst="rect">
                <a:avLst/>
              </a:prstGeom>
              <a:blipFill>
                <a:blip r:embed="rId6"/>
                <a:stretch>
                  <a:fillRect t="-1090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17E85D-CA76-0F7A-E092-5C76FA06CD8B}"/>
                  </a:ext>
                </a:extLst>
              </p:cNvPr>
              <p:cNvSpPr txBox="1"/>
              <p:nvPr/>
            </p:nvSpPr>
            <p:spPr>
              <a:xfrm>
                <a:off x="284542" y="1910022"/>
                <a:ext cx="2127218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A17E85D-CA76-0F7A-E092-5C76FA06C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42" y="1910022"/>
                <a:ext cx="2127218" cy="461665"/>
              </a:xfrm>
              <a:prstGeom prst="rect">
                <a:avLst/>
              </a:prstGeom>
              <a:blipFill>
                <a:blip r:embed="rId7"/>
                <a:stretch>
                  <a:fillRect l="-287" t="-17105" r="-1174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3BEE99-31BF-C7A6-62B9-28FC47D404A5}"/>
                  </a:ext>
                </a:extLst>
              </p:cNvPr>
              <p:cNvSpPr txBox="1"/>
              <p:nvPr/>
            </p:nvSpPr>
            <p:spPr>
              <a:xfrm>
                <a:off x="659044" y="3429000"/>
                <a:ext cx="4993076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 −</m:t>
                          </m:r>
                          <m:acc>
                            <m:accPr>
                              <m:chr m:val="̂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13BEE99-31BF-C7A6-62B9-28FC47D40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4" y="3429000"/>
                <a:ext cx="4993076" cy="338554"/>
              </a:xfrm>
              <a:prstGeom prst="rect">
                <a:avLst/>
              </a:prstGeom>
              <a:blipFill>
                <a:blip r:embed="rId8"/>
                <a:stretch>
                  <a:fillRect t="-1090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6357DA-B59D-50FE-F930-AC499E07CF69}"/>
                  </a:ext>
                </a:extLst>
              </p:cNvPr>
              <p:cNvSpPr txBox="1"/>
              <p:nvPr/>
            </p:nvSpPr>
            <p:spPr>
              <a:xfrm>
                <a:off x="659044" y="3769727"/>
                <a:ext cx="4993076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 −</m:t>
                          </m:r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̂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6357DA-B59D-50FE-F930-AC499E07C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4" y="3769727"/>
                <a:ext cx="4993076" cy="338554"/>
              </a:xfrm>
              <a:prstGeom prst="rect">
                <a:avLst/>
              </a:prstGeom>
              <a:blipFill>
                <a:blip r:embed="rId9"/>
                <a:stretch>
                  <a:fillRect t="-1071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A480ED-4E00-FFED-A361-2FDB9010CB51}"/>
                  </a:ext>
                </a:extLst>
              </p:cNvPr>
              <p:cNvSpPr txBox="1"/>
              <p:nvPr/>
            </p:nvSpPr>
            <p:spPr>
              <a:xfrm>
                <a:off x="659044" y="4126958"/>
                <a:ext cx="4993076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A480ED-4E00-FFED-A361-2FDB9010C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4" y="4126958"/>
                <a:ext cx="4993076" cy="338554"/>
              </a:xfrm>
              <a:prstGeom prst="rect">
                <a:avLst/>
              </a:prstGeom>
              <a:blipFill>
                <a:blip r:embed="rId10"/>
                <a:stretch>
                  <a:fillRect t="-1071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17262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9526D-6CAC-6395-C96A-A299BF951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E9C6C0-1922-7F99-8E12-55F8CE26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11.4 </a:t>
            </a:r>
            <a:r>
              <a:rPr lang="ko-KR" altLang="en-US" dirty="0"/>
              <a:t>로드리게스 회전 공식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F32526C-8D0B-8718-DE07-CC9142994C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최종 벡터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O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Noto Sans CJK KR Medium" panose="020B0600000000000000" pitchFamily="34" charset="-127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b="0" i="1">
                            <a:latin typeface="Cambria Math" panose="02040503050406030204" pitchFamily="18" charset="0"/>
                            <a:ea typeface="Noto Sans CJK KR Medium" panose="020B0600000000000000" pitchFamily="34" charset="-127"/>
                          </a:rPr>
                          <m:t>𝑃</m:t>
                        </m:r>
                      </m:e>
                    </m:acc>
                  </m:oMath>
                </a14:m>
                <a:r>
                  <a:rPr lang="ko-KR" altLang="en-US" dirty="0"/>
                  <a:t>의 계산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로드리게스 회전 공식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F32526C-8D0B-8718-DE07-CC9142994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42ADF9-D4C2-9C38-4C70-D1449A814F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3E252E-9A0C-2427-AB19-83E10572B278}"/>
                  </a:ext>
                </a:extLst>
              </p:cNvPr>
              <p:cNvSpPr txBox="1"/>
              <p:nvPr/>
            </p:nvSpPr>
            <p:spPr>
              <a:xfrm>
                <a:off x="459135" y="2500310"/>
                <a:ext cx="4256881" cy="37087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3E252E-9A0C-2427-AB19-83E10572B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35" y="2500310"/>
                <a:ext cx="4256881" cy="370871"/>
              </a:xfrm>
              <a:prstGeom prst="rect">
                <a:avLst/>
              </a:prstGeom>
              <a:blipFill>
                <a:blip r:embed="rId3"/>
                <a:stretch>
                  <a:fillRect t="-163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E4A9A3-1AE7-B9B2-075C-A93611BFB37D}"/>
                  </a:ext>
                </a:extLst>
              </p:cNvPr>
              <p:cNvSpPr txBox="1"/>
              <p:nvPr/>
            </p:nvSpPr>
            <p:spPr>
              <a:xfrm>
                <a:off x="459135" y="1329282"/>
                <a:ext cx="2127218" cy="46166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0E4A9A3-1AE7-B9B2-075C-A93611BFB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35" y="1329282"/>
                <a:ext cx="2127218" cy="461665"/>
              </a:xfrm>
              <a:prstGeom prst="rect">
                <a:avLst/>
              </a:prstGeom>
              <a:blipFill>
                <a:blip r:embed="rId4"/>
                <a:stretch>
                  <a:fillRect t="-17105" r="-1203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03A1A032-8551-ED8B-8A22-BBFC840A3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496" y="1329282"/>
            <a:ext cx="3721826" cy="36502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0AADD0-6EB7-7F8B-68EC-05C4FCE2BE2F}"/>
                  </a:ext>
                </a:extLst>
              </p:cNvPr>
              <p:cNvSpPr txBox="1"/>
              <p:nvPr/>
            </p:nvSpPr>
            <p:spPr>
              <a:xfrm>
                <a:off x="459135" y="1790222"/>
                <a:ext cx="2512365" cy="51001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 +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40AADD0-6EB7-7F8B-68EC-05C4FCE2B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35" y="1790222"/>
                <a:ext cx="2512365" cy="5100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47D7E9-7FCD-1FEC-535D-4A28D668DBC7}"/>
                  </a:ext>
                </a:extLst>
              </p:cNvPr>
              <p:cNvSpPr txBox="1"/>
              <p:nvPr/>
            </p:nvSpPr>
            <p:spPr>
              <a:xfrm>
                <a:off x="459135" y="2857195"/>
                <a:ext cx="4256881" cy="37087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47D7E9-7FCD-1FEC-535D-4A28D668D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35" y="2857195"/>
                <a:ext cx="4256881" cy="370871"/>
              </a:xfrm>
              <a:prstGeom prst="rect">
                <a:avLst/>
              </a:prstGeom>
              <a:blipFill>
                <a:blip r:embed="rId7"/>
                <a:stretch>
                  <a:fillRect t="-163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F29BAF-1E6F-1ECF-7B18-F650A6E12154}"/>
                  </a:ext>
                </a:extLst>
              </p:cNvPr>
              <p:cNvSpPr txBox="1"/>
              <p:nvPr/>
            </p:nvSpPr>
            <p:spPr>
              <a:xfrm>
                <a:off x="459135" y="3228066"/>
                <a:ext cx="4256881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F29BAF-1E6F-1ECF-7B18-F650A6E12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35" y="3228066"/>
                <a:ext cx="4256881" cy="338554"/>
              </a:xfrm>
              <a:prstGeom prst="rect">
                <a:avLst/>
              </a:prstGeom>
              <a:blipFill>
                <a:blip r:embed="rId8"/>
                <a:stretch>
                  <a:fillRect t="-10909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DA66ABB-7A4C-EF8E-8E6E-8A266EA38A60}"/>
                  </a:ext>
                </a:extLst>
              </p:cNvPr>
              <p:cNvSpPr txBox="1"/>
              <p:nvPr/>
            </p:nvSpPr>
            <p:spPr>
              <a:xfrm>
                <a:off x="459135" y="3568793"/>
                <a:ext cx="4616921" cy="33855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DA66ABB-7A4C-EF8E-8E6E-8A266EA38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35" y="3568793"/>
                <a:ext cx="4616921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2CAA8F-97D6-BE38-1909-81298386B92A}"/>
                  </a:ext>
                </a:extLst>
              </p:cNvPr>
              <p:cNvSpPr txBox="1"/>
              <p:nvPr/>
            </p:nvSpPr>
            <p:spPr>
              <a:xfrm>
                <a:off x="459135" y="5440508"/>
                <a:ext cx="7451056" cy="51001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2CAA8F-97D6-BE38-1909-81298386B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35" y="5440508"/>
                <a:ext cx="7451056" cy="5100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3503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763A5-8341-DBFF-5173-6319B27A0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DF584-4664-A2E7-ECFA-B8D01594B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11-3 3</a:t>
            </a:r>
            <a:r>
              <a:rPr lang="ko-KR" altLang="en-US" dirty="0"/>
              <a:t>차원 공간에서의 자유로운 회전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5797F-84CF-B5B0-53FF-6F85BA04E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로드리게스 회전 공식은</a:t>
            </a:r>
            <a:br>
              <a:rPr lang="en-US" altLang="ko-KR" dirty="0"/>
            </a:br>
            <a:r>
              <a:rPr lang="en-US" altLang="ko-KR" dirty="0"/>
              <a:t>sin, cos </a:t>
            </a:r>
            <a:r>
              <a:rPr lang="ko-KR" altLang="en-US" dirty="0"/>
              <a:t>계산 필요</a:t>
            </a:r>
            <a:br>
              <a:rPr lang="en-US" altLang="ko-KR" dirty="0"/>
            </a:br>
            <a:r>
              <a:rPr lang="ko-KR" altLang="en-US" dirty="0"/>
              <a:t>→ 행렬 변환이 용이한 사원수 사용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8859C3-36A1-1F78-9296-8FFF3BBFE1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4AAB50-19DF-A3FD-24CF-1D9B661A2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251" y="799152"/>
            <a:ext cx="2324706" cy="2430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E6C729-8727-665A-470C-AFBC2A3AFDAA}"/>
              </a:ext>
            </a:extLst>
          </p:cNvPr>
          <p:cNvSpPr txBox="1"/>
          <p:nvPr/>
        </p:nvSpPr>
        <p:spPr>
          <a:xfrm>
            <a:off x="138309" y="3443165"/>
            <a:ext cx="8497193" cy="289310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sin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GetSinCos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sin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thetaDegree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endParaRPr lang="en-US" altLang="ko-KR" sz="14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Position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ToVector3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endParaRPr lang="en-US" altLang="ko-KR" sz="14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udotn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Dot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endParaRPr lang="en-US" altLang="ko-KR" sz="1400" dirty="0">
              <a:solidFill>
                <a:srgbClr val="216F85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ncrossu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Cross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endParaRPr lang="en-US" altLang="ko-KR" sz="1400" dirty="0">
              <a:solidFill>
                <a:srgbClr val="216F85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result</a:t>
            </a:r>
            <a:b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</a:b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=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+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((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-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*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udotn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+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ncrossu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sin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InScale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endParaRPr lang="en-US" altLang="ko-KR" sz="1400" dirty="0">
              <a:solidFill>
                <a:srgbClr val="000000"/>
              </a:solidFill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Position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=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Vector4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result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165967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FBB44-30B8-96C5-DC28-6F2B16E42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84CBA-0F59-7B76-09EE-FCFC37BEE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 </a:t>
            </a:r>
            <a:r>
              <a:rPr lang="ko-KR" altLang="en-US" dirty="0"/>
              <a:t>삼중곱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56BB42-911E-E39B-885A-7BF9FA6EC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벡터 </a:t>
            </a:r>
            <a:r>
              <a:rPr lang="en-US" altLang="ko-KR" dirty="0"/>
              <a:t>3</a:t>
            </a:r>
            <a:r>
              <a:rPr lang="ko-KR" altLang="en-US" dirty="0"/>
              <a:t>중 곱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FD2BD-5D9B-4C6F-9629-0D475B3373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6C873D-4920-7304-8DB3-392AE95BED8F}"/>
                  </a:ext>
                </a:extLst>
              </p:cNvPr>
              <p:cNvSpPr txBox="1"/>
              <p:nvPr/>
            </p:nvSpPr>
            <p:spPr>
              <a:xfrm>
                <a:off x="1355759" y="1484784"/>
                <a:ext cx="2928209" cy="58477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6C873D-4920-7304-8DB3-392AE95BE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759" y="1484784"/>
                <a:ext cx="2928209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3C8223-CB7E-62B4-AC47-353A40C2F737}"/>
                  </a:ext>
                </a:extLst>
              </p:cNvPr>
              <p:cNvSpPr txBox="1"/>
              <p:nvPr/>
            </p:nvSpPr>
            <p:spPr>
              <a:xfrm>
                <a:off x="1355759" y="2417984"/>
                <a:ext cx="2928209" cy="58477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3C8223-CB7E-62B4-AC47-353A40C2F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759" y="2417984"/>
                <a:ext cx="292820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5BFFD4-347A-EC60-16C1-872F419AB54A}"/>
                  </a:ext>
                </a:extLst>
              </p:cNvPr>
              <p:cNvSpPr txBox="1"/>
              <p:nvPr/>
            </p:nvSpPr>
            <p:spPr>
              <a:xfrm>
                <a:off x="1355759" y="3351184"/>
                <a:ext cx="2928209" cy="58477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5BFFD4-347A-EC60-16C1-872F419AB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759" y="3351184"/>
                <a:ext cx="292820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2EE340-74CE-8AE4-76A6-D28A1AFCB0C1}"/>
                  </a:ext>
                </a:extLst>
              </p:cNvPr>
              <p:cNvSpPr txBox="1"/>
              <p:nvPr/>
            </p:nvSpPr>
            <p:spPr>
              <a:xfrm>
                <a:off x="1355759" y="4284385"/>
                <a:ext cx="2928209" cy="58477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2EE340-74CE-8AE4-76A6-D28A1AFCB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759" y="4284385"/>
                <a:ext cx="2928209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18610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53329-E1B5-0CBE-759E-846E3F38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784A2-793A-E708-2659-6BC7D6E2B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11.5.1 </a:t>
            </a:r>
            <a:r>
              <a:rPr lang="ko-KR" altLang="en-US" dirty="0"/>
              <a:t>스칼라 삼중곱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EEFEE3-D38C-8A1F-C904-ACB23AC73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외적의 크기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법선 벡터에 투영한 벡터의 크기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CBD74D-0541-0547-A949-455680D84F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011C57-7EE6-30FE-74B7-92082BD44D9F}"/>
                  </a:ext>
                </a:extLst>
              </p:cNvPr>
              <p:cNvSpPr txBox="1"/>
              <p:nvPr/>
            </p:nvSpPr>
            <p:spPr>
              <a:xfrm>
                <a:off x="1475656" y="1412776"/>
                <a:ext cx="2928209" cy="58477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011C57-7EE6-30FE-74B7-92082BD44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1412776"/>
                <a:ext cx="2928209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35B9009C-3B91-7962-D6D9-6367BD371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051" y="914351"/>
            <a:ext cx="3788381" cy="253993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D484FB4-8782-892F-4803-886802367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051" y="3645024"/>
            <a:ext cx="3788381" cy="25580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B19BD0-9017-6757-F0CC-3AE37D3A3253}"/>
                  </a:ext>
                </a:extLst>
              </p:cNvPr>
              <p:cNvSpPr txBox="1"/>
              <p:nvPr/>
            </p:nvSpPr>
            <p:spPr>
              <a:xfrm>
                <a:off x="1475656" y="4431089"/>
                <a:ext cx="2928209" cy="58477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en-US" altLang="ko-K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altLang="ko-KR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ko-KR" sz="32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B19BD0-9017-6757-F0CC-3AE37D3A3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4431089"/>
                <a:ext cx="2928209" cy="584775"/>
              </a:xfrm>
              <a:prstGeom prst="rect">
                <a:avLst/>
              </a:prstGeom>
              <a:blipFill>
                <a:blip r:embed="rId5"/>
                <a:stretch>
                  <a:fillRect t="-16667" b="-30208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99480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78E16-1D19-DC73-AC69-C0011865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214358-AC72-33AA-795F-B7E533ABD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11.5.1 </a:t>
            </a:r>
            <a:r>
              <a:rPr lang="ko-KR" altLang="en-US" dirty="0"/>
              <a:t>스칼라 삼중곱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634458-A7F6-F188-9B96-22BA1DAAC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육면체의 부피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1C68D-C9C0-AA2B-F50A-E38CAACCB4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A37DF00-1FA9-2EAC-F9B6-BC600F9C5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908720"/>
            <a:ext cx="5105056" cy="26350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AD6004-41C2-EB5F-0A6D-62B7F4810964}"/>
                  </a:ext>
                </a:extLst>
              </p:cNvPr>
              <p:cNvSpPr txBox="1"/>
              <p:nvPr/>
            </p:nvSpPr>
            <p:spPr>
              <a:xfrm>
                <a:off x="971600" y="1737863"/>
                <a:ext cx="2928209" cy="58477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3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AD6004-41C2-EB5F-0A6D-62B7F4810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737863"/>
                <a:ext cx="292820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83AA0B-0916-94A2-BBB4-65840C5A42DD}"/>
                  </a:ext>
                </a:extLst>
              </p:cNvPr>
              <p:cNvSpPr txBox="1"/>
              <p:nvPr/>
            </p:nvSpPr>
            <p:spPr>
              <a:xfrm>
                <a:off x="971600" y="2494088"/>
                <a:ext cx="2928209" cy="58477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83AA0B-0916-94A2-BBB4-65840C5A4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2494088"/>
                <a:ext cx="2928209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82283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ED65F-73FB-8FDE-033F-7D392F765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6AB37C-43E1-C3B6-3EE9-9300C206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11.5.1 </a:t>
            </a:r>
            <a:r>
              <a:rPr lang="ko-KR" altLang="en-US" dirty="0"/>
              <a:t>스칼라 삼중곱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CF3EFA-E1A8-B67E-DDA1-59E657A57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 벡터로 구성된 평행육면체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순서를 바꿔도 결과는 동일한 스칼라 삼중곱 예시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8E756D-FA00-2885-A735-4C51289924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4C64D6A-6EAF-B8A0-1FEE-F1A72ECE8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06" y="1422019"/>
            <a:ext cx="3422265" cy="195220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A84DD1D-5F3D-C28C-0338-695A0FC3B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4437112"/>
            <a:ext cx="7344816" cy="20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4626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E0FC9-D545-239B-1606-27E16571A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DEB754-727F-D556-4114-96AE1246D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11.5.1 </a:t>
            </a:r>
            <a:r>
              <a:rPr lang="ko-KR" altLang="en-US" dirty="0"/>
              <a:t>스칼라 삼중곱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EC0C4B-B8A4-9773-C8E6-C3F1EF3D0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순서를 바꿔도 동일한 결과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세 벡터가 모두 선형 독립이 아닌 경우</a:t>
            </a:r>
            <a:endParaRPr lang="en-US" altLang="ko-KR" dirty="0"/>
          </a:p>
          <a:p>
            <a:pPr lvl="1"/>
            <a:r>
              <a:rPr lang="ko-KR" altLang="en-US" dirty="0"/>
              <a:t>삼중곱 → </a:t>
            </a:r>
            <a:r>
              <a:rPr lang="en-US" altLang="ko-KR" dirty="0"/>
              <a:t>0</a:t>
            </a:r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003527-F074-F884-2EF7-43294851C0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07189A-3D7F-6B15-B9C9-50944ED24948}"/>
                  </a:ext>
                </a:extLst>
              </p:cNvPr>
              <p:cNvSpPr txBox="1"/>
              <p:nvPr/>
            </p:nvSpPr>
            <p:spPr>
              <a:xfrm>
                <a:off x="683568" y="1340768"/>
                <a:ext cx="2304256" cy="58477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07189A-3D7F-6B15-B9C9-50944ED24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340768"/>
                <a:ext cx="2304256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4C4571-E125-8571-CA3E-29553A8965D4}"/>
                  </a:ext>
                </a:extLst>
              </p:cNvPr>
              <p:cNvSpPr txBox="1"/>
              <p:nvPr/>
            </p:nvSpPr>
            <p:spPr>
              <a:xfrm>
                <a:off x="3059832" y="1340768"/>
                <a:ext cx="2304256" cy="58477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4C4571-E125-8571-CA3E-29553A896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1340768"/>
                <a:ext cx="2304256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F46957-7A59-F6F5-32D2-181FEBF721B9}"/>
                  </a:ext>
                </a:extLst>
              </p:cNvPr>
              <p:cNvSpPr txBox="1"/>
              <p:nvPr/>
            </p:nvSpPr>
            <p:spPr>
              <a:xfrm>
                <a:off x="5436096" y="1340768"/>
                <a:ext cx="2304256" cy="584775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altLang="ko-K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F46957-7A59-F6F5-32D2-181FEBF72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1340768"/>
                <a:ext cx="2304256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56BA476B-B8DB-89F0-71E1-7A3420AD1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3284984"/>
            <a:ext cx="6486698" cy="264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182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84EB9-9397-8524-ABB1-780B4B27D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B6CE85-E06B-FDC5-3D0A-92EB8171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11.5.2 </a:t>
            </a:r>
            <a:r>
              <a:rPr lang="ko-KR" altLang="en-US" dirty="0"/>
              <a:t>벡터 삼중곱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ED42A3-0883-3AD6-1375-387A9F60A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벡터 삼중곱 라그랑주 공식</a:t>
            </a:r>
            <a:r>
              <a:rPr lang="en-US" altLang="ko-KR" dirty="0"/>
              <a:t>(Lagrange's formula)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98B662-5FB2-A55C-E14C-701F9226C6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57F4B2-E48D-4834-478D-D1367DE71D1E}"/>
                  </a:ext>
                </a:extLst>
              </p:cNvPr>
              <p:cNvSpPr txBox="1"/>
              <p:nvPr/>
            </p:nvSpPr>
            <p:spPr>
              <a:xfrm>
                <a:off x="514325" y="5086609"/>
                <a:ext cx="5685065" cy="52322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acc>
                        <m:accPr>
                          <m:chr m:val="⃗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57F4B2-E48D-4834-478D-D1367DE71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25" y="5086609"/>
                <a:ext cx="568506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D88425-0A0D-ADA5-3D65-BF2D55ABA2CE}"/>
                  </a:ext>
                </a:extLst>
              </p:cNvPr>
              <p:cNvSpPr txBox="1"/>
              <p:nvPr/>
            </p:nvSpPr>
            <p:spPr>
              <a:xfrm>
                <a:off x="538709" y="1340768"/>
                <a:ext cx="7129633" cy="479811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D88425-0A0D-ADA5-3D65-BF2D55ABA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09" y="1340768"/>
                <a:ext cx="7129633" cy="479811"/>
              </a:xfrm>
              <a:prstGeom prst="rect">
                <a:avLst/>
              </a:prstGeom>
              <a:blipFill>
                <a:blip r:embed="rId3"/>
                <a:stretch>
                  <a:fillRect t="-1012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A57F76-5367-8B7F-0398-7B8FA637BE6A}"/>
                  </a:ext>
                </a:extLst>
              </p:cNvPr>
              <p:cNvSpPr txBox="1"/>
              <p:nvPr/>
            </p:nvSpPr>
            <p:spPr>
              <a:xfrm>
                <a:off x="527607" y="1867911"/>
                <a:ext cx="7140735" cy="44640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A57F76-5367-8B7F-0398-7B8FA637B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07" y="1867911"/>
                <a:ext cx="7140735" cy="446404"/>
              </a:xfrm>
              <a:prstGeom prst="rect">
                <a:avLst/>
              </a:prstGeom>
              <a:blipFill>
                <a:blip r:embed="rId4"/>
                <a:stretch>
                  <a:fillRect b="-405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9083F9-1FBC-D027-7699-506B6BDF47FA}"/>
                  </a:ext>
                </a:extLst>
              </p:cNvPr>
              <p:cNvSpPr txBox="1"/>
              <p:nvPr/>
            </p:nvSpPr>
            <p:spPr>
              <a:xfrm>
                <a:off x="527607" y="2293629"/>
                <a:ext cx="7140735" cy="42428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9083F9-1FBC-D027-7699-506B6BDF4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07" y="2293629"/>
                <a:ext cx="7140735" cy="424283"/>
              </a:xfrm>
              <a:prstGeom prst="rect">
                <a:avLst/>
              </a:prstGeom>
              <a:blipFill>
                <a:blip r:embed="rId5"/>
                <a:stretch>
                  <a:fillRect b="-571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BA7112-2114-811F-47A5-A33A49351FF4}"/>
                  </a:ext>
                </a:extLst>
              </p:cNvPr>
              <p:cNvSpPr txBox="1"/>
              <p:nvPr/>
            </p:nvSpPr>
            <p:spPr>
              <a:xfrm>
                <a:off x="527607" y="2697226"/>
                <a:ext cx="7140735" cy="42428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BA7112-2114-811F-47A5-A33A49351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07" y="2697226"/>
                <a:ext cx="7140735" cy="424283"/>
              </a:xfrm>
              <a:prstGeom prst="rect">
                <a:avLst/>
              </a:prstGeom>
              <a:blipFill>
                <a:blip r:embed="rId6"/>
                <a:stretch>
                  <a:fillRect b="-5714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2F858E-13A1-7EC3-0D75-6AC0575E70A9}"/>
                  </a:ext>
                </a:extLst>
              </p:cNvPr>
              <p:cNvSpPr txBox="1"/>
              <p:nvPr/>
            </p:nvSpPr>
            <p:spPr>
              <a:xfrm>
                <a:off x="527607" y="3100823"/>
                <a:ext cx="7140735" cy="424283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E2F858E-13A1-7EC3-0D75-6AC0575E7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07" y="3100823"/>
                <a:ext cx="7140735" cy="424283"/>
              </a:xfrm>
              <a:prstGeom prst="rect">
                <a:avLst/>
              </a:prstGeom>
              <a:blipFill>
                <a:blip r:embed="rId7"/>
                <a:stretch>
                  <a:fillRect b="-5797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C11D62-3531-747F-F48B-BBB442EAE0B9}"/>
                  </a:ext>
                </a:extLst>
              </p:cNvPr>
              <p:cNvSpPr txBox="1"/>
              <p:nvPr/>
            </p:nvSpPr>
            <p:spPr>
              <a:xfrm>
                <a:off x="527607" y="3504419"/>
                <a:ext cx="7140735" cy="44640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C11D62-3531-747F-F48B-BBB442EAE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07" y="3504419"/>
                <a:ext cx="7140735" cy="446404"/>
              </a:xfrm>
              <a:prstGeom prst="rect">
                <a:avLst/>
              </a:prstGeom>
              <a:blipFill>
                <a:blip r:embed="rId8"/>
                <a:stretch>
                  <a:fillRect b="-411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317639-70A4-B8AA-1DB6-69F6B1823A9F}"/>
                  </a:ext>
                </a:extLst>
              </p:cNvPr>
              <p:cNvSpPr txBox="1"/>
              <p:nvPr/>
            </p:nvSpPr>
            <p:spPr>
              <a:xfrm>
                <a:off x="526207" y="4075873"/>
                <a:ext cx="5125913" cy="446404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317639-70A4-B8AA-1DB6-69F6B1823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207" y="4075873"/>
                <a:ext cx="5125913" cy="446404"/>
              </a:xfrm>
              <a:prstGeom prst="rect">
                <a:avLst/>
              </a:prstGeom>
              <a:blipFill>
                <a:blip r:embed="rId9"/>
                <a:stretch>
                  <a:fillRect b="-4110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F0A634-A9E5-9605-35EB-E722A7ECDF33}"/>
                  </a:ext>
                </a:extLst>
              </p:cNvPr>
              <p:cNvSpPr txBox="1"/>
              <p:nvPr/>
            </p:nvSpPr>
            <p:spPr>
              <a:xfrm>
                <a:off x="539553" y="4540041"/>
                <a:ext cx="5112567" cy="400110"/>
              </a:xfrm>
              <a:prstGeom prst="rect">
                <a:avLst/>
              </a:prstGeom>
              <a:noFill/>
              <a:ln w="25400">
                <a:noFill/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F0A634-A9E5-9605-35EB-E722A7ECD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3" y="4540041"/>
                <a:ext cx="5112567" cy="400110"/>
              </a:xfrm>
              <a:prstGeom prst="rect">
                <a:avLst/>
              </a:prstGeom>
              <a:blipFill>
                <a:blip r:embed="rId10"/>
                <a:stretch>
                  <a:fillRect t="-15385"/>
                </a:stretch>
              </a:blipFill>
              <a:ln w="25400">
                <a:noFill/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2616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6BA20-A361-3C05-143B-C8CE151FF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21725-4BE3-C192-FA3E-5644D4577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11.5.2 </a:t>
            </a:r>
            <a:r>
              <a:rPr lang="ko-KR" altLang="en-US" dirty="0"/>
              <a:t>벡터 삼중곱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C61E0CB-199E-E7E3-A249-C0AD40B728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벡터 </a:t>
                </a:r>
                <a:r>
                  <a:rPr lang="ko-KR" altLang="en-US" dirty="0" err="1"/>
                  <a:t>삼중곱으로</a:t>
                </a:r>
                <a:r>
                  <a:rPr lang="ko-KR" altLang="en-US" dirty="0"/>
                  <a:t> 만들어진 벡터의 결과</a:t>
                </a:r>
                <a:br>
                  <a:rPr lang="en-US" altLang="ko-KR" dirty="0"/>
                </a:br>
                <a:r>
                  <a:rPr lang="ko-KR" altLang="en-US" dirty="0"/>
                  <a:t>→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ko-KR" altLang="en-US" dirty="0"/>
                  <a:t> 와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가 만드는 평면의 벡터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pPr lvl="1"/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C61E0CB-199E-E7E3-A249-C0AD40B728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9E2B76-0FB1-970B-3226-5352DFC0F7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75AEE80-9DFC-33DE-90E9-1DA337318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36" y="2276872"/>
            <a:ext cx="7734192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7060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BE628-FCD1-6B7B-C9A3-00CCB7469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17F19-E3C1-ED20-F9E1-F9676A3E7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11.5.2 </a:t>
            </a:r>
            <a:r>
              <a:rPr lang="ko-KR" altLang="en-US" dirty="0"/>
              <a:t>벡터 삼중곱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5727361-B449-C7B3-2159-7AD9247825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sz="2400" dirty="0"/>
                  <a:t>2</a:t>
                </a:r>
                <a:r>
                  <a:rPr lang="ko-KR" altLang="en-US" sz="2400" dirty="0"/>
                  <a:t>차원 공간 응용</a:t>
                </a:r>
                <a:endParaRPr lang="en-US" altLang="ko-KR" sz="2400" dirty="0"/>
              </a:p>
              <a:p>
                <a:pPr lvl="1"/>
                <a:r>
                  <a:rPr lang="ko-KR" altLang="en-US" sz="2000" dirty="0"/>
                  <a:t>벡터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ko-KR" altLang="en-US" sz="2000" dirty="0"/>
                  <a:t>  와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 altLang="ko-KR" sz="2000" dirty="0"/>
                  <a:t>  </a:t>
                </a:r>
                <a:r>
                  <a:rPr lang="ko-KR" altLang="en-US" sz="2000" dirty="0"/>
                  <a:t>가 주어질 때 → </a:t>
                </a:r>
                <a:r>
                  <a:rPr lang="en-US" altLang="ko-KR" sz="2000" dirty="0"/>
                  <a:t>u, v </a:t>
                </a:r>
                <a:r>
                  <a:rPr lang="ko-KR" altLang="en-US" sz="2000" dirty="0"/>
                  <a:t>평면에서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ko-KR" altLang="en-US" sz="2000" dirty="0"/>
                  <a:t> 와 직교 벡터</a:t>
                </a:r>
                <a:r>
                  <a:rPr lang="en-US" altLang="ko-KR" sz="2000" dirty="0"/>
                  <a:t>(</a:t>
                </a:r>
                <a:r>
                  <a:rPr lang="ko-KR" altLang="en-US" sz="2000" dirty="0"/>
                  <a:t>예각</a:t>
                </a:r>
                <a:r>
                  <a:rPr lang="en-US" altLang="ko-KR" sz="2000" dirty="0"/>
                  <a:t>)</a:t>
                </a:r>
                <a:endParaRPr lang="en-US" altLang="ko-KR" sz="2400" dirty="0"/>
              </a:p>
              <a:p>
                <a:pPr lvl="1"/>
                <a:endParaRPr lang="ko-KR" altLang="en-US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5727361-B449-C7B3-2159-7AD9247825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6" t="-8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BE7ECB-A95B-6107-B483-F3BB509DA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AE3158-394B-4911-51D9-9859C9063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924944"/>
            <a:ext cx="5758700" cy="24982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28A1F8-07A3-AF13-0015-07BB5F51CB5D}"/>
                  </a:ext>
                </a:extLst>
              </p:cNvPr>
              <p:cNvSpPr txBox="1"/>
              <p:nvPr/>
            </p:nvSpPr>
            <p:spPr>
              <a:xfrm>
                <a:off x="1115616" y="1823486"/>
                <a:ext cx="2520280" cy="523220"/>
              </a:xfrm>
              <a:prstGeom prst="rect">
                <a:avLst/>
              </a:prstGeom>
              <a:noFill/>
              <a:ln w="254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8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28A1F8-07A3-AF13-0015-07BB5F51C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1823486"/>
                <a:ext cx="252028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5400"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64729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FD6D8-B838-F21C-C8F5-72A38EB73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E8AF3-89CF-5127-1117-1DCD1965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11.6 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41A1B3-FAAE-70E1-CE34-7E737813E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외적</a:t>
            </a:r>
            <a:r>
              <a:rPr lang="en-US" altLang="ko-KR" dirty="0"/>
              <a:t>: 3</a:t>
            </a:r>
            <a:r>
              <a:rPr lang="ko-KR" altLang="en-US" dirty="0"/>
              <a:t>차원 공간만 사용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법선 벡터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로드리게스 회전 공식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라그랑주 공식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삼중곱 연산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032CD9-F788-B3A7-8D7F-D680D557CA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07439151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buNone/>
          <a:defRPr sz="1400" b="1" dirty="0">
            <a:solidFill>
              <a:srgbClr val="6F008A"/>
            </a:solidFill>
            <a:effectLst/>
            <a:latin typeface="D2Coding" panose="020B0609020101020101" pitchFamily="49" charset="-127"/>
            <a:ea typeface="D2Coding" panose="020B0609020101020101" pitchFamily="49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7694</TotalTime>
  <Words>2967</Words>
  <Application>Microsoft Office PowerPoint</Application>
  <PresentationFormat>화면 슬라이드 쇼(4:3)</PresentationFormat>
  <Paragraphs>665</Paragraphs>
  <Slides>58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9" baseType="lpstr">
      <vt:lpstr>Bitstream Vera Sans Mono</vt:lpstr>
      <vt:lpstr>나눔바른고딕</vt:lpstr>
      <vt:lpstr>D2Coding</vt:lpstr>
      <vt:lpstr>Arial</vt:lpstr>
      <vt:lpstr>Cambria Math</vt:lpstr>
      <vt:lpstr>Wingdings</vt:lpstr>
      <vt:lpstr>굴림</vt:lpstr>
      <vt:lpstr>Times New Roman</vt:lpstr>
      <vt:lpstr>가을체</vt:lpstr>
      <vt:lpstr>HY견고딕</vt:lpstr>
      <vt:lpstr>기본 디자인</vt:lpstr>
      <vt:lpstr>10. 3차원 공간</vt:lpstr>
      <vt:lpstr>10.1 3차원 공간의 설계</vt:lpstr>
      <vt:lpstr>10.1 3차원 공간의 설계</vt:lpstr>
      <vt:lpstr>10.2 삼차원 공간의 트랜스 폼</vt:lpstr>
      <vt:lpstr>10.2.1 오일러 각</vt:lpstr>
      <vt:lpstr>10.2.1 오일러 각</vt:lpstr>
      <vt:lpstr>10.2.1 오일러 각</vt:lpstr>
      <vt:lpstr>10.2.2 회전 행렬의 유도</vt:lpstr>
      <vt:lpstr>10.2.2 회전 행렬의 유도</vt:lpstr>
      <vt:lpstr>10.2.3 3차원 모델링 행렬</vt:lpstr>
      <vt:lpstr>10.3 카메라 공간</vt:lpstr>
      <vt:lpstr>10.3 카메라 공간</vt:lpstr>
      <vt:lpstr>10.3 카메라 공간</vt:lpstr>
      <vt:lpstr>10.3 카메라 공간</vt:lpstr>
      <vt:lpstr>10.3 카메라 공간</vt:lpstr>
      <vt:lpstr>10-1 처음 그려보는 3차원 공간</vt:lpstr>
      <vt:lpstr>10.4 오일러 각의 특징</vt:lpstr>
      <vt:lpstr>10.4.1 짐벌락 현상</vt:lpstr>
      <vt:lpstr>10.4.1 짐벌락 현상</vt:lpstr>
      <vt:lpstr>10-2 짐벌락 현상의 체험</vt:lpstr>
      <vt:lpstr>10.4.2 회전 보간의 계산</vt:lpstr>
      <vt:lpstr>10.5 정리</vt:lpstr>
      <vt:lpstr>11. 외적</vt:lpstr>
      <vt:lpstr>11.1 벡터의 외적</vt:lpstr>
      <vt:lpstr>11.1 벡터의 외적</vt:lpstr>
      <vt:lpstr>11.1 벡터의 외적</vt:lpstr>
      <vt:lpstr>11.1 벡터의 외적</vt:lpstr>
      <vt:lpstr>11.1 벡터의 외적</vt:lpstr>
      <vt:lpstr>11.1.1 평행성 판별</vt:lpstr>
      <vt:lpstr>11.1.1 평행성 판별</vt:lpstr>
      <vt:lpstr>11.1.2 법선 벡터</vt:lpstr>
      <vt:lpstr>11.1.2 법선 벡터</vt:lpstr>
      <vt:lpstr>11.1.3 좌우 방향 판별</vt:lpstr>
      <vt:lpstr>11.1.3 좌우 방향 판별</vt:lpstr>
      <vt:lpstr>11.2 벡터로부터 회전 행렬 생성</vt:lpstr>
      <vt:lpstr>11.2 벡터로부터 회전 행렬 생성</vt:lpstr>
      <vt:lpstr>11.2 벡터로부터 회전 행렬 생성</vt:lpstr>
      <vt:lpstr>11.2 벡터로부터 회전 행렬 생성</vt:lpstr>
      <vt:lpstr>실습 11-1 항상 물체를 바라보는 카메라의 구현</vt:lpstr>
      <vt:lpstr>11.3 백페이스 컬링</vt:lpstr>
      <vt:lpstr>11.3 백페이스 컬링</vt:lpstr>
      <vt:lpstr>11.3 백페이스 컬링</vt:lpstr>
      <vt:lpstr>실습11-2 보이지 않는 뒷면 그리기를 건너뛰기</vt:lpstr>
      <vt:lpstr>11.4 로드리게스 회전 공식</vt:lpstr>
      <vt:lpstr>11.4 로드리게스 회전 공식</vt:lpstr>
      <vt:lpstr>11.4 로드리게스 회전 공식</vt:lpstr>
      <vt:lpstr>11.4 로드리게스 회전 공식</vt:lpstr>
      <vt:lpstr>11.4 로드리게스 회전 공식</vt:lpstr>
      <vt:lpstr>실습 11-3 3차원 공간에서의 자유로운 회전</vt:lpstr>
      <vt:lpstr>11.5 삼중곱</vt:lpstr>
      <vt:lpstr>11.5.1 스칼라 삼중곱</vt:lpstr>
      <vt:lpstr>11.5.1 스칼라 삼중곱</vt:lpstr>
      <vt:lpstr>11.5.1 스칼라 삼중곱</vt:lpstr>
      <vt:lpstr>11.5.1 스칼라 삼중곱</vt:lpstr>
      <vt:lpstr>11.5.2 벡터 삼중곱</vt:lpstr>
      <vt:lpstr>11.5.2 벡터 삼중곱</vt:lpstr>
      <vt:lpstr>11.5.2 벡터 삼중곱</vt:lpstr>
      <vt:lpstr>11.6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270</cp:revision>
  <dcterms:created xsi:type="dcterms:W3CDTF">2003-11-30T16:03:20Z</dcterms:created>
  <dcterms:modified xsi:type="dcterms:W3CDTF">2026-04-30T22:46:29Z</dcterms:modified>
</cp:coreProperties>
</file>