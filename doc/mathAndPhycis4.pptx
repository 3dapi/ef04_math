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7"/>
  </p:notesMasterIdLst>
  <p:sldIdLst>
    <p:sldId id="454" r:id="rId2"/>
    <p:sldId id="455" r:id="rId3"/>
    <p:sldId id="467" r:id="rId4"/>
    <p:sldId id="468" r:id="rId5"/>
    <p:sldId id="469" r:id="rId6"/>
    <p:sldId id="470" r:id="rId7"/>
    <p:sldId id="471" r:id="rId8"/>
    <p:sldId id="481" r:id="rId9"/>
    <p:sldId id="472" r:id="rId10"/>
    <p:sldId id="473" r:id="rId11"/>
    <p:sldId id="482" r:id="rId12"/>
    <p:sldId id="483" r:id="rId13"/>
    <p:sldId id="474" r:id="rId14"/>
    <p:sldId id="456" r:id="rId15"/>
    <p:sldId id="475" r:id="rId16"/>
    <p:sldId id="457" r:id="rId17"/>
    <p:sldId id="458" r:id="rId18"/>
    <p:sldId id="476" r:id="rId19"/>
    <p:sldId id="477" r:id="rId20"/>
    <p:sldId id="484" r:id="rId21"/>
    <p:sldId id="485" r:id="rId22"/>
    <p:sldId id="478" r:id="rId23"/>
    <p:sldId id="486" r:id="rId24"/>
    <p:sldId id="460" r:id="rId25"/>
    <p:sldId id="459" r:id="rId26"/>
    <p:sldId id="479" r:id="rId27"/>
    <p:sldId id="480" r:id="rId28"/>
    <p:sldId id="487" r:id="rId29"/>
    <p:sldId id="488" r:id="rId30"/>
    <p:sldId id="461" r:id="rId31"/>
    <p:sldId id="463" r:id="rId32"/>
    <p:sldId id="462" r:id="rId33"/>
    <p:sldId id="464" r:id="rId34"/>
    <p:sldId id="465" r:id="rId35"/>
    <p:sldId id="466" r:id="rId36"/>
    <p:sldId id="489" r:id="rId37"/>
    <p:sldId id="490" r:id="rId38"/>
    <p:sldId id="505" r:id="rId39"/>
    <p:sldId id="506" r:id="rId40"/>
    <p:sldId id="507" r:id="rId41"/>
    <p:sldId id="508" r:id="rId42"/>
    <p:sldId id="509" r:id="rId43"/>
    <p:sldId id="510" r:id="rId44"/>
    <p:sldId id="491" r:id="rId45"/>
    <p:sldId id="511" r:id="rId46"/>
    <p:sldId id="492" r:id="rId47"/>
    <p:sldId id="512" r:id="rId48"/>
    <p:sldId id="513" r:id="rId49"/>
    <p:sldId id="516" r:id="rId50"/>
    <p:sldId id="493" r:id="rId51"/>
    <p:sldId id="514" r:id="rId52"/>
    <p:sldId id="517" r:id="rId53"/>
    <p:sldId id="515" r:id="rId54"/>
    <p:sldId id="495" r:id="rId55"/>
    <p:sldId id="496" r:id="rId56"/>
    <p:sldId id="518" r:id="rId57"/>
    <p:sldId id="497" r:id="rId58"/>
    <p:sldId id="519" r:id="rId59"/>
    <p:sldId id="498" r:id="rId60"/>
    <p:sldId id="499" r:id="rId61"/>
    <p:sldId id="500" r:id="rId62"/>
    <p:sldId id="520" r:id="rId63"/>
    <p:sldId id="521" r:id="rId64"/>
    <p:sldId id="522" r:id="rId65"/>
    <p:sldId id="502" r:id="rId66"/>
    <p:sldId id="523" r:id="rId67"/>
    <p:sldId id="524" r:id="rId68"/>
    <p:sldId id="526" r:id="rId69"/>
    <p:sldId id="527" r:id="rId70"/>
    <p:sldId id="528" r:id="rId71"/>
    <p:sldId id="530" r:id="rId72"/>
    <p:sldId id="529" r:id="rId73"/>
    <p:sldId id="531" r:id="rId74"/>
    <p:sldId id="525" r:id="rId75"/>
    <p:sldId id="504" r:id="rId76"/>
  </p:sldIdLst>
  <p:sldSz cx="9144000" cy="6858000" type="screen4x3"/>
  <p:notesSz cx="6858000" cy="9144000"/>
  <p:embeddedFontLst>
    <p:embeddedFont>
      <p:font typeface="D2Coding" panose="020B0600000101010101" charset="-127"/>
      <p:regular r:id="rId78"/>
      <p:bold r:id="rId79"/>
    </p:embeddedFont>
    <p:embeddedFont>
      <p:font typeface="나눔바른고딕" panose="020B0600000101010101" charset="-127"/>
      <p:regular r:id="rId80"/>
      <p:bold r:id="rId81"/>
    </p:embeddedFont>
    <p:embeddedFont>
      <p:font typeface="Bitstream Vera Sans Mono" panose="020B0609030804020204" pitchFamily="49" charset="-127"/>
      <p:regular r:id="rId82"/>
    </p:embeddedFont>
    <p:embeddedFont>
      <p:font typeface="Cambria Math" panose="02040503050406030204" pitchFamily="18" charset="0"/>
      <p:regular r:id="rId83"/>
    </p:embeddedFont>
    <p:embeddedFont>
      <p:font typeface="HY견고딕" panose="02030600000101010101" pitchFamily="18" charset="-127"/>
      <p:regular r:id="rId84"/>
    </p:embeddedFont>
    <p:embeddedFont>
      <p:font typeface="가을체" panose="02030600000101010101" pitchFamily="18" charset="-127"/>
      <p:regular r:id="rId8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008000"/>
    <a:srgbClr val="CC0000"/>
    <a:srgbClr val="009900"/>
    <a:srgbClr val="FF00FF"/>
    <a:srgbClr val="FF9900"/>
    <a:srgbClr val="FF0000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 autoAdjust="0"/>
    <p:restoredTop sz="94582" autoAdjust="0"/>
  </p:normalViewPr>
  <p:slideViewPr>
    <p:cSldViewPr>
      <p:cViewPr varScale="1">
        <p:scale>
          <a:sx n="126" d="100"/>
          <a:sy n="126" d="100"/>
        </p:scale>
        <p:origin x="171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29.png"/><Relationship Id="rId3" Type="http://schemas.openxmlformats.org/officeDocument/2006/relationships/image" Target="../media/image123.png"/><Relationship Id="rId7" Type="http://schemas.openxmlformats.org/officeDocument/2006/relationships/image" Target="../media/image125.png"/><Relationship Id="rId1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4.png"/><Relationship Id="rId4" Type="http://schemas.openxmlformats.org/officeDocument/2006/relationships/image" Target="../media/image1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E4E74-A08A-3A8C-4DF0-2CD0F049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B010465-670E-74BD-2F82-6F9FCB4FA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12. </a:t>
            </a:r>
            <a:r>
              <a:rPr lang="ko-KR" altLang="en-US" dirty="0"/>
              <a:t>원근 투영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0E4878B0-C1F7-77CA-FFC6-0132BA000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화면에 현실감을 부여하는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0E596F-52EC-4A7A-F14A-AECB0B748B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832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9CC99-557E-9A6D-5A46-BF0BF567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98A9A-31A7-F3EC-E170-7EF64D7B5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투시 원근법</a:t>
            </a:r>
            <a:endParaRPr lang="en-US" altLang="ko-KR" sz="2400" dirty="0"/>
          </a:p>
          <a:p>
            <a:pPr lvl="1"/>
            <a:r>
              <a:rPr lang="en-US" altLang="ko-KR" sz="2000" dirty="0"/>
              <a:t>3</a:t>
            </a:r>
            <a:r>
              <a:rPr lang="ko-KR" altLang="en-US" sz="2000" dirty="0"/>
              <a:t>차원 공간 → </a:t>
            </a:r>
            <a:r>
              <a:rPr lang="en-US" altLang="ko-KR" sz="2000" dirty="0"/>
              <a:t>2</a:t>
            </a:r>
            <a:r>
              <a:rPr lang="ko-KR" altLang="en-US" sz="2000" dirty="0"/>
              <a:t>차원 화면으로 표현하는 방법 </a:t>
            </a:r>
          </a:p>
          <a:p>
            <a:pPr lvl="1"/>
            <a:r>
              <a:rPr lang="ko-KR" altLang="en-US" sz="2000" dirty="0"/>
              <a:t>거리</a:t>
            </a:r>
            <a:r>
              <a:rPr lang="en-US" altLang="ko-KR" sz="2000" dirty="0"/>
              <a:t>(</a:t>
            </a:r>
            <a:r>
              <a:rPr lang="ko-KR" altLang="en-US" sz="2000" dirty="0"/>
              <a:t>깊이</a:t>
            </a:r>
            <a:r>
              <a:rPr lang="en-US" altLang="ko-KR" sz="2000" dirty="0"/>
              <a:t>)</a:t>
            </a:r>
            <a:r>
              <a:rPr lang="ko-KR" altLang="en-US" sz="2000" dirty="0"/>
              <a:t>에 따라 크기 변화 발생 </a:t>
            </a:r>
          </a:p>
          <a:p>
            <a:pPr lvl="1"/>
            <a:r>
              <a:rPr lang="ko-KR" altLang="en-US" sz="2000" dirty="0"/>
              <a:t>가까울수록 크게</a:t>
            </a:r>
            <a:r>
              <a:rPr lang="en-US" altLang="ko-KR" sz="2000" dirty="0"/>
              <a:t>, </a:t>
            </a:r>
            <a:r>
              <a:rPr lang="ko-KR" altLang="en-US" sz="2000" dirty="0"/>
              <a:t>멀수록 작게 보임 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직교 투영 </a:t>
            </a:r>
            <a:r>
              <a:rPr lang="en-US" altLang="ko-KR" sz="2400" dirty="0"/>
              <a:t>(Orthographic)</a:t>
            </a:r>
            <a:r>
              <a:rPr lang="ko-KR" altLang="en-US" sz="2400" dirty="0"/>
              <a:t> </a:t>
            </a:r>
          </a:p>
          <a:p>
            <a:pPr lvl="1"/>
            <a:r>
              <a:rPr lang="ko-KR" altLang="en-US" sz="2000" dirty="0"/>
              <a:t>크기 변화 없음 </a:t>
            </a:r>
          </a:p>
          <a:p>
            <a:pPr lvl="1"/>
            <a:r>
              <a:rPr lang="ko-KR" altLang="en-US" sz="2000" dirty="0"/>
              <a:t>평행선 유지 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원근 투영 </a:t>
            </a:r>
            <a:r>
              <a:rPr lang="en-US" altLang="ko-KR" sz="2400" dirty="0"/>
              <a:t>(Perspective)</a:t>
            </a:r>
            <a:r>
              <a:rPr lang="ko-KR" altLang="en-US" sz="2400" dirty="0"/>
              <a:t> </a:t>
            </a:r>
          </a:p>
          <a:p>
            <a:pPr lvl="1"/>
            <a:r>
              <a:rPr lang="ko-KR" altLang="en-US" sz="2000" dirty="0"/>
              <a:t>시점 기준 </a:t>
            </a:r>
            <a:r>
              <a:rPr lang="en-US" altLang="ko-KR" sz="2000" dirty="0"/>
              <a:t>3</a:t>
            </a:r>
            <a:r>
              <a:rPr lang="ko-KR" altLang="en-US" sz="2000" dirty="0"/>
              <a:t>차원 점을</a:t>
            </a:r>
            <a:br>
              <a:rPr lang="en-US" altLang="ko-KR" sz="2000" dirty="0"/>
            </a:br>
            <a:r>
              <a:rPr lang="ko-KR" altLang="en-US" sz="2000" dirty="0"/>
              <a:t>깊이</a:t>
            </a:r>
            <a:r>
              <a:rPr lang="en-US" altLang="ko-KR" sz="2000" dirty="0"/>
              <a:t>(z)</a:t>
            </a:r>
            <a:r>
              <a:rPr lang="ko-KR" altLang="en-US" sz="2000" dirty="0"/>
              <a:t>에 따라 축소하여 </a:t>
            </a:r>
            <a:r>
              <a:rPr lang="en-US" altLang="ko-KR" sz="2000" dirty="0"/>
              <a:t>2</a:t>
            </a:r>
            <a:r>
              <a:rPr lang="ko-KR" altLang="en-US" sz="2000" dirty="0"/>
              <a:t>차원 평면에 사상하는 변환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화각</a:t>
            </a:r>
            <a:r>
              <a:rPr lang="ko-KR" altLang="en-US" sz="2400" dirty="0"/>
              <a:t> </a:t>
            </a:r>
            <a:r>
              <a:rPr lang="en-US" altLang="ko-KR" sz="2400" dirty="0"/>
              <a:t>(Field of View, FOV)</a:t>
            </a:r>
          </a:p>
          <a:p>
            <a:pPr lvl="1"/>
            <a:r>
              <a:rPr lang="ko-KR" altLang="en-US" sz="2000" dirty="0"/>
              <a:t>카메라가 한 번에 볼 수 있는 시야의 각도</a:t>
            </a:r>
          </a:p>
          <a:p>
            <a:pPr lvl="1"/>
            <a:r>
              <a:rPr lang="ko-KR" altLang="en-US" sz="2000" dirty="0"/>
              <a:t>값이 클수록 넓게 보이고</a:t>
            </a:r>
            <a:r>
              <a:rPr lang="en-US" altLang="ko-KR" sz="2000" dirty="0"/>
              <a:t>, </a:t>
            </a:r>
            <a:r>
              <a:rPr lang="ko-KR" altLang="en-US" sz="2000" dirty="0"/>
              <a:t>작을수록 좁게 보임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73CDEF-1CA8-35DA-FB51-9911784059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6227BF-8E1A-2B6D-4401-F0A213BC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88" y="1412776"/>
            <a:ext cx="4248472" cy="31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6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957D-1850-F5FE-3CB2-FFD212FC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D2315-4738-2E52-2F52-7D7592CE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57AF9-F81C-785B-5EA9-25805925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투영 평면</a:t>
            </a:r>
            <a:endParaRPr lang="en-US" altLang="ko-KR" dirty="0"/>
          </a:p>
          <a:p>
            <a:pPr lvl="1"/>
            <a:r>
              <a:rPr lang="en-US" altLang="ko-KR" dirty="0"/>
              <a:t>3D </a:t>
            </a:r>
            <a:r>
              <a:rPr lang="ko-KR" altLang="en-US" dirty="0"/>
              <a:t>공간의 점을 투영해서</a:t>
            </a:r>
            <a:br>
              <a:rPr lang="en-US" altLang="ko-KR" dirty="0"/>
            </a:br>
            <a:r>
              <a:rPr lang="ko-KR" altLang="en-US" dirty="0"/>
              <a:t>그려지는 카메라 앞의</a:t>
            </a:r>
            <a:br>
              <a:rPr lang="en-US" altLang="ko-KR" dirty="0"/>
            </a:br>
            <a:r>
              <a:rPr lang="ko-KR" altLang="en-US" dirty="0"/>
              <a:t>가상 화면</a:t>
            </a:r>
            <a:endParaRPr lang="en-US" altLang="ko-KR" dirty="0"/>
          </a:p>
          <a:p>
            <a:pPr lvl="1"/>
            <a:r>
              <a:rPr lang="ko-KR" altLang="en-US" dirty="0"/>
              <a:t>보통 </a:t>
            </a:r>
            <a:r>
              <a:rPr lang="en-US" altLang="ko-KR" dirty="0"/>
              <a:t>Near Plane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초점 거리 </a:t>
            </a:r>
            <a:r>
              <a:rPr lang="en-US" altLang="ko-KR" dirty="0"/>
              <a:t>(Focal Length)</a:t>
            </a:r>
          </a:p>
          <a:p>
            <a:pPr lvl="1"/>
            <a:r>
              <a:rPr lang="ko-KR" altLang="en-US" dirty="0"/>
              <a:t>카메라에서 투영 평면까지 거리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측면에서 바라본</a:t>
            </a:r>
            <a:br>
              <a:rPr lang="en-US" altLang="ko-KR" dirty="0"/>
            </a:br>
            <a:r>
              <a:rPr lang="ko-KR" altLang="en-US" dirty="0"/>
              <a:t>투영 공간과 투영 평면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10F229-F7FA-E27C-6B02-28A103708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3C7F45-C0AF-3EA6-95BB-D0C670C6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603490"/>
            <a:ext cx="3834242" cy="28094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B627ED-838E-F061-8261-BA2288FB6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531833"/>
            <a:ext cx="3672657" cy="28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8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B1B9-3D0B-DD33-EF91-1A3F4C86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8F341-57C9-9CBC-5439-4D53639E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DF882-90C0-B719-E45D-CCC4E2FBE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NDC </a:t>
            </a:r>
            <a:r>
              <a:rPr lang="ko-KR" altLang="en-US" sz="2400" dirty="0"/>
              <a:t>영역 </a:t>
            </a:r>
            <a:r>
              <a:rPr lang="en-US" altLang="ko-KR" sz="2400" dirty="0"/>
              <a:t>(Normalized Device Coordinates)</a:t>
            </a:r>
          </a:p>
          <a:p>
            <a:pPr lvl="1"/>
            <a:r>
              <a:rPr lang="ko-KR" altLang="en-US" sz="2000" dirty="0"/>
              <a:t>투영 변환 </a:t>
            </a:r>
            <a:r>
              <a:rPr lang="en-US" altLang="ko-KR" sz="2000" dirty="0"/>
              <a:t>+ Perspective Divide </a:t>
            </a:r>
            <a:r>
              <a:rPr lang="ko-KR" altLang="en-US" sz="2000" dirty="0"/>
              <a:t>이후의 좌표 공간 </a:t>
            </a:r>
          </a:p>
          <a:p>
            <a:pPr lvl="1"/>
            <a:r>
              <a:rPr lang="ko-KR" altLang="en-US" sz="2000" dirty="0"/>
              <a:t>화면 매핑 전의 정규화 좌표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좌표 범위</a:t>
            </a:r>
          </a:p>
          <a:p>
            <a:pPr lvl="1"/>
            <a:r>
              <a:rPr lang="en-US" altLang="ko-KR" sz="2000" b="0" dirty="0">
                <a:latin typeface="D2Coding" panose="020B0609020101020101" pitchFamily="49" charset="-127"/>
                <a:ea typeface="D2Coding" panose="020B0609020101020101" pitchFamily="49" charset="-127"/>
              </a:rPr>
              <a:t>x∈[-1, +1], y∈[-1, +1]</a:t>
            </a:r>
          </a:p>
          <a:p>
            <a:pPr lvl="1"/>
            <a:r>
              <a:rPr lang="en-US" altLang="ko-KR" sz="2000" b="0" dirty="0">
                <a:latin typeface="D2Coding" panose="020B0609020101020101" pitchFamily="49" charset="-127"/>
                <a:ea typeface="D2Coding" panose="020B0609020101020101" pitchFamily="49" charset="-127"/>
              </a:rPr>
              <a:t>z∈[ 0, +1] (DirectX)</a:t>
            </a:r>
          </a:p>
          <a:p>
            <a:pPr lvl="1"/>
            <a:r>
              <a:rPr lang="en-US" altLang="ko-KR" sz="2000" b="0" dirty="0">
                <a:latin typeface="D2Coding" panose="020B0609020101020101" pitchFamily="49" charset="-127"/>
                <a:ea typeface="D2Coding" panose="020B0609020101020101" pitchFamily="49" charset="-127"/>
              </a:rPr>
              <a:t>z∈[-1, +1] (OpenGL)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47AFE7-7B8F-E662-84F0-63B1D2E791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C97569-6098-A705-01D4-4607C092A3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510"/>
          <a:stretch>
            <a:fillRect/>
          </a:stretch>
        </p:blipFill>
        <p:spPr>
          <a:xfrm>
            <a:off x="899591" y="3789040"/>
            <a:ext cx="4400475" cy="27313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20552E-27D4-1D38-0A56-7D27798541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713" t="13889" r="2154" b="13889"/>
          <a:stretch>
            <a:fillRect/>
          </a:stretch>
        </p:blipFill>
        <p:spPr>
          <a:xfrm>
            <a:off x="5300066" y="2099124"/>
            <a:ext cx="3592414" cy="333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5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4F0E-C598-75B9-63AB-1C15A508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A8B81-424F-BE75-9186-A83B4881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EA966-03FE-C2E0-BB5C-42F0E1661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화각과</a:t>
            </a:r>
            <a:r>
              <a:rPr lang="ko-KR" altLang="en-US" dirty="0"/>
              <a:t> 초점 거리의 관계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88E57E-5607-4160-6158-EB916E933C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59459C-BB8C-3F43-CEE8-E3B53016E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873" y="844849"/>
            <a:ext cx="4193324" cy="32682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4B89BA-CE53-F940-53DF-C7D6A531368B}"/>
                  </a:ext>
                </a:extLst>
              </p:cNvPr>
              <p:cNvSpPr txBox="1"/>
              <p:nvPr/>
            </p:nvSpPr>
            <p:spPr>
              <a:xfrm>
                <a:off x="1043608" y="1844824"/>
                <a:ext cx="1944216" cy="9221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4B89BA-CE53-F940-53DF-C7D6A5313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844824"/>
                <a:ext cx="1944216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BB032E-306E-1ACA-E21D-F3D42DFBEFAD}"/>
                  </a:ext>
                </a:extLst>
              </p:cNvPr>
              <p:cNvSpPr txBox="1"/>
              <p:nvPr/>
            </p:nvSpPr>
            <p:spPr>
              <a:xfrm>
                <a:off x="1043608" y="2943892"/>
                <a:ext cx="3163887" cy="114710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BB032E-306E-1ACA-E21D-F3D42DFBE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943892"/>
                <a:ext cx="3163887" cy="1147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15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F5478-A68B-FF6D-C0ED-6DBB0BC4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49052-D586-2802-5FD7-6405764F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7C0D48-C1EF-2299-CFD5-56B15F77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유클리드 공간 </a:t>
            </a:r>
            <a:r>
              <a:rPr lang="en-US" altLang="ko-KR" dirty="0"/>
              <a:t>(Euclidean Space)</a:t>
            </a:r>
          </a:p>
          <a:p>
            <a:pPr lvl="1"/>
            <a:r>
              <a:rPr lang="ko-KR" altLang="en-US" dirty="0"/>
              <a:t>거리와 각도가 정의되는 공간</a:t>
            </a:r>
            <a:endParaRPr lang="en-US" altLang="ko-KR" dirty="0"/>
          </a:p>
          <a:p>
            <a:pPr lvl="1"/>
            <a:r>
              <a:rPr lang="ko-KR" altLang="en-US" dirty="0"/>
              <a:t>거리</a:t>
            </a:r>
            <a:r>
              <a:rPr lang="en-US" altLang="ko-KR" dirty="0"/>
              <a:t>·</a:t>
            </a:r>
            <a:r>
              <a:rPr lang="ko-KR" altLang="en-US" dirty="0"/>
              <a:t>각도 보존</a:t>
            </a:r>
            <a:r>
              <a:rPr lang="en-US" altLang="ko-KR" dirty="0"/>
              <a:t>, </a:t>
            </a:r>
            <a:r>
              <a:rPr lang="ko-KR" altLang="en-US" dirty="0"/>
              <a:t>직선 최단 경로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사영</a:t>
            </a:r>
            <a:r>
              <a:rPr lang="ko-KR" altLang="en-US" dirty="0"/>
              <a:t> 공간 </a:t>
            </a:r>
            <a:r>
              <a:rPr lang="en-US" altLang="ko-KR" dirty="0"/>
              <a:t>(Projective Space)</a:t>
            </a:r>
          </a:p>
          <a:p>
            <a:pPr lvl="1"/>
            <a:r>
              <a:rPr lang="ko-KR" altLang="en-US" dirty="0"/>
              <a:t>원근 투영을 표현하는 공간</a:t>
            </a:r>
            <a:br>
              <a:rPr lang="en-US" altLang="ko-KR" dirty="0"/>
            </a:br>
            <a:r>
              <a:rPr lang="ko-KR" altLang="en-US" dirty="0"/>
              <a:t>→ 원근 투영을 수학적으로 표현하는 공간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평행선이 한 점에서 만난다고 가정</a:t>
            </a:r>
          </a:p>
          <a:p>
            <a:pPr lvl="1"/>
            <a:r>
              <a:rPr lang="ko-KR" altLang="en-US" dirty="0"/>
              <a:t>길이</a:t>
            </a:r>
            <a:r>
              <a:rPr lang="en-US" altLang="ko-KR" dirty="0"/>
              <a:t>·</a:t>
            </a:r>
            <a:r>
              <a:rPr lang="ko-KR" altLang="en-US" dirty="0"/>
              <a:t>각도는 보존되지 않음</a:t>
            </a:r>
            <a:r>
              <a:rPr lang="en-US" altLang="ko-KR" dirty="0"/>
              <a:t>, </a:t>
            </a:r>
            <a:r>
              <a:rPr lang="ko-KR" altLang="en-US" dirty="0"/>
              <a:t>비율만 유지</a:t>
            </a:r>
            <a:endParaRPr lang="en-US" altLang="ko-KR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B26CEC-2770-35CE-9726-C510E8284A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63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4F15-AB23-8A09-3217-1B39BED6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26830-BD91-488C-1DAC-3331DC4EA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F475F4-1CE5-1E6D-C62A-BBC63BAB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투영의 진행 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F9787E-CC65-A45C-D3FC-765C9A4B5E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7B5102-4237-E997-F448-9994E9045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2"/>
          <a:stretch>
            <a:fillRect/>
          </a:stretch>
        </p:blipFill>
        <p:spPr>
          <a:xfrm>
            <a:off x="3563888" y="980728"/>
            <a:ext cx="4810516" cy="38549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C9F264-4A37-E035-3D01-BCFADE6652F5}"/>
                  </a:ext>
                </a:extLst>
              </p:cNvPr>
              <p:cNvSpPr txBox="1"/>
              <p:nvPr/>
            </p:nvSpPr>
            <p:spPr>
              <a:xfrm>
                <a:off x="827584" y="1848253"/>
                <a:ext cx="2938308" cy="51725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𝑣𝑖𝑒𝑤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C9F264-4A37-E035-3D01-BCFADE665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848253"/>
                <a:ext cx="2938308" cy="5172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1E6D43-67D2-DFBE-B210-BCBA33694E54}"/>
                  </a:ext>
                </a:extLst>
              </p:cNvPr>
              <p:cNvSpPr txBox="1"/>
              <p:nvPr/>
            </p:nvSpPr>
            <p:spPr>
              <a:xfrm>
                <a:off x="841604" y="2536470"/>
                <a:ext cx="2938308" cy="51725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𝑛𝑑𝑐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1E6D43-67D2-DFBE-B210-BCBA33694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04" y="2536470"/>
                <a:ext cx="2938308" cy="5172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48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FA66A-FE26-3BEA-790B-5E42F0D9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4422B-312B-6382-EBC5-13BA87CD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7B8B99-DD30-2E04-C2DE-C1666ADE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개의 닮은꼴 삼각형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D82516-C662-6629-7AD4-33D61DEBD9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9ADE97-D1C6-6A74-4C15-AB09364D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124744"/>
            <a:ext cx="6768554" cy="2675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1F2DD5-9528-2CBA-BC68-9D8856ACD737}"/>
                  </a:ext>
                </a:extLst>
              </p:cNvPr>
              <p:cNvSpPr txBox="1"/>
              <p:nvPr/>
            </p:nvSpPr>
            <p:spPr>
              <a:xfrm>
                <a:off x="827584" y="3796478"/>
                <a:ext cx="2448272" cy="49084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:−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1F2DD5-9528-2CBA-BC68-9D8856AC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796478"/>
                <a:ext cx="2448272" cy="490840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31CC0E-A762-245E-B296-053DC3D248D1}"/>
                  </a:ext>
                </a:extLst>
              </p:cNvPr>
              <p:cNvSpPr txBox="1"/>
              <p:nvPr/>
            </p:nvSpPr>
            <p:spPr>
              <a:xfrm>
                <a:off x="827584" y="4364560"/>
                <a:ext cx="2520280" cy="8640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31CC0E-A762-245E-B296-053DC3D2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364560"/>
                <a:ext cx="2520280" cy="8640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781380-72B4-42DA-CE8D-8F3F68F50D72}"/>
                  </a:ext>
                </a:extLst>
              </p:cNvPr>
              <p:cNvSpPr txBox="1"/>
              <p:nvPr/>
            </p:nvSpPr>
            <p:spPr>
              <a:xfrm>
                <a:off x="827584" y="5360962"/>
                <a:ext cx="2520280" cy="8540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781380-72B4-42DA-CE8D-8F3F68F50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360962"/>
                <a:ext cx="2520280" cy="854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7C8E83-B215-D370-C969-0AFB87D23C2A}"/>
                  </a:ext>
                </a:extLst>
              </p:cNvPr>
              <p:cNvSpPr txBox="1"/>
              <p:nvPr/>
            </p:nvSpPr>
            <p:spPr>
              <a:xfrm>
                <a:off x="4500043" y="3873224"/>
                <a:ext cx="2520281" cy="51725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𝑛𝑑𝑐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7C8E83-B215-D370-C969-0AFB87D23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43" y="3873224"/>
                <a:ext cx="2520281" cy="5172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A0A0B0-9A12-0C17-1660-B55491EC43DA}"/>
                  </a:ext>
                </a:extLst>
              </p:cNvPr>
              <p:cNvSpPr txBox="1"/>
              <p:nvPr/>
            </p:nvSpPr>
            <p:spPr>
              <a:xfrm>
                <a:off x="5148313" y="4420599"/>
                <a:ext cx="2520281" cy="9221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A0A0B0-9A12-0C17-1660-B55491EC4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313" y="4420599"/>
                <a:ext cx="2520281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6ADBF4-1AE2-D3FC-CF20-4AD1AEBB99B8}"/>
                  </a:ext>
                </a:extLst>
              </p:cNvPr>
              <p:cNvSpPr txBox="1"/>
              <p:nvPr/>
            </p:nvSpPr>
            <p:spPr>
              <a:xfrm>
                <a:off x="5148313" y="5366734"/>
                <a:ext cx="2064795" cy="8540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6ADBF4-1AE2-D3FC-CF20-4AD1AEBB9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313" y="5366734"/>
                <a:ext cx="2064795" cy="8540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81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37AC-AD3C-BA7B-F690-E11F51254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BA4BA-D3D7-DE8F-06E5-144DE435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BD6AA-E713-9A3C-011F-A1E7B91B8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NDC</a:t>
            </a:r>
            <a:r>
              <a:rPr lang="ko-KR" altLang="en-US" dirty="0"/>
              <a:t>에서 화면 공간으로의 변환</a:t>
            </a:r>
            <a:endParaRPr lang="en-US" altLang="ko-KR" dirty="0"/>
          </a:p>
          <a:p>
            <a:pPr lvl="1"/>
            <a:r>
              <a:rPr lang="en-US" altLang="ko-KR" dirty="0"/>
              <a:t>ex) NDC </a:t>
            </a:r>
            <a:r>
              <a:rPr lang="ko-KR" altLang="en-US" dirty="0"/>
              <a:t>→ </a:t>
            </a:r>
            <a:r>
              <a:rPr lang="en-US" altLang="ko-KR" dirty="0"/>
              <a:t>800 X 600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8EDA5A-F378-EE41-C563-B1E44934A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5551B5-AA13-342B-633A-E94ACF12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6" y="2348880"/>
            <a:ext cx="8588563" cy="327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8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286D-0D5E-792F-EFD8-56E86A03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B7F5C-C55E-D67B-94D6-A53B2D36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03133-6A5A-7E10-484F-1A6A8B5B4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종횡비를 고려하지 않고 그대로 확대하는 경우의 문제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종횡비</a:t>
            </a:r>
            <a:r>
              <a:rPr lang="en-US" altLang="ko-KR" dirty="0"/>
              <a:t>(Aspect ratio)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0CCB46-6342-4451-405A-E9C47F194B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DC1F59-ED8B-82A4-F996-1149B7B3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104" y="1293038"/>
            <a:ext cx="3669843" cy="21359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1D8947-717D-BFD9-BB40-82B667B657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12" b="3169"/>
          <a:stretch>
            <a:fillRect/>
          </a:stretch>
        </p:blipFill>
        <p:spPr>
          <a:xfrm>
            <a:off x="3042007" y="4365104"/>
            <a:ext cx="3660795" cy="2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7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7FD-B530-EFD3-B443-31648A3A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2C99F-C14C-21F2-3C9A-B64AFFD7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7D6D75-25E1-EB13-7E89-EC2D6C0B1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종횡비</a:t>
            </a:r>
            <a:r>
              <a:rPr lang="en-US" altLang="ko-KR" dirty="0"/>
              <a:t>(Aspect ratio)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21535A-4379-E8D4-BE17-4B186BCD46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383926-F0CD-E454-1100-B311DFDD625A}"/>
                  </a:ext>
                </a:extLst>
              </p:cNvPr>
              <p:cNvSpPr txBox="1"/>
              <p:nvPr/>
            </p:nvSpPr>
            <p:spPr>
              <a:xfrm>
                <a:off x="713664" y="1268760"/>
                <a:ext cx="3210264" cy="8540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𝑛𝑑𝑐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383926-F0CD-E454-1100-B311DFDD6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64" y="1268760"/>
                <a:ext cx="3210264" cy="854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D092ED-3A72-CC18-1E62-7A1BC11838D5}"/>
                  </a:ext>
                </a:extLst>
              </p:cNvPr>
              <p:cNvSpPr txBox="1"/>
              <p:nvPr/>
            </p:nvSpPr>
            <p:spPr>
              <a:xfrm>
                <a:off x="3779912" y="1268760"/>
                <a:ext cx="3180366" cy="8540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𝑛𝑑𝑐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D092ED-3A72-CC18-1E62-7A1BC1183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1268760"/>
                <a:ext cx="3180366" cy="854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68CDB3-2CFA-2044-FCBD-2F7CDBEFA5B7}"/>
                  </a:ext>
                </a:extLst>
              </p:cNvPr>
              <p:cNvSpPr txBox="1"/>
              <p:nvPr/>
            </p:nvSpPr>
            <p:spPr>
              <a:xfrm>
                <a:off x="713664" y="2276872"/>
                <a:ext cx="191412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𝑛𝑑𝑐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68CDB3-2CFA-2044-FCBD-2F7CDBEFA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64" y="2276872"/>
                <a:ext cx="1914120" cy="461665"/>
              </a:xfrm>
              <a:prstGeom prst="rect">
                <a:avLst/>
              </a:prstGeom>
              <a:blipFill>
                <a:blip r:embed="rId4"/>
                <a:stretch>
                  <a:fillRect l="-637" t="-17333" r="-15605" b="-5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09995D-F67C-7B7E-1585-D04DF32CF8E8}"/>
                  </a:ext>
                </a:extLst>
              </p:cNvPr>
              <p:cNvSpPr txBox="1"/>
              <p:nvPr/>
            </p:nvSpPr>
            <p:spPr>
              <a:xfrm>
                <a:off x="1425424" y="2728394"/>
                <a:ext cx="2498504" cy="166872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09995D-F67C-7B7E-1585-D04DF32CF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424" y="2728394"/>
                <a:ext cx="2498504" cy="1668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F95BFB-5169-D7D1-D1A9-99C2296E862F}"/>
                  </a:ext>
                </a:extLst>
              </p:cNvPr>
              <p:cNvSpPr txBox="1"/>
              <p:nvPr/>
            </p:nvSpPr>
            <p:spPr>
              <a:xfrm>
                <a:off x="3779912" y="3092519"/>
                <a:ext cx="1008112" cy="75110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F95BFB-5169-D7D1-D1A9-99C2296E8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092519"/>
                <a:ext cx="1008112" cy="751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D18B41-4144-7610-CFD2-AD582AF1C93A}"/>
                  </a:ext>
                </a:extLst>
              </p:cNvPr>
              <p:cNvSpPr txBox="1"/>
              <p:nvPr/>
            </p:nvSpPr>
            <p:spPr>
              <a:xfrm>
                <a:off x="1434456" y="4424569"/>
                <a:ext cx="2498504" cy="146982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D18B41-4144-7610-CFD2-AD582AF1C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456" y="4424569"/>
                <a:ext cx="2498504" cy="1469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503709-3D5A-647F-51C3-05E4B5E6C5AF}"/>
                  </a:ext>
                </a:extLst>
              </p:cNvPr>
              <p:cNvSpPr txBox="1"/>
              <p:nvPr/>
            </p:nvSpPr>
            <p:spPr>
              <a:xfrm>
                <a:off x="3428904" y="4568571"/>
                <a:ext cx="1008112" cy="106869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503709-3D5A-647F-51C3-05E4B5E6C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04" y="4568571"/>
                <a:ext cx="1008112" cy="10686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A26B87-7357-F31C-8B68-AB2E0B8CB682}"/>
                  </a:ext>
                </a:extLst>
              </p:cNvPr>
              <p:cNvSpPr txBox="1"/>
              <p:nvPr/>
            </p:nvSpPr>
            <p:spPr>
              <a:xfrm>
                <a:off x="4131632" y="4337770"/>
                <a:ext cx="2672616" cy="15302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A26B87-7357-F31C-8B68-AB2E0B8CB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632" y="4337770"/>
                <a:ext cx="2672616" cy="15302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93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94F7-2CBB-B6E5-F16B-C7644A70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270AD-CB9E-620B-EB17-BB58F7F8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12.1 </a:t>
            </a:r>
            <a:r>
              <a:rPr lang="ko-KR" altLang="en-US" dirty="0"/>
              <a:t>원근 투영 변환의 원리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0922E2D-AAC6-24A9-45A3-5F622F2FC7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클립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좌표</a:t>
                </a:r>
                <a:r>
                  <a:rPr lang="en-US" altLang="ko-KR" dirty="0"/>
                  <a:t>(Clip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Coordinate)</a:t>
                </a:r>
              </a:p>
              <a:p>
                <a:pPr lvl="1"/>
                <a:r>
                  <a:rPr lang="ko-KR" altLang="en-US" dirty="0"/>
                  <a:t>원근 투영 행렬 </a:t>
                </a:r>
                <a:r>
                  <a:rPr lang="en-US" altLang="ko-KR" dirty="0"/>
                  <a:t>P</a:t>
                </a:r>
                <a:r>
                  <a:rPr lang="ko-KR" altLang="en-US" dirty="0"/>
                  <a:t>로 변환되는 좌표계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클립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좌표</a:t>
                </a:r>
                <a:r>
                  <a:rPr lang="en-US" altLang="ko-KR" dirty="0"/>
                  <a:t>(Clip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Coordinate)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NDC</a:t>
                </a:r>
                <a:r>
                  <a:rPr lang="ko-KR" altLang="en-US" dirty="0"/>
                  <a:t> 좌표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마지막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로 나눔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0922E2D-AAC6-24A9-45A3-5F622F2FC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3F0E36-E6D9-B5EA-C0D8-4284CFF3E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91ED5E-329C-1921-81F0-78632368F037}"/>
                  </a:ext>
                </a:extLst>
              </p:cNvPr>
              <p:cNvSpPr txBox="1"/>
              <p:nvPr/>
            </p:nvSpPr>
            <p:spPr>
              <a:xfrm>
                <a:off x="899592" y="1844824"/>
                <a:ext cx="4752528" cy="9221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𝑐𝑙𝑖𝑝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 , 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91ED5E-329C-1921-81F0-78632368F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475252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7EBE4-8E80-E0A1-6369-AD36C3658FAC}"/>
                  </a:ext>
                </a:extLst>
              </p:cNvPr>
              <p:cNvSpPr txBox="1"/>
              <p:nvPr/>
            </p:nvSpPr>
            <p:spPr>
              <a:xfrm>
                <a:off x="899592" y="4653136"/>
                <a:ext cx="4752528" cy="9221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𝑛𝑑𝑐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 , </m:t>
                          </m:r>
                          <m:f>
                            <m:f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 , 1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7EBE4-8E80-E0A1-6369-AD36C3658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653136"/>
                <a:ext cx="475252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61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73D45-48C4-604D-3E4B-3B4DC971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40A1F-134D-90DE-A95C-9395FB1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12.2 </a:t>
            </a:r>
            <a:r>
              <a:rPr lang="ko-KR" altLang="en-US" dirty="0"/>
              <a:t>동차 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3B270-E21E-7DDC-5770-DE0EAABB1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사영</a:t>
            </a:r>
            <a:r>
              <a:rPr lang="ko-KR" altLang="en-US" dirty="0"/>
              <a:t> 공간 내에서 평행 이동하는 점에 따른 투영 결과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65AA5F-AA97-98F4-221A-9C9EC62192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EBCA2B-7D2D-7284-042F-B0329B1E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484784"/>
            <a:ext cx="5274815" cy="2664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87EFF3-A70A-8E22-223B-2A762639709F}"/>
                  </a:ext>
                </a:extLst>
              </p:cNvPr>
              <p:cNvSpPr txBox="1"/>
              <p:nvPr/>
            </p:nvSpPr>
            <p:spPr>
              <a:xfrm>
                <a:off x="2195736" y="4372661"/>
                <a:ext cx="1368152" cy="80528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87EFF3-A70A-8E22-223B-2A7626397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4372661"/>
                <a:ext cx="1368152" cy="805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44CEE5-8AAE-3F95-2EF3-65BA0DF26D88}"/>
                  </a:ext>
                </a:extLst>
              </p:cNvPr>
              <p:cNvSpPr txBox="1"/>
              <p:nvPr/>
            </p:nvSpPr>
            <p:spPr>
              <a:xfrm>
                <a:off x="3779912" y="4365104"/>
                <a:ext cx="1368152" cy="8224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44CEE5-8AAE-3F95-2EF3-65BA0DF2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365104"/>
                <a:ext cx="1368152" cy="822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232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35E6-6503-05F7-9FC8-F22CEB6D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4A88B-C284-01A9-BB1D-E9A2E695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12.2 </a:t>
            </a:r>
            <a:r>
              <a:rPr lang="ko-KR" altLang="en-US" dirty="0"/>
              <a:t>동차 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288707-30AD-F153-DA2D-2CA5664A4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NDC </a:t>
            </a:r>
            <a:r>
              <a:rPr lang="ko-KR" altLang="en-US" dirty="0"/>
              <a:t>좌표에서의 직선 방정식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동차 방정식</a:t>
            </a:r>
            <a:endParaRPr lang="en-US" altLang="ko-KR" dirty="0"/>
          </a:p>
          <a:p>
            <a:pPr lvl="1"/>
            <a:r>
              <a:rPr lang="ko-KR" altLang="en-US" dirty="0"/>
              <a:t>모든 항이 같은 차수로 이루어진 방정식</a:t>
            </a:r>
            <a:br>
              <a:rPr lang="en-US" altLang="ko-KR" dirty="0"/>
            </a:br>
            <a:r>
              <a:rPr lang="ko-KR" altLang="en-US" dirty="0"/>
              <a:t>→ 미지수에 대한 차수가 모두 동일</a:t>
            </a:r>
          </a:p>
          <a:p>
            <a:pPr lvl="1"/>
            <a:r>
              <a:rPr lang="ko-KR" altLang="en-US" dirty="0"/>
              <a:t>스케일을 곱해도 형태가 변하지 않음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B4714D-043A-5C2C-A508-56F1FC8C64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557CE1-244F-08F6-752A-9C1DA4F0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044" y="692150"/>
            <a:ext cx="3882404" cy="32409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E09029-BB8A-CF3D-82D4-0EC50810C2C0}"/>
                  </a:ext>
                </a:extLst>
              </p:cNvPr>
              <p:cNvSpPr txBox="1"/>
              <p:nvPr/>
            </p:nvSpPr>
            <p:spPr>
              <a:xfrm>
                <a:off x="648429" y="1412776"/>
                <a:ext cx="273630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E09029-BB8A-CF3D-82D4-0EC50810C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29" y="1412776"/>
                <a:ext cx="2736304" cy="461665"/>
              </a:xfrm>
              <a:prstGeom prst="rect">
                <a:avLst/>
              </a:prstGeom>
              <a:blipFill>
                <a:blip r:embed="rId3"/>
                <a:stretch>
                  <a:fillRect l="-668"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BFD91B-F2EF-B287-21D1-9CE25493AC2E}"/>
                  </a:ext>
                </a:extLst>
              </p:cNvPr>
              <p:cNvSpPr txBox="1"/>
              <p:nvPr/>
            </p:nvSpPr>
            <p:spPr>
              <a:xfrm>
                <a:off x="656088" y="1916832"/>
                <a:ext cx="2736304" cy="80528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BFD91B-F2EF-B287-21D1-9CE25493A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8" y="1916832"/>
                <a:ext cx="2736304" cy="8052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28099D-7567-18AB-C774-78E98EDEACAE}"/>
                  </a:ext>
                </a:extLst>
              </p:cNvPr>
              <p:cNvSpPr txBox="1"/>
              <p:nvPr/>
            </p:nvSpPr>
            <p:spPr>
              <a:xfrm>
                <a:off x="658886" y="2852936"/>
                <a:ext cx="3763071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sSup>
                      <m:sSupPr>
                        <m:ctrlPr>
                          <a:rPr lang="en-US" altLang="ko-KR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 + 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ko-K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28099D-7567-18AB-C774-78E98EDEA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86" y="2852936"/>
                <a:ext cx="376307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23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A6C6-9AAA-3403-A385-B7DF6083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62AB6-0CF0-FF2A-96D8-745FF238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12.2 </a:t>
            </a:r>
            <a:r>
              <a:rPr lang="ko-KR" altLang="en-US" dirty="0"/>
              <a:t>동차 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E2BFD-FBBD-ED74-92BB-04DB327D8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소실점 </a:t>
            </a:r>
            <a:r>
              <a:rPr lang="en-US" altLang="ko-KR" dirty="0"/>
              <a:t>(Vanishing Point)</a:t>
            </a:r>
          </a:p>
          <a:p>
            <a:pPr lvl="1"/>
            <a:r>
              <a:rPr lang="ko-KR" altLang="en-US" dirty="0"/>
              <a:t>평행한 직선들이 원근 투영에서 한 점으로 모여 보이는 점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차원 방향 정보가 </a:t>
            </a:r>
            <a:r>
              <a:rPr lang="en-US" altLang="ko-KR" dirty="0"/>
              <a:t>2</a:t>
            </a:r>
            <a:r>
              <a:rPr lang="ko-KR" altLang="en-US" dirty="0"/>
              <a:t>차원으로 투영되며 생김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 err="1"/>
              <a:t>미델하르니스의</a:t>
            </a:r>
            <a:r>
              <a:rPr lang="ko-KR" altLang="en-US" dirty="0"/>
              <a:t> 가로수길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4EEEE-0603-181E-5E3D-FE894728BC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Picture 2" descr="A group of palm trees next to a tree&#10;&#10;Description automatically generated">
            <a:extLst>
              <a:ext uri="{FF2B5EF4-FFF2-40B4-BE49-F238E27FC236}">
                <a16:creationId xmlns:a16="http://schemas.microsoft.com/office/drawing/2014/main" id="{D9D8556D-9B04-67BA-8A7C-CB869CF93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689" y="2946548"/>
            <a:ext cx="4929757" cy="365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5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91DC-1686-9255-24C8-62792100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D0D75-196A-1C11-FF81-5B809F58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12-1 </a:t>
            </a:r>
            <a:r>
              <a:rPr lang="ko-KR" altLang="en-US" dirty="0"/>
              <a:t>화면에 원근감 부여하기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2F12AA-C3B3-F6A1-2108-C69AD6B2D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원근 투영 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ECCD41-08B8-04C4-93F1-5A8E2397D9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826FC0-DDB7-CE87-3721-D819CACD42DC}"/>
                  </a:ext>
                </a:extLst>
              </p:cNvPr>
              <p:cNvSpPr txBox="1"/>
              <p:nvPr/>
            </p:nvSpPr>
            <p:spPr>
              <a:xfrm>
                <a:off x="539750" y="1268760"/>
                <a:ext cx="3168154" cy="183062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826FC0-DDB7-CE87-3721-D819CACD4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268760"/>
                <a:ext cx="3168154" cy="183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87859603-81C4-2C67-C5A6-88CF3C525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69" y="735090"/>
            <a:ext cx="3379831" cy="2897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B7A7DA-CF1B-CC58-6BEA-AAA3BA78B4E0}"/>
              </a:ext>
            </a:extLst>
          </p:cNvPr>
          <p:cNvSpPr txBox="1"/>
          <p:nvPr/>
        </p:nvSpPr>
        <p:spPr>
          <a:xfrm>
            <a:off x="107505" y="3804508"/>
            <a:ext cx="5112567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CameraObject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GetPerspectiveMatrix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ViewportSize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AspectRatio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Deg2Rad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0.5f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      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  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63D05-24E5-FFB5-22BA-E91EAE793F73}"/>
              </a:ext>
            </a:extLst>
          </p:cNvPr>
          <p:cNvSpPr txBox="1"/>
          <p:nvPr/>
        </p:nvSpPr>
        <p:spPr>
          <a:xfrm>
            <a:off x="5379569" y="3804508"/>
            <a:ext cx="3592546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클립 좌표를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NDC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좌표로 변경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무한 원점인 경우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약간 보정해준다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SMALL_NUMBER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28817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42F8-2363-054C-2A6E-8C3F0490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8B192-99B6-5842-4F93-06E56438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A262C-A375-70FB-A5E7-D557F0299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차원으로 확장된 </a:t>
            </a:r>
            <a:r>
              <a:rPr lang="en-US" altLang="ko-KR" dirty="0"/>
              <a:t>NDC </a:t>
            </a:r>
            <a:r>
              <a:rPr lang="ko-KR" altLang="en-US" dirty="0"/>
              <a:t>영역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644C75-D77E-F6EE-CBFF-D9AC04724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4CFDF0-E425-2130-7A6D-35500FA6B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336288"/>
            <a:ext cx="4032448" cy="418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38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AC27-CDD2-47C4-A6C6-1D04CDA6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FFCBD-5070-C1F5-1AE1-1C09457F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2DB38-E12A-F978-B9E8-81C19F97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근 평면 </a:t>
            </a:r>
            <a:r>
              <a:rPr lang="en-US" altLang="ko-KR" sz="2400" dirty="0"/>
              <a:t>(Near plane)</a:t>
            </a:r>
          </a:p>
          <a:p>
            <a:pPr lvl="1"/>
            <a:r>
              <a:rPr lang="ko-KR" altLang="en-US" sz="2000" dirty="0"/>
              <a:t>카메라에서 가장 가까운 투영 기준 평면</a:t>
            </a:r>
          </a:p>
          <a:p>
            <a:pPr lvl="1"/>
            <a:r>
              <a:rPr lang="ko-KR" altLang="en-US" sz="2000" dirty="0"/>
              <a:t>깊이 계산의 시작 기준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원 평면 </a:t>
            </a:r>
            <a:r>
              <a:rPr lang="en-US" altLang="ko-KR" sz="2400" dirty="0"/>
              <a:t>(Far plane)</a:t>
            </a:r>
          </a:p>
          <a:p>
            <a:pPr lvl="1"/>
            <a:r>
              <a:rPr lang="ko-KR" altLang="en-US" sz="2000" dirty="0"/>
              <a:t>카메라에서 가장 먼 투영 제한 평면</a:t>
            </a:r>
          </a:p>
          <a:p>
            <a:pPr lvl="1"/>
            <a:r>
              <a:rPr lang="ko-KR" altLang="en-US" sz="2000" dirty="0"/>
              <a:t>깊이 계산의 끝 기준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ko-KR" altLang="en-US" sz="2400" dirty="0" err="1"/>
              <a:t>절두체</a:t>
            </a:r>
            <a:r>
              <a:rPr lang="en-US" altLang="ko-KR" sz="2400" dirty="0"/>
              <a:t> (Frustum)</a:t>
            </a:r>
          </a:p>
          <a:p>
            <a:pPr lvl="1"/>
            <a:r>
              <a:rPr lang="ko-KR" altLang="en-US" sz="2000" dirty="0"/>
              <a:t>원근 투영의 대상 공간</a:t>
            </a:r>
          </a:p>
          <a:p>
            <a:pPr lvl="1"/>
            <a:r>
              <a:rPr lang="ko-KR" altLang="en-US" sz="2000" dirty="0"/>
              <a:t>근 평면과 원 평면 사이의 잘린 피라미드 형태의 공간</a:t>
            </a:r>
          </a:p>
          <a:p>
            <a:pPr lvl="1"/>
            <a:r>
              <a:rPr lang="ko-KR" altLang="en-US" sz="2000" dirty="0"/>
              <a:t>카메라가 실제로 볼 수 있는 영역</a:t>
            </a:r>
            <a:r>
              <a:rPr lang="en-US" altLang="ko-KR" sz="2000" dirty="0"/>
              <a:t>(View Volume)</a:t>
            </a:r>
          </a:p>
          <a:p>
            <a:pPr lvl="1"/>
            <a:r>
              <a:rPr lang="ko-KR" altLang="en-US" sz="2000" dirty="0"/>
              <a:t>이 영역 안의 객체만 렌더링 → 밖에 있는 객체는 클리핑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2102F7-F2AD-B80D-1010-CD86FFF3AA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8AA53D-1470-C35F-624A-AF60780D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1124744"/>
            <a:ext cx="3803724" cy="327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3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EB1A-515C-EE66-8C12-45E038F2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7E1BE-1E7D-1923-9B72-B1ABE023D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11511-389C-08AA-B7A3-3EE423DF1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차원으로 확장한 </a:t>
            </a:r>
            <a:r>
              <a:rPr lang="en-US" altLang="ko-KR" dirty="0"/>
              <a:t>NDC</a:t>
            </a:r>
            <a:r>
              <a:rPr lang="ko-KR" altLang="en-US" dirty="0"/>
              <a:t>의 범위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0ECEA3-8901-708D-13D3-05C08B7EFB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152414-460B-A37B-C983-B8D8E8D2D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340768"/>
            <a:ext cx="6141234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63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0288-C1AD-B45E-0C5A-B8D8DD4D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1B88B-D0EA-8951-4821-889999EC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D76CC7-8509-F865-935A-B1471FF71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3</a:t>
                </a:r>
                <a:r>
                  <a:rPr lang="ko-KR" altLang="en-US" dirty="0"/>
                  <a:t>차원으로 확장한 </a:t>
                </a:r>
                <a:r>
                  <a:rPr lang="en-US" altLang="ko-KR" dirty="0"/>
                  <a:t>NDC</a:t>
                </a:r>
                <a:r>
                  <a:rPr lang="ko-KR" altLang="en-US" dirty="0"/>
                  <a:t>의 범위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ko-KR" altLang="en-US" dirty="0"/>
                  <a:t>깊이 값은 뷰 좌표계 의 </a:t>
                </a:r>
                <a:r>
                  <a:rPr lang="en-US" altLang="ko-KR" dirty="0"/>
                  <a:t>x, y </a:t>
                </a:r>
                <a:r>
                  <a:rPr lang="ko-KR" altLang="en-US" dirty="0"/>
                  <a:t>축에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직교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</a:t>
                </a:r>
                <a:r>
                  <a:rPr lang="en-US" altLang="ko-KR" dirty="0"/>
                  <a:t>i, j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0</a:t>
                </a:r>
                <a:endParaRPr lang="ko-KR" altLang="en-US" dirty="0"/>
              </a:p>
              <a:p>
                <a:pPr lvl="1"/>
                <a:r>
                  <a:rPr lang="en-US" altLang="ko-KR" dirty="0"/>
                  <a:t>Near </a:t>
                </a:r>
                <a:r>
                  <a:rPr lang="ko-KR" altLang="en-US" dirty="0"/>
                  <a:t>평면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ko-KR" altLang="en-US" dirty="0"/>
                  <a:t> →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Far </a:t>
                </a:r>
                <a:r>
                  <a:rPr lang="ko-KR" altLang="en-US" dirty="0"/>
                  <a:t>평면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ko-KR" altLang="en-US" dirty="0"/>
                  <a:t> →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0,0,1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D76CC7-8509-F865-935A-B1471FF71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3FCC7F-B18F-B5C7-E4F1-16E5B8AE3F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DE2FDE-3F88-DD21-244A-88A46543AC39}"/>
                  </a:ext>
                </a:extLst>
              </p:cNvPr>
              <p:cNvSpPr txBox="1"/>
              <p:nvPr/>
            </p:nvSpPr>
            <p:spPr>
              <a:xfrm>
                <a:off x="3668776" y="1556404"/>
                <a:ext cx="1008112" cy="145296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DE2FDE-3F88-DD21-244A-88A46543A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776" y="1556404"/>
                <a:ext cx="1008112" cy="1452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6894F9-37B7-9D67-1F58-D28E2F62F5A7}"/>
                  </a:ext>
                </a:extLst>
              </p:cNvPr>
              <p:cNvSpPr txBox="1"/>
              <p:nvPr/>
            </p:nvSpPr>
            <p:spPr>
              <a:xfrm>
                <a:off x="4283968" y="1311882"/>
                <a:ext cx="1584176" cy="194200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?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6894F9-37B7-9D67-1F58-D28E2F62F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311882"/>
                <a:ext cx="1584176" cy="19420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C59A13-BBCA-2ECB-7AD2-C32DC725CCDA}"/>
                  </a:ext>
                </a:extLst>
              </p:cNvPr>
              <p:cNvSpPr txBox="1"/>
              <p:nvPr/>
            </p:nvSpPr>
            <p:spPr>
              <a:xfrm>
                <a:off x="611560" y="1367571"/>
                <a:ext cx="3528392" cy="184268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C59A13-BBCA-2ECB-7AD2-C32DC725C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367571"/>
                <a:ext cx="3528392" cy="18426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941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F793-5CD4-B908-C7DD-F6E86C0D4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ED8D4-745B-735B-6E88-6C2E3EBE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47AF35A-BEFB-262B-860D-0BA378767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Near </a:t>
                </a:r>
                <a:r>
                  <a:rPr lang="ko-KR" altLang="en-US" dirty="0"/>
                  <a:t>평면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0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ko-KR" altLang="en-US" dirty="0"/>
                  <a:t> →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en-US" altLang="ko-KR" dirty="0"/>
                  <a:t>Far </a:t>
                </a:r>
                <a:r>
                  <a:rPr lang="ko-KR" altLang="en-US" dirty="0"/>
                  <a:t>평면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ko-KR" altLang="en-US" dirty="0"/>
                  <a:t> →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47AF35A-BEFB-262B-860D-0BA378767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1D243D-F511-9246-E994-DF83631769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1C536E-97AC-5F69-561D-4B55B1770438}"/>
                  </a:ext>
                </a:extLst>
              </p:cNvPr>
              <p:cNvSpPr txBox="1"/>
              <p:nvPr/>
            </p:nvSpPr>
            <p:spPr>
              <a:xfrm>
                <a:off x="3419872" y="2305370"/>
                <a:ext cx="864096" cy="145296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1C536E-97AC-5F69-561D-4B55B1770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2305370"/>
                <a:ext cx="864096" cy="1452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C6E27A-C34A-CB87-4A30-F7E6A53025EC}"/>
                  </a:ext>
                </a:extLst>
              </p:cNvPr>
              <p:cNvSpPr txBox="1"/>
              <p:nvPr/>
            </p:nvSpPr>
            <p:spPr>
              <a:xfrm>
                <a:off x="4375593" y="2305370"/>
                <a:ext cx="1060503" cy="145296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?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C6E27A-C34A-CB87-4A30-F7E6A5302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593" y="2305370"/>
                <a:ext cx="1060503" cy="1452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7F2E35-E217-3F64-5372-DDEEF3DC46A6}"/>
                  </a:ext>
                </a:extLst>
              </p:cNvPr>
              <p:cNvSpPr txBox="1"/>
              <p:nvPr/>
            </p:nvSpPr>
            <p:spPr>
              <a:xfrm>
                <a:off x="545907" y="2116537"/>
                <a:ext cx="3017981" cy="183062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7F2E35-E217-3F64-5372-DDEEF3DC4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07" y="2116537"/>
                <a:ext cx="3017981" cy="1830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826546-CD4F-B9B5-A67A-9AF39FE99536}"/>
                  </a:ext>
                </a:extLst>
              </p:cNvPr>
              <p:cNvSpPr txBox="1"/>
              <p:nvPr/>
            </p:nvSpPr>
            <p:spPr>
              <a:xfrm>
                <a:off x="3419872" y="4320581"/>
                <a:ext cx="864096" cy="145296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826546-CD4F-B9B5-A67A-9AF39FE99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4320581"/>
                <a:ext cx="864096" cy="14529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DCA8C9-8A7A-1994-4100-1DD679CA903D}"/>
                  </a:ext>
                </a:extLst>
              </p:cNvPr>
              <p:cNvSpPr txBox="1"/>
              <p:nvPr/>
            </p:nvSpPr>
            <p:spPr>
              <a:xfrm>
                <a:off x="4375593" y="4320581"/>
                <a:ext cx="1060503" cy="149451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?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DCA8C9-8A7A-1994-4100-1DD679CA9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593" y="4320581"/>
                <a:ext cx="1060503" cy="14945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2EEF42-AD7B-CBDE-3E92-368E65821396}"/>
                  </a:ext>
                </a:extLst>
              </p:cNvPr>
              <p:cNvSpPr txBox="1"/>
              <p:nvPr/>
            </p:nvSpPr>
            <p:spPr>
              <a:xfrm>
                <a:off x="545907" y="4131748"/>
                <a:ext cx="3017981" cy="183062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2EEF42-AD7B-CBDE-3E92-368E65821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07" y="4131748"/>
                <a:ext cx="3017981" cy="1830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212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0223-A42B-D987-574F-7D344C8F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6EAAF-92CC-738E-AFD9-366D7752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07C3A-657F-3D07-DEFD-3CE322FA8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투영 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3AA12B-4883-0059-9F95-8FAB09F9B8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15E62C-BE11-C7CE-B415-272E249D4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740" y="1513551"/>
            <a:ext cx="5021355" cy="33829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8B2614-8FA8-6853-03F8-B11DB7180EFA}"/>
                  </a:ext>
                </a:extLst>
              </p:cNvPr>
              <p:cNvSpPr txBox="1"/>
              <p:nvPr/>
            </p:nvSpPr>
            <p:spPr>
              <a:xfrm>
                <a:off x="2363662" y="1961649"/>
                <a:ext cx="688080" cy="11128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8B2614-8FA8-6853-03F8-B11DB7180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662" y="1961649"/>
                <a:ext cx="688080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CF9BD-C05F-70B3-99EB-87FE65233341}"/>
                  </a:ext>
                </a:extLst>
              </p:cNvPr>
              <p:cNvSpPr txBox="1"/>
              <p:nvPr/>
            </p:nvSpPr>
            <p:spPr>
              <a:xfrm>
                <a:off x="3011734" y="1961649"/>
                <a:ext cx="844479" cy="11128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CF9BD-C05F-70B3-99EB-87FE65233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734" y="1961649"/>
                <a:ext cx="844479" cy="11128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963E33-2F65-4F26-68C7-9F0AF61FD593}"/>
                  </a:ext>
                </a:extLst>
              </p:cNvPr>
              <p:cNvSpPr txBox="1"/>
              <p:nvPr/>
            </p:nvSpPr>
            <p:spPr>
              <a:xfrm>
                <a:off x="203423" y="1772816"/>
                <a:ext cx="2352354" cy="139615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963E33-2F65-4F26-68C7-9F0AF61FD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23" y="1772816"/>
                <a:ext cx="2352354" cy="13961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B8682-9D1A-0380-7D87-7AD8FE9B97CB}"/>
                  </a:ext>
                </a:extLst>
              </p:cNvPr>
              <p:cNvSpPr txBox="1"/>
              <p:nvPr/>
            </p:nvSpPr>
            <p:spPr>
              <a:xfrm>
                <a:off x="2363662" y="3976860"/>
                <a:ext cx="688080" cy="11128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B8682-9D1A-0380-7D87-7AD8FE9B9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662" y="3976860"/>
                <a:ext cx="688080" cy="11128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816E71-70FE-8F2E-F207-2B71FD7FB136}"/>
                  </a:ext>
                </a:extLst>
              </p:cNvPr>
              <p:cNvSpPr txBox="1"/>
              <p:nvPr/>
            </p:nvSpPr>
            <p:spPr>
              <a:xfrm>
                <a:off x="3011734" y="3976860"/>
                <a:ext cx="844479" cy="115935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816E71-70FE-8F2E-F207-2B71FD7FB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734" y="3976860"/>
                <a:ext cx="844479" cy="11593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CF0E5C-EBF6-AC90-67BB-A022D5C5C9F7}"/>
                  </a:ext>
                </a:extLst>
              </p:cNvPr>
              <p:cNvSpPr txBox="1"/>
              <p:nvPr/>
            </p:nvSpPr>
            <p:spPr>
              <a:xfrm>
                <a:off x="203423" y="3788027"/>
                <a:ext cx="2352354" cy="139615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CF0E5C-EBF6-AC90-67BB-A022D5C5C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23" y="3788027"/>
                <a:ext cx="2352354" cy="13961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852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6492-3C55-3554-598F-62361E56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2E4C9-B465-FA7F-A320-2B2BB37D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12.3 </a:t>
            </a:r>
            <a:r>
              <a:rPr lang="ko-KR" altLang="en-US" dirty="0"/>
              <a:t>깊이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66374C-C44D-F539-EC0A-511F753C4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투영 행렬 </a:t>
            </a:r>
            <a:r>
              <a:rPr lang="en-US" altLang="ko-KR" dirty="0"/>
              <a:t>(Projection matrix)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72FC72-EE0C-522B-F0FE-E2EB47FC77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7B8B3-1AD4-7E1C-DA00-B14FACC6B671}"/>
                  </a:ext>
                </a:extLst>
              </p:cNvPr>
              <p:cNvSpPr txBox="1"/>
              <p:nvPr/>
            </p:nvSpPr>
            <p:spPr>
              <a:xfrm>
                <a:off x="4067944" y="2434999"/>
                <a:ext cx="4028283" cy="223695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𝑛𝑓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7B8B3-1AD4-7E1C-DA00-B14FACC6B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2434999"/>
                <a:ext cx="4028283" cy="22369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E3BAE-D463-6AB5-FD06-34EEF8E6D183}"/>
                  </a:ext>
                </a:extLst>
              </p:cNvPr>
              <p:cNvSpPr txBox="1"/>
              <p:nvPr/>
            </p:nvSpPr>
            <p:spPr>
              <a:xfrm>
                <a:off x="439484" y="1572746"/>
                <a:ext cx="1972276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𝑘𝑛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+ 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E3BAE-D463-6AB5-FD06-34EEF8E6D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4" y="1572746"/>
                <a:ext cx="197227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A42715-D936-E7BA-FD64-AA7845FEBAA9}"/>
                  </a:ext>
                </a:extLst>
              </p:cNvPr>
              <p:cNvSpPr txBox="1"/>
              <p:nvPr/>
            </p:nvSpPr>
            <p:spPr>
              <a:xfrm>
                <a:off x="439484" y="1962403"/>
                <a:ext cx="1972276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𝑘𝑓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+ 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A42715-D936-E7BA-FD64-AA7845FEB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4" y="1962403"/>
                <a:ext cx="1972276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0B4FE6-AF7F-B778-C617-D5646AAA92DB}"/>
                  </a:ext>
                </a:extLst>
              </p:cNvPr>
              <p:cNvSpPr txBox="1"/>
              <p:nvPr/>
            </p:nvSpPr>
            <p:spPr>
              <a:xfrm>
                <a:off x="395536" y="2636316"/>
                <a:ext cx="2502532" cy="66749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0B4FE6-AF7F-B778-C617-D5646AAA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36316"/>
                <a:ext cx="2502532" cy="6674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9C3C2-6FD3-4036-933A-DEB6404980A3}"/>
                  </a:ext>
                </a:extLst>
              </p:cNvPr>
              <p:cNvSpPr txBox="1"/>
              <p:nvPr/>
            </p:nvSpPr>
            <p:spPr>
              <a:xfrm>
                <a:off x="395535" y="3380700"/>
                <a:ext cx="2948163" cy="66749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𝑘𝑓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9C3C2-6FD3-4036-933A-DEB640498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3380700"/>
                <a:ext cx="2948163" cy="6674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F47268-EECB-4677-6AF2-6E74FDD120A1}"/>
                  </a:ext>
                </a:extLst>
              </p:cNvPr>
              <p:cNvSpPr txBox="1"/>
              <p:nvPr/>
            </p:nvSpPr>
            <p:spPr>
              <a:xfrm>
                <a:off x="535387" y="4023886"/>
                <a:ext cx="2722598" cy="66749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𝑛𝑓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F47268-EECB-4677-6AF2-6E74FDD12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87" y="4023886"/>
                <a:ext cx="2722598" cy="6674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CB8D49-4922-0B89-A2DA-C906F3BDDA5D}"/>
                  </a:ext>
                </a:extLst>
              </p:cNvPr>
              <p:cNvSpPr txBox="1"/>
              <p:nvPr/>
            </p:nvSpPr>
            <p:spPr>
              <a:xfrm>
                <a:off x="386768" y="4671958"/>
                <a:ext cx="2722598" cy="66749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𝑛𝑓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CB8D49-4922-0B89-A2DA-C906F3BDD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68" y="4671958"/>
                <a:ext cx="2722598" cy="6674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337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271F-E45F-CD3F-8242-CB0C4A5C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13354-B0BA-7CD4-8ADE-91D64F85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12-2 </a:t>
            </a:r>
            <a:r>
              <a:rPr lang="ko-KR" altLang="en-US" dirty="0"/>
              <a:t>깊이에 대한 정보 얻기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F62D4-3D29-F50E-074F-8A5B6F0FF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투영 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5DC055-2CDE-6921-D40A-C6FE409955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A52A3-77F6-6F35-4F99-D6F706E6BE62}"/>
              </a:ext>
            </a:extLst>
          </p:cNvPr>
          <p:cNvSpPr txBox="1"/>
          <p:nvPr/>
        </p:nvSpPr>
        <p:spPr>
          <a:xfrm>
            <a:off x="224412" y="1368240"/>
            <a:ext cx="7200602" cy="48320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CameraObject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GetPerspectiveViewMatrix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뷰 행렬 관련 요소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GetViewAxes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 행렬 관련 요소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ViewportSize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AspectRatio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Deg2Rad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0.5f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NearZ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_FarZ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_FarZ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NearZ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_FarZ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NearZ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Vector4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zPos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834EC9-A258-56D4-A9C5-F1B2CBE17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759" y="692150"/>
            <a:ext cx="3212718" cy="288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00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316E5-3140-474B-654A-3CEC1D77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89EA0-F5E6-DAF4-6EB4-E7BF4BCF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12.4 </a:t>
            </a:r>
            <a:r>
              <a:rPr lang="ko-KR" altLang="en-US" dirty="0"/>
              <a:t>원근 보정 매핑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115A1-4357-A686-7A6B-42362464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시야각에 걸쳐 있는 두 점과 이를 투영한 결과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D02E45-375C-4899-479D-129ADF8DE7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5A4B8E-9310-385C-A1FD-5BF2E841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72816"/>
            <a:ext cx="3400882" cy="35077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55B752-600A-1947-7E02-70937280E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39838"/>
            <a:ext cx="2029234" cy="1800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97B28F6-5496-A201-4E95-D3CFFADB3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89" y="3789040"/>
            <a:ext cx="195538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96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17C4F-0878-65A4-10A5-82705409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D0640-DA19-DF5F-9346-FBE09E84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12.4 </a:t>
            </a:r>
            <a:r>
              <a:rPr lang="ko-KR" altLang="en-US" dirty="0"/>
              <a:t>원근 보정 매핑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2E21F-6CEB-F03D-19D8-0D04D1ABA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뷰 공간의 선을 수평으로 조정해 비교한 결과</a:t>
            </a:r>
            <a:endParaRPr lang="en-US" altLang="ko-KR" sz="2400" dirty="0"/>
          </a:p>
          <a:p>
            <a:pPr lvl="1"/>
            <a:r>
              <a:rPr lang="en-US" altLang="ko-KR" sz="2000" dirty="0"/>
              <a:t>NDC </a:t>
            </a:r>
            <a:r>
              <a:rPr lang="ko-KR" altLang="en-US" sz="2000" dirty="0"/>
              <a:t>의</a:t>
            </a:r>
            <a:r>
              <a:rPr lang="en-US" altLang="ko-KR" sz="2000" dirty="0"/>
              <a:t> </a:t>
            </a:r>
            <a:r>
              <a:rPr lang="ko-KR" altLang="en-US" sz="2000" dirty="0"/>
              <a:t>무게 중심 좌표 ≠</a:t>
            </a:r>
            <a:r>
              <a:rPr lang="ko-KR" altLang="en-US" sz="2000" dirty="0" err="1"/>
              <a:t>사영</a:t>
            </a:r>
            <a:r>
              <a:rPr lang="ko-KR" altLang="en-US" sz="2000" dirty="0"/>
              <a:t> 공간 무게 중심 좌표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투영 보정 보간 </a:t>
            </a:r>
            <a:r>
              <a:rPr lang="en-US" altLang="ko-KR" sz="2400" dirty="0"/>
              <a:t>(Perspective</a:t>
            </a:r>
            <a:r>
              <a:rPr lang="ko-KR" altLang="en-US" sz="2400" dirty="0"/>
              <a:t> </a:t>
            </a:r>
            <a:r>
              <a:rPr lang="en-US" altLang="ko-KR" sz="2400" dirty="0"/>
              <a:t>correction </a:t>
            </a:r>
            <a:r>
              <a:rPr lang="en-US" altLang="ko-KR" sz="2400" dirty="0" err="1"/>
              <a:t>interpoliation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sz="2000" dirty="0"/>
              <a:t>NDC </a:t>
            </a:r>
            <a:r>
              <a:rPr lang="ko-KR" altLang="en-US" sz="2000" dirty="0"/>
              <a:t>무게 중심 좌표 → </a:t>
            </a:r>
            <a:r>
              <a:rPr lang="ko-KR" altLang="en-US" sz="2000" dirty="0" err="1"/>
              <a:t>사영</a:t>
            </a:r>
            <a:r>
              <a:rPr lang="ko-KR" altLang="en-US" sz="2000" dirty="0"/>
              <a:t> 공간 무게 중심 좌표 계산</a:t>
            </a:r>
            <a:endParaRPr lang="en-US" altLang="ko-KR" sz="2000" dirty="0"/>
          </a:p>
          <a:p>
            <a:pPr lvl="1"/>
            <a:r>
              <a:rPr lang="ko-KR" altLang="en-US" sz="2000" dirty="0"/>
              <a:t>투영</a:t>
            </a:r>
            <a:r>
              <a:rPr lang="en-US" altLang="ko-KR" sz="2000" dirty="0"/>
              <a:t> </a:t>
            </a:r>
            <a:r>
              <a:rPr lang="ko-KR" altLang="en-US" sz="2000" dirty="0"/>
              <a:t>전 무게 중심 좌표 값  → 투영 보정 보간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95DE24-BCC5-1932-6F15-18FDD8DA76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8E007B-BD6E-875B-100F-9411D43EC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31711"/>
            <a:ext cx="6379677" cy="30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00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AF97-457D-C29D-1C3B-13210D2E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9A772-9B2A-C2B7-F947-9CAA5F0A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12.4 </a:t>
            </a:r>
            <a:r>
              <a:rPr lang="ko-KR" altLang="en-US" dirty="0"/>
              <a:t>원근 보정 매핑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DEFA11-EC6A-2338-4B63-911558060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=−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ko-KR" altLang="en-US" sz="3000" dirty="0"/>
                  <a:t> 의 그래프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DEFA11-EC6A-2338-4B63-911558060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F09C09-4E4A-CBDF-FA4C-80710282E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0FB54C8-8818-433D-1CBA-3580CE07D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927" y="591061"/>
            <a:ext cx="4080525" cy="32699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92346-E931-D731-7088-18A1DAF04111}"/>
                  </a:ext>
                </a:extLst>
              </p:cNvPr>
              <p:cNvSpPr txBox="1"/>
              <p:nvPr/>
            </p:nvSpPr>
            <p:spPr>
              <a:xfrm>
                <a:off x="491475" y="4077072"/>
                <a:ext cx="3556452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92346-E931-D731-7088-18A1DAF0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75" y="4077072"/>
                <a:ext cx="3556452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7F2232-EF47-595D-B513-5433EADF552B}"/>
                  </a:ext>
                </a:extLst>
              </p:cNvPr>
              <p:cNvSpPr txBox="1"/>
              <p:nvPr/>
            </p:nvSpPr>
            <p:spPr>
              <a:xfrm>
                <a:off x="491475" y="4519429"/>
                <a:ext cx="3556452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7F2232-EF47-595D-B513-5433EADF5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75" y="4519429"/>
                <a:ext cx="3556452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242814-CBBA-851A-D3F2-99A28231439B}"/>
                  </a:ext>
                </a:extLst>
              </p:cNvPr>
              <p:cNvSpPr txBox="1"/>
              <p:nvPr/>
            </p:nvSpPr>
            <p:spPr>
              <a:xfrm>
                <a:off x="491474" y="5092226"/>
                <a:ext cx="5232653" cy="6580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242814-CBBA-851A-D3F2-99A282314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74" y="5092226"/>
                <a:ext cx="5232653" cy="658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97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9CC7-9F38-D51D-1B05-26488295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6D7B3-627A-A6D0-C2A8-9B8CB6307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12.4 </a:t>
            </a:r>
            <a:r>
              <a:rPr lang="ko-KR" altLang="en-US" dirty="0"/>
              <a:t>원근 보정 매핑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8AA28-FEFB-F704-3815-7BE950A9E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투영 보정 보간 </a:t>
            </a:r>
            <a:r>
              <a:rPr lang="en-US" altLang="ko-KR" dirty="0"/>
              <a:t>(Perspective</a:t>
            </a:r>
            <a:r>
              <a:rPr lang="ko-KR" altLang="en-US" dirty="0"/>
              <a:t> </a:t>
            </a:r>
            <a:r>
              <a:rPr lang="en-US" altLang="ko-KR" dirty="0"/>
              <a:t>correction interpolation)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C1C22B-6A25-037E-95D6-A344D8AF90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16E8B2-D4EA-5CD0-FF0B-BE59EF420C2C}"/>
                  </a:ext>
                </a:extLst>
              </p:cNvPr>
              <p:cNvSpPr txBox="1"/>
              <p:nvPr/>
            </p:nvSpPr>
            <p:spPr>
              <a:xfrm>
                <a:off x="503963" y="1268760"/>
                <a:ext cx="2555869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16E8B2-D4EA-5CD0-FF0B-BE59EF420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63" y="1268760"/>
                <a:ext cx="2555869" cy="369332"/>
              </a:xfrm>
              <a:prstGeom prst="rect">
                <a:avLst/>
              </a:prstGeom>
              <a:blipFill>
                <a:blip r:embed="rId2"/>
                <a:stretch>
                  <a:fillRect b="-983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5C6DF5-8CA4-91D1-4726-71EE5FA9BAF3}"/>
                  </a:ext>
                </a:extLst>
              </p:cNvPr>
              <p:cNvSpPr txBox="1"/>
              <p:nvPr/>
            </p:nvSpPr>
            <p:spPr>
              <a:xfrm>
                <a:off x="503963" y="1711117"/>
                <a:ext cx="2555869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5C6DF5-8CA4-91D1-4726-71EE5FA9B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63" y="1711117"/>
                <a:ext cx="2555869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742B17-0E35-5240-E6BD-5888F28CDDC3}"/>
                  </a:ext>
                </a:extLst>
              </p:cNvPr>
              <p:cNvSpPr txBox="1"/>
              <p:nvPr/>
            </p:nvSpPr>
            <p:spPr>
              <a:xfrm>
                <a:off x="503963" y="2283914"/>
                <a:ext cx="2744966" cy="6580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742B17-0E35-5240-E6BD-5888F28CD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63" y="2283914"/>
                <a:ext cx="2744966" cy="6580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57769A-5EEC-4CBE-0DFF-BB69AF7927D9}"/>
                  </a:ext>
                </a:extLst>
              </p:cNvPr>
              <p:cNvSpPr txBox="1"/>
              <p:nvPr/>
            </p:nvSpPr>
            <p:spPr>
              <a:xfrm>
                <a:off x="503963" y="4470440"/>
                <a:ext cx="2957638" cy="7146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57769A-5EEC-4CBE-0DFF-BB69AF792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63" y="4470440"/>
                <a:ext cx="295763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7D2288-3E7E-C302-74F8-30CA1D0D2895}"/>
                  </a:ext>
                </a:extLst>
              </p:cNvPr>
              <p:cNvSpPr txBox="1"/>
              <p:nvPr/>
            </p:nvSpPr>
            <p:spPr>
              <a:xfrm>
                <a:off x="503963" y="3297844"/>
                <a:ext cx="2491025" cy="88158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7D2288-3E7E-C302-74F8-30CA1D0D2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63" y="3297844"/>
                <a:ext cx="2491025" cy="8815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0678A1-D950-4321-7917-D3139C09AD81}"/>
                  </a:ext>
                </a:extLst>
              </p:cNvPr>
              <p:cNvSpPr txBox="1"/>
              <p:nvPr/>
            </p:nvSpPr>
            <p:spPr>
              <a:xfrm>
                <a:off x="503963" y="5456103"/>
                <a:ext cx="2957638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0678A1-D950-4321-7917-D3139C09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63" y="5456103"/>
                <a:ext cx="2957638" cy="674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5E7925-AEF8-B2C2-15E3-D34116B6F787}"/>
                  </a:ext>
                </a:extLst>
              </p:cNvPr>
              <p:cNvSpPr txBox="1"/>
              <p:nvPr/>
            </p:nvSpPr>
            <p:spPr>
              <a:xfrm>
                <a:off x="4211960" y="1301044"/>
                <a:ext cx="4320480" cy="5568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 + 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/>
                  <a:t> </a:t>
                </a:r>
                <a:r>
                  <a:rPr lang="en-US" altLang="ko-KR" sz="1800" dirty="0"/>
                  <a:t>+</a:t>
                </a:r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5E7925-AEF8-B2C2-15E3-D34116B6F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1301044"/>
                <a:ext cx="4320480" cy="5568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9B6964-6429-D4AF-A2B0-BD616C53008E}"/>
                  </a:ext>
                </a:extLst>
              </p:cNvPr>
              <p:cNvSpPr txBox="1"/>
              <p:nvPr/>
            </p:nvSpPr>
            <p:spPr>
              <a:xfrm>
                <a:off x="4227180" y="2005504"/>
                <a:ext cx="1424940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9B6964-6429-D4AF-A2B0-BD616C530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180" y="2005504"/>
                <a:ext cx="1424940" cy="6740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56D1FC-09CA-9E78-60E7-FB577C69FFEC}"/>
                  </a:ext>
                </a:extLst>
              </p:cNvPr>
              <p:cNvSpPr txBox="1"/>
              <p:nvPr/>
            </p:nvSpPr>
            <p:spPr>
              <a:xfrm>
                <a:off x="5632296" y="2005709"/>
                <a:ext cx="1424940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56D1FC-09CA-9E78-60E7-FB577C69F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296" y="2005709"/>
                <a:ext cx="1424940" cy="6740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327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B3E8-6B95-3DBF-4CF4-36E9E064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32CBC-BE15-AFE5-7EAD-D987CBE2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12.4 </a:t>
            </a:r>
            <a:r>
              <a:rPr lang="ko-KR" altLang="en-US" dirty="0"/>
              <a:t>원근 보정 매핑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A415F-7ED1-F1BE-E8D6-1716D7599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점으로 확대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 </a:t>
            </a:r>
            <a:r>
              <a:rPr lang="ko-KR" altLang="en-US" dirty="0"/>
              <a:t>→ </a:t>
            </a:r>
            <a:r>
              <a:rPr lang="en-US" altLang="ko-KR" dirty="0"/>
              <a:t>-z </a:t>
            </a:r>
            <a:r>
              <a:rPr lang="ko-KR" altLang="en-US" dirty="0"/>
              <a:t>로 치환</a:t>
            </a:r>
            <a:r>
              <a:rPr lang="en-US" altLang="ko-KR" dirty="0"/>
              <a:t>, </a:t>
            </a:r>
            <a:r>
              <a:rPr lang="ko-KR" altLang="en-US" dirty="0"/>
              <a:t>원근 보정 매핑 완성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C39A54-330E-1461-2D3D-69A697C8C5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C694C-2008-F6DA-EF24-F9143BFB8825}"/>
                  </a:ext>
                </a:extLst>
              </p:cNvPr>
              <p:cNvSpPr txBox="1"/>
              <p:nvPr/>
            </p:nvSpPr>
            <p:spPr>
              <a:xfrm>
                <a:off x="555030" y="2348881"/>
                <a:ext cx="1424940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C694C-2008-F6DA-EF24-F9143BFB8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30" y="2348881"/>
                <a:ext cx="1424940" cy="6740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9BCFB1-84CB-9DCF-B8D5-25AAEC78F6A4}"/>
                  </a:ext>
                </a:extLst>
              </p:cNvPr>
              <p:cNvSpPr txBox="1"/>
              <p:nvPr/>
            </p:nvSpPr>
            <p:spPr>
              <a:xfrm>
                <a:off x="1960146" y="2349086"/>
                <a:ext cx="1424940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9BCFB1-84CB-9DCF-B8D5-25AAEC78F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46" y="2349086"/>
                <a:ext cx="1424940" cy="6740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E32784-CD48-6DB0-1069-4E27F7A0FB32}"/>
                  </a:ext>
                </a:extLst>
              </p:cNvPr>
              <p:cNvSpPr txBox="1"/>
              <p:nvPr/>
            </p:nvSpPr>
            <p:spPr>
              <a:xfrm>
                <a:off x="525294" y="1432385"/>
                <a:ext cx="3610139" cy="88299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E32784-CD48-6DB0-1069-4E27F7A0F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94" y="1432385"/>
                <a:ext cx="3610139" cy="882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0892C4-7A02-DED0-7777-7BFB79260862}"/>
                  </a:ext>
                </a:extLst>
              </p:cNvPr>
              <p:cNvSpPr txBox="1"/>
              <p:nvPr/>
            </p:nvSpPr>
            <p:spPr>
              <a:xfrm>
                <a:off x="3351198" y="2348880"/>
                <a:ext cx="1424940" cy="67550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0892C4-7A02-DED0-7777-7BFB79260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198" y="2348880"/>
                <a:ext cx="1424940" cy="675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8C2396-E1EB-0491-43B1-B33B3C75D2E7}"/>
                  </a:ext>
                </a:extLst>
              </p:cNvPr>
              <p:cNvSpPr txBox="1"/>
              <p:nvPr/>
            </p:nvSpPr>
            <p:spPr>
              <a:xfrm>
                <a:off x="610806" y="4915497"/>
                <a:ext cx="1424940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8C2396-E1EB-0491-43B1-B33B3C75D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6" y="4915497"/>
                <a:ext cx="1424940" cy="6740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53963D-A480-F297-8921-B4F52AE5BAB5}"/>
                  </a:ext>
                </a:extLst>
              </p:cNvPr>
              <p:cNvSpPr txBox="1"/>
              <p:nvPr/>
            </p:nvSpPr>
            <p:spPr>
              <a:xfrm>
                <a:off x="2015922" y="4915702"/>
                <a:ext cx="1424940" cy="6740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53963D-A480-F297-8921-B4F52AE5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922" y="4915702"/>
                <a:ext cx="1424940" cy="674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CC856C-490A-E393-1054-AF8B1682B8E3}"/>
                  </a:ext>
                </a:extLst>
              </p:cNvPr>
              <p:cNvSpPr txBox="1"/>
              <p:nvPr/>
            </p:nvSpPr>
            <p:spPr>
              <a:xfrm>
                <a:off x="581070" y="3861048"/>
                <a:ext cx="3610139" cy="88299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CC856C-490A-E393-1054-AF8B1682B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70" y="3861048"/>
                <a:ext cx="3610139" cy="882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16B262-2971-5A5A-2C2C-6C76902D6EF4}"/>
                  </a:ext>
                </a:extLst>
              </p:cNvPr>
              <p:cNvSpPr txBox="1"/>
              <p:nvPr/>
            </p:nvSpPr>
            <p:spPr>
              <a:xfrm>
                <a:off x="3406974" y="4915496"/>
                <a:ext cx="1424940" cy="67550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16B262-2971-5A5A-2C2C-6C76902D6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974" y="4915496"/>
                <a:ext cx="1424940" cy="6755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311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7809-31E6-1202-82E6-B9638C3B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37A03-AB42-0DCF-6447-569D6E2E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12-3 </a:t>
            </a:r>
            <a:r>
              <a:rPr lang="ko-KR" altLang="en-US" dirty="0"/>
              <a:t>찌그러진 캐릭터 얼굴을 올바로 잡기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4C887-7A31-72A9-270A-F36350127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원근 보정 매핑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5CBEC6-205E-CF39-7E0F-88F0B58600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52212A-C421-424E-A042-E365190EA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756204"/>
            <a:ext cx="2069677" cy="1926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88739F-8326-037F-7F25-2B242D3AB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814152"/>
            <a:ext cx="1607660" cy="194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F70163-D6B0-B9CF-C85A-EB7BA7F22713}"/>
              </a:ext>
            </a:extLst>
          </p:cNvPr>
          <p:cNvSpPr txBox="1"/>
          <p:nvPr/>
        </p:nvSpPr>
        <p:spPr>
          <a:xfrm>
            <a:off x="323528" y="2884154"/>
            <a:ext cx="8496944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wdotv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udotv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wdotu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vdotv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invDenominator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wdotu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udotv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wdotv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udotu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invDenominator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(((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&amp;&amp;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 &amp;&amp; ((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&amp;&amp;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  <a:b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    &amp;&amp; ((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&amp;&amp;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투영보정에 사용할 공통 분모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Vector2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targetUV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invZ0</a:t>
            </a:r>
            <a:b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DrawPoint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fragment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FragmentShader3D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mainTexture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GetSample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targetUV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LinearColor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White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4208722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4B0C-84BD-75E1-14CE-FEAB9BB8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E8198-9280-2E5E-C739-A514F7C2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12.5 </a:t>
            </a:r>
            <a:r>
              <a:rPr lang="ko-KR" altLang="en-US" dirty="0"/>
              <a:t>깊이 버퍼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3144-9CCC-35A2-E8AD-750FD8736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깊이 버퍼 </a:t>
            </a:r>
            <a:r>
              <a:rPr lang="en-US" altLang="ko-KR" sz="2400" dirty="0"/>
              <a:t>(Depth Buffer, Z-Buffer)</a:t>
            </a:r>
          </a:p>
          <a:p>
            <a:pPr lvl="1"/>
            <a:r>
              <a:rPr lang="ko-KR" altLang="en-US" sz="2000" dirty="0"/>
              <a:t>픽셀마다 깊이</a:t>
            </a:r>
            <a:r>
              <a:rPr lang="en-US" altLang="ko-KR" sz="2000" dirty="0"/>
              <a:t>(z) </a:t>
            </a:r>
            <a:r>
              <a:rPr lang="ko-KR" altLang="en-US" sz="2000" dirty="0"/>
              <a:t>값을 저장하는 버퍼</a:t>
            </a:r>
          </a:p>
          <a:p>
            <a:pPr lvl="1"/>
            <a:r>
              <a:rPr lang="ko-KR" altLang="en-US" sz="2000" dirty="0"/>
              <a:t>더 가까운 픽셀만 화면에 표시</a:t>
            </a:r>
            <a:r>
              <a:rPr lang="en-US" altLang="ko-KR" sz="2000" dirty="0"/>
              <a:t>, </a:t>
            </a:r>
            <a:r>
              <a:rPr lang="ko-KR" altLang="en-US" sz="2000" dirty="0"/>
              <a:t>어떤 물체가 앞에 보일지 결정</a:t>
            </a:r>
            <a:endParaRPr lang="en-US" altLang="ko-KR" sz="2000" dirty="0"/>
          </a:p>
          <a:p>
            <a:pPr lvl="2"/>
            <a:r>
              <a:rPr lang="ko-KR" altLang="en-US" sz="1600" dirty="0"/>
              <a:t>기존 깊이 </a:t>
            </a:r>
            <a:r>
              <a:rPr lang="en-US" altLang="ko-KR" sz="1600" dirty="0"/>
              <a:t>vs </a:t>
            </a:r>
            <a:r>
              <a:rPr lang="ko-KR" altLang="en-US" sz="1600" dirty="0"/>
              <a:t>새 깊이 비교</a:t>
            </a:r>
          </a:p>
          <a:p>
            <a:pPr lvl="2"/>
            <a:r>
              <a:rPr lang="ko-KR" altLang="en-US" sz="1600" dirty="0"/>
              <a:t>더 가까우면 갱신</a:t>
            </a:r>
            <a:r>
              <a:rPr lang="en-US" altLang="ko-KR" sz="1600" dirty="0"/>
              <a:t>, </a:t>
            </a:r>
            <a:r>
              <a:rPr lang="ko-KR" altLang="en-US" sz="1600" dirty="0"/>
              <a:t>아니면 버림</a:t>
            </a:r>
            <a:endParaRPr lang="en-US" altLang="ko-KR" sz="1600" dirty="0"/>
          </a:p>
          <a:p>
            <a:pPr lvl="1"/>
            <a:r>
              <a:rPr lang="ko-KR" altLang="en-US" sz="2200" dirty="0" err="1"/>
              <a:t>절두체</a:t>
            </a:r>
            <a:r>
              <a:rPr lang="en-US" altLang="ko-KR" sz="2200" dirty="0"/>
              <a:t>(</a:t>
            </a:r>
            <a:r>
              <a:rPr lang="en-US" altLang="ko-KR" sz="2200" dirty="0" err="1"/>
              <a:t>Near~Far</a:t>
            </a:r>
            <a:r>
              <a:rPr lang="en-US" altLang="ko-KR" sz="2200" dirty="0"/>
              <a:t>) </a:t>
            </a:r>
            <a:r>
              <a:rPr lang="ko-KR" altLang="en-US" sz="2200" dirty="0"/>
              <a:t>범위 깊이 사용</a:t>
            </a:r>
            <a:endParaRPr lang="en-US" altLang="ko-KR" sz="2200" dirty="0"/>
          </a:p>
          <a:p>
            <a:pPr lvl="4"/>
            <a:endParaRPr lang="en-US" altLang="ko-KR" sz="1400" dirty="0"/>
          </a:p>
          <a:p>
            <a:r>
              <a:rPr lang="ko-KR" altLang="en-US" sz="2400" dirty="0"/>
              <a:t>뷰 공간 </a:t>
            </a:r>
            <a:r>
              <a:rPr lang="ko-KR" altLang="en-US" sz="2400" dirty="0" err="1"/>
              <a:t>좌표값</a:t>
            </a:r>
            <a:r>
              <a:rPr lang="ko-KR" altLang="en-US" sz="2400" dirty="0"/>
              <a:t> </a:t>
            </a:r>
            <a:r>
              <a:rPr lang="en-US" altLang="ko-KR" sz="2400" dirty="0"/>
              <a:t>NDC </a:t>
            </a:r>
            <a:r>
              <a:rPr lang="ko-KR" altLang="en-US" sz="2400" dirty="0" err="1"/>
              <a:t>좌표값</a:t>
            </a:r>
            <a:r>
              <a:rPr lang="ko-KR" altLang="en-US" sz="2400" dirty="0"/>
              <a:t> 비교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ECA558-B4CB-0779-EF35-A95307AF37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EB48E6-7331-28C0-9B30-5EE4FA7B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590686"/>
            <a:ext cx="4824536" cy="30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90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C4E-EA75-D25E-E19F-F0DE3580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85DB8-C988-55F7-8FAB-56BF7066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12-4 </a:t>
            </a:r>
            <a:r>
              <a:rPr lang="ko-KR" altLang="en-US" dirty="0"/>
              <a:t>깊이 버퍼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7A9C0-5196-69FB-ABA5-49B5710B2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삼각형 </a:t>
            </a:r>
            <a:r>
              <a:rPr lang="en-US" altLang="ko-KR" dirty="0"/>
              <a:t>3</a:t>
            </a:r>
            <a:r>
              <a:rPr lang="ko-KR" altLang="en-US" dirty="0"/>
              <a:t> 점 </a:t>
            </a:r>
            <a:r>
              <a:rPr lang="en-US" altLang="ko-KR" dirty="0"/>
              <a:t>z</a:t>
            </a:r>
            <a:r>
              <a:rPr lang="en-US" altLang="ko-KR" baseline="-25000" dirty="0"/>
              <a:t>1</a:t>
            </a:r>
            <a:r>
              <a:rPr lang="en-US" altLang="ko-KR" dirty="0"/>
              <a:t>, z</a:t>
            </a:r>
            <a:r>
              <a:rPr lang="en-US" altLang="ko-KR" baseline="-25000" dirty="0"/>
              <a:t>2</a:t>
            </a:r>
            <a:r>
              <a:rPr lang="en-US" altLang="ko-KR" dirty="0"/>
              <a:t>, z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의 깊이 값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575E0E-4B6A-EA88-CF02-F4F63DA486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F29DC-C47E-2E71-71C5-6E37A914C91A}"/>
                  </a:ext>
                </a:extLst>
              </p:cNvPr>
              <p:cNvSpPr txBox="1"/>
              <p:nvPr/>
            </p:nvSpPr>
            <p:spPr>
              <a:xfrm>
                <a:off x="181735" y="1268760"/>
                <a:ext cx="5184576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F29DC-C47E-2E71-71C5-6E37A914C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35" y="1268760"/>
                <a:ext cx="518457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F040923-0910-DF80-FECF-A1F97183579F}"/>
              </a:ext>
            </a:extLst>
          </p:cNvPr>
          <p:cNvSpPr txBox="1"/>
          <p:nvPr/>
        </p:nvSpPr>
        <p:spPr>
          <a:xfrm>
            <a:off x="287524" y="1916832"/>
            <a:ext cx="7452828" cy="504753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투영보정에 사용할 공통 분모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400" b="1" dirty="0">
              <a:solidFill>
                <a:srgbClr val="008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깊이 버퍼 테스팅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toggleDepthTesting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깊이 테스팅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newDepth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oneMinusST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b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prevDepth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GetDepthBufferValue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fragment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endParaRPr lang="en-US" altLang="ko-KR" sz="1400" b="1" dirty="0">
              <a:solidFill>
                <a:srgbClr val="8F08C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newDepth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prevDepth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픽셀을 처리하기 전 깊이 값을 버퍼에 보관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SetDepthBufferValue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fragment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newDepth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else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 앞에 무언가 </a:t>
            </a:r>
            <a:r>
              <a:rPr lang="ko-KR" altLang="en-US" sz="14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그려져있으므로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4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픽셀그리기는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생략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continue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CD8C12-6FA8-E571-6557-949EAFA1C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859" y="678046"/>
            <a:ext cx="2988617" cy="21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13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E6DC-E0EC-DCD4-5277-771C0FE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B9229-653E-66A2-8D8A-98AC2D6A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12-5 </a:t>
            </a:r>
            <a:r>
              <a:rPr lang="ko-KR" altLang="en-US" dirty="0"/>
              <a:t>깊이 버퍼 시각화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A9BCA-192E-8DF9-8505-8FECDE6D7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깊이 색상</a:t>
            </a:r>
            <a:endParaRPr lang="en-US" altLang="ko-KR" sz="2400" dirty="0"/>
          </a:p>
          <a:p>
            <a:pPr lvl="1"/>
            <a:r>
              <a:rPr lang="en-US" altLang="ko-KR" sz="2000" dirty="0" err="1"/>
              <a:t>n</a:t>
            </a:r>
            <a:r>
              <a:rPr lang="en-US" altLang="ko-KR" sz="2000" baseline="-25000" dirty="0" err="1"/>
              <a:t>z</a:t>
            </a:r>
            <a:r>
              <a:rPr lang="en-US" altLang="ko-KR" sz="2000" dirty="0"/>
              <a:t> </a:t>
            </a:r>
            <a:r>
              <a:rPr lang="ko-KR" altLang="en-US" sz="2000" dirty="0"/>
              <a:t>로</a:t>
            </a:r>
            <a:r>
              <a:rPr lang="en-US" altLang="ko-KR" sz="2000" dirty="0"/>
              <a:t> </a:t>
            </a:r>
            <a:r>
              <a:rPr lang="ko-KR" altLang="en-US" sz="2000" dirty="0"/>
              <a:t>하면 구분 안감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 err="1"/>
              <a:t>뷰공간</a:t>
            </a:r>
            <a:r>
              <a:rPr lang="ko-KR" altLang="en-US" sz="2000" dirty="0"/>
              <a:t> 깊이 값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3935CC-9B4E-9B71-6991-883A2A9A7F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62B3F5-110A-3433-3480-8885A91C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593725"/>
            <a:ext cx="3366733" cy="2229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ED6786-AA11-CF48-C3D8-D788754E5B7D}"/>
                  </a:ext>
                </a:extLst>
              </p:cNvPr>
              <p:cNvSpPr txBox="1"/>
              <p:nvPr/>
            </p:nvSpPr>
            <p:spPr>
              <a:xfrm>
                <a:off x="827584" y="1556792"/>
                <a:ext cx="3528392" cy="39074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𝑑𝑒𝑝𝑡h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⋅0.5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ED6786-AA11-CF48-C3D8-D788754E5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56792"/>
                <a:ext cx="3528392" cy="390748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3FA7F2-B5DC-54FD-F600-724B16405148}"/>
              </a:ext>
            </a:extLst>
          </p:cNvPr>
          <p:cNvSpPr txBox="1"/>
          <p:nvPr/>
        </p:nvSpPr>
        <p:spPr>
          <a:xfrm>
            <a:off x="827584" y="4056026"/>
            <a:ext cx="6480720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IsDepthBufferDrawing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grayScale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newDepth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0.5f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useLinearVisualization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카메라로부터의 거리에 따라 균일하게 증감하는 흑백 값으로 변환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grayScale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/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pPr>
              <a:buNone/>
            </a:pP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// </a:t>
            </a:r>
            <a:r>
              <a:rPr lang="ko-KR" altLang="en-US" sz="14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뎁스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버퍼 그리기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DrawPoint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fragment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LinearColor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White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grayScale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27B42-9D86-2186-B683-8231B065BF66}"/>
                  </a:ext>
                </a:extLst>
              </p:cNvPr>
              <p:cNvSpPr txBox="1"/>
              <p:nvPr/>
            </p:nvSpPr>
            <p:spPr>
              <a:xfrm>
                <a:off x="813128" y="3140968"/>
                <a:ext cx="3610139" cy="88299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27B42-9D86-2186-B683-8231B065B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28" y="3140968"/>
                <a:ext cx="3610139" cy="882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85937E-8A39-FB68-79D6-6D103C207212}"/>
                  </a:ext>
                </a:extLst>
              </p:cNvPr>
              <p:cNvSpPr txBox="1"/>
              <p:nvPr/>
            </p:nvSpPr>
            <p:spPr>
              <a:xfrm>
                <a:off x="4423267" y="3155836"/>
                <a:ext cx="2768838" cy="87241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𝑑𝑒𝑝𝑡h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85937E-8A39-FB68-79D6-6D103C207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67" y="3155836"/>
                <a:ext cx="2768838" cy="872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844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A348-EFD5-C94F-E323-9DBEF983E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D405D-2590-27CF-AA0D-295EBF28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12.6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4667ED-5BB4-E744-853F-35DC9D05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원근 투영 행렬 </a:t>
            </a:r>
            <a:r>
              <a:rPr lang="en-US" altLang="ko-KR" dirty="0"/>
              <a:t>(Perspective Projection Matrix)</a:t>
            </a:r>
          </a:p>
          <a:p>
            <a:pPr lvl="1"/>
            <a:r>
              <a:rPr lang="en-US" altLang="ko-KR" dirty="0"/>
              <a:t>3D </a:t>
            </a:r>
            <a:r>
              <a:rPr lang="ko-KR" altLang="en-US" dirty="0"/>
              <a:t>좌표를 원근이 적용된 </a:t>
            </a:r>
            <a:r>
              <a:rPr lang="en-US" altLang="ko-KR" dirty="0"/>
              <a:t>Clip Space</a:t>
            </a:r>
            <a:r>
              <a:rPr lang="ko-KR" altLang="en-US" dirty="0"/>
              <a:t>로 변환</a:t>
            </a:r>
            <a:endParaRPr lang="en-US" altLang="ko-KR" dirty="0"/>
          </a:p>
          <a:p>
            <a:pPr lvl="1"/>
            <a:r>
              <a:rPr lang="en-US" altLang="ko-KR" dirty="0"/>
              <a:t>w</a:t>
            </a:r>
            <a:r>
              <a:rPr lang="ko-KR" altLang="en-US" dirty="0"/>
              <a:t>로 나누어 원근 효과 생성</a:t>
            </a:r>
          </a:p>
          <a:p>
            <a:endParaRPr lang="ko-KR" altLang="en-US" dirty="0"/>
          </a:p>
          <a:p>
            <a:r>
              <a:rPr lang="ko-KR" altLang="en-US" dirty="0"/>
              <a:t>원근 보정 매핑 </a:t>
            </a:r>
            <a:r>
              <a:rPr lang="en-US" altLang="ko-KR" dirty="0"/>
              <a:t>(Perspective-Correct Mapping)</a:t>
            </a:r>
          </a:p>
          <a:p>
            <a:pPr lvl="1"/>
            <a:r>
              <a:rPr lang="ko-KR" altLang="en-US" dirty="0"/>
              <a:t>텍스처 좌표를 원근 왜곡 없이 보간</a:t>
            </a:r>
            <a:endParaRPr lang="en-US" altLang="ko-KR" dirty="0"/>
          </a:p>
          <a:p>
            <a:pPr lvl="1"/>
            <a:r>
              <a:rPr lang="en-US" altLang="ko-KR" dirty="0"/>
              <a:t>1/w</a:t>
            </a:r>
            <a:r>
              <a:rPr lang="ko-KR" altLang="en-US" dirty="0"/>
              <a:t>를 이용해 선형 보간 수행</a:t>
            </a:r>
          </a:p>
          <a:p>
            <a:endParaRPr lang="en-US" altLang="ko-KR" dirty="0"/>
          </a:p>
          <a:p>
            <a:r>
              <a:rPr lang="ko-KR" altLang="en-US" dirty="0"/>
              <a:t>깊이 버퍼 </a:t>
            </a:r>
            <a:r>
              <a:rPr lang="en-US" altLang="ko-KR" dirty="0"/>
              <a:t>(Depth Buffer)</a:t>
            </a:r>
          </a:p>
          <a:p>
            <a:pPr lvl="1"/>
            <a:r>
              <a:rPr lang="ko-KR" altLang="en-US" dirty="0"/>
              <a:t>픽셀마다 깊이 값을 저장하여 가시성 결정</a:t>
            </a:r>
          </a:p>
          <a:p>
            <a:pPr lvl="1"/>
            <a:r>
              <a:rPr lang="ko-KR" altLang="en-US" dirty="0"/>
              <a:t>더 가까운 픽셀만 화면에 표시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70D254-B10A-2175-8B89-ED3A47D21F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455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2E0-4740-A873-42F1-E4EA23D0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AAFC0D1-B041-DC47-CAB9-CA6AA79A1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13. </a:t>
            </a:r>
            <a:r>
              <a:rPr lang="ko-KR" altLang="en-US" dirty="0" err="1"/>
              <a:t>절두체</a:t>
            </a:r>
            <a:endParaRPr lang="ko-KR" altLang="en-US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75C5A28C-8D66-80BF-2209-70FADAEE2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최적화된 </a:t>
            </a:r>
            <a:r>
              <a:rPr lang="en-US" altLang="ko-KR" dirty="0"/>
              <a:t>3</a:t>
            </a:r>
            <a:r>
              <a:rPr lang="ko-KR" altLang="en-US" dirty="0"/>
              <a:t>차원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7E4309-252C-5110-455B-D49561B64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2073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A8246-45C3-7857-AD77-5BB03015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 </a:t>
            </a:r>
            <a:r>
              <a:rPr lang="ko-KR" altLang="en-US" dirty="0" err="1"/>
              <a:t>절두체</a:t>
            </a:r>
            <a:r>
              <a:rPr lang="ko-KR" altLang="en-US" dirty="0"/>
              <a:t> 컬링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DF3597-EDA1-FD1A-AADE-6C496A70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절두체를 구성하는 </a:t>
            </a:r>
            <a:r>
              <a:rPr lang="en-US" altLang="ko-KR" dirty="0"/>
              <a:t>6</a:t>
            </a:r>
            <a:r>
              <a:rPr lang="ko-KR" altLang="en-US" dirty="0"/>
              <a:t>개의 평면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F8B1ED-379C-99D7-A217-86169047A9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3FEE09-0814-2EE4-405D-3E8A8A59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88682"/>
            <a:ext cx="6007100" cy="490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9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32BC-31EF-19FC-A868-0116F98C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5781B-444A-B35F-9916-D1A246C0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056A49-13F5-9EF5-FB79-8F08508D2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평면을 이루는 최소 구성 요소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D8C366-2C46-3ED8-B445-949540257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A3F143-E3EE-4870-7059-E086A3D7FCB7}"/>
                  </a:ext>
                </a:extLst>
              </p:cNvPr>
              <p:cNvSpPr txBox="1"/>
              <p:nvPr/>
            </p:nvSpPr>
            <p:spPr>
              <a:xfrm>
                <a:off x="1835696" y="4823861"/>
                <a:ext cx="4968552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A3F143-E3EE-4870-7059-E086A3D7F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4823861"/>
                <a:ext cx="4968552" cy="400110"/>
              </a:xfrm>
              <a:prstGeom prst="rect">
                <a:avLst/>
              </a:prstGeom>
              <a:blipFill>
                <a:blip r:embed="rId2"/>
                <a:stretch>
                  <a:fillRect b="-1060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61488E04-E088-D0EE-F63F-F9FFB0B96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00" y="1268760"/>
            <a:ext cx="5908899" cy="2734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11DC9-E79D-150D-D132-99F51AED3FA2}"/>
                  </a:ext>
                </a:extLst>
              </p:cNvPr>
              <p:cNvSpPr txBox="1"/>
              <p:nvPr/>
            </p:nvSpPr>
            <p:spPr>
              <a:xfrm>
                <a:off x="1835696" y="5303524"/>
                <a:ext cx="4811537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𝑏𝑦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11DC9-E79D-150D-D132-99F51AED3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5303524"/>
                <a:ext cx="4811537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7EF5BD-A57C-BC72-71C3-ED84EFF2CD8A}"/>
                  </a:ext>
                </a:extLst>
              </p:cNvPr>
              <p:cNvSpPr txBox="1"/>
              <p:nvPr/>
            </p:nvSpPr>
            <p:spPr>
              <a:xfrm>
                <a:off x="1259632" y="5783188"/>
                <a:ext cx="381642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𝑏𝑦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𝑐𝑧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7EF5BD-A57C-BC72-71C3-ED84EFF2C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783188"/>
                <a:ext cx="3816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7CE42-4C0C-DD81-D791-FC4658954E89}"/>
                  </a:ext>
                </a:extLst>
              </p:cNvPr>
              <p:cNvSpPr txBox="1"/>
              <p:nvPr/>
            </p:nvSpPr>
            <p:spPr>
              <a:xfrm>
                <a:off x="1259632" y="4221088"/>
                <a:ext cx="216024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7CE42-4C0C-DD81-D791-FC4658954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221088"/>
                <a:ext cx="216024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798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06C5-2DE6-5B58-212C-B755FF53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F64B9-7ED5-DAA3-FA66-AC034FFE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1CD218-4347-FD06-8871-590A12A5B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ko-KR" altLang="en-US" dirty="0"/>
                  <a:t>를 계산하기 위한 평면의 구성 요소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1CD218-4347-FD06-8871-590A12A5B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02942C-810A-6B31-AA52-74E6D399E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8630B0-60D5-FCCA-7F4B-355FFED85D3A}"/>
                  </a:ext>
                </a:extLst>
              </p:cNvPr>
              <p:cNvSpPr txBox="1"/>
              <p:nvPr/>
            </p:nvSpPr>
            <p:spPr>
              <a:xfrm>
                <a:off x="539750" y="2420888"/>
                <a:ext cx="381642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𝑏𝑦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𝑐𝑧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8630B0-60D5-FCCA-7F4B-355FFED85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420888"/>
                <a:ext cx="38164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F3FF65-9A4B-756D-C02D-7E46BE26638F}"/>
                  </a:ext>
                </a:extLst>
              </p:cNvPr>
              <p:cNvSpPr txBox="1"/>
              <p:nvPr/>
            </p:nvSpPr>
            <p:spPr>
              <a:xfrm>
                <a:off x="539750" y="3353896"/>
                <a:ext cx="3672407" cy="57830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acc>
                      <m:accPr>
                        <m:chr m:val="̂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acc>
                      <m:accPr>
                        <m:chr m:val="̂"/>
                        <m:ctrlPr>
                          <a:rPr lang="en-US" altLang="ko-K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F3FF65-9A4B-756D-C02D-7E46BE266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353896"/>
                <a:ext cx="3672407" cy="578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C43BB429-0484-BDD1-D1DD-33B56AC5D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1474593"/>
            <a:ext cx="4341810" cy="418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44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E85DC-0345-2CF8-8E2D-8E055A5CD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F688725-9DA4-CE4B-331F-4B112BF48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196752"/>
            <a:ext cx="4654694" cy="47461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370A6C-76F6-FBD8-D460-B775CD57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56B9BD1-7545-E79A-3C9F-5D84848C4D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>
                    <a:latin typeface="+mn-ea"/>
                  </a:rPr>
                  <a:t>상수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ko-KR" altLang="en-US" dirty="0">
                    <a:latin typeface="+mn-ea"/>
                  </a:rPr>
                  <a:t>와 관련있는 두 벡터의 내적</a:t>
                </a:r>
                <a:endParaRPr lang="en-US" altLang="ko-KR" dirty="0">
                  <a:latin typeface="+mn-ea"/>
                </a:endParaRPr>
              </a:p>
              <a:p>
                <a:endParaRPr lang="en-US" altLang="ko-KR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+mn-ea"/>
                  </a:rPr>
                  <a:t>의</a:t>
                </a:r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의미</a:t>
                </a:r>
                <a:br>
                  <a:rPr lang="en-US" altLang="ko-KR" dirty="0">
                    <a:latin typeface="+mn-ea"/>
                  </a:rPr>
                </a:br>
                <a:r>
                  <a:rPr lang="ko-KR" altLang="en-US" dirty="0">
                    <a:latin typeface="+mn-ea"/>
                  </a:rPr>
                  <a:t>→ 원점에서의 최단 거리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56B9BD1-7545-E79A-3C9F-5D84848C4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337904-FEFC-22A0-56EE-4A5CDBFB36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DCAA9C-C861-7DAD-BC4F-61CA9854B9C9}"/>
                  </a:ext>
                </a:extLst>
              </p:cNvPr>
              <p:cNvSpPr txBox="1"/>
              <p:nvPr/>
            </p:nvSpPr>
            <p:spPr>
              <a:xfrm>
                <a:off x="513874" y="3167390"/>
                <a:ext cx="2808212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DCAA9C-C861-7DAD-BC4F-61CA9854B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74" y="3167390"/>
                <a:ext cx="2808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5530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B0FB-24E9-0AEB-5E8F-5EB3403C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18BD2-1115-0C23-7D95-6D65F154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1D19D7-D2C6-BF9B-A593-6DB48091D2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의 부호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평면의 방향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법선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이 원점을 향함</a:t>
                </a:r>
                <a:br>
                  <a:rPr lang="en-US" altLang="ko-KR" dirty="0"/>
                </a:br>
                <a:r>
                  <a:rPr lang="ko-KR" altLang="en-US" dirty="0"/>
                  <a:t>→ 원점이 평면 위에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0&gt;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평면의 방향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법선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이 원점에서 멀어지는 방향</a:t>
                </a:r>
                <a:br>
                  <a:rPr lang="en-US" altLang="ko-KR" dirty="0"/>
                </a:br>
                <a:r>
                  <a:rPr lang="ko-KR" altLang="en-US" dirty="0"/>
                  <a:t>→ 원점이 평면 아래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→ 원점이 평면에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1D19D7-D2C6-BF9B-A593-6DB48091D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8ECAB4-BD61-28FC-9C6F-5BD3153020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1B2354-31AB-577A-08DB-F630A2E1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61" y="3726354"/>
            <a:ext cx="3906199" cy="28347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299677-C510-8C30-09D5-8282CF132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640" y="3726354"/>
            <a:ext cx="4390387" cy="258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74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FE46-93FC-9F8B-12B4-D447E50D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80807-79FD-136A-3B41-699459B9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1EE40-0FC5-CF04-7E7E-4997C8C9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점의 평면 아래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점의 평면 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BD2EFF-6CBD-D324-4716-1DFCD4BBB9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E6420E-C7F9-CDBC-46BB-D2BC5B18F63D}"/>
                  </a:ext>
                </a:extLst>
              </p:cNvPr>
              <p:cNvSpPr txBox="1"/>
              <p:nvPr/>
            </p:nvSpPr>
            <p:spPr>
              <a:xfrm>
                <a:off x="624357" y="1849625"/>
                <a:ext cx="2565970" cy="51802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`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E6420E-C7F9-CDBC-46BB-D2BC5B18F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7" y="1849625"/>
                <a:ext cx="2565970" cy="518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9E2F91-5F85-DA0B-B8A0-D50CAE7AD64D}"/>
                  </a:ext>
                </a:extLst>
              </p:cNvPr>
              <p:cNvSpPr txBox="1"/>
              <p:nvPr/>
            </p:nvSpPr>
            <p:spPr>
              <a:xfrm>
                <a:off x="624357" y="2996952"/>
                <a:ext cx="3299571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 −</m:t>
                      </m:r>
                      <m:acc>
                        <m:accPr>
                          <m:chr m:val="̂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9E2F91-5F85-DA0B-B8A0-D50CAE7AD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7" y="2996952"/>
                <a:ext cx="3299571" cy="5100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C36362-7E98-D4C3-0618-CBEE28098321}"/>
                  </a:ext>
                </a:extLst>
              </p:cNvPr>
              <p:cNvSpPr txBox="1"/>
              <p:nvPr/>
            </p:nvSpPr>
            <p:spPr>
              <a:xfrm>
                <a:off x="624357" y="2492896"/>
                <a:ext cx="2565970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 &lt;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C36362-7E98-D4C3-0618-CBEE28098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7" y="2492896"/>
                <a:ext cx="2565970" cy="51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B8E9C3-31ED-7D92-3E36-7ACB02323761}"/>
                  </a:ext>
                </a:extLst>
              </p:cNvPr>
              <p:cNvSpPr txBox="1"/>
              <p:nvPr/>
            </p:nvSpPr>
            <p:spPr>
              <a:xfrm>
                <a:off x="624357" y="1340768"/>
                <a:ext cx="2565970" cy="50642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B8E9C3-31ED-7D92-3E36-7ACB02323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7" y="1340768"/>
                <a:ext cx="2565970" cy="5064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EFAADF-4280-D370-E17E-F96AC0C437F0}"/>
                  </a:ext>
                </a:extLst>
              </p:cNvPr>
              <p:cNvSpPr txBox="1"/>
              <p:nvPr/>
            </p:nvSpPr>
            <p:spPr>
              <a:xfrm>
                <a:off x="624357" y="4843964"/>
                <a:ext cx="3299571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 −</m:t>
                      </m:r>
                      <m:acc>
                        <m:accPr>
                          <m:chr m:val="̂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EFAADF-4280-D370-E17E-F96AC0C43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7" y="4843964"/>
                <a:ext cx="3299571" cy="5100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1F731B7A-AFDF-088E-44B8-BA9031C60DA6}"/>
              </a:ext>
            </a:extLst>
          </p:cNvPr>
          <p:cNvGrpSpPr/>
          <p:nvPr/>
        </p:nvGrpSpPr>
        <p:grpSpPr>
          <a:xfrm>
            <a:off x="4139952" y="1593978"/>
            <a:ext cx="4752528" cy="4288959"/>
            <a:chOff x="3923928" y="1484784"/>
            <a:chExt cx="4752528" cy="428895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4B52188-57BB-535E-5A78-3E6156B8BBA6}"/>
                </a:ext>
              </a:extLst>
            </p:cNvPr>
            <p:cNvGrpSpPr/>
            <p:nvPr/>
          </p:nvGrpSpPr>
          <p:grpSpPr>
            <a:xfrm>
              <a:off x="3923928" y="1484784"/>
              <a:ext cx="4752528" cy="4288959"/>
              <a:chOff x="4211960" y="1484784"/>
              <a:chExt cx="4418608" cy="3489733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F4D740B1-A924-324B-F8BA-E9FE93A36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1960" y="1484784"/>
                <a:ext cx="4418608" cy="3489733"/>
              </a:xfrm>
              <a:prstGeom prst="rect">
                <a:avLst/>
              </a:prstGeom>
            </p:spPr>
          </p:pic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BB915D95-6660-34B1-6915-1666E98160DC}"/>
                  </a:ext>
                </a:extLst>
              </p:cNvPr>
              <p:cNvCxnSpPr/>
              <p:nvPr/>
            </p:nvCxnSpPr>
            <p:spPr bwMode="auto">
              <a:xfrm flipV="1">
                <a:off x="5796136" y="2564904"/>
                <a:ext cx="1584900" cy="2088232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A2BE660C-BDF2-C1D1-19B6-225E16F77111}"/>
                  </a:ext>
                </a:extLst>
              </p:cNvPr>
              <p:cNvCxnSpPr/>
              <p:nvPr/>
            </p:nvCxnSpPr>
            <p:spPr bwMode="auto">
              <a:xfrm flipH="1" flipV="1">
                <a:off x="6108415" y="2549133"/>
                <a:ext cx="1224860" cy="252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68DA432-1C61-97B5-343F-F2004DE41F97}"/>
                    </a:ext>
                  </a:extLst>
                </p:cNvPr>
                <p:cNvSpPr txBox="1"/>
                <p:nvPr/>
              </p:nvSpPr>
              <p:spPr>
                <a:xfrm>
                  <a:off x="5313377" y="2539683"/>
                  <a:ext cx="720080" cy="506421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68DA432-1C61-97B5-343F-F2004DE41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3377" y="2539683"/>
                  <a:ext cx="720080" cy="5064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660D2BD-C535-0A1A-5BC3-D37A6FACE864}"/>
                    </a:ext>
                  </a:extLst>
                </p:cNvPr>
                <p:cNvSpPr txBox="1"/>
                <p:nvPr/>
              </p:nvSpPr>
              <p:spPr>
                <a:xfrm>
                  <a:off x="7356014" y="2539683"/>
                  <a:ext cx="504056" cy="506421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660D2BD-C535-0A1A-5BC3-D37A6FACE8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6014" y="2539683"/>
                  <a:ext cx="504056" cy="5064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83873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BCE8-2E8D-BF89-5E3E-AF213D3E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DCAB7-B62E-C88A-DB59-F34FF90D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86129-6C79-90A9-294E-7E29F7B24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법선 벡터가 반대 방향인 경우</a:t>
            </a:r>
            <a:br>
              <a:rPr lang="en-US" altLang="ko-KR" dirty="0"/>
            </a:br>
            <a:r>
              <a:rPr lang="ko-KR" altLang="en-US" dirty="0"/>
              <a:t>→ 동일하게  적용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D59747-6FAC-3139-5535-8EA62F5EC9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847688-B068-92DA-EABB-8BE37E042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1134098"/>
            <a:ext cx="5156200" cy="4638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8623AC-ED8E-99F2-3F11-A7A216742174}"/>
                  </a:ext>
                </a:extLst>
              </p:cNvPr>
              <p:cNvSpPr txBox="1"/>
              <p:nvPr/>
            </p:nvSpPr>
            <p:spPr>
              <a:xfrm>
                <a:off x="1187624" y="3318532"/>
                <a:ext cx="2649247" cy="5797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8623AC-ED8E-99F2-3F11-A7A216742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318532"/>
                <a:ext cx="2649247" cy="579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173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1B3C2-60B1-F293-A731-6D4AA809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D9993-A3FF-8D0F-2134-1FADC39A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평면의 방정식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D6E84C-7DC1-D082-00C6-8B45344525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내용 개체 틀 11">
                <a:extLst>
                  <a:ext uri="{FF2B5EF4-FFF2-40B4-BE49-F238E27FC236}">
                    <a16:creationId xmlns:a16="http://schemas.microsoft.com/office/drawing/2014/main" id="{4A509A86-9D43-E409-6B5D-E323B7A20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점의 평면 위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+ 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ko-KR" altLang="en-US" sz="2000" dirty="0"/>
              </a:p>
              <a:p>
                <a:pPr lvl="3"/>
                <a:endParaRPr lang="en-US" altLang="ko-KR" sz="1400" dirty="0"/>
              </a:p>
              <a:p>
                <a:r>
                  <a:rPr lang="ko-KR" altLang="en-US" sz="2400" dirty="0"/>
                  <a:t>점의 평면 아래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+ 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ko-KR" altLang="en-US" sz="2000" dirty="0"/>
              </a:p>
              <a:p>
                <a:pPr lvl="3"/>
                <a:endParaRPr lang="en-US" altLang="ko-KR" sz="1400" dirty="0"/>
              </a:p>
              <a:p>
                <a:r>
                  <a:rPr lang="ko-KR" altLang="en-US" sz="2400" dirty="0"/>
                  <a:t>점이 평면 안에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+ 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ko-KR" altLang="en-US" sz="2000" dirty="0"/>
              </a:p>
              <a:p>
                <a:pPr lvl="3"/>
                <a:endParaRPr lang="en-US" altLang="ko-KR" sz="1400" dirty="0"/>
              </a:p>
              <a:p>
                <a:r>
                  <a:rPr lang="ko-KR" altLang="en-US" sz="2400" dirty="0" err="1"/>
                  <a:t>정규화된</a:t>
                </a:r>
                <a:r>
                  <a:rPr lang="ko-KR" altLang="en-US" sz="2400" dirty="0"/>
                  <a:t> 법선 벡터를 가진 평면 에서 점까지 최단 거리</a:t>
                </a:r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평면의 법선 벡터의 정규화까지 고려한다면</a:t>
                </a:r>
              </a:p>
              <a:p>
                <a:pPr lvl="1"/>
                <a:endParaRPr lang="ko-KR" altLang="en-US" sz="2000" dirty="0"/>
              </a:p>
            </p:txBody>
          </p:sp>
        </mc:Choice>
        <mc:Fallback xmlns="">
          <p:sp>
            <p:nvSpPr>
              <p:cNvPr id="12" name="내용 개체 틀 11">
                <a:extLst>
                  <a:ext uri="{FF2B5EF4-FFF2-40B4-BE49-F238E27FC236}">
                    <a16:creationId xmlns:a16="http://schemas.microsoft.com/office/drawing/2014/main" id="{4A509A86-9D43-E409-6B5D-E323B7A20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E298EB-8F11-DFC0-E365-5980E6CB331B}"/>
                  </a:ext>
                </a:extLst>
              </p:cNvPr>
              <p:cNvSpPr txBox="1"/>
              <p:nvPr/>
            </p:nvSpPr>
            <p:spPr>
              <a:xfrm>
                <a:off x="755576" y="5546849"/>
                <a:ext cx="5720768" cy="87549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E298EB-8F11-DFC0-E365-5980E6CB3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546849"/>
                <a:ext cx="5720768" cy="8754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2B121B-FA80-8469-EDBF-C42A5C09891A}"/>
                  </a:ext>
                </a:extLst>
              </p:cNvPr>
              <p:cNvSpPr txBox="1"/>
              <p:nvPr/>
            </p:nvSpPr>
            <p:spPr>
              <a:xfrm>
                <a:off x="755576" y="4365104"/>
                <a:ext cx="572076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2B121B-FA80-8469-EDBF-C42A5C098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365104"/>
                <a:ext cx="5720768" cy="461665"/>
              </a:xfrm>
              <a:prstGeom prst="rect">
                <a:avLst/>
              </a:prstGeom>
              <a:blipFill>
                <a:blip r:embed="rId4"/>
                <a:stretch>
                  <a:fillRect l="-320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941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8CCE2-1F14-1CEE-81E0-34DDBFDD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71094-3955-7615-3D1F-B823E576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13.1.2 </a:t>
            </a:r>
            <a:r>
              <a:rPr lang="ko-KR" altLang="en-US" dirty="0"/>
              <a:t>평면의 방정식의 정규화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9575769-ED1D-6A13-16C9-DE256A9EE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평면의 방정식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𝑐𝑧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 = 0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9575769-ED1D-6A13-16C9-DE256A9EE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16F99A-7A68-B1F5-4A81-F795849BEB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B4DC7-3AEF-CAAA-FBBE-F9EA80845B57}"/>
                  </a:ext>
                </a:extLst>
              </p:cNvPr>
              <p:cNvSpPr txBox="1"/>
              <p:nvPr/>
            </p:nvSpPr>
            <p:spPr>
              <a:xfrm>
                <a:off x="971600" y="1864646"/>
                <a:ext cx="3024336" cy="50642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B4DC7-3AEF-CAAA-FBBE-F9EA80845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64646"/>
                <a:ext cx="3024336" cy="506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13F84-A389-8EA2-418F-E472909F1C4B}"/>
                  </a:ext>
                </a:extLst>
              </p:cNvPr>
              <p:cNvSpPr txBox="1"/>
              <p:nvPr/>
            </p:nvSpPr>
            <p:spPr>
              <a:xfrm>
                <a:off x="939209" y="2611575"/>
                <a:ext cx="6480720" cy="50642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13F84-A389-8EA2-418F-E472909F1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09" y="2611575"/>
                <a:ext cx="6480720" cy="5064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C3F5AF-9072-74EF-64EC-1E5DC9AF58D1}"/>
                  </a:ext>
                </a:extLst>
              </p:cNvPr>
              <p:cNvSpPr txBox="1"/>
              <p:nvPr/>
            </p:nvSpPr>
            <p:spPr>
              <a:xfrm>
                <a:off x="942237" y="3260079"/>
                <a:ext cx="3485747" cy="50642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C3F5AF-9072-74EF-64EC-1E5DC9AF5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237" y="3260079"/>
                <a:ext cx="3485747" cy="5064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47ADBC-A7EE-849E-1A14-1341F48C1F76}"/>
                  </a:ext>
                </a:extLst>
              </p:cNvPr>
              <p:cNvSpPr txBox="1"/>
              <p:nvPr/>
            </p:nvSpPr>
            <p:spPr>
              <a:xfrm>
                <a:off x="931754" y="4022143"/>
                <a:ext cx="2848158" cy="10307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47ADBC-A7EE-849E-1A14-1341F48C1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54" y="4022143"/>
                <a:ext cx="2848158" cy="10307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602B25-671C-9EC5-728B-F0C02ABAB549}"/>
                  </a:ext>
                </a:extLst>
              </p:cNvPr>
              <p:cNvSpPr txBox="1"/>
              <p:nvPr/>
            </p:nvSpPr>
            <p:spPr>
              <a:xfrm>
                <a:off x="4283968" y="4122953"/>
                <a:ext cx="4349207" cy="86267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602B25-671C-9EC5-728B-F0C02ABA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122953"/>
                <a:ext cx="4349207" cy="862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05B536B-3189-D635-A866-05D67E533F29}"/>
              </a:ext>
            </a:extLst>
          </p:cNvPr>
          <p:cNvSpPr/>
          <p:nvPr/>
        </p:nvSpPr>
        <p:spPr bwMode="auto">
          <a:xfrm>
            <a:off x="3434236" y="4331704"/>
            <a:ext cx="691352" cy="575479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9946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5AB9-1C4D-2CF2-CF44-215B3CB2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2AC8A-FC50-6A95-FC02-0BC4365E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13.1.2 </a:t>
            </a:r>
            <a:r>
              <a:rPr lang="ko-KR" altLang="en-US" dirty="0"/>
              <a:t>평면의 방정식의 정규화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66889C-E6B3-9826-DBA5-6E8A05BA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차원공간에서 직선과 점 사이의 최단 거리</a:t>
            </a:r>
            <a:br>
              <a:rPr lang="en-US" altLang="ko-KR" dirty="0"/>
            </a:br>
            <a:r>
              <a:rPr lang="ko-KR" altLang="en-US" dirty="0"/>
              <a:t>→ </a:t>
            </a:r>
            <a:r>
              <a:rPr lang="en-US" altLang="ko-KR" dirty="0"/>
              <a:t>3</a:t>
            </a:r>
            <a:r>
              <a:rPr lang="ko-KR" altLang="en-US" dirty="0"/>
              <a:t>차원 평면에서 </a:t>
            </a:r>
            <a:r>
              <a:rPr lang="en-US" altLang="ko-KR" dirty="0"/>
              <a:t>z </a:t>
            </a:r>
            <a:r>
              <a:rPr lang="ko-KR" altLang="en-US" dirty="0"/>
              <a:t>→ </a:t>
            </a:r>
            <a:r>
              <a:rPr lang="en-US" altLang="ko-KR" dirty="0"/>
              <a:t>0 </a:t>
            </a:r>
            <a:r>
              <a:rPr lang="ko-KR" altLang="en-US" dirty="0"/>
              <a:t>인 평면과의 거리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6776EA-652C-58E2-B6DB-E8E389F095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EFCCF9-6AB6-9875-0EBF-8AE9E6FB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232" y="1924766"/>
            <a:ext cx="4365386" cy="39525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CB0E2-986E-DCDE-AEDE-11EEBFDC0887}"/>
                  </a:ext>
                </a:extLst>
              </p:cNvPr>
              <p:cNvSpPr txBox="1"/>
              <p:nvPr/>
            </p:nvSpPr>
            <p:spPr>
              <a:xfrm>
                <a:off x="390571" y="1806176"/>
                <a:ext cx="3960595" cy="74494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CB0E2-986E-DCDE-AEDE-11EEBFDC0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71" y="1806176"/>
                <a:ext cx="3960595" cy="744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675E9280-BBEE-274B-F4CF-F44F8611CB5E}"/>
              </a:ext>
            </a:extLst>
          </p:cNvPr>
          <p:cNvSpPr/>
          <p:nvPr/>
        </p:nvSpPr>
        <p:spPr bwMode="auto">
          <a:xfrm>
            <a:off x="390571" y="2816842"/>
            <a:ext cx="504056" cy="442443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A53A0E-FCBE-2F9F-B24A-A398B606462C}"/>
                  </a:ext>
                </a:extLst>
              </p:cNvPr>
              <p:cNvSpPr txBox="1"/>
              <p:nvPr/>
            </p:nvSpPr>
            <p:spPr>
              <a:xfrm>
                <a:off x="361951" y="3525003"/>
                <a:ext cx="4506241" cy="10059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A53A0E-FCBE-2F9F-B24A-A398B6064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1" y="3525003"/>
                <a:ext cx="4506241" cy="1005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7852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AD0F5-D232-5D3B-A630-AAB21FE1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C1D5C-B5C5-C366-F7BE-2434F2DF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13.1.3 </a:t>
            </a:r>
            <a:r>
              <a:rPr lang="ko-KR" altLang="en-US" dirty="0"/>
              <a:t>평면의 방정식을 활용한 </a:t>
            </a:r>
            <a:r>
              <a:rPr lang="ko-KR" altLang="en-US" dirty="0" err="1"/>
              <a:t>절두체</a:t>
            </a:r>
            <a:r>
              <a:rPr lang="ko-KR" altLang="en-US" dirty="0"/>
              <a:t> 표현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30BF396-9922-310B-DC7E-5548FB1B2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절두체의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/>
                  <a:t>축 상단 평면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 err="1"/>
                  <a:t>절두체</a:t>
                </a:r>
                <a:r>
                  <a:rPr lang="ko-KR" altLang="en-US" dirty="0"/>
                  <a:t> 상단 법선 벡터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30BF396-9922-310B-DC7E-5548FB1B2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E4D4B5-4D7A-26AF-5417-B22F9B0EB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0118C0-E3F1-7378-E509-CB563A6AF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0" r="5536" b="7142"/>
          <a:stretch>
            <a:fillRect/>
          </a:stretch>
        </p:blipFill>
        <p:spPr>
          <a:xfrm>
            <a:off x="4355976" y="764704"/>
            <a:ext cx="3567166" cy="30243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ABF4FAE-6427-9971-49D0-B1A3C9BC2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46" y="3222049"/>
            <a:ext cx="4965657" cy="311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385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695D-BBE9-33A4-6E49-1FB19A0F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14308-AA7F-B301-A247-B5BCEF9D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13.1.3 </a:t>
            </a:r>
            <a:r>
              <a:rPr lang="ko-KR" altLang="en-US" dirty="0" err="1"/>
              <a:t>절두체</a:t>
            </a:r>
            <a:r>
              <a:rPr lang="ko-KR" altLang="en-US" dirty="0"/>
              <a:t> 평면 구하기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29E63FD-DB04-463E-35AE-89395D2A24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절두체의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400" dirty="0"/>
                  <a:t>축 상단 평면</a:t>
                </a:r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 err="1"/>
                  <a:t>절두체</a:t>
                </a:r>
                <a:r>
                  <a:rPr lang="ko-KR" altLang="en-US" sz="2400" dirty="0"/>
                  <a:t> </a:t>
                </a:r>
                <a:r>
                  <a:rPr lang="en-US" altLang="ko-KR" sz="2400" dirty="0"/>
                  <a:t>y</a:t>
                </a:r>
                <a:r>
                  <a:rPr lang="ko-KR" altLang="en-US" sz="2400" dirty="0"/>
                  <a:t>축 상단 평면 방정식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 err="1"/>
                  <a:t>절두체</a:t>
                </a:r>
                <a:r>
                  <a:rPr lang="ko-KR" altLang="en-US" sz="2400" dirty="0"/>
                  <a:t> 하단 평면 방정식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 err="1"/>
                  <a:t>절두체</a:t>
                </a:r>
                <a:r>
                  <a:rPr lang="ko-KR" altLang="en-US" sz="2400" dirty="0"/>
                  <a:t> 좌측 평면의 방정식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 err="1"/>
                  <a:t>절두체</a:t>
                </a:r>
                <a:r>
                  <a:rPr lang="ko-KR" altLang="en-US" sz="2400" dirty="0"/>
                  <a:t> 우측 평면의 방정식</a:t>
                </a:r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29E63FD-DB04-463E-35AE-89395D2A2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7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7E864F-F3D6-1E40-3672-307C2C387C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228296-642D-5FF4-4252-77D6A8C5D09A}"/>
                  </a:ext>
                </a:extLst>
              </p:cNvPr>
              <p:cNvSpPr txBox="1"/>
              <p:nvPr/>
            </p:nvSpPr>
            <p:spPr>
              <a:xfrm>
                <a:off x="3248925" y="1174850"/>
                <a:ext cx="2712962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228296-642D-5FF4-4252-77D6A8C5D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925" y="1174850"/>
                <a:ext cx="2712962" cy="783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F2E7C9-D698-B81A-441F-DB8D14423E22}"/>
                  </a:ext>
                </a:extLst>
              </p:cNvPr>
              <p:cNvSpPr txBox="1"/>
              <p:nvPr/>
            </p:nvSpPr>
            <p:spPr>
              <a:xfrm>
                <a:off x="257604" y="1174850"/>
                <a:ext cx="2391717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F2E7C9-D698-B81A-441F-DB8D14423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04" y="1174850"/>
                <a:ext cx="2391717" cy="7838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F1D9831-5881-FB22-A7B8-C69C9990FB2E}"/>
              </a:ext>
            </a:extLst>
          </p:cNvPr>
          <p:cNvSpPr/>
          <p:nvPr/>
        </p:nvSpPr>
        <p:spPr bwMode="auto">
          <a:xfrm>
            <a:off x="2697095" y="1345563"/>
            <a:ext cx="504056" cy="442443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9A033A3-FC3D-F317-A37C-CDC635BA36BC}"/>
              </a:ext>
            </a:extLst>
          </p:cNvPr>
          <p:cNvGrpSpPr/>
          <p:nvPr/>
        </p:nvGrpSpPr>
        <p:grpSpPr>
          <a:xfrm>
            <a:off x="6376035" y="1015535"/>
            <a:ext cx="2513683" cy="2793239"/>
            <a:chOff x="1765565" y="2852936"/>
            <a:chExt cx="2513683" cy="2793239"/>
          </a:xfrm>
        </p:grpSpPr>
        <p:sp>
          <p:nvSpPr>
            <p:cNvPr id="12" name="Line 50">
              <a:extLst>
                <a:ext uri="{FF2B5EF4-FFF2-40B4-BE49-F238E27FC236}">
                  <a16:creationId xmlns:a16="http://schemas.microsoft.com/office/drawing/2014/main" id="{E549A3F2-9AC1-57CA-73C1-8736186E6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1896" y="3933056"/>
              <a:ext cx="0" cy="729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51">
                  <a:extLst>
                    <a:ext uri="{FF2B5EF4-FFF2-40B4-BE49-F238E27FC236}">
                      <a16:creationId xmlns:a16="http://schemas.microsoft.com/office/drawing/2014/main" id="{76E313B7-93A5-C27A-F669-113A5FCEA6D3}"/>
                    </a:ext>
                  </a:extLst>
                </p:cNvPr>
                <p:cNvSpPr txBox="1"/>
                <p:nvPr/>
              </p:nvSpPr>
              <p:spPr bwMode="auto">
                <a:xfrm>
                  <a:off x="1765565" y="3489200"/>
                  <a:ext cx="421794" cy="3996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ko-KR" altLang="en-US" sz="18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Object 51">
                  <a:extLst>
                    <a:ext uri="{FF2B5EF4-FFF2-40B4-BE49-F238E27FC236}">
                      <a16:creationId xmlns:a16="http://schemas.microsoft.com/office/drawing/2014/main" id="{76E313B7-93A5-C27A-F669-113A5FCEA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5565" y="3489200"/>
                  <a:ext cx="421794" cy="399686"/>
                </a:xfrm>
                <a:prstGeom prst="rect">
                  <a:avLst/>
                </a:prstGeom>
                <a:blipFill>
                  <a:blip r:embed="rId5"/>
                  <a:stretch>
                    <a:fillRect t="-4545" r="-72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Line 45">
              <a:extLst>
                <a:ext uri="{FF2B5EF4-FFF2-40B4-BE49-F238E27FC236}">
                  <a16:creationId xmlns:a16="http://schemas.microsoft.com/office/drawing/2014/main" id="{55473F54-04C3-D731-C6D5-35575A41BB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4019" y="3264889"/>
              <a:ext cx="922176" cy="1869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" name="Line 46">
              <a:extLst>
                <a:ext uri="{FF2B5EF4-FFF2-40B4-BE49-F238E27FC236}">
                  <a16:creationId xmlns:a16="http://schemas.microsoft.com/office/drawing/2014/main" id="{1D222017-C7E1-CCE9-BF3B-6D3301BBBA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50160" y="4203685"/>
              <a:ext cx="270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21592B0F-35D8-5217-884B-5DEF58AB23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910309" y="4660776"/>
              <a:ext cx="1869594" cy="985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" name="Line 48">
              <a:extLst>
                <a:ext uri="{FF2B5EF4-FFF2-40B4-BE49-F238E27FC236}">
                  <a16:creationId xmlns:a16="http://schemas.microsoft.com/office/drawing/2014/main" id="{86A4CFF7-1936-7EC2-1C5C-B482E708CE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231625" y="3497531"/>
              <a:ext cx="913828" cy="439523"/>
            </a:xfrm>
            <a:prstGeom prst="line">
              <a:avLst/>
            </a:prstGeom>
            <a:noFill/>
            <a:ln w="635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" name="Line 49">
              <a:extLst>
                <a:ext uri="{FF2B5EF4-FFF2-40B4-BE49-F238E27FC236}">
                  <a16:creationId xmlns:a16="http://schemas.microsoft.com/office/drawing/2014/main" id="{F1904E46-0BA1-871D-1F12-E30BFB0429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26296" y="3747964"/>
              <a:ext cx="0" cy="182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9" name="Arc 53">
              <a:extLst>
                <a:ext uri="{FF2B5EF4-FFF2-40B4-BE49-F238E27FC236}">
                  <a16:creationId xmlns:a16="http://schemas.microsoft.com/office/drawing/2014/main" id="{B55A4C52-1878-BB64-FC79-DC02A37BE1B8}"/>
                </a:ext>
              </a:extLst>
            </p:cNvPr>
            <p:cNvSpPr>
              <a:spLocks/>
            </p:cNvSpPr>
            <p:nvPr/>
          </p:nvSpPr>
          <p:spPr bwMode="auto">
            <a:xfrm rot="646622">
              <a:off x="2406477" y="4291674"/>
              <a:ext cx="381987" cy="598899"/>
            </a:xfrm>
            <a:custGeom>
              <a:avLst/>
              <a:gdLst>
                <a:gd name="T0" fmla="*/ 0 w 20153"/>
                <a:gd name="T1" fmla="*/ 0 h 18905"/>
                <a:gd name="T2" fmla="*/ 1 w 20153"/>
                <a:gd name="T3" fmla="*/ 1 h 18905"/>
                <a:gd name="T4" fmla="*/ 0 w 20153"/>
                <a:gd name="T5" fmla="*/ 2 h 18905"/>
                <a:gd name="T6" fmla="*/ 0 60000 65536"/>
                <a:gd name="T7" fmla="*/ 0 60000 65536"/>
                <a:gd name="T8" fmla="*/ 0 60000 65536"/>
                <a:gd name="T9" fmla="*/ 0 w 20153"/>
                <a:gd name="T10" fmla="*/ 0 h 18905"/>
                <a:gd name="T11" fmla="*/ 20153 w 20153"/>
                <a:gd name="T12" fmla="*/ 18905 h 18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53" h="18905" fill="none" extrusionOk="0">
                  <a:moveTo>
                    <a:pt x="10448" y="-1"/>
                  </a:moveTo>
                  <a:cubicBezTo>
                    <a:pt x="14890" y="2455"/>
                    <a:pt x="18326" y="6396"/>
                    <a:pt x="20153" y="11132"/>
                  </a:cubicBezTo>
                </a:path>
                <a:path w="20153" h="18905" stroke="0" extrusionOk="0">
                  <a:moveTo>
                    <a:pt x="10448" y="-1"/>
                  </a:moveTo>
                  <a:cubicBezTo>
                    <a:pt x="14890" y="2455"/>
                    <a:pt x="18326" y="6396"/>
                    <a:pt x="20153" y="11132"/>
                  </a:cubicBezTo>
                  <a:lnTo>
                    <a:pt x="0" y="18905"/>
                  </a:lnTo>
                  <a:close/>
                </a:path>
              </a:pathLst>
            </a:custGeom>
            <a:noFill/>
            <a:ln w="19050">
              <a:solidFill>
                <a:schemeClr val="bg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54">
                  <a:extLst>
                    <a:ext uri="{FF2B5EF4-FFF2-40B4-BE49-F238E27FC236}">
                      <a16:creationId xmlns:a16="http://schemas.microsoft.com/office/drawing/2014/main" id="{3A698204-9DB2-AAEA-C0D9-A1E5D337F60D}"/>
                    </a:ext>
                  </a:extLst>
                </p:cNvPr>
                <p:cNvSpPr txBox="1"/>
                <p:nvPr/>
              </p:nvSpPr>
              <p:spPr bwMode="auto">
                <a:xfrm>
                  <a:off x="2928885" y="4110858"/>
                  <a:ext cx="429224" cy="724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ko-KR" altLang="en-US" sz="14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Object 54">
                  <a:extLst>
                    <a:ext uri="{FF2B5EF4-FFF2-40B4-BE49-F238E27FC236}">
                      <a16:creationId xmlns:a16="http://schemas.microsoft.com/office/drawing/2014/main" id="{3A698204-9DB2-AAEA-C0D9-A1E5D337F6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8885" y="4110858"/>
                  <a:ext cx="429224" cy="72437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55">
                  <a:extLst>
                    <a:ext uri="{FF2B5EF4-FFF2-40B4-BE49-F238E27FC236}">
                      <a16:creationId xmlns:a16="http://schemas.microsoft.com/office/drawing/2014/main" id="{B65AD960-1EB2-CD58-66EF-8021322838B8}"/>
                    </a:ext>
                  </a:extLst>
                </p:cNvPr>
                <p:cNvSpPr txBox="1"/>
                <p:nvPr/>
              </p:nvSpPr>
              <p:spPr bwMode="auto">
                <a:xfrm>
                  <a:off x="3718151" y="4463770"/>
                  <a:ext cx="561097" cy="4185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oMath>
                    </m:oMathPara>
                  </a14:m>
                  <a:endParaRPr lang="ko-KR" altLang="en-US" sz="18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Object 55">
                  <a:extLst>
                    <a:ext uri="{FF2B5EF4-FFF2-40B4-BE49-F238E27FC236}">
                      <a16:creationId xmlns:a16="http://schemas.microsoft.com/office/drawing/2014/main" id="{B65AD960-1EB2-CD58-66EF-802132283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8151" y="4463770"/>
                  <a:ext cx="561097" cy="418577"/>
                </a:xfrm>
                <a:prstGeom prst="rect">
                  <a:avLst/>
                </a:prstGeom>
                <a:blipFill>
                  <a:blip r:embed="rId7"/>
                  <a:stretch>
                    <a:fillRect t="-4412" r="-293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61">
                  <a:extLst>
                    <a:ext uri="{FF2B5EF4-FFF2-40B4-BE49-F238E27FC236}">
                      <a16:creationId xmlns:a16="http://schemas.microsoft.com/office/drawing/2014/main" id="{12B6148C-4898-93B2-55B5-7AFACA52A5D8}"/>
                    </a:ext>
                  </a:extLst>
                </p:cNvPr>
                <p:cNvSpPr txBox="1"/>
                <p:nvPr/>
              </p:nvSpPr>
              <p:spPr bwMode="auto">
                <a:xfrm>
                  <a:off x="2221127" y="2922240"/>
                  <a:ext cx="247650" cy="3381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oMath>
                    </m:oMathPara>
                  </a14:m>
                  <a:endParaRPr lang="ko-KR" altLang="en-US" sz="18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Object 61">
                  <a:extLst>
                    <a:ext uri="{FF2B5EF4-FFF2-40B4-BE49-F238E27FC236}">
                      <a16:creationId xmlns:a16="http://schemas.microsoft.com/office/drawing/2014/main" id="{12B6148C-4898-93B2-55B5-7AFACA52A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21127" y="2922240"/>
                  <a:ext cx="247650" cy="338138"/>
                </a:xfrm>
                <a:prstGeom prst="rect">
                  <a:avLst/>
                </a:prstGeom>
                <a:blipFill>
                  <a:blip r:embed="rId8"/>
                  <a:stretch>
                    <a:fillRect t="-5455" r="-1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50">
              <a:extLst>
                <a:ext uri="{FF2B5EF4-FFF2-40B4-BE49-F238E27FC236}">
                  <a16:creationId xmlns:a16="http://schemas.microsoft.com/office/drawing/2014/main" id="{56759CFC-AC9B-3646-52DA-E42DCF6F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2768" y="4663524"/>
              <a:ext cx="7989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2" name="Arc 53">
              <a:extLst>
                <a:ext uri="{FF2B5EF4-FFF2-40B4-BE49-F238E27FC236}">
                  <a16:creationId xmlns:a16="http://schemas.microsoft.com/office/drawing/2014/main" id="{0F836D6F-9927-E183-96D6-BF081FB4AAD5}"/>
                </a:ext>
              </a:extLst>
            </p:cNvPr>
            <p:cNvSpPr>
              <a:spLocks/>
            </p:cNvSpPr>
            <p:nvPr/>
          </p:nvSpPr>
          <p:spPr bwMode="auto">
            <a:xfrm rot="16835506">
              <a:off x="2632468" y="3175435"/>
              <a:ext cx="381987" cy="598899"/>
            </a:xfrm>
            <a:custGeom>
              <a:avLst/>
              <a:gdLst>
                <a:gd name="T0" fmla="*/ 0 w 20153"/>
                <a:gd name="T1" fmla="*/ 0 h 18905"/>
                <a:gd name="T2" fmla="*/ 1 w 20153"/>
                <a:gd name="T3" fmla="*/ 1 h 18905"/>
                <a:gd name="T4" fmla="*/ 0 w 20153"/>
                <a:gd name="T5" fmla="*/ 2 h 18905"/>
                <a:gd name="T6" fmla="*/ 0 60000 65536"/>
                <a:gd name="T7" fmla="*/ 0 60000 65536"/>
                <a:gd name="T8" fmla="*/ 0 60000 65536"/>
                <a:gd name="T9" fmla="*/ 0 w 20153"/>
                <a:gd name="T10" fmla="*/ 0 h 18905"/>
                <a:gd name="T11" fmla="*/ 20153 w 20153"/>
                <a:gd name="T12" fmla="*/ 18905 h 18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53" h="18905" fill="none" extrusionOk="0">
                  <a:moveTo>
                    <a:pt x="10448" y="-1"/>
                  </a:moveTo>
                  <a:cubicBezTo>
                    <a:pt x="14890" y="2455"/>
                    <a:pt x="18326" y="6396"/>
                    <a:pt x="20153" y="11132"/>
                  </a:cubicBezTo>
                </a:path>
                <a:path w="20153" h="18905" stroke="0" extrusionOk="0">
                  <a:moveTo>
                    <a:pt x="10448" y="-1"/>
                  </a:moveTo>
                  <a:cubicBezTo>
                    <a:pt x="14890" y="2455"/>
                    <a:pt x="18326" y="6396"/>
                    <a:pt x="20153" y="11132"/>
                  </a:cubicBezTo>
                  <a:lnTo>
                    <a:pt x="0" y="18905"/>
                  </a:lnTo>
                  <a:close/>
                </a:path>
              </a:pathLst>
            </a:custGeom>
            <a:noFill/>
            <a:ln w="19050">
              <a:solidFill>
                <a:schemeClr val="bg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bject 54">
                  <a:extLst>
                    <a:ext uri="{FF2B5EF4-FFF2-40B4-BE49-F238E27FC236}">
                      <a16:creationId xmlns:a16="http://schemas.microsoft.com/office/drawing/2014/main" id="{8D76CBDC-7CC3-F719-5FF1-886454BAD639}"/>
                    </a:ext>
                  </a:extLst>
                </p:cNvPr>
                <p:cNvSpPr txBox="1"/>
                <p:nvPr/>
              </p:nvSpPr>
              <p:spPr bwMode="auto">
                <a:xfrm>
                  <a:off x="2968121" y="2993290"/>
                  <a:ext cx="429224" cy="724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ko-KR" altLang="en-US" sz="14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Object 54">
                  <a:extLst>
                    <a:ext uri="{FF2B5EF4-FFF2-40B4-BE49-F238E27FC236}">
                      <a16:creationId xmlns:a16="http://schemas.microsoft.com/office/drawing/2014/main" id="{8D76CBDC-7CC3-F719-5FF1-886454BAD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68121" y="2993290"/>
                  <a:ext cx="429224" cy="72437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601172-1455-672B-539E-5BB696877B8B}"/>
                  </a:ext>
                </a:extLst>
              </p:cNvPr>
              <p:cNvSpPr txBox="1"/>
              <p:nvPr/>
            </p:nvSpPr>
            <p:spPr>
              <a:xfrm>
                <a:off x="534741" y="2752402"/>
                <a:ext cx="3245171" cy="6711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601172-1455-672B-539E-5BB696877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41" y="2752402"/>
                <a:ext cx="3245171" cy="6711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A67DDB-DDF2-7DA9-D82F-4B27292B5BAB}"/>
                  </a:ext>
                </a:extLst>
              </p:cNvPr>
              <p:cNvSpPr txBox="1"/>
              <p:nvPr/>
            </p:nvSpPr>
            <p:spPr>
              <a:xfrm>
                <a:off x="3990292" y="3816356"/>
                <a:ext cx="2885964" cy="6711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A67DDB-DDF2-7DA9-D82F-4B27292B5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292" y="3816356"/>
                <a:ext cx="2885964" cy="6711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A71CB3F-D502-77B7-890D-6CC5412BC142}"/>
                  </a:ext>
                </a:extLst>
              </p:cNvPr>
              <p:cNvSpPr txBox="1"/>
              <p:nvPr/>
            </p:nvSpPr>
            <p:spPr>
              <a:xfrm>
                <a:off x="3990293" y="4758013"/>
                <a:ext cx="2885964" cy="6711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A71CB3F-D502-77B7-890D-6CC5412B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293" y="4758013"/>
                <a:ext cx="2885964" cy="67114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37257CA-AE01-379B-24CA-EFEA6DAD1CE2}"/>
                  </a:ext>
                </a:extLst>
              </p:cNvPr>
              <p:cNvSpPr txBox="1"/>
              <p:nvPr/>
            </p:nvSpPr>
            <p:spPr>
              <a:xfrm>
                <a:off x="3990292" y="5582968"/>
                <a:ext cx="2885964" cy="6711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37257CA-AE01-379B-24CA-EFEA6DAD1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292" y="5582968"/>
                <a:ext cx="2885964" cy="6711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8051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1B4F-A2BD-DC82-A33A-3949F556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AA2C5-5C68-5C42-FE38-70432752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13.1.3 </a:t>
            </a:r>
            <a:r>
              <a:rPr lang="ko-KR" altLang="en-US" dirty="0" err="1"/>
              <a:t>절두체</a:t>
            </a:r>
            <a:r>
              <a:rPr lang="ko-KR" altLang="en-US" dirty="0"/>
              <a:t> 평면 구하기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944555-61A3-D21F-8481-7968C73DE7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근 평면 방정식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원 평면 방정식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주의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방향 정보가 포함되어 있어서 수식을 함부로 옮기면 안됨</a:t>
                </a:r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→ 원평면과 동일하나 평면의 방향이 원평면의 반대</a:t>
                </a:r>
                <a:endParaRPr lang="en-US" altLang="ko-KR" sz="2000" dirty="0"/>
              </a:p>
              <a:p>
                <a:pPr lvl="1"/>
                <a:r>
                  <a:rPr lang="ko-KR" altLang="en-US" sz="2000" dirty="0"/>
                  <a:t>서로 다른 평면</a:t>
                </a:r>
                <a:endParaRPr lang="en-US" altLang="ko-KR" sz="2000" dirty="0"/>
              </a:p>
              <a:p>
                <a:pPr lvl="1"/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944555-61A3-D21F-8481-7968C73DE7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4D82F6-4C78-385C-EBBC-6EB5094D1A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F17B30-5FB3-368F-8738-DC9925451725}"/>
                  </a:ext>
                </a:extLst>
              </p:cNvPr>
              <p:cNvSpPr txBox="1"/>
              <p:nvPr/>
            </p:nvSpPr>
            <p:spPr>
              <a:xfrm>
                <a:off x="384722" y="1165345"/>
                <a:ext cx="5610539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0, 0, 1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0, 0, −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F17B30-5FB3-368F-8738-DC9925451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22" y="1165345"/>
                <a:ext cx="5610539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353E08A9-8B23-3307-FCEE-E2D1D179D118}"/>
              </a:ext>
            </a:extLst>
          </p:cNvPr>
          <p:cNvGrpSpPr/>
          <p:nvPr/>
        </p:nvGrpSpPr>
        <p:grpSpPr>
          <a:xfrm>
            <a:off x="5727486" y="1213753"/>
            <a:ext cx="3309010" cy="2701497"/>
            <a:chOff x="5583467" y="1555326"/>
            <a:chExt cx="3309010" cy="2701497"/>
          </a:xfrm>
        </p:grpSpPr>
        <p:sp>
          <p:nvSpPr>
            <p:cNvPr id="12" name="Line 50">
              <a:extLst>
                <a:ext uri="{FF2B5EF4-FFF2-40B4-BE49-F238E27FC236}">
                  <a16:creationId xmlns:a16="http://schemas.microsoft.com/office/drawing/2014/main" id="{6C735A73-A18C-538B-DB3E-5D520A3628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29798" y="2178355"/>
              <a:ext cx="0" cy="729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51">
                  <a:extLst>
                    <a:ext uri="{FF2B5EF4-FFF2-40B4-BE49-F238E27FC236}">
                      <a16:creationId xmlns:a16="http://schemas.microsoft.com/office/drawing/2014/main" id="{BD926A48-796A-FF73-F2AA-BE8EBD463086}"/>
                    </a:ext>
                  </a:extLst>
                </p:cNvPr>
                <p:cNvSpPr txBox="1"/>
                <p:nvPr/>
              </p:nvSpPr>
              <p:spPr bwMode="auto">
                <a:xfrm>
                  <a:off x="5583467" y="1734499"/>
                  <a:ext cx="421794" cy="3996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ko-KR" altLang="en-US" sz="18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Object 51">
                  <a:extLst>
                    <a:ext uri="{FF2B5EF4-FFF2-40B4-BE49-F238E27FC236}">
                      <a16:creationId xmlns:a16="http://schemas.microsoft.com/office/drawing/2014/main" id="{BD926A48-796A-FF73-F2AA-BE8EBD463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83467" y="1734499"/>
                  <a:ext cx="421794" cy="399686"/>
                </a:xfrm>
                <a:prstGeom prst="rect">
                  <a:avLst/>
                </a:prstGeom>
                <a:blipFill>
                  <a:blip r:embed="rId4"/>
                  <a:stretch>
                    <a:fillRect t="-4545" r="-72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Line 45">
              <a:extLst>
                <a:ext uri="{FF2B5EF4-FFF2-40B4-BE49-F238E27FC236}">
                  <a16:creationId xmlns:a16="http://schemas.microsoft.com/office/drawing/2014/main" id="{79C662FE-EA5E-74B9-B4A3-87EED19505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201921" y="1510188"/>
              <a:ext cx="922176" cy="1869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" name="Line 46">
              <a:extLst>
                <a:ext uri="{FF2B5EF4-FFF2-40B4-BE49-F238E27FC236}">
                  <a16:creationId xmlns:a16="http://schemas.microsoft.com/office/drawing/2014/main" id="{BF704E46-C8A5-F9E2-B3D2-EE4CB5F5D5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29563" y="2906075"/>
              <a:ext cx="270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9917B096-19BE-A334-B8DC-48D0ED2FC6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728211" y="2906075"/>
              <a:ext cx="1869594" cy="985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55">
                  <a:extLst>
                    <a:ext uri="{FF2B5EF4-FFF2-40B4-BE49-F238E27FC236}">
                      <a16:creationId xmlns:a16="http://schemas.microsoft.com/office/drawing/2014/main" id="{40F9A92F-218E-9B7B-2CBE-D230A6A305A3}"/>
                    </a:ext>
                  </a:extLst>
                </p:cNvPr>
                <p:cNvSpPr txBox="1"/>
                <p:nvPr/>
              </p:nvSpPr>
              <p:spPr bwMode="auto">
                <a:xfrm>
                  <a:off x="6695749" y="2488025"/>
                  <a:ext cx="409100" cy="3450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oMath>
                    </m:oMathPara>
                  </a14:m>
                  <a:endParaRPr lang="ko-KR" altLang="en-US" sz="18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Object 55">
                  <a:extLst>
                    <a:ext uri="{FF2B5EF4-FFF2-40B4-BE49-F238E27FC236}">
                      <a16:creationId xmlns:a16="http://schemas.microsoft.com/office/drawing/2014/main" id="{40F9A92F-218E-9B7B-2CBE-D230A6A30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95749" y="2488025"/>
                  <a:ext cx="409100" cy="345025"/>
                </a:xfrm>
                <a:prstGeom prst="rect">
                  <a:avLst/>
                </a:prstGeom>
                <a:blipFill>
                  <a:blip r:embed="rId5"/>
                  <a:stretch>
                    <a:fillRect t="-5263" r="-74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50">
              <a:extLst>
                <a:ext uri="{FF2B5EF4-FFF2-40B4-BE49-F238E27FC236}">
                  <a16:creationId xmlns:a16="http://schemas.microsoft.com/office/drawing/2014/main" id="{E986F984-53D7-A35D-8D51-8621A2417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0670" y="2908823"/>
              <a:ext cx="7989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5" name="Line 50">
              <a:extLst>
                <a:ext uri="{FF2B5EF4-FFF2-40B4-BE49-F238E27FC236}">
                  <a16:creationId xmlns:a16="http://schemas.microsoft.com/office/drawing/2014/main" id="{8C4FE275-A0D1-024F-6139-03B7079C1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3008" y="2907130"/>
              <a:ext cx="717304" cy="0"/>
            </a:xfrm>
            <a:prstGeom prst="line">
              <a:avLst/>
            </a:prstGeom>
            <a:noFill/>
            <a:ln w="635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882024-2E8A-8319-85B5-FDBA5B024A55}"/>
                    </a:ext>
                  </a:extLst>
                </p:cNvPr>
                <p:cNvSpPr txBox="1"/>
                <p:nvPr/>
              </p:nvSpPr>
              <p:spPr>
                <a:xfrm>
                  <a:off x="7380310" y="2677415"/>
                  <a:ext cx="1512167" cy="400110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0, 0, </m:t>
                            </m:r>
                            <m:r>
                              <a:rPr lang="en-US" altLang="ko-KR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882024-2E8A-8319-85B5-FDBA5B024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310" y="2677415"/>
                  <a:ext cx="1512167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0498-898B-396F-F5C2-70E7C3DEAB7B}"/>
                  </a:ext>
                </a:extLst>
              </p:cNvPr>
              <p:cNvSpPr txBox="1"/>
              <p:nvPr/>
            </p:nvSpPr>
            <p:spPr>
              <a:xfrm>
                <a:off x="386123" y="1576187"/>
                <a:ext cx="164870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0498-898B-396F-F5C2-70E7C3DEA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23" y="1576187"/>
                <a:ext cx="16487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574C3A-39D0-858B-930A-68494C84BF25}"/>
                  </a:ext>
                </a:extLst>
              </p:cNvPr>
              <p:cNvSpPr txBox="1"/>
              <p:nvPr/>
            </p:nvSpPr>
            <p:spPr>
              <a:xfrm>
                <a:off x="395536" y="2906080"/>
                <a:ext cx="5610539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0, 0, −1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0, 0, 1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0, 0, 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574C3A-39D0-858B-930A-68494C84B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906080"/>
                <a:ext cx="5610539" cy="400110"/>
              </a:xfrm>
              <a:prstGeom prst="rect">
                <a:avLst/>
              </a:prstGeom>
              <a:blipFill>
                <a:blip r:embed="rId8"/>
                <a:stretch>
                  <a:fillRect b="-184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FAF8A2-B27E-D235-CEEC-E65604A2E2A2}"/>
                  </a:ext>
                </a:extLst>
              </p:cNvPr>
              <p:cNvSpPr txBox="1"/>
              <p:nvPr/>
            </p:nvSpPr>
            <p:spPr>
              <a:xfrm>
                <a:off x="396936" y="3316922"/>
                <a:ext cx="2230847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FAF8A2-B27E-D235-CEEC-E65604A2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36" y="3316922"/>
                <a:ext cx="223084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868711-7190-4703-9122-F58AAA0FB331}"/>
                  </a:ext>
                </a:extLst>
              </p:cNvPr>
              <p:cNvSpPr txBox="1"/>
              <p:nvPr/>
            </p:nvSpPr>
            <p:spPr>
              <a:xfrm>
                <a:off x="899592" y="5765740"/>
                <a:ext cx="424847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=0  ≠  −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868711-7190-4703-9122-F58AAA0F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765740"/>
                <a:ext cx="4248472" cy="461665"/>
              </a:xfrm>
              <a:prstGeom prst="rect">
                <a:avLst/>
              </a:prstGeom>
              <a:blipFill>
                <a:blip r:embed="rId10"/>
                <a:stretch>
                  <a:fillRect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830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F468-D8DC-F29E-1944-FAEC7670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63555-774E-ADF6-76DB-A985FDA5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예제 </a:t>
            </a:r>
            <a:r>
              <a:rPr lang="en-US" altLang="ko-KR" dirty="0"/>
              <a:t>13.1 </a:t>
            </a:r>
            <a:r>
              <a:rPr lang="ko-KR" altLang="en-US" dirty="0"/>
              <a:t>컬링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B94562-3C90-106B-82E5-FCB43499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절두체</a:t>
            </a:r>
            <a:r>
              <a:rPr lang="ko-KR" altLang="en-US" sz="2400" dirty="0"/>
              <a:t> 평면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절두체</a:t>
            </a:r>
            <a:r>
              <a:rPr lang="ko-KR" altLang="en-US" sz="2400" dirty="0"/>
              <a:t> 안팎 체크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474B40-4D28-FE94-A5F2-B08870ED1C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4FFDB4-C6D5-3685-EA87-AC0685E46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836713"/>
            <a:ext cx="2420803" cy="18741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1AF83D-24C1-9603-C875-E22414BB52E9}"/>
              </a:ext>
            </a:extLst>
          </p:cNvPr>
          <p:cNvSpPr txBox="1"/>
          <p:nvPr/>
        </p:nvSpPr>
        <p:spPr>
          <a:xfrm>
            <a:off x="528146" y="1124744"/>
            <a:ext cx="5556021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절두체를 구성하는 평면의 방정식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static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frustumPlanes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  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pSin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+Y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(-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  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pSin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-Y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 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 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pSin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+X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 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pSin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-X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nearZ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+Z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farZ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-Z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9F44F-C8BC-9361-6491-5ED6C6FE3DF9}"/>
              </a:ext>
            </a:extLst>
          </p:cNvPr>
          <p:cNvSpPr txBox="1"/>
          <p:nvPr/>
        </p:nvSpPr>
        <p:spPr>
          <a:xfrm>
            <a:off x="528147" y="3544585"/>
            <a:ext cx="5556021" cy="212365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Frustum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CheckBound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 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: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IsOutside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Outside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else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EqualsInTolerance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Distance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Intersect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return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0189D-6D66-B518-1142-BD918CD74AFD}"/>
              </a:ext>
            </a:extLst>
          </p:cNvPr>
          <p:cNvSpPr txBox="1"/>
          <p:nvPr/>
        </p:nvSpPr>
        <p:spPr>
          <a:xfrm>
            <a:off x="528147" y="5877272"/>
            <a:ext cx="5556021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IsOutside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 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Normal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+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45860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C9E2-B2FB-3739-947E-6AD41E2CF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9C60A-F284-3E67-493F-C82FC954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13.1.4 </a:t>
            </a:r>
            <a:r>
              <a:rPr lang="ko-KR" altLang="en-US" dirty="0"/>
              <a:t>원근 투영 행렬로부터 평면의 방정식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88E888-0A2F-E9E0-46C8-D753260D5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NDC </a:t>
            </a:r>
            <a:r>
              <a:rPr lang="ko-KR" altLang="en-US" sz="2400" dirty="0"/>
              <a:t>영역 </a:t>
            </a:r>
            <a:r>
              <a:rPr lang="en-US" altLang="ko-KR" sz="2400" dirty="0"/>
              <a:t>(Normalized Device Coordinates) </a:t>
            </a:r>
            <a:r>
              <a:rPr lang="ko-KR" altLang="en-US" sz="2400" dirty="0"/>
              <a:t>좌표 범위</a:t>
            </a:r>
          </a:p>
          <a:p>
            <a:pPr lvl="2"/>
            <a:endParaRPr lang="en-US" altLang="ko-KR" sz="1600" b="0" dirty="0">
              <a:latin typeface="D2Coding" panose="020B0609020101020101" pitchFamily="49" charset="-127"/>
              <a:ea typeface="Cambria Math" panose="02040503050406030204" pitchFamily="18" charset="0"/>
            </a:endParaRPr>
          </a:p>
          <a:p>
            <a:pPr lvl="2"/>
            <a:endParaRPr lang="en-US" altLang="ko-KR" sz="1600" b="0" dirty="0">
              <a:latin typeface="D2Coding" panose="020B0609020101020101" pitchFamily="49" charset="-127"/>
              <a:ea typeface="Cambria Math" panose="02040503050406030204" pitchFamily="18" charset="0"/>
            </a:endParaRPr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w </a:t>
            </a:r>
            <a:r>
              <a:rPr lang="ko-KR" altLang="en-US" sz="2400" dirty="0"/>
              <a:t>적용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21E7C3-03FE-AB75-2C41-E9CE3FA4A0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96CF3A-E7E1-D65D-CBE4-9F22EBFE0D3A}"/>
                  </a:ext>
                </a:extLst>
              </p:cNvPr>
              <p:cNvSpPr txBox="1"/>
              <p:nvPr/>
            </p:nvSpPr>
            <p:spPr>
              <a:xfrm>
                <a:off x="600724" y="1227115"/>
                <a:ext cx="2232248" cy="12295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−1≤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−1≤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−1≤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96CF3A-E7E1-D65D-CBE4-9F22EBFE0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24" y="1227115"/>
                <a:ext cx="2232248" cy="12295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A292DB-1D7C-EF78-41C2-4C18A9352D3E}"/>
                  </a:ext>
                </a:extLst>
              </p:cNvPr>
              <p:cNvSpPr txBox="1"/>
              <p:nvPr/>
            </p:nvSpPr>
            <p:spPr>
              <a:xfrm>
                <a:off x="683569" y="3140968"/>
                <a:ext cx="2232248" cy="198714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−1≤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−1≤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−1≤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A292DB-1D7C-EF78-41C2-4C18A9352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3140968"/>
                <a:ext cx="2232248" cy="1987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823A2-A6C8-E945-826C-174BA091A13F}"/>
                  </a:ext>
                </a:extLst>
              </p:cNvPr>
              <p:cNvSpPr txBox="1"/>
              <p:nvPr/>
            </p:nvSpPr>
            <p:spPr>
              <a:xfrm>
                <a:off x="3252321" y="3534376"/>
                <a:ext cx="2952328" cy="120032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823A2-A6C8-E945-826C-174BA091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321" y="3534376"/>
                <a:ext cx="2952328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9813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F1E8E-7D2D-D526-277E-7634D6AE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0DD81-B23C-56A9-1F7A-BBA4DA84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13.1.4 </a:t>
            </a:r>
            <a:r>
              <a:rPr lang="ko-KR" altLang="en-US" dirty="0"/>
              <a:t>원근 투영 행렬로부터 평면의 방정식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024EC-48E5-562F-02CE-B83514FE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뷰 공간 → 클립 공간 변환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EDC8AA-8564-F797-E569-92330F2511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63D90B-6D4D-D756-924B-52596B91B4EB}"/>
                  </a:ext>
                </a:extLst>
              </p:cNvPr>
              <p:cNvSpPr txBox="1"/>
              <p:nvPr/>
            </p:nvSpPr>
            <p:spPr>
              <a:xfrm>
                <a:off x="467544" y="2052935"/>
                <a:ext cx="3600400" cy="170091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𝑛𝑓</m:t>
                                    </m:r>
                                  </m:num>
                                  <m:den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63D90B-6D4D-D756-924B-52596B91B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52935"/>
                <a:ext cx="3600400" cy="1700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B122D1-7486-626F-C0DB-9788E8FE0F3A}"/>
                  </a:ext>
                </a:extLst>
              </p:cNvPr>
              <p:cNvSpPr txBox="1"/>
              <p:nvPr/>
            </p:nvSpPr>
            <p:spPr>
              <a:xfrm>
                <a:off x="3506205" y="2379627"/>
                <a:ext cx="615192" cy="11128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B122D1-7486-626F-C0DB-9788E8FE0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205" y="2379627"/>
                <a:ext cx="615192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07625B-BBDC-505D-3295-4E4D6AB012FE}"/>
                  </a:ext>
                </a:extLst>
              </p:cNvPr>
              <p:cNvSpPr txBox="1"/>
              <p:nvPr/>
            </p:nvSpPr>
            <p:spPr>
              <a:xfrm>
                <a:off x="4067944" y="2379627"/>
                <a:ext cx="1213300" cy="11128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07625B-BBDC-505D-3295-4E4D6AB01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2379627"/>
                <a:ext cx="1213300" cy="11128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47F18A-E26D-593D-7B4B-7D48CD92BFCE}"/>
                  </a:ext>
                </a:extLst>
              </p:cNvPr>
              <p:cNvSpPr txBox="1"/>
              <p:nvPr/>
            </p:nvSpPr>
            <p:spPr>
              <a:xfrm>
                <a:off x="539750" y="1129605"/>
                <a:ext cx="2016026" cy="92333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47F18A-E26D-593D-7B4B-7D48CD92B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129605"/>
                <a:ext cx="2016026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053D46-00F3-40EB-6A44-8BF061E534DF}"/>
                  </a:ext>
                </a:extLst>
              </p:cNvPr>
              <p:cNvSpPr txBox="1"/>
              <p:nvPr/>
            </p:nvSpPr>
            <p:spPr>
              <a:xfrm>
                <a:off x="5674077" y="2293353"/>
                <a:ext cx="1367954" cy="126848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𝑟𝑜𝑤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𝑟𝑜𝑤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𝑟𝑜𝑤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𝑟𝑜𝑤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053D46-00F3-40EB-6A44-8BF061E53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077" y="2293353"/>
                <a:ext cx="1367954" cy="12684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02B821-4454-163D-E723-E18146C3F390}"/>
                  </a:ext>
                </a:extLst>
              </p:cNvPr>
              <p:cNvSpPr txBox="1"/>
              <p:nvPr/>
            </p:nvSpPr>
            <p:spPr>
              <a:xfrm>
                <a:off x="6804248" y="2379627"/>
                <a:ext cx="1213300" cy="11128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02B821-4454-163D-E723-E18146C3F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2379627"/>
                <a:ext cx="1213300" cy="11128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4AFD9E-3B56-DD6A-AF12-7B0363AD516A}"/>
                  </a:ext>
                </a:extLst>
              </p:cNvPr>
              <p:cNvSpPr txBox="1"/>
              <p:nvPr/>
            </p:nvSpPr>
            <p:spPr>
              <a:xfrm>
                <a:off x="179513" y="3861048"/>
                <a:ext cx="1535064" cy="120032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4AFD9E-3B56-DD6A-AF12-7B0363AD5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3" y="3861048"/>
                <a:ext cx="1535064" cy="1200329"/>
              </a:xfrm>
              <a:prstGeom prst="rect">
                <a:avLst/>
              </a:prstGeom>
              <a:blipFill>
                <a:blip r:embed="rId8"/>
                <a:stretch>
                  <a:fillRect t="-6091" r="-1706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97E95-AD21-44E9-891F-ACCC50E0D1B3}"/>
                  </a:ext>
                </a:extLst>
              </p:cNvPr>
              <p:cNvSpPr txBox="1"/>
              <p:nvPr/>
            </p:nvSpPr>
            <p:spPr>
              <a:xfrm>
                <a:off x="2225401" y="4014935"/>
                <a:ext cx="3672408" cy="92333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≤+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97E95-AD21-44E9-891F-ACCC50E0D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401" y="4014935"/>
                <a:ext cx="3672408" cy="923330"/>
              </a:xfrm>
              <a:prstGeom prst="rect">
                <a:avLst/>
              </a:prstGeom>
              <a:blipFill>
                <a:blip r:embed="rId9"/>
                <a:stretch>
                  <a:fillRect t="-7947" r="-747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0191025-F7B4-987F-F21C-BDE469838F81}"/>
              </a:ext>
            </a:extLst>
          </p:cNvPr>
          <p:cNvSpPr/>
          <p:nvPr/>
        </p:nvSpPr>
        <p:spPr bwMode="auto">
          <a:xfrm>
            <a:off x="1829788" y="4234737"/>
            <a:ext cx="360040" cy="442443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E2806F-96B8-7DED-981A-020067D03623}"/>
                  </a:ext>
                </a:extLst>
              </p:cNvPr>
              <p:cNvSpPr txBox="1"/>
              <p:nvPr/>
            </p:nvSpPr>
            <p:spPr>
              <a:xfrm>
                <a:off x="6328996" y="4020128"/>
                <a:ext cx="2592288" cy="92333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E2806F-96B8-7DED-981A-020067D03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996" y="4020128"/>
                <a:ext cx="2592288" cy="923330"/>
              </a:xfrm>
              <a:prstGeom prst="rect">
                <a:avLst/>
              </a:prstGeom>
              <a:blipFill>
                <a:blip r:embed="rId10"/>
                <a:stretch>
                  <a:fillRect t="-7895" r="-1035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6DDBCD3-2E02-EFB1-C41F-623200DBC72D}"/>
              </a:ext>
            </a:extLst>
          </p:cNvPr>
          <p:cNvSpPr/>
          <p:nvPr/>
        </p:nvSpPr>
        <p:spPr bwMode="auto">
          <a:xfrm>
            <a:off x="5101224" y="2682170"/>
            <a:ext cx="360040" cy="442443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4129AE37-D4E6-A28A-0A74-2D762A999503}"/>
              </a:ext>
            </a:extLst>
          </p:cNvPr>
          <p:cNvSpPr/>
          <p:nvPr/>
        </p:nvSpPr>
        <p:spPr bwMode="auto">
          <a:xfrm>
            <a:off x="5933382" y="4230942"/>
            <a:ext cx="360040" cy="442443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7AD104-3E71-379E-CB2B-7B946F2177BB}"/>
                  </a:ext>
                </a:extLst>
              </p:cNvPr>
              <p:cNvSpPr txBox="1"/>
              <p:nvPr/>
            </p:nvSpPr>
            <p:spPr>
              <a:xfrm>
                <a:off x="179513" y="5328778"/>
                <a:ext cx="2808311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7AD104-3E71-379E-CB2B-7B946F217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3" y="5328778"/>
                <a:ext cx="2808311" cy="707886"/>
              </a:xfrm>
              <a:prstGeom prst="rect">
                <a:avLst/>
              </a:prstGeom>
              <a:blipFill>
                <a:blip r:embed="rId11"/>
                <a:stretch>
                  <a:fillRect t="-8621" r="-8243" b="-172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CC9F72-E2B5-3DE8-D185-4468FDA75C7C}"/>
                  </a:ext>
                </a:extLst>
              </p:cNvPr>
              <p:cNvSpPr txBox="1"/>
              <p:nvPr/>
            </p:nvSpPr>
            <p:spPr>
              <a:xfrm>
                <a:off x="3095565" y="5324983"/>
                <a:ext cx="2837817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CC9F72-E2B5-3DE8-D185-4468FDA75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5" y="5324983"/>
                <a:ext cx="2837817" cy="707886"/>
              </a:xfrm>
              <a:prstGeom prst="rect">
                <a:avLst/>
              </a:prstGeom>
              <a:blipFill>
                <a:blip r:embed="rId12"/>
                <a:stretch>
                  <a:fillRect t="-8621" r="-7097" b="-8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B691DC-E5FE-327A-4B4C-5E8F6FAF1141}"/>
                  </a:ext>
                </a:extLst>
              </p:cNvPr>
              <p:cNvSpPr txBox="1"/>
              <p:nvPr/>
            </p:nvSpPr>
            <p:spPr>
              <a:xfrm>
                <a:off x="6039419" y="5317212"/>
                <a:ext cx="2837817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B691DC-E5FE-327A-4B4C-5E8F6FAF1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419" y="5317212"/>
                <a:ext cx="2837817" cy="707886"/>
              </a:xfrm>
              <a:prstGeom prst="rect">
                <a:avLst/>
              </a:prstGeom>
              <a:blipFill>
                <a:blip r:embed="rId13"/>
                <a:stretch>
                  <a:fillRect t="-8621" r="-7097" b="-172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8623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0697-7D26-6479-91D5-75C5880D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8B10A-D517-F456-28C1-A2C8EAA4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13.1.4 </a:t>
            </a:r>
            <a:r>
              <a:rPr lang="ko-KR" altLang="en-US" dirty="0"/>
              <a:t>원근 투영 행렬로부터 평면의 방정식 만들기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749C210-8A15-85EB-9CA4-1BFB8A885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sz="2400" dirty="0"/>
                  <a:t>6</a:t>
                </a:r>
                <a:r>
                  <a:rPr lang="ko-KR" altLang="en-US" sz="2400" dirty="0"/>
                  <a:t>개 부등식이 참이면 </a:t>
                </a:r>
                <a:r>
                  <a:rPr lang="ko-KR" altLang="en-US" sz="2400" dirty="0" err="1"/>
                  <a:t>절두체</a:t>
                </a:r>
                <a:r>
                  <a:rPr lang="ko-KR" altLang="en-US" sz="2400" dirty="0"/>
                  <a:t> 영역 내부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뷰 공간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 err="1"/>
                  <a:t>절두체</a:t>
                </a:r>
                <a:r>
                  <a:rPr lang="ko-KR" altLang="en-US" sz="2400" dirty="0"/>
                  <a:t> 밖 → 부호 반전</a:t>
                </a:r>
                <a:endParaRPr lang="en-US" altLang="ko-KR" sz="2400" dirty="0"/>
              </a:p>
              <a:p>
                <a:pPr lvl="1"/>
                <a:r>
                  <a:rPr lang="ko-KR" altLang="en-US" dirty="0"/>
                  <a:t>평면</a:t>
                </a:r>
                <a:r>
                  <a:rPr lang="en-US" altLang="ko-KR" dirty="0"/>
                  <a:t>: a, b, c, d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ko-KR" altLang="en-US" dirty="0"/>
                  <a:t>평면을 정규화 하면 수식이 줄어듦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749C210-8A15-85EB-9CA4-1BFB8A885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F7BE90-C8D5-F479-058C-3B9C3F4BC5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9D6602-12D7-FDBA-3563-E1FC3CE37CEC}"/>
                  </a:ext>
                </a:extLst>
              </p:cNvPr>
              <p:cNvSpPr txBox="1"/>
              <p:nvPr/>
            </p:nvSpPr>
            <p:spPr>
              <a:xfrm>
                <a:off x="338774" y="1134412"/>
                <a:ext cx="2736304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9D6602-12D7-FDBA-3563-E1FC3CE37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74" y="1134412"/>
                <a:ext cx="2736304" cy="707886"/>
              </a:xfrm>
              <a:prstGeom prst="rect">
                <a:avLst/>
              </a:prstGeom>
              <a:blipFill>
                <a:blip r:embed="rId3"/>
                <a:stretch>
                  <a:fillRect t="-8621" r="-11161" b="-172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5C9B94-420D-81DF-0387-4EB6FBF6E813}"/>
                  </a:ext>
                </a:extLst>
              </p:cNvPr>
              <p:cNvSpPr txBox="1"/>
              <p:nvPr/>
            </p:nvSpPr>
            <p:spPr>
              <a:xfrm>
                <a:off x="3175268" y="1134412"/>
                <a:ext cx="2736304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5C9B94-420D-81DF-0387-4EB6FBF6E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268" y="1134412"/>
                <a:ext cx="2736304" cy="707886"/>
              </a:xfrm>
              <a:prstGeom prst="rect">
                <a:avLst/>
              </a:prstGeom>
              <a:blipFill>
                <a:blip r:embed="rId4"/>
                <a:stretch>
                  <a:fillRect t="-8621" r="-10913" b="-172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3AD3F0-EED9-0CB3-E0AD-9F9059F17B94}"/>
                  </a:ext>
                </a:extLst>
              </p:cNvPr>
              <p:cNvSpPr txBox="1"/>
              <p:nvPr/>
            </p:nvSpPr>
            <p:spPr>
              <a:xfrm>
                <a:off x="6011761" y="1134412"/>
                <a:ext cx="2736304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3AD3F0-EED9-0CB3-E0AD-9F9059F17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761" y="1134412"/>
                <a:ext cx="2736304" cy="707886"/>
              </a:xfrm>
              <a:prstGeom prst="rect">
                <a:avLst/>
              </a:prstGeom>
              <a:blipFill>
                <a:blip r:embed="rId5"/>
                <a:stretch>
                  <a:fillRect t="-8621" r="-11136" b="-172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4948CE-F2BC-7A55-B64E-5787EF80D9FC}"/>
                  </a:ext>
                </a:extLst>
              </p:cNvPr>
              <p:cNvSpPr txBox="1"/>
              <p:nvPr/>
            </p:nvSpPr>
            <p:spPr>
              <a:xfrm>
                <a:off x="538411" y="3509227"/>
                <a:ext cx="4681661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𝑐𝑧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4948CE-F2BC-7A55-B64E-5787EF80D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11" y="3509227"/>
                <a:ext cx="4681661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BB4184-2758-7083-C69F-BF748CEAA872}"/>
                  </a:ext>
                </a:extLst>
              </p:cNvPr>
              <p:cNvSpPr txBox="1"/>
              <p:nvPr/>
            </p:nvSpPr>
            <p:spPr>
              <a:xfrm>
                <a:off x="538411" y="5117122"/>
                <a:ext cx="489654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𝑐𝑧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BB4184-2758-7083-C69F-BF748CEA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11" y="5117122"/>
                <a:ext cx="4896544" cy="40011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1ED2A2-053E-095F-A299-C026ECF65363}"/>
                  </a:ext>
                </a:extLst>
              </p:cNvPr>
              <p:cNvSpPr txBox="1"/>
              <p:nvPr/>
            </p:nvSpPr>
            <p:spPr>
              <a:xfrm>
                <a:off x="538411" y="5590257"/>
                <a:ext cx="489654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𝑎𝑥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𝑏𝑦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𝑐𝑧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 &lt;0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1ED2A2-053E-095F-A299-C026ECF6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11" y="5590257"/>
                <a:ext cx="489654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9834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1941-450D-A8A2-E433-2F9D9161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05FDC-4B84-734B-30F0-479D743F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13.1.4 </a:t>
            </a:r>
            <a:r>
              <a:rPr lang="ko-KR" altLang="en-US" dirty="0"/>
              <a:t>원근 투영 행렬로부터 평면의 방정식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7A1AF-8916-C6E1-F5DD-75A12774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절두체</a:t>
            </a:r>
            <a:r>
              <a:rPr lang="ko-KR" altLang="en-US" sz="2400" dirty="0"/>
              <a:t> 상단</a:t>
            </a:r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34EC41-24B6-BCF9-075D-71818BF508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E42282-C794-C6CA-A857-6A036AEFF8B2}"/>
                  </a:ext>
                </a:extLst>
              </p:cNvPr>
              <p:cNvSpPr txBox="1"/>
              <p:nvPr/>
            </p:nvSpPr>
            <p:spPr>
              <a:xfrm>
                <a:off x="467544" y="1227028"/>
                <a:ext cx="2051087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𝑟𝑜𝑤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E42282-C794-C6CA-A857-6A036AEF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227028"/>
                <a:ext cx="2051087" cy="400110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1E16D9-E83D-8295-A63B-D9D15F3B7BCC}"/>
                  </a:ext>
                </a:extLst>
              </p:cNvPr>
              <p:cNvSpPr txBox="1"/>
              <p:nvPr/>
            </p:nvSpPr>
            <p:spPr>
              <a:xfrm>
                <a:off x="2411760" y="1227028"/>
                <a:ext cx="360040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0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0, 0, −1, 0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0, 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, 0, 0</m:t>
                        </m:r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1E16D9-E83D-8295-A63B-D9D15F3B7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227028"/>
                <a:ext cx="3600400" cy="400110"/>
              </a:xfrm>
              <a:prstGeom prst="rect">
                <a:avLst/>
              </a:prstGeom>
              <a:blipFill>
                <a:blip r:embed="rId3"/>
                <a:stretch>
                  <a:fillRect l="-1864" t="-10606" b="-2272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2B3174-6A0A-4023-8E81-F46A9318003F}"/>
                  </a:ext>
                </a:extLst>
              </p:cNvPr>
              <p:cNvSpPr txBox="1"/>
              <p:nvPr/>
            </p:nvSpPr>
            <p:spPr>
              <a:xfrm>
                <a:off x="5868144" y="1227028"/>
                <a:ext cx="252028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d>
                        <m:dPr>
                          <m:ctrlP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, −1, 0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2B3174-6A0A-4023-8E81-F46A9318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27028"/>
                <a:ext cx="252028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468829F-0656-7D9D-E170-D6265A4BC608}"/>
                  </a:ext>
                </a:extLst>
              </p:cNvPr>
              <p:cNvSpPr txBox="1"/>
              <p:nvPr/>
            </p:nvSpPr>
            <p:spPr>
              <a:xfrm>
                <a:off x="475130" y="1743278"/>
                <a:ext cx="6689158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𝑟𝑜𝑤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𝑟𝑜𝑤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20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d>
                      <m:dPr>
                        <m:ctrlPr>
                          <a:rPr lang="en-US" altLang="ko-K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0, −</m:t>
                        </m:r>
                        <m:r>
                          <a:rPr lang="en-US" altLang="ko-K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, −1, 0</m:t>
                        </m:r>
                      </m:e>
                    </m:d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468829F-0656-7D9D-E170-D6265A4BC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30" y="1743278"/>
                <a:ext cx="6689158" cy="400110"/>
              </a:xfrm>
              <a:prstGeom prst="rect">
                <a:avLst/>
              </a:prstGeom>
              <a:blipFill>
                <a:blip r:embed="rId5"/>
                <a:stretch>
                  <a:fillRect t="-15152" b="-90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B6CE57-7729-9719-D266-896FC14BF882}"/>
                  </a:ext>
                </a:extLst>
              </p:cNvPr>
              <p:cNvSpPr txBox="1"/>
              <p:nvPr/>
            </p:nvSpPr>
            <p:spPr>
              <a:xfrm>
                <a:off x="2627784" y="2128946"/>
                <a:ext cx="194421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US" altLang="ko-KR" sz="2000" dirty="0"/>
                  <a:t>-</a:t>
                </a:r>
                <a:r>
                  <a:rPr lang="en-US" altLang="ko-K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B6CE57-7729-9719-D266-896FC14BF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128946"/>
                <a:ext cx="1944216" cy="400110"/>
              </a:xfrm>
              <a:prstGeom prst="rect">
                <a:avLst/>
              </a:prstGeom>
              <a:blipFill>
                <a:blip r:embed="rId6"/>
                <a:stretch>
                  <a:fillRect t="-10606" b="-2272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29EB6E-4A1B-6B94-AA51-CE4068F17F6E}"/>
                  </a:ext>
                </a:extLst>
              </p:cNvPr>
              <p:cNvSpPr txBox="1"/>
              <p:nvPr/>
            </p:nvSpPr>
            <p:spPr>
              <a:xfrm>
                <a:off x="2627784" y="2628151"/>
                <a:ext cx="2016224" cy="66511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ko-KR" altLang="en-US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den>
                        </m:f>
                      </m:e>
                    </m:d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000" dirty="0"/>
                  <a:t>-</a:t>
                </a:r>
                <a:r>
                  <a:rPr lang="en-US" altLang="ko-K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29EB6E-4A1B-6B94-AA51-CE4068F1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628151"/>
                <a:ext cx="2016224" cy="6651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EFC926-F41E-550F-5A2C-6CA2A24A63B8}"/>
                  </a:ext>
                </a:extLst>
              </p:cNvPr>
              <p:cNvSpPr txBox="1"/>
              <p:nvPr/>
            </p:nvSpPr>
            <p:spPr>
              <a:xfrm>
                <a:off x="4572000" y="2492896"/>
                <a:ext cx="2016224" cy="81086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ko-KR" altLang="en-US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ko-KR" altLang="en-US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den>
                        </m:f>
                      </m:e>
                    </m:d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000" dirty="0"/>
                  <a:t>-</a:t>
                </a:r>
                <a:r>
                  <a:rPr lang="en-US" altLang="ko-K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EFC926-F41E-550F-5A2C-6CA2A24A6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492896"/>
                <a:ext cx="2016224" cy="8108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90B04-42F0-CCC2-557D-5DA466040F4F}"/>
                  </a:ext>
                </a:extLst>
              </p:cNvPr>
              <p:cNvSpPr txBox="1"/>
              <p:nvPr/>
            </p:nvSpPr>
            <p:spPr>
              <a:xfrm>
                <a:off x="2627784" y="3340463"/>
                <a:ext cx="5688632" cy="95263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90B04-42F0-CCC2-557D-5DA466040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3340463"/>
                <a:ext cx="5688632" cy="9526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CD8487-FBD2-5A0F-E1F7-B56BBD355F97}"/>
                  </a:ext>
                </a:extLst>
              </p:cNvPr>
              <p:cNvSpPr txBox="1"/>
              <p:nvPr/>
            </p:nvSpPr>
            <p:spPr>
              <a:xfrm>
                <a:off x="145389" y="4340290"/>
                <a:ext cx="2876527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𝑟𝑜𝑤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𝑟𝑜𝑤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20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CD8487-FBD2-5A0F-E1F7-B56BBD355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89" y="4340290"/>
                <a:ext cx="2876527" cy="400110"/>
              </a:xfrm>
              <a:prstGeom prst="rect">
                <a:avLst/>
              </a:prstGeom>
              <a:blipFill>
                <a:blip r:embed="rId10"/>
                <a:stretch>
                  <a:fillRect t="-15152" b="-151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E2361BD-94DF-FE46-9111-3BADFA0C002C}"/>
              </a:ext>
            </a:extLst>
          </p:cNvPr>
          <p:cNvSpPr/>
          <p:nvPr/>
        </p:nvSpPr>
        <p:spPr bwMode="auto">
          <a:xfrm>
            <a:off x="3995936" y="5013176"/>
            <a:ext cx="360040" cy="442443"/>
          </a:xfrm>
          <a:prstGeom prst="rightArrow">
            <a:avLst>
              <a:gd name="adj1" fmla="val 50000"/>
              <a:gd name="adj2" fmla="val 59523"/>
            </a:avLst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3B49C42-BD82-4DBA-A91E-7E86121CDB13}"/>
                  </a:ext>
                </a:extLst>
              </p:cNvPr>
              <p:cNvSpPr txBox="1"/>
              <p:nvPr/>
            </p:nvSpPr>
            <p:spPr>
              <a:xfrm>
                <a:off x="145389" y="4840201"/>
                <a:ext cx="3776879" cy="95263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den>
                      </m:f>
                      <m:r>
                        <a:rPr lang="en-US" altLang="ko-KR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3B49C42-BD82-4DBA-A91E-7E86121CD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89" y="4840201"/>
                <a:ext cx="3776879" cy="9526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3CA5B9-0AE8-6563-6DDE-3A3D5B8A253B}"/>
                  </a:ext>
                </a:extLst>
              </p:cNvPr>
              <p:cNvSpPr txBox="1"/>
              <p:nvPr/>
            </p:nvSpPr>
            <p:spPr>
              <a:xfrm>
                <a:off x="4427984" y="4844858"/>
                <a:ext cx="3024336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3CA5B9-0AE8-6563-6DDE-3A3D5B8A2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844858"/>
                <a:ext cx="3024336" cy="7838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270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4ABA-643E-7E65-BA65-FCE8AED3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3FCD1-0806-C773-1C10-B9F7C85A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예제 </a:t>
            </a:r>
            <a:r>
              <a:rPr lang="en-US" altLang="ko-KR" dirty="0"/>
              <a:t>13.2 </a:t>
            </a:r>
            <a:r>
              <a:rPr lang="ko-KR" altLang="en-US" dirty="0"/>
              <a:t>컬링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91DE69-DA85-D155-7FC1-D41C5069B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절두체</a:t>
            </a:r>
            <a:r>
              <a:rPr lang="ko-KR" altLang="en-US" sz="2400" dirty="0"/>
              <a:t> 평면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절두체</a:t>
            </a:r>
            <a:r>
              <a:rPr lang="ko-KR" altLang="en-US" sz="2400" dirty="0"/>
              <a:t> 안팎 체크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516B9C-DCDB-A312-C385-35061C6218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5E93C-BD36-6531-91B7-9642C4A0B43C}"/>
              </a:ext>
            </a:extLst>
          </p:cNvPr>
          <p:cNvSpPr txBox="1"/>
          <p:nvPr/>
        </p:nvSpPr>
        <p:spPr>
          <a:xfrm>
            <a:off x="395287" y="1212358"/>
            <a:ext cx="5616873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절두체를 구성하는 평면의 방정식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frustumPlanes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+Y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-Y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+X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-X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+Z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ptMatrix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-Z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5F1180-3BBE-C775-237E-EED9A359012A}"/>
              </a:ext>
            </a:extLst>
          </p:cNvPr>
          <p:cNvSpPr txBox="1"/>
          <p:nvPr/>
        </p:nvSpPr>
        <p:spPr>
          <a:xfrm>
            <a:off x="395287" y="3933056"/>
            <a:ext cx="6264945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Frustum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CheckBound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: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IsOutside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Outside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else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EqualsInTolerance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Distance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InPoint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Intersect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CBA14D-FB1F-2C44-E837-191834E6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114" y="763595"/>
            <a:ext cx="2678233" cy="194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089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3CBF-C5EF-EA52-CFE9-9811D2A7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42410-86BB-1F1B-482E-21D56B06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 </a:t>
            </a:r>
            <a:r>
              <a:rPr lang="ko-KR" altLang="en-US" dirty="0" err="1"/>
              <a:t>바운딩</a:t>
            </a:r>
            <a:r>
              <a:rPr lang="ko-KR" altLang="en-US" dirty="0"/>
              <a:t> 볼륨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394F2-5E90-B871-333D-FCE1232EB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바운딩</a:t>
            </a:r>
            <a:r>
              <a:rPr lang="ko-KR" altLang="en-US" dirty="0"/>
              <a:t> 볼륨 </a:t>
            </a:r>
            <a:r>
              <a:rPr lang="en-US" altLang="ko-KR" dirty="0"/>
              <a:t>(Bounding Volume)</a:t>
            </a:r>
          </a:p>
          <a:p>
            <a:pPr lvl="1"/>
            <a:r>
              <a:rPr lang="ko-KR" altLang="en-US" dirty="0"/>
              <a:t>객체를 감싸는 단순 기하 구조 </a:t>
            </a:r>
            <a:r>
              <a:rPr lang="en-US" altLang="ko-KR" dirty="0"/>
              <a:t>(</a:t>
            </a:r>
            <a:r>
              <a:rPr lang="ko-KR" altLang="en-US" dirty="0"/>
              <a:t>충돌</a:t>
            </a:r>
            <a:r>
              <a:rPr lang="en-US" altLang="ko-KR" dirty="0"/>
              <a:t>·</a:t>
            </a:r>
            <a:r>
              <a:rPr lang="ko-KR" altLang="en-US" dirty="0"/>
              <a:t>가시성 판별용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충돌</a:t>
            </a:r>
            <a:r>
              <a:rPr lang="en-US" altLang="ko-KR" dirty="0"/>
              <a:t>·</a:t>
            </a:r>
            <a:r>
              <a:rPr lang="ko-KR" altLang="en-US" dirty="0"/>
              <a:t>가시성 판별을 위한 오브젝트의  공간 데이터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절두체에 걸쳐진 게임 오브젝트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FFF07E-32FA-12A1-A7AA-C4AC448F8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9A9D55-563B-6F7C-C106-4B4797BEA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1" t="6444" r="9548" b="6416"/>
          <a:stretch>
            <a:fillRect/>
          </a:stretch>
        </p:blipFill>
        <p:spPr>
          <a:xfrm>
            <a:off x="1475656" y="2976964"/>
            <a:ext cx="4464496" cy="358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571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760B-8E10-C92D-7CC0-721ACCF0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0753-87C8-F5F1-C3FD-BE41D6F0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 </a:t>
            </a:r>
            <a:r>
              <a:rPr lang="ko-KR" altLang="en-US" dirty="0" err="1"/>
              <a:t>바운딩</a:t>
            </a:r>
            <a:r>
              <a:rPr lang="ko-KR" altLang="en-US" dirty="0"/>
              <a:t> 볼륨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5C3E1-C82B-39D1-1663-6AF76BB75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언리얼</a:t>
            </a:r>
            <a:r>
              <a:rPr lang="ko-KR" altLang="en-US" dirty="0"/>
              <a:t> 엔진의 메시 </a:t>
            </a:r>
            <a:r>
              <a:rPr lang="ko-KR" altLang="en-US" dirty="0" err="1"/>
              <a:t>바운딩</a:t>
            </a:r>
            <a:r>
              <a:rPr lang="ko-KR" altLang="en-US" dirty="0"/>
              <a:t> 볼륨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7CDBA3-73B5-7E58-E328-00DBACF04E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AB85154-D9EE-43CF-A535-286FF44E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46731"/>
            <a:ext cx="7463560" cy="41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325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48ED-1C86-7CE4-21D1-ED25C44B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47900-87A1-6DAA-011D-071ED829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13.2.1 </a:t>
            </a:r>
            <a:r>
              <a:rPr lang="ko-KR" altLang="en-US" dirty="0"/>
              <a:t>구 </a:t>
            </a:r>
            <a:r>
              <a:rPr lang="ko-KR" altLang="en-US" dirty="0" err="1"/>
              <a:t>바운딩</a:t>
            </a:r>
            <a:r>
              <a:rPr lang="ko-KR" altLang="en-US" dirty="0"/>
              <a:t> 볼륨의 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47E32-0C98-D17F-13C4-99D0195B6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 </a:t>
            </a:r>
            <a:r>
              <a:rPr lang="ko-KR" altLang="en-US" dirty="0" err="1"/>
              <a:t>바운딩</a:t>
            </a:r>
            <a:endParaRPr lang="en-US" altLang="ko-KR" dirty="0"/>
          </a:p>
          <a:p>
            <a:pPr lvl="1"/>
            <a:r>
              <a:rPr lang="ko-KR" altLang="en-US" dirty="0"/>
              <a:t>계산이 빠르고 단순함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ko-KR" altLang="en-US" dirty="0"/>
              <a:t>구 </a:t>
            </a:r>
            <a:r>
              <a:rPr lang="ko-KR" altLang="en-US" dirty="0" err="1"/>
              <a:t>바운딩</a:t>
            </a:r>
            <a:r>
              <a:rPr lang="ko-KR" altLang="en-US" dirty="0"/>
              <a:t> 내부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30B892-CDB6-26AA-2847-E08541AB05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3DBCA7-060C-E216-9A55-A086BDA6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5" t="3528" r="2850" b="8365"/>
          <a:stretch>
            <a:fillRect/>
          </a:stretch>
        </p:blipFill>
        <p:spPr>
          <a:xfrm>
            <a:off x="827584" y="2586658"/>
            <a:ext cx="7200800" cy="28803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CC053F-1F3B-D2E6-1D2F-5771BFF61819}"/>
                  </a:ext>
                </a:extLst>
              </p:cNvPr>
              <p:cNvSpPr txBox="1"/>
              <p:nvPr/>
            </p:nvSpPr>
            <p:spPr>
              <a:xfrm>
                <a:off x="1619672" y="5540004"/>
                <a:ext cx="180278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CC053F-1F3B-D2E6-1D2F-5771BFF61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5540004"/>
                <a:ext cx="180278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D7648-3081-5027-551F-8C4E88EE9B1C}"/>
                  </a:ext>
                </a:extLst>
              </p:cNvPr>
              <p:cNvSpPr txBox="1"/>
              <p:nvPr/>
            </p:nvSpPr>
            <p:spPr>
              <a:xfrm>
                <a:off x="5359897" y="5570076"/>
                <a:ext cx="216024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D7648-3081-5027-551F-8C4E88EE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897" y="5570076"/>
                <a:ext cx="216024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450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2718-63D9-CFC6-FBD5-B00131B2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A641B-441C-AEA0-169C-0BC07BE2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13.2.1 </a:t>
            </a:r>
            <a:r>
              <a:rPr lang="ko-KR" altLang="en-US" dirty="0"/>
              <a:t>구 </a:t>
            </a:r>
            <a:r>
              <a:rPr lang="ko-KR" altLang="en-US" dirty="0" err="1"/>
              <a:t>바운딩</a:t>
            </a:r>
            <a:r>
              <a:rPr lang="ko-KR" altLang="en-US" dirty="0"/>
              <a:t> 볼륨의 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09D2EE-6F56-F39B-8418-166E08C3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절두체</a:t>
            </a:r>
            <a:r>
              <a:rPr lang="ko-KR" altLang="en-US" dirty="0"/>
              <a:t> 영역 </a:t>
            </a:r>
            <a:r>
              <a:rPr lang="en-US" altLang="ko-KR" dirty="0"/>
              <a:t>vs </a:t>
            </a:r>
            <a:r>
              <a:rPr lang="ko-KR" altLang="en-US" dirty="0"/>
              <a:t>구 영역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1B31FA-2E6A-A7FB-F4CC-FE6BD27D8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4A8930-F0E9-4C8D-7D3B-3D056097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484784"/>
            <a:ext cx="5943744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212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79540-8AA7-2563-8C06-0A4787AD6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23C22-150B-790D-DE8F-5D326D8E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예제 </a:t>
            </a:r>
            <a:r>
              <a:rPr lang="en-US" altLang="ko-KR" dirty="0"/>
              <a:t>13-3 </a:t>
            </a:r>
            <a:r>
              <a:rPr lang="ko-KR" altLang="en-US" dirty="0"/>
              <a:t>구 영역과 </a:t>
            </a:r>
            <a:r>
              <a:rPr lang="ko-KR" altLang="en-US" dirty="0" err="1"/>
              <a:t>절두체</a:t>
            </a:r>
            <a:r>
              <a:rPr lang="ko-KR" altLang="en-US" dirty="0"/>
              <a:t> 영역의 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37968-7B21-A26F-FE3A-22E30DB42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Bounding Sphere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B7F937-C350-5FA3-9550-3AEB5E54E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EAC41-790E-FFF3-D75B-9194FA636EEE}"/>
              </a:ext>
            </a:extLst>
          </p:cNvPr>
          <p:cNvSpPr txBox="1"/>
          <p:nvPr/>
        </p:nvSpPr>
        <p:spPr>
          <a:xfrm>
            <a:off x="467544" y="1353582"/>
            <a:ext cx="8497142" cy="480131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Frustum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CheckBound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Sphere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InSphere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for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: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8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Distance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InSphere</a:t>
            </a:r>
            <a:r>
              <a:rPr lang="en-US" altLang="ko-KR" sz="18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Center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&gt; 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InSphere</a:t>
            </a:r>
            <a:r>
              <a:rPr lang="en-US" altLang="ko-KR" sz="18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Radius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Outside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else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Abs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8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Distance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InSphere</a:t>
            </a:r>
            <a:r>
              <a:rPr lang="en-US" altLang="ko-KR" sz="18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Center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 &lt;= 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InSphere</a:t>
            </a:r>
            <a:r>
              <a:rPr lang="en-US" altLang="ko-KR" sz="18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Radius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Intersect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pPr>
              <a:buNone/>
            </a:pP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BoundCheckResult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22470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5ADE-46C5-EAEA-33DC-3CB9BC6E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D9714-776E-813D-0DCC-7F958B27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예제 </a:t>
            </a:r>
            <a:r>
              <a:rPr lang="en-US" altLang="ko-KR" dirty="0"/>
              <a:t>13-4 </a:t>
            </a:r>
            <a:r>
              <a:rPr lang="ko-KR" altLang="en-US" dirty="0"/>
              <a:t>로컬 좌표로 간편하게 판정하기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A86C2-9332-A237-E75F-6C95E26E2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Clip </a:t>
            </a:r>
            <a:r>
              <a:rPr lang="ko-KR" altLang="en-US" dirty="0"/>
              <a:t>좌표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2D366-A39F-72CA-114B-73EB875EA7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76DAE5-1DD4-77D3-DAC5-8FD79DB94E58}"/>
                  </a:ext>
                </a:extLst>
              </p:cNvPr>
              <p:cNvSpPr txBox="1"/>
              <p:nvPr/>
            </p:nvSpPr>
            <p:spPr>
              <a:xfrm>
                <a:off x="467544" y="1484784"/>
                <a:ext cx="4896544" cy="46827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𝑐𝑙𝑖𝑝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𝑣𝑖𝑒𝑤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76DAE5-1DD4-77D3-DAC5-8FD79DB94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484784"/>
                <a:ext cx="4896544" cy="468270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9F2F99-6AE1-BA9F-59CE-BF7C046513FD}"/>
                  </a:ext>
                </a:extLst>
              </p:cNvPr>
              <p:cNvSpPr txBox="1"/>
              <p:nvPr/>
            </p:nvSpPr>
            <p:spPr>
              <a:xfrm>
                <a:off x="448537" y="2104080"/>
                <a:ext cx="4896544" cy="46827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𝑐𝑙𝑖𝑝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𝑃𝑉𝑀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𝑙𝑜𝑐𝑎𝑙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9F2F99-6AE1-BA9F-59CE-BF7C04651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37" y="2104080"/>
                <a:ext cx="4896544" cy="46827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0F8008C-E8EA-8E1D-A340-1D6B6797C2A9}"/>
              </a:ext>
            </a:extLst>
          </p:cNvPr>
          <p:cNvSpPr txBox="1"/>
          <p:nvPr/>
        </p:nvSpPr>
        <p:spPr>
          <a:xfrm>
            <a:off x="567713" y="4214271"/>
            <a:ext cx="5762922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frustumPlanesFromMatrix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up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bottom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right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left 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far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finalTransposedMatrix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near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0EA0A-065C-F274-893C-CB73E07C1A91}"/>
              </a:ext>
            </a:extLst>
          </p:cNvPr>
          <p:cNvSpPr txBox="1"/>
          <p:nvPr/>
        </p:nvSpPr>
        <p:spPr>
          <a:xfrm>
            <a:off x="569996" y="3134151"/>
            <a:ext cx="576064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렌더링 로직의 로컬 변수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pvMatrix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mainCamera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GetPerspectiveViewMatrix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30DFE-7D7A-A413-15A6-CCB741B5D529}"/>
              </a:ext>
            </a:extLst>
          </p:cNvPr>
          <p:cNvSpPr txBox="1"/>
          <p:nvPr/>
        </p:nvSpPr>
        <p:spPr>
          <a:xfrm>
            <a:off x="567713" y="3673554"/>
            <a:ext cx="5762922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 행렬 계산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pvMatrix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GetModelingMatrix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264225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2F3C-1A33-C65B-201F-57AF5044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DDEA8-B99F-65F0-764E-549B7920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13.2.2 AABB </a:t>
            </a:r>
            <a:r>
              <a:rPr lang="ko-KR" altLang="en-US" dirty="0"/>
              <a:t>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E26D-4A90-CCF6-B226-40FF431B6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AABB(Axis Aligned Bounding Box)</a:t>
            </a:r>
          </a:p>
          <a:p>
            <a:pPr lvl="1"/>
            <a:r>
              <a:rPr lang="ko-KR" altLang="en-US" dirty="0"/>
              <a:t>축에 정렬된 직육면체 </a:t>
            </a:r>
            <a:r>
              <a:rPr lang="ko-KR" altLang="en-US" dirty="0" err="1"/>
              <a:t>바운딩</a:t>
            </a:r>
            <a:r>
              <a:rPr lang="ko-KR" altLang="en-US" dirty="0"/>
              <a:t> 볼륨</a:t>
            </a:r>
            <a:endParaRPr lang="en-US" altLang="ko-KR" dirty="0"/>
          </a:p>
          <a:p>
            <a:pPr lvl="1"/>
            <a:r>
              <a:rPr lang="ko-KR" altLang="en-US" dirty="0"/>
              <a:t>최소값</a:t>
            </a:r>
            <a:r>
              <a:rPr lang="en-US" altLang="ko-KR" dirty="0"/>
              <a:t>(min) / </a:t>
            </a:r>
            <a:r>
              <a:rPr lang="ko-KR" altLang="en-US" dirty="0"/>
              <a:t>최대값</a:t>
            </a:r>
            <a:r>
              <a:rPr lang="en-US" altLang="ko-KR" dirty="0"/>
              <a:t>(max) </a:t>
            </a:r>
            <a:r>
              <a:rPr lang="ko-KR" altLang="en-US" dirty="0"/>
              <a:t>좌표로 표현</a:t>
            </a:r>
            <a:endParaRPr lang="en-US" altLang="ko-KR" dirty="0"/>
          </a:p>
          <a:p>
            <a:pPr lvl="1"/>
            <a:r>
              <a:rPr lang="ko-KR" altLang="en-US" dirty="0"/>
              <a:t>회전 없음 </a:t>
            </a:r>
            <a:r>
              <a:rPr lang="en-US" altLang="ko-KR" dirty="0"/>
              <a:t>(X, Y, Z </a:t>
            </a:r>
            <a:r>
              <a:rPr lang="ko-KR" altLang="en-US" dirty="0"/>
              <a:t>축과 평행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→ 대신 회전 객체에서는 여유 공간</a:t>
            </a:r>
            <a:r>
              <a:rPr lang="en-US" altLang="ko-KR" dirty="0"/>
              <a:t>(</a:t>
            </a:r>
            <a:r>
              <a:rPr lang="ko-KR" altLang="en-US" dirty="0"/>
              <a:t>오차</a:t>
            </a:r>
            <a:r>
              <a:rPr lang="en-US" altLang="ko-KR" dirty="0"/>
              <a:t>) </a:t>
            </a:r>
            <a:r>
              <a:rPr lang="ko-KR" altLang="en-US" dirty="0"/>
              <a:t>발생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436A79-2D35-0044-444C-7A26370936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7502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26EDA-2EA7-DE5F-B826-A60D9416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A41C5-1952-F60A-05C4-2CE40376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13.2.2 AABB </a:t>
            </a:r>
            <a:r>
              <a:rPr lang="ko-KR" altLang="en-US" dirty="0"/>
              <a:t>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BCAC1-C9CA-98DD-C04B-E93668C0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법선 벡터의 부호에 따른 </a:t>
            </a:r>
            <a:r>
              <a:rPr lang="en-US" altLang="ko-KR" sz="2000" dirty="0"/>
              <a:t>AABB</a:t>
            </a:r>
            <a:r>
              <a:rPr lang="ko-KR" altLang="en-US" sz="2000" dirty="0"/>
              <a:t>의 비교 판정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한 쪽만 양수인 경우의 판정 방법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282384-E79C-959E-2678-F4522F075E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C04F20-B949-2A24-205A-D0F7967BF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4" t="2699" b="5483"/>
          <a:stretch>
            <a:fillRect/>
          </a:stretch>
        </p:blipFill>
        <p:spPr>
          <a:xfrm>
            <a:off x="1259632" y="1052736"/>
            <a:ext cx="5365747" cy="24485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03109D4-1032-CE75-FFA4-F73B11932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9" t="8571"/>
          <a:stretch>
            <a:fillRect/>
          </a:stretch>
        </p:blipFill>
        <p:spPr>
          <a:xfrm>
            <a:off x="1403648" y="4059735"/>
            <a:ext cx="3456384" cy="25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2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3599-D2C9-18F2-01F8-E2074257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2F42A-BD00-4A89-3FCF-DFC7F312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13.2.2 AABB </a:t>
            </a:r>
            <a:r>
              <a:rPr lang="ko-KR" altLang="en-US" dirty="0"/>
              <a:t>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621EFB-E3E5-6F67-5FBB-98C8F3D80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AABB</a:t>
            </a:r>
            <a:r>
              <a:rPr lang="ko-KR" altLang="en-US" sz="2000" dirty="0"/>
              <a:t>영역과 평면이 교차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735CAA-1EEC-A2E9-17DF-F5BDE24204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C9C250-B45F-32DC-8666-4AC6D868B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2" t="12474" r="6290" b="7689"/>
          <a:stretch>
            <a:fillRect/>
          </a:stretch>
        </p:blipFill>
        <p:spPr>
          <a:xfrm>
            <a:off x="827584" y="1556792"/>
            <a:ext cx="453650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150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BF0E-86E1-121C-B774-A827B1F9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0B48A-D4D9-1C10-8F53-BF276111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예제 </a:t>
            </a:r>
            <a:r>
              <a:rPr lang="en-US" altLang="ko-KR" dirty="0"/>
              <a:t>13-5 </a:t>
            </a:r>
            <a:r>
              <a:rPr lang="ko-KR" altLang="en-US" dirty="0"/>
              <a:t>박스 영역과 </a:t>
            </a:r>
            <a:r>
              <a:rPr lang="ko-KR" altLang="en-US" dirty="0" err="1"/>
              <a:t>절두체</a:t>
            </a:r>
            <a:r>
              <a:rPr lang="ko-KR" altLang="en-US" dirty="0"/>
              <a:t> 영역의 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9BD50E-F972-21F5-C204-CDC3D8330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AABB </a:t>
            </a:r>
            <a:r>
              <a:rPr lang="ko-KR" altLang="en-US" dirty="0"/>
              <a:t>판정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989D72-9495-499F-78B8-DD8940628D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4A1E2-3FAE-523B-6E3D-CA0F9A1FB4CE}"/>
              </a:ext>
            </a:extLst>
          </p:cNvPr>
          <p:cNvSpPr txBox="1"/>
          <p:nvPr/>
        </p:nvSpPr>
        <p:spPr>
          <a:xfrm>
            <a:off x="508224" y="3068960"/>
            <a:ext cx="7920880" cy="32316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BoundCheckResult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Frustum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CheckBound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const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Box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const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const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auto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2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: </a:t>
            </a:r>
            <a:r>
              <a:rPr lang="en-US" altLang="ko-KR" sz="12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Planes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2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pPoint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Min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nPoint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Normal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{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pPoint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nPoint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Min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Normal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{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pPoint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6F008A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nPoint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Min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6F008A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Normal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{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pPoint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nPoint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InBox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Min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Distance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nPoint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&gt; 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BoundCheckResult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200" dirty="0">
                <a:solidFill>
                  <a:srgbClr val="2F4F4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Outside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Distance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nPoint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&lt;= 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&amp;&amp; 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2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Distance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2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pPoint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&gt;= 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BoundCheckResult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200" dirty="0">
                <a:solidFill>
                  <a:srgbClr val="2F4F4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Intersect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 }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</a:t>
            </a:r>
            <a:r>
              <a:rPr lang="en-US" altLang="ko-KR" sz="12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2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BoundCheckResult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200" dirty="0">
                <a:solidFill>
                  <a:srgbClr val="2F4F4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Inside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7755552-60BF-B487-6B44-181BFDEC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836712"/>
            <a:ext cx="4544059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6631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4735-26AE-D861-E7CF-BF30099C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2B159-DBC8-8DDC-FD0D-B9FD24C3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C0C74-C870-7FEF-9BD1-B7B4C1B2A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클리핑 문제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카메라 바로 아래에 거대한 사각형 메시가 위치한 경우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F7CE51-0BD9-9C8F-C25F-84D9127273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5D0AAC-BD47-278D-414D-94EC2DB29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061474"/>
            <a:ext cx="6611570" cy="24620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D98BA1-ADAA-554A-4B64-B0FD350BA5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70" t="6174" r="12342" b="7100"/>
          <a:stretch>
            <a:fillRect/>
          </a:stretch>
        </p:blipFill>
        <p:spPr>
          <a:xfrm>
            <a:off x="3203848" y="692150"/>
            <a:ext cx="3960440" cy="24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971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E9DD-FE2F-CF7C-8775-33D1318B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9B325-0A08-5046-C2C5-C2D77EF9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9E671A-7D76-0ABD-4EBC-E779AA1D8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카메라 뒤에 위치한 점을 거꾸로 투영하는 경우의 문제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420C99-0427-075A-A2BD-E523E05E4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9E0905-257A-9350-9795-AA910092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72816"/>
            <a:ext cx="7567756" cy="425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116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0FE1-B197-3102-471E-5B4D29E3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16D1B-4215-B1C9-6BBD-83C58EAA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51DBE-0C62-51F3-6E89-529723B07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문제를 방지하기 위한 사전 작업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16F505-2D5F-0D8A-EAAD-B5FD1E355C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F4C0D7-56D7-223F-0211-EED1AAA9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3" t="13835" r="3912" b="7660"/>
          <a:stretch>
            <a:fillRect/>
          </a:stretch>
        </p:blipFill>
        <p:spPr>
          <a:xfrm>
            <a:off x="4067944" y="1484784"/>
            <a:ext cx="4908524" cy="41764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2789DC-933B-D693-7E2A-0C09C3A185A0}"/>
                  </a:ext>
                </a:extLst>
              </p:cNvPr>
              <p:cNvSpPr txBox="1"/>
              <p:nvPr/>
            </p:nvSpPr>
            <p:spPr>
              <a:xfrm>
                <a:off x="348463" y="1911570"/>
                <a:ext cx="4248473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2789DC-933B-D693-7E2A-0C09C3A18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63" y="1911570"/>
                <a:ext cx="4248473" cy="400110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E3B933-00C8-0092-EE3A-3ECEDF43C6A6}"/>
                  </a:ext>
                </a:extLst>
              </p:cNvPr>
              <p:cNvSpPr txBox="1"/>
              <p:nvPr/>
            </p:nvSpPr>
            <p:spPr>
              <a:xfrm>
                <a:off x="348463" y="2603920"/>
                <a:ext cx="4248473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E3B933-00C8-0092-EE3A-3ECEDF43C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63" y="2603920"/>
                <a:ext cx="4248473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88A24C-A226-7E75-968A-C92F72834371}"/>
                  </a:ext>
                </a:extLst>
              </p:cNvPr>
              <p:cNvSpPr txBox="1"/>
              <p:nvPr/>
            </p:nvSpPr>
            <p:spPr>
              <a:xfrm>
                <a:off x="348462" y="3172906"/>
                <a:ext cx="3556941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88A24C-A226-7E75-968A-C92F72834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62" y="3172906"/>
                <a:ext cx="3556941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BDB8B-681D-133A-7148-AE47A3017F04}"/>
                  </a:ext>
                </a:extLst>
              </p:cNvPr>
              <p:cNvSpPr txBox="1"/>
              <p:nvPr/>
            </p:nvSpPr>
            <p:spPr>
              <a:xfrm>
                <a:off x="348462" y="3646401"/>
                <a:ext cx="3712357" cy="6676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BDB8B-681D-133A-7148-AE47A3017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62" y="3646401"/>
                <a:ext cx="3712357" cy="667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9568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E7AB-8A30-3AB1-5973-063983CE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C5C-C8ED-E51D-5916-00ED1147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F54F1-EDB1-BB70-C8E5-80977FB6E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사각형을 두 개의 삼각형으로 분할하기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삼각형 분할 예</a:t>
            </a:r>
            <a:endParaRPr lang="en-US" altLang="ko-KR" dirty="0"/>
          </a:p>
          <a:p>
            <a:pPr lvl="1"/>
            <a:r>
              <a:rPr lang="ko-KR" altLang="en-US" dirty="0"/>
              <a:t>정점 배치 순서</a:t>
            </a:r>
            <a:br>
              <a:rPr lang="en-US" altLang="ko-KR" dirty="0"/>
            </a:br>
            <a:r>
              <a:rPr lang="en-US" altLang="ko-KR" dirty="0"/>
              <a:t>P</a:t>
            </a:r>
            <a:r>
              <a:rPr lang="en-US" altLang="ko-KR" baseline="-25000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P</a:t>
            </a:r>
            <a:r>
              <a:rPr lang="en-US" altLang="ko-KR" baseline="-25000" dirty="0"/>
              <a:t>2</a:t>
            </a:r>
            <a:r>
              <a:rPr lang="en-US" altLang="ko-KR" dirty="0"/>
              <a:t>  </a:t>
            </a:r>
            <a:r>
              <a:rPr lang="ko-KR" altLang="en-US" dirty="0"/>
              <a:t>→ </a:t>
            </a:r>
            <a:r>
              <a:rPr lang="en-US" altLang="ko-KR" dirty="0"/>
              <a:t>P</a:t>
            </a:r>
            <a:r>
              <a:rPr lang="en-US" altLang="ko-KR" baseline="-25000" dirty="0"/>
              <a:t>3</a:t>
            </a:r>
          </a:p>
          <a:p>
            <a:pPr lvl="1"/>
            <a:endParaRPr lang="en-US" altLang="ko-KR" baseline="-25000" dirty="0"/>
          </a:p>
          <a:p>
            <a:pPr lvl="1"/>
            <a:r>
              <a:rPr lang="ko-KR" altLang="en-US" dirty="0"/>
              <a:t>삼각형 </a:t>
            </a:r>
            <a:r>
              <a:rPr lang="en-US" altLang="ko-KR" dirty="0"/>
              <a:t>1</a:t>
            </a:r>
            <a:r>
              <a:rPr lang="ko-KR" altLang="en-US" dirty="0"/>
              <a:t>의 순서</a:t>
            </a:r>
            <a:br>
              <a:rPr lang="en-US" altLang="ko-KR" dirty="0"/>
            </a:br>
            <a:r>
              <a:rPr lang="en-US" altLang="ko-KR" dirty="0"/>
              <a:t>P</a:t>
            </a:r>
            <a:r>
              <a:rPr lang="en-US" altLang="ko-KR" baseline="-25000" dirty="0"/>
              <a:t>c1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P</a:t>
            </a:r>
            <a:r>
              <a:rPr lang="en-US" altLang="ko-KR" baseline="-25000" dirty="0"/>
              <a:t>2</a:t>
            </a:r>
            <a:r>
              <a:rPr lang="en-US" altLang="ko-KR" dirty="0"/>
              <a:t>  </a:t>
            </a:r>
            <a:r>
              <a:rPr lang="ko-KR" altLang="en-US" dirty="0"/>
              <a:t>→ </a:t>
            </a:r>
            <a:r>
              <a:rPr lang="en-US" altLang="ko-KR" dirty="0"/>
              <a:t>P</a:t>
            </a:r>
            <a:r>
              <a:rPr lang="en-US" altLang="ko-KR" baseline="-25000" dirty="0"/>
              <a:t>3</a:t>
            </a:r>
            <a:endParaRPr lang="ko-KR" altLang="en-US" baseline="-25000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삼각형 </a:t>
            </a:r>
            <a:r>
              <a:rPr lang="en-US" altLang="ko-KR" dirty="0"/>
              <a:t>2</a:t>
            </a:r>
            <a:r>
              <a:rPr lang="ko-KR" altLang="en-US" dirty="0"/>
              <a:t>의 순서</a:t>
            </a:r>
            <a:br>
              <a:rPr lang="en-US" altLang="ko-KR" dirty="0"/>
            </a:br>
            <a:r>
              <a:rPr lang="en-US" altLang="ko-KR" dirty="0"/>
              <a:t>P</a:t>
            </a:r>
            <a:r>
              <a:rPr lang="en-US" altLang="ko-KR" baseline="-25000" dirty="0"/>
              <a:t>c1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P</a:t>
            </a:r>
            <a:r>
              <a:rPr lang="en-US" altLang="ko-KR" baseline="-25000" dirty="0"/>
              <a:t>3</a:t>
            </a:r>
            <a:r>
              <a:rPr lang="en-US" altLang="ko-KR" dirty="0"/>
              <a:t>  </a:t>
            </a:r>
            <a:r>
              <a:rPr lang="ko-KR" altLang="en-US" dirty="0"/>
              <a:t>→ </a:t>
            </a:r>
            <a:r>
              <a:rPr lang="en-US" altLang="ko-KR" dirty="0"/>
              <a:t>P</a:t>
            </a:r>
            <a:r>
              <a:rPr lang="en-US" altLang="ko-KR" baseline="-25000" dirty="0"/>
              <a:t>c2</a:t>
            </a:r>
            <a:endParaRPr lang="ko-KR" altLang="en-US" baseline="-25000" dirty="0"/>
          </a:p>
          <a:p>
            <a:pPr lvl="1"/>
            <a:endParaRPr lang="ko-KR" altLang="en-US" baseline="-25000" dirty="0"/>
          </a:p>
          <a:p>
            <a:pPr lvl="1"/>
            <a:endParaRPr lang="ko-KR" altLang="en-US" baseline="-25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E9D9A6-5D18-C011-C7B2-39E0050B63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9DF9E4-8DBF-FC2B-9032-F1474C91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16" t="14449" r="3779" b="11949"/>
          <a:stretch>
            <a:fillRect/>
          </a:stretch>
        </p:blipFill>
        <p:spPr>
          <a:xfrm>
            <a:off x="5076056" y="1844824"/>
            <a:ext cx="3814905" cy="387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678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63E5-2B97-F418-4723-6A48F241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D8D23-3651-2D0B-C201-3695FBC9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B7246D-0273-C949-31B8-8E0D43F157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15EC31A-9FE3-A9E7-D85A-5C2BF9811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점이 카메라 뒤에 위치한 경우의 분할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EC61C6-4935-F392-6E26-0BE758267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5715000" cy="499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506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E37D-2E8B-2C6F-FA40-11D58819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D1554-8004-33CA-98B8-9FA605639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9ACF08-1112-EC25-FB4B-BD9012A8DB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785A002-5B1D-24C1-7C43-CDE298C9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동차좌표 상에서 삼각형 분할 작업</a:t>
            </a:r>
            <a:endParaRPr lang="en-US" altLang="ko-KR" dirty="0"/>
          </a:p>
          <a:p>
            <a:pPr lvl="1"/>
            <a:r>
              <a:rPr lang="ko-KR" altLang="en-US" dirty="0"/>
              <a:t>잘라낼 영역 안의 점의 개수 파악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잘라낼 영역의 점의 수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0 </a:t>
            </a:r>
            <a:r>
              <a:rPr lang="ko-KR" altLang="en-US" dirty="0"/>
              <a:t>→ 삼각형 출력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1 </a:t>
            </a:r>
            <a:r>
              <a:rPr lang="ko-KR" altLang="en-US" dirty="0"/>
              <a:t>→ 평면과의 교차점을 구하고 교차점으로부터 삼각형 두 개로 분할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2 </a:t>
            </a:r>
            <a:r>
              <a:rPr lang="ko-KR" altLang="en-US" dirty="0"/>
              <a:t>→ 이 속해 있으면 교차점을 구해 갱신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3 </a:t>
            </a:r>
            <a:r>
              <a:rPr lang="ko-KR" altLang="en-US" dirty="0"/>
              <a:t>→ 그리지 않음</a:t>
            </a:r>
          </a:p>
        </p:txBody>
      </p:sp>
    </p:spTree>
    <p:extLst>
      <p:ext uri="{BB962C8B-B14F-4D97-AF65-F5344CB8AC3E}">
        <p14:creationId xmlns:p14="http://schemas.microsoft.com/office/powerpoint/2010/main" val="18977296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A7ED-EA1F-B073-6763-3D4ED97D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A30F5-0F8B-566A-57E9-86B8B5B4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4BD492-4A1E-EA8A-BF33-BB777F512C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1866C18-DB21-2FF5-5342-DFDA1BB26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오른쪽 평면에 대해 추가로 분할한 삼각형의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099CD8-FEFA-0AC9-C4AE-7269E4EC8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15" t="1" b="25910"/>
          <a:stretch>
            <a:fillRect/>
          </a:stretch>
        </p:blipFill>
        <p:spPr>
          <a:xfrm>
            <a:off x="4622224" y="1276402"/>
            <a:ext cx="4414272" cy="3743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20F5D3-9AC1-6A97-324D-BBCA83FF45D8}"/>
                  </a:ext>
                </a:extLst>
              </p:cNvPr>
              <p:cNvSpPr txBox="1"/>
              <p:nvPr/>
            </p:nvSpPr>
            <p:spPr>
              <a:xfrm>
                <a:off x="251520" y="1340768"/>
                <a:ext cx="2304256" cy="61940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&gt;1  ∴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20F5D3-9AC1-6A97-324D-BBCA83FF4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340768"/>
                <a:ext cx="2304256" cy="619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908A4-1E04-9A2B-49E5-C0EA87E25190}"/>
                  </a:ext>
                </a:extLst>
              </p:cNvPr>
              <p:cNvSpPr txBox="1"/>
              <p:nvPr/>
            </p:nvSpPr>
            <p:spPr>
              <a:xfrm>
                <a:off x="251520" y="2731984"/>
                <a:ext cx="297405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908A4-1E04-9A2B-49E5-C0EA87E25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731984"/>
                <a:ext cx="2974056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EFB143-16BF-7350-23D8-0F403BC51139}"/>
                  </a:ext>
                </a:extLst>
              </p:cNvPr>
              <p:cNvSpPr txBox="1"/>
              <p:nvPr/>
            </p:nvSpPr>
            <p:spPr>
              <a:xfrm>
                <a:off x="251520" y="2278837"/>
                <a:ext cx="1224135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EFB143-16BF-7350-23D8-0F403BC51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78837"/>
                <a:ext cx="1224135" cy="400110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12088F-7A56-E5CA-A80E-59AEFDBF2487}"/>
                  </a:ext>
                </a:extLst>
              </p:cNvPr>
              <p:cNvSpPr txBox="1"/>
              <p:nvPr/>
            </p:nvSpPr>
            <p:spPr>
              <a:xfrm>
                <a:off x="1500312" y="2278837"/>
                <a:ext cx="1224135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12088F-7A56-E5CA-A80E-59AEFDBF2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312" y="2278837"/>
                <a:ext cx="1224135" cy="400110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B7DC54-AA5A-50CE-C8C1-7AEC39CB6874}"/>
                  </a:ext>
                </a:extLst>
              </p:cNvPr>
              <p:cNvSpPr txBox="1"/>
              <p:nvPr/>
            </p:nvSpPr>
            <p:spPr>
              <a:xfrm>
                <a:off x="251520" y="3185131"/>
                <a:ext cx="297405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B7DC54-AA5A-50CE-C8C1-7AEC39CB6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185131"/>
                <a:ext cx="2974056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DAD50C-028B-C66D-4775-15EA5D2CFD35}"/>
                  </a:ext>
                </a:extLst>
              </p:cNvPr>
              <p:cNvSpPr txBox="1"/>
              <p:nvPr/>
            </p:nvSpPr>
            <p:spPr>
              <a:xfrm>
                <a:off x="261900" y="4253406"/>
                <a:ext cx="462278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DAD50C-028B-C66D-4775-15EA5D2CF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00" y="4253406"/>
                <a:ext cx="4622786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3B2F31-3C07-CA15-1A8D-F984A197FC2F}"/>
                  </a:ext>
                </a:extLst>
              </p:cNvPr>
              <p:cNvSpPr txBox="1"/>
              <p:nvPr/>
            </p:nvSpPr>
            <p:spPr>
              <a:xfrm>
                <a:off x="251520" y="3789040"/>
                <a:ext cx="297405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3B2F31-3C07-CA15-1A8D-F984A197F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789040"/>
                <a:ext cx="2974056" cy="40011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531AA1-C47E-8B95-3047-31443443A720}"/>
                  </a:ext>
                </a:extLst>
              </p:cNvPr>
              <p:cNvSpPr txBox="1"/>
              <p:nvPr/>
            </p:nvSpPr>
            <p:spPr>
              <a:xfrm>
                <a:off x="269036" y="4721335"/>
                <a:ext cx="3582883" cy="7399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531AA1-C47E-8B95-3047-31443443A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36" y="4721335"/>
                <a:ext cx="3582883" cy="7399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751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B455-11F6-AC4E-002C-64109C4D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E7AFF-005E-0E9C-E5ED-66F64610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371E4B-C655-30FF-C999-0F6565A855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38DE247-80F4-3D03-EA17-66A930C27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절두체에 맞게 삼각형을 잘라내는데 사용할 각 평면의 방정식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7CE601-BB9F-3328-A9D5-B1D39883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8" r="1332" b="24787"/>
          <a:stretch>
            <a:fillRect/>
          </a:stretch>
        </p:blipFill>
        <p:spPr>
          <a:xfrm>
            <a:off x="1259632" y="1268760"/>
            <a:ext cx="592404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76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AE56-813F-AB9F-C161-C9C95B6C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7BDE9-A705-9917-4358-ACB5D4A6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삼각형 클리핑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AB0331-1CBD-DB08-BEEF-5E3658718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6A75070-0264-D817-6D9E-BAB5C76F8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삼각형 분할을 위한 각 평면의 판별식과 계수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139D198-EA99-5EEE-BD72-F37776A76A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003206"/>
                  </p:ext>
                </p:extLst>
              </p:nvPr>
            </p:nvGraphicFramePr>
            <p:xfrm>
              <a:off x="539750" y="1340767"/>
              <a:ext cx="7848674" cy="518385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47307">
                      <a:extLst>
                        <a:ext uri="{9D8B030D-6E8A-4147-A177-3AD203B41FA5}">
                          <a16:colId xmlns:a16="http://schemas.microsoft.com/office/drawing/2014/main" val="2780028282"/>
                        </a:ext>
                      </a:extLst>
                    </a:gridCol>
                    <a:gridCol w="1644527">
                      <a:extLst>
                        <a:ext uri="{9D8B030D-6E8A-4147-A177-3AD203B41FA5}">
                          <a16:colId xmlns:a16="http://schemas.microsoft.com/office/drawing/2014/main" val="62847586"/>
                        </a:ext>
                      </a:extLst>
                    </a:gridCol>
                    <a:gridCol w="1569776">
                      <a:extLst>
                        <a:ext uri="{9D8B030D-6E8A-4147-A177-3AD203B41FA5}">
                          <a16:colId xmlns:a16="http://schemas.microsoft.com/office/drawing/2014/main" val="3309654469"/>
                        </a:ext>
                      </a:extLst>
                    </a:gridCol>
                    <a:gridCol w="3887064">
                      <a:extLst>
                        <a:ext uri="{9D8B030D-6E8A-4147-A177-3AD203B41FA5}">
                          <a16:colId xmlns:a16="http://schemas.microsoft.com/office/drawing/2014/main" val="418102076"/>
                        </a:ext>
                      </a:extLst>
                    </a:gridCol>
                  </a:tblGrid>
                  <a:tr h="4075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순서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평면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외부 판별식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아핀 결합의 계수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6550972"/>
                      </a:ext>
                    </a:extLst>
                  </a:tr>
                  <a:tr h="6350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0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&lt; 0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9777302"/>
                      </a:ext>
                    </a:extLst>
                  </a:tr>
                  <a:tr h="6915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&gt; 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9931088"/>
                      </a:ext>
                    </a:extLst>
                  </a:tr>
                  <a:tr h="6915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 = −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&lt; 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01491529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&gt; 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1801266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&lt; 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721987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 = 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&gt; 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9023111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 = −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&lt; −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8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ko-KR" alt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865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139D198-EA99-5EEE-BD72-F37776A76A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003206"/>
                  </p:ext>
                </p:extLst>
              </p:nvPr>
            </p:nvGraphicFramePr>
            <p:xfrm>
              <a:off x="539750" y="1340767"/>
              <a:ext cx="7848674" cy="518385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47307">
                      <a:extLst>
                        <a:ext uri="{9D8B030D-6E8A-4147-A177-3AD203B41FA5}">
                          <a16:colId xmlns:a16="http://schemas.microsoft.com/office/drawing/2014/main" val="2780028282"/>
                        </a:ext>
                      </a:extLst>
                    </a:gridCol>
                    <a:gridCol w="1644527">
                      <a:extLst>
                        <a:ext uri="{9D8B030D-6E8A-4147-A177-3AD203B41FA5}">
                          <a16:colId xmlns:a16="http://schemas.microsoft.com/office/drawing/2014/main" val="62847586"/>
                        </a:ext>
                      </a:extLst>
                    </a:gridCol>
                    <a:gridCol w="1569776">
                      <a:extLst>
                        <a:ext uri="{9D8B030D-6E8A-4147-A177-3AD203B41FA5}">
                          <a16:colId xmlns:a16="http://schemas.microsoft.com/office/drawing/2014/main" val="3309654469"/>
                        </a:ext>
                      </a:extLst>
                    </a:gridCol>
                    <a:gridCol w="3887064">
                      <a:extLst>
                        <a:ext uri="{9D8B030D-6E8A-4147-A177-3AD203B41FA5}">
                          <a16:colId xmlns:a16="http://schemas.microsoft.com/office/drawing/2014/main" val="418102076"/>
                        </a:ext>
                      </a:extLst>
                    </a:gridCol>
                  </a:tblGrid>
                  <a:tr h="4075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순서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평면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외부 판별식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아핀 결합의 계수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6550972"/>
                      </a:ext>
                    </a:extLst>
                  </a:tr>
                  <a:tr h="6350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65385" r="-332593" b="-65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65385" r="-248062" b="-65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65385" r="-313" b="-656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777302"/>
                      </a:ext>
                    </a:extLst>
                  </a:tr>
                  <a:tr h="6915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150877" r="-332593" b="-4991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150877" r="-248062" b="-4991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150877" r="-313" b="-499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9931088"/>
                      </a:ext>
                    </a:extLst>
                  </a:tr>
                  <a:tr h="6915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250877" r="-332593" b="-3991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250877" r="-248062" b="-3991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250877" r="-313" b="-399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1491529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353982" r="-332593" b="-3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353982" r="-248062" b="-3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353982" r="-313" b="-3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801266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453982" r="-332593" b="-2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453982" r="-248062" b="-2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453982" r="-313" b="-2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21987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549123" r="-332593" b="-1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549123" r="-248062" b="-1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549123" r="-313" b="-1008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9023111"/>
                      </a:ext>
                    </a:extLst>
                  </a:tr>
                  <a:tr h="68954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926" t="-654867" r="-332593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713" t="-654867" r="-248062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94" t="-654867" r="-313" b="-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865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06382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2621-EFCD-F706-F320-D8EEEDBD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840EB-4E6C-0F89-671B-67351434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예제 </a:t>
            </a:r>
            <a:r>
              <a:rPr lang="en-US" altLang="ko-KR" dirty="0"/>
              <a:t>13-6 </a:t>
            </a:r>
            <a:r>
              <a:rPr lang="ko-KR" altLang="en-US" dirty="0"/>
              <a:t>눈에 보이는 만큼 삼각형 쪼개기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6CD22-0B98-A810-1984-4E9308B55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12A5F7-0507-7348-EA33-0BB55DFAFF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2009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A558-9F0B-77EF-1092-553A34F2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C90A7-C105-010B-6EF9-FACD9B8D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13.4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8108F-B5B3-3E96-AAFB-D9A3EF93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평면의 방정식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절두체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절두체</a:t>
            </a:r>
            <a:r>
              <a:rPr lang="ko-KR" altLang="en-US" dirty="0"/>
              <a:t> 컬링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AABB </a:t>
            </a:r>
            <a:r>
              <a:rPr lang="ko-KR" altLang="en-US" dirty="0"/>
              <a:t>컬링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클리핑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62DE4-3B10-FA9E-C543-7A0A55E7A7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492674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400" b="1" dirty="0">
            <a:solidFill>
              <a:srgbClr val="6F008A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8807</TotalTime>
  <Words>4418</Words>
  <Application>Microsoft Office PowerPoint</Application>
  <PresentationFormat>화면 슬라이드 쇼(4:3)</PresentationFormat>
  <Paragraphs>865</Paragraphs>
  <Slides>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5" baseType="lpstr">
      <vt:lpstr>D2Coding</vt:lpstr>
      <vt:lpstr>나눔바른고딕</vt:lpstr>
      <vt:lpstr>Cambria Math</vt:lpstr>
      <vt:lpstr>Wingdings</vt:lpstr>
      <vt:lpstr>HY견고딕</vt:lpstr>
      <vt:lpstr>Arial</vt:lpstr>
      <vt:lpstr>Bitstream Vera Sans Mono</vt:lpstr>
      <vt:lpstr>굴림</vt:lpstr>
      <vt:lpstr>가을체</vt:lpstr>
      <vt:lpstr>기본 디자인</vt:lpstr>
      <vt:lpstr>12. 원근 투영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12.1 원근 투영 변환의 원리</vt:lpstr>
      <vt:lpstr>12.2 동차 좌표계</vt:lpstr>
      <vt:lpstr>12.2 동차 좌표계</vt:lpstr>
      <vt:lpstr>12.2 동차 좌표계</vt:lpstr>
      <vt:lpstr>실습 12-1 화면에 원근감 부여하기</vt:lpstr>
      <vt:lpstr>12.3 깊이 값</vt:lpstr>
      <vt:lpstr>12.3 깊이 값</vt:lpstr>
      <vt:lpstr>12.3 깊이 값</vt:lpstr>
      <vt:lpstr>12.3 깊이 값</vt:lpstr>
      <vt:lpstr>12.3 깊이 값</vt:lpstr>
      <vt:lpstr>12.3 깊이 값</vt:lpstr>
      <vt:lpstr>12.3 깊이 값</vt:lpstr>
      <vt:lpstr>실습 12-2 깊이에 대한 정보 얻기</vt:lpstr>
      <vt:lpstr>12.4 원근 보정 매핑</vt:lpstr>
      <vt:lpstr>12.4 원근 보정 매핑</vt:lpstr>
      <vt:lpstr>12.4 원근 보정 매핑</vt:lpstr>
      <vt:lpstr>12.4 원근 보정 매핑</vt:lpstr>
      <vt:lpstr>12.4 원근 보정 매핑</vt:lpstr>
      <vt:lpstr>실습 12-3 찌그러진 캐릭터 얼굴을 올바로 잡기</vt:lpstr>
      <vt:lpstr>12.5 깊이 버퍼</vt:lpstr>
      <vt:lpstr>실습 12-4 깊이 버퍼 활용</vt:lpstr>
      <vt:lpstr>실습 12-5 깊이 버퍼 시각화</vt:lpstr>
      <vt:lpstr>12.6 정리</vt:lpstr>
      <vt:lpstr>13. 절두체</vt:lpstr>
      <vt:lpstr>13.1 절두체 컬링</vt:lpstr>
      <vt:lpstr>13.1.1 평면의 방정식</vt:lpstr>
      <vt:lpstr>13.1.1 평면의 방정식</vt:lpstr>
      <vt:lpstr>13.1.1 평면의 방정식</vt:lpstr>
      <vt:lpstr>13.1.1 평면의 방정식</vt:lpstr>
      <vt:lpstr>13.1.1 평면의 방정식</vt:lpstr>
      <vt:lpstr>13.1.1 평면의 방정식</vt:lpstr>
      <vt:lpstr>13.1.1 평면의 방정식</vt:lpstr>
      <vt:lpstr>13.1.2 평면의 방정식의 정규화</vt:lpstr>
      <vt:lpstr>13.1.2 평면의 방정식의 정규화</vt:lpstr>
      <vt:lpstr>13.1.3 평면의 방정식을 활용한 절두체 표현</vt:lpstr>
      <vt:lpstr>13.1.3 절두체 평면 구하기</vt:lpstr>
      <vt:lpstr>13.1.3 절두체 평면 구하기</vt:lpstr>
      <vt:lpstr>실습 예제 13.1 컬링</vt:lpstr>
      <vt:lpstr>13.1.4 원근 투영 행렬로부터 평면의 방정식 만들기</vt:lpstr>
      <vt:lpstr>13.1.4 원근 투영 행렬로부터 평면의 방정식 만들기</vt:lpstr>
      <vt:lpstr>13.1.4 원근 투영 행렬로부터 평면의 방정식 만들기</vt:lpstr>
      <vt:lpstr>13.1.4 원근 투영 행렬로부터 평면의 방정식 만들기</vt:lpstr>
      <vt:lpstr>실습 예제 13.2 컬링</vt:lpstr>
      <vt:lpstr>13.2 바운딩 볼륨</vt:lpstr>
      <vt:lpstr>13.2 바운딩 볼륨</vt:lpstr>
      <vt:lpstr>13.2.1 구 바운딩 볼륨의 판정</vt:lpstr>
      <vt:lpstr>13.2.1 구 바운딩 볼륨의 판정</vt:lpstr>
      <vt:lpstr>실습 예제 13-3 구 영역과 절두체 영역의 판정</vt:lpstr>
      <vt:lpstr>실습 예제 13-4 로컬 좌표로 간편하게 판정하기</vt:lpstr>
      <vt:lpstr>13.2.2 AABB 판정</vt:lpstr>
      <vt:lpstr>13.2.2 AABB 판정</vt:lpstr>
      <vt:lpstr>13.2.2 AABB 판정</vt:lpstr>
      <vt:lpstr>실습 예제 13-5 박스 영역과 절두체 영역의 판정</vt:lpstr>
      <vt:lpstr>13.3 삼각형 클리핑</vt:lpstr>
      <vt:lpstr>13.3 삼각형 클리핑</vt:lpstr>
      <vt:lpstr>13.3 삼각형 클리핑</vt:lpstr>
      <vt:lpstr>13.3 삼각형 클리핑</vt:lpstr>
      <vt:lpstr>13.3 삼각형 클리핑</vt:lpstr>
      <vt:lpstr>13.3 삼각형 클리핑</vt:lpstr>
      <vt:lpstr>13.3 삼각형 클리핑</vt:lpstr>
      <vt:lpstr>13.3 삼각형 클리핑</vt:lpstr>
      <vt:lpstr>13.3 삼각형 클리핑</vt:lpstr>
      <vt:lpstr>실습 예제 13-6 눈에 보이는 만큼 삼각형 쪼개기</vt:lpstr>
      <vt:lpstr>13.4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User</cp:lastModifiedBy>
  <cp:revision>282</cp:revision>
  <dcterms:created xsi:type="dcterms:W3CDTF">2003-11-30T16:03:20Z</dcterms:created>
  <dcterms:modified xsi:type="dcterms:W3CDTF">2026-05-14T07:15:37Z</dcterms:modified>
</cp:coreProperties>
</file>