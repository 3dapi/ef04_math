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454" r:id="rId2"/>
    <p:sldId id="455" r:id="rId3"/>
    <p:sldId id="467" r:id="rId4"/>
    <p:sldId id="468" r:id="rId5"/>
    <p:sldId id="469" r:id="rId6"/>
    <p:sldId id="470" r:id="rId7"/>
    <p:sldId id="471" r:id="rId8"/>
    <p:sldId id="481" r:id="rId9"/>
    <p:sldId id="472" r:id="rId10"/>
    <p:sldId id="473" r:id="rId11"/>
    <p:sldId id="482" r:id="rId12"/>
    <p:sldId id="483" r:id="rId13"/>
    <p:sldId id="474" r:id="rId14"/>
    <p:sldId id="456" r:id="rId15"/>
    <p:sldId id="475" r:id="rId16"/>
    <p:sldId id="457" r:id="rId17"/>
    <p:sldId id="458" r:id="rId18"/>
    <p:sldId id="476" r:id="rId19"/>
    <p:sldId id="477" r:id="rId20"/>
    <p:sldId id="484" r:id="rId21"/>
    <p:sldId id="485" r:id="rId22"/>
    <p:sldId id="478" r:id="rId23"/>
    <p:sldId id="486" r:id="rId24"/>
    <p:sldId id="460" r:id="rId25"/>
    <p:sldId id="459" r:id="rId26"/>
    <p:sldId id="479" r:id="rId27"/>
    <p:sldId id="480" r:id="rId28"/>
    <p:sldId id="487" r:id="rId29"/>
    <p:sldId id="488" r:id="rId30"/>
    <p:sldId id="461" r:id="rId31"/>
    <p:sldId id="463" r:id="rId32"/>
    <p:sldId id="462" r:id="rId33"/>
    <p:sldId id="464" r:id="rId34"/>
    <p:sldId id="465" r:id="rId35"/>
    <p:sldId id="466" r:id="rId36"/>
  </p:sldIdLst>
  <p:sldSz cx="9144000" cy="6858000" type="screen4x3"/>
  <p:notesSz cx="6858000" cy="9144000"/>
  <p:embeddedFontLst>
    <p:embeddedFont>
      <p:font typeface="D2Coding" panose="020B0609020101020101" pitchFamily="49" charset="-127"/>
      <p:regular r:id="rId38"/>
      <p:bold r:id="rId39"/>
    </p:embeddedFont>
    <p:embeddedFont>
      <p:font typeface="Cambria Math" panose="02040503050406030204" pitchFamily="18" charset="0"/>
      <p:regular r:id="rId40"/>
    </p:embeddedFont>
    <p:embeddedFont>
      <p:font typeface="HY견고딕" panose="02030600000101010101" pitchFamily="18" charset="-127"/>
      <p:regular r:id="rId41"/>
    </p:embeddedFont>
    <p:embeddedFont>
      <p:font typeface="가을체" panose="02030600000101010101" pitchFamily="18" charset="-127"/>
      <p:regular r:id="rId42"/>
    </p:embeddedFont>
    <p:embeddedFont>
      <p:font typeface="나눔바른고딕" panose="020B0603020101020101" pitchFamily="50" charset="-127"/>
      <p:regular r:id="rId43"/>
      <p:bold r:id="rId44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CFFCC"/>
    <a:srgbClr val="008000"/>
    <a:srgbClr val="CC0000"/>
    <a:srgbClr val="009900"/>
    <a:srgbClr val="FF00FF"/>
    <a:srgbClr val="FF9900"/>
    <a:srgbClr val="FF0000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4582" autoAdjust="0"/>
  </p:normalViewPr>
  <p:slideViewPr>
    <p:cSldViewPr>
      <p:cViewPr>
        <p:scale>
          <a:sx n="125" d="100"/>
          <a:sy n="125" d="100"/>
        </p:scale>
        <p:origin x="1716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/>
            </a:lvl1pPr>
            <a:lvl2pPr>
              <a:buSzPct val="60000"/>
              <a:defRPr/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E4E74-A08A-3A8C-4DF0-2CD0F049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6B010465-670E-74BD-2F82-6F9FCB4FA4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12. </a:t>
            </a:r>
            <a:r>
              <a:rPr lang="ko-KR" altLang="en-US" dirty="0"/>
              <a:t>원근 투영</a:t>
            </a:r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0E4878B0-C1F7-77CA-FFC6-0132BA000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화면에 현실감을 부여하는 변환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0E596F-52EC-4A7A-F14A-AECB0B748B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68325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9CC99-557E-9A6D-5A46-BF0BF567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498A9A-31A7-F3EC-E170-7EF64D7B5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투시 원근법</a:t>
            </a:r>
            <a:endParaRPr lang="en-US" altLang="ko-KR" sz="2400" dirty="0"/>
          </a:p>
          <a:p>
            <a:pPr lvl="1"/>
            <a:r>
              <a:rPr lang="en-US" altLang="ko-KR" sz="2000" dirty="0"/>
              <a:t>3</a:t>
            </a:r>
            <a:r>
              <a:rPr lang="ko-KR" altLang="en-US" sz="2000" dirty="0"/>
              <a:t>차원 공간 → </a:t>
            </a:r>
            <a:r>
              <a:rPr lang="en-US" altLang="ko-KR" sz="2000" dirty="0"/>
              <a:t>2</a:t>
            </a:r>
            <a:r>
              <a:rPr lang="ko-KR" altLang="en-US" sz="2000" dirty="0"/>
              <a:t>차원 화면으로 표현하는 방법 </a:t>
            </a:r>
          </a:p>
          <a:p>
            <a:pPr lvl="1"/>
            <a:r>
              <a:rPr lang="ko-KR" altLang="en-US" sz="2000" dirty="0"/>
              <a:t>거리</a:t>
            </a:r>
            <a:r>
              <a:rPr lang="en-US" altLang="ko-KR" sz="2000" dirty="0"/>
              <a:t>(</a:t>
            </a:r>
            <a:r>
              <a:rPr lang="ko-KR" altLang="en-US" sz="2000" dirty="0"/>
              <a:t>깊이</a:t>
            </a:r>
            <a:r>
              <a:rPr lang="en-US" altLang="ko-KR" sz="2000" dirty="0"/>
              <a:t>)</a:t>
            </a:r>
            <a:r>
              <a:rPr lang="ko-KR" altLang="en-US" sz="2000" dirty="0"/>
              <a:t>에 따라 크기 변화 발생 </a:t>
            </a:r>
          </a:p>
          <a:p>
            <a:pPr lvl="1"/>
            <a:r>
              <a:rPr lang="ko-KR" altLang="en-US" sz="2000" dirty="0"/>
              <a:t>가까울수록 크게</a:t>
            </a:r>
            <a:r>
              <a:rPr lang="en-US" altLang="ko-KR" sz="2000" dirty="0"/>
              <a:t>, </a:t>
            </a:r>
            <a:r>
              <a:rPr lang="ko-KR" altLang="en-US" sz="2000" dirty="0"/>
              <a:t>멀수록 작게 보임 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직교 투영 </a:t>
            </a:r>
            <a:r>
              <a:rPr lang="en-US" altLang="ko-KR" sz="2400" dirty="0"/>
              <a:t>(Orthographic)</a:t>
            </a:r>
            <a:r>
              <a:rPr lang="ko-KR" altLang="en-US" sz="2400" dirty="0"/>
              <a:t> </a:t>
            </a:r>
          </a:p>
          <a:p>
            <a:pPr lvl="1"/>
            <a:r>
              <a:rPr lang="ko-KR" altLang="en-US" sz="2000" dirty="0"/>
              <a:t>크기 변화 없음 </a:t>
            </a:r>
          </a:p>
          <a:p>
            <a:pPr lvl="1"/>
            <a:r>
              <a:rPr lang="ko-KR" altLang="en-US" sz="2000" dirty="0"/>
              <a:t>평행선 유지 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원근 투영 </a:t>
            </a:r>
            <a:r>
              <a:rPr lang="en-US" altLang="ko-KR" sz="2400" dirty="0"/>
              <a:t>(Perspective)</a:t>
            </a:r>
            <a:r>
              <a:rPr lang="ko-KR" altLang="en-US" sz="2400" dirty="0"/>
              <a:t> </a:t>
            </a:r>
          </a:p>
          <a:p>
            <a:pPr lvl="1"/>
            <a:r>
              <a:rPr lang="ko-KR" altLang="en-US" sz="2000" dirty="0"/>
              <a:t>시점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차원 점을</a:t>
            </a:r>
            <a:br>
              <a:rPr lang="en-US" altLang="ko-KR" sz="2000" dirty="0"/>
            </a:br>
            <a:r>
              <a:rPr lang="ko-KR" altLang="en-US" sz="2000" dirty="0"/>
              <a:t>깊이</a:t>
            </a:r>
            <a:r>
              <a:rPr lang="en-US" altLang="ko-KR" sz="2000" dirty="0"/>
              <a:t>(z)</a:t>
            </a:r>
            <a:r>
              <a:rPr lang="ko-KR" altLang="en-US" sz="2000" dirty="0"/>
              <a:t>에 따라 축소하여 </a:t>
            </a:r>
            <a:r>
              <a:rPr lang="en-US" altLang="ko-KR" sz="2000" dirty="0"/>
              <a:t>2</a:t>
            </a:r>
            <a:r>
              <a:rPr lang="ko-KR" altLang="en-US" sz="2000" dirty="0"/>
              <a:t>차원 평면에 사상하는 변환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 err="1"/>
              <a:t>화각</a:t>
            </a:r>
            <a:r>
              <a:rPr lang="ko-KR" altLang="en-US" sz="2400" dirty="0"/>
              <a:t> </a:t>
            </a:r>
            <a:r>
              <a:rPr lang="en-US" altLang="ko-KR" sz="2400" dirty="0"/>
              <a:t>(Field of View, FOV)</a:t>
            </a:r>
          </a:p>
          <a:p>
            <a:pPr lvl="1"/>
            <a:r>
              <a:rPr lang="ko-KR" altLang="en-US" sz="2000" dirty="0"/>
              <a:t>카메라가 한 번에 볼 수 있는 시야의 각도</a:t>
            </a:r>
          </a:p>
          <a:p>
            <a:pPr lvl="1"/>
            <a:r>
              <a:rPr lang="ko-KR" altLang="en-US" sz="2000" dirty="0"/>
              <a:t>값이 클수록 넓게 보이고</a:t>
            </a:r>
            <a:r>
              <a:rPr lang="en-US" altLang="ko-KR" sz="2000" dirty="0"/>
              <a:t>, </a:t>
            </a:r>
            <a:r>
              <a:rPr lang="ko-KR" altLang="en-US" sz="2000" dirty="0"/>
              <a:t>작을수록 좁게 보임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73CDEF-1CA8-35DA-FB51-9911784059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16227BF-8E1A-2B6D-4401-F0A213BCE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88" y="1412776"/>
            <a:ext cx="4248472" cy="310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60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957D-1850-F5FE-3CB2-FFD212FC6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D2315-4738-2E52-2F52-7D7592CE4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57AF9-F81C-785B-5EA9-25805925F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798" y="675285"/>
            <a:ext cx="8928992" cy="5832475"/>
          </a:xfrm>
        </p:spPr>
        <p:txBody>
          <a:bodyPr/>
          <a:lstStyle/>
          <a:p>
            <a:r>
              <a:rPr lang="ko-KR" altLang="en-US" dirty="0"/>
              <a:t>투영 평면</a:t>
            </a:r>
            <a:endParaRPr lang="en-US" altLang="ko-KR" dirty="0"/>
          </a:p>
          <a:p>
            <a:pPr lvl="1"/>
            <a:r>
              <a:rPr lang="en-US" altLang="ko-KR" dirty="0"/>
              <a:t>3D </a:t>
            </a:r>
            <a:r>
              <a:rPr lang="ko-KR" altLang="en-US" dirty="0"/>
              <a:t>공간의 점을 투영해서</a:t>
            </a:r>
            <a:br>
              <a:rPr lang="en-US" altLang="ko-KR" dirty="0"/>
            </a:br>
            <a:r>
              <a:rPr lang="ko-KR" altLang="en-US" dirty="0"/>
              <a:t>그려지는 카메라 앞의</a:t>
            </a:r>
            <a:br>
              <a:rPr lang="en-US" altLang="ko-KR" dirty="0"/>
            </a:br>
            <a:r>
              <a:rPr lang="ko-KR" altLang="en-US" dirty="0"/>
              <a:t>가상 화면</a:t>
            </a:r>
            <a:endParaRPr lang="en-US" altLang="ko-KR" dirty="0"/>
          </a:p>
          <a:p>
            <a:pPr lvl="1"/>
            <a:r>
              <a:rPr lang="ko-KR" altLang="en-US" dirty="0"/>
              <a:t>보통 </a:t>
            </a:r>
            <a:r>
              <a:rPr lang="en-US" altLang="ko-KR" dirty="0"/>
              <a:t>Near Plane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초점 거리 </a:t>
            </a:r>
            <a:r>
              <a:rPr lang="en-US" altLang="ko-KR" dirty="0"/>
              <a:t>(Focal Length)</a:t>
            </a:r>
          </a:p>
          <a:p>
            <a:pPr lvl="1"/>
            <a:r>
              <a:rPr lang="ko-KR" altLang="en-US" dirty="0"/>
              <a:t>카메라에서 투영 평면까지 거리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측면에서 바라본</a:t>
            </a:r>
            <a:br>
              <a:rPr lang="en-US" altLang="ko-KR" dirty="0"/>
            </a:br>
            <a:r>
              <a:rPr lang="ko-KR" altLang="en-US" dirty="0"/>
              <a:t>투영 공간과 투영 평면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10F229-F7FA-E27C-6B02-28A1037082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03C7F45-C0AF-3EA6-95BB-D0C670C62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603490"/>
            <a:ext cx="3834242" cy="28094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6B627ED-838E-F061-8261-BA2288FB6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3531833"/>
            <a:ext cx="3672657" cy="2886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28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CB1B9-3D0B-DD33-EF91-1A3F4C861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C8F341-57C9-9CBC-5439-4D53639ED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0DF882-90C0-B719-E45D-CCC4E2FBE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NDC </a:t>
            </a:r>
            <a:r>
              <a:rPr lang="ko-KR" altLang="en-US" sz="2400" dirty="0"/>
              <a:t>영역 </a:t>
            </a:r>
            <a:r>
              <a:rPr lang="en-US" altLang="ko-KR" sz="2400" dirty="0"/>
              <a:t>(Normalized Device Coordinates)</a:t>
            </a:r>
          </a:p>
          <a:p>
            <a:pPr lvl="1"/>
            <a:r>
              <a:rPr lang="ko-KR" altLang="en-US" sz="2000" dirty="0"/>
              <a:t>투영 변환 </a:t>
            </a:r>
            <a:r>
              <a:rPr lang="en-US" altLang="ko-KR" sz="2000" dirty="0"/>
              <a:t>+ Perspective Divide </a:t>
            </a:r>
            <a:r>
              <a:rPr lang="ko-KR" altLang="en-US" sz="2000" dirty="0"/>
              <a:t>이후의 좌표 공간 </a:t>
            </a:r>
          </a:p>
          <a:p>
            <a:pPr lvl="1"/>
            <a:r>
              <a:rPr lang="ko-KR" altLang="en-US" sz="2000" dirty="0"/>
              <a:t>화면 매핑 전의 정규화 좌표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좌표 범위</a:t>
            </a:r>
          </a:p>
          <a:p>
            <a:pPr lvl="1"/>
            <a:r>
              <a:rPr lang="en-US" altLang="ko-KR" sz="2000" b="0" dirty="0">
                <a:latin typeface="D2Coding" panose="020B0609020101020101" pitchFamily="49" charset="-127"/>
                <a:ea typeface="D2Coding" panose="020B0609020101020101" pitchFamily="49" charset="-127"/>
              </a:rPr>
              <a:t>x∈[-1, +1], y∈[-1, +1]</a:t>
            </a:r>
          </a:p>
          <a:p>
            <a:pPr lvl="1"/>
            <a:r>
              <a:rPr lang="en-US" altLang="ko-KR" sz="2000" b="0" dirty="0">
                <a:latin typeface="D2Coding" panose="020B0609020101020101" pitchFamily="49" charset="-127"/>
                <a:ea typeface="D2Coding" panose="020B0609020101020101" pitchFamily="49" charset="-127"/>
              </a:rPr>
              <a:t>z∈[ 0, +1] (DirectX)</a:t>
            </a:r>
          </a:p>
          <a:p>
            <a:pPr lvl="1"/>
            <a:r>
              <a:rPr lang="en-US" altLang="ko-KR" sz="2000" b="0" dirty="0">
                <a:latin typeface="D2Coding" panose="020B0609020101020101" pitchFamily="49" charset="-127"/>
                <a:ea typeface="D2Coding" panose="020B0609020101020101" pitchFamily="49" charset="-127"/>
              </a:rPr>
              <a:t>z∈[-1, +1] (OpenGL)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47AFE7-7B8F-E662-84F0-63B1D2E791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C97569-6098-A705-01D4-4607C092A3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510"/>
          <a:stretch>
            <a:fillRect/>
          </a:stretch>
        </p:blipFill>
        <p:spPr>
          <a:xfrm>
            <a:off x="899591" y="3789040"/>
            <a:ext cx="4400475" cy="273132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20552E-27D4-1D38-0A56-7D27798541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713" t="13889" r="2154" b="13889"/>
          <a:stretch>
            <a:fillRect/>
          </a:stretch>
        </p:blipFill>
        <p:spPr>
          <a:xfrm>
            <a:off x="5300066" y="2099124"/>
            <a:ext cx="3592414" cy="333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055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E4F0E-C598-75B9-63AB-1C15A508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2A8B81-424F-BE75-9186-A83B48812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EEA966-03FE-C2E0-BB5C-42F0E1661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화각과</a:t>
            </a:r>
            <a:r>
              <a:rPr lang="ko-KR" altLang="en-US" dirty="0"/>
              <a:t> 초점 거리의 관계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C88E57E-5607-4160-6158-EB916E933C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59459C-BB8C-3F43-CEE8-E3B53016E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873" y="844849"/>
            <a:ext cx="4193324" cy="32682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4B89BA-CE53-F940-53DF-C7D6A531368B}"/>
                  </a:ext>
                </a:extLst>
              </p:cNvPr>
              <p:cNvSpPr txBox="1"/>
              <p:nvPr/>
            </p:nvSpPr>
            <p:spPr>
              <a:xfrm>
                <a:off x="1043608" y="1844824"/>
                <a:ext cx="1944216" cy="92217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ko-KR" alt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ko-KR" alt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4B89BA-CE53-F940-53DF-C7D6A5313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1844824"/>
                <a:ext cx="1944216" cy="9221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BB032E-306E-1ACA-E21D-F3D42DFBEFAD}"/>
                  </a:ext>
                </a:extLst>
              </p:cNvPr>
              <p:cNvSpPr txBox="1"/>
              <p:nvPr/>
            </p:nvSpPr>
            <p:spPr>
              <a:xfrm>
                <a:off x="1043608" y="2943892"/>
                <a:ext cx="3163887" cy="114710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func>
                            <m:func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ko-KR" alt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ko-KR" alt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num>
                                    <m:den>
                                      <m:r>
                                        <a:rPr lang="en-US" altLang="ko-KR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BB032E-306E-1ACA-E21D-F3D42DFBE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2943892"/>
                <a:ext cx="3163887" cy="11471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215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F5478-A68B-FF6D-C0ED-6DBB0BC4C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49052-D586-2802-5FD7-6405764FD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7C0D48-C1EF-2299-CFD5-56B15F776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유클리드 공간 </a:t>
            </a:r>
            <a:r>
              <a:rPr lang="en-US" altLang="ko-KR" dirty="0"/>
              <a:t>(Euclidean Space)</a:t>
            </a:r>
          </a:p>
          <a:p>
            <a:pPr lvl="1"/>
            <a:r>
              <a:rPr lang="ko-KR" altLang="en-US" dirty="0"/>
              <a:t>거리와 각도가 정의되는 공간</a:t>
            </a:r>
            <a:endParaRPr lang="en-US" altLang="ko-KR" dirty="0"/>
          </a:p>
          <a:p>
            <a:pPr lvl="1"/>
            <a:r>
              <a:rPr lang="ko-KR" altLang="en-US" dirty="0"/>
              <a:t>거리</a:t>
            </a:r>
            <a:r>
              <a:rPr lang="en-US" altLang="ko-KR" dirty="0"/>
              <a:t>·</a:t>
            </a:r>
            <a:r>
              <a:rPr lang="ko-KR" altLang="en-US" dirty="0"/>
              <a:t>각도 보존</a:t>
            </a:r>
            <a:r>
              <a:rPr lang="en-US" altLang="ko-KR" dirty="0"/>
              <a:t>, </a:t>
            </a:r>
            <a:r>
              <a:rPr lang="ko-KR" altLang="en-US" dirty="0"/>
              <a:t>직선 최단 경로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 err="1"/>
              <a:t>사영</a:t>
            </a:r>
            <a:r>
              <a:rPr lang="ko-KR" altLang="en-US" dirty="0"/>
              <a:t> 공간 </a:t>
            </a:r>
            <a:r>
              <a:rPr lang="en-US" altLang="ko-KR" dirty="0"/>
              <a:t>(Projective Space)</a:t>
            </a:r>
          </a:p>
          <a:p>
            <a:pPr lvl="1"/>
            <a:r>
              <a:rPr lang="ko-KR" altLang="en-US" dirty="0"/>
              <a:t>원근 투영을 표현하는 공간</a:t>
            </a:r>
            <a:br>
              <a:rPr lang="en-US" altLang="ko-KR" dirty="0"/>
            </a:br>
            <a:r>
              <a:rPr lang="ko-KR" altLang="en-US" dirty="0"/>
              <a:t>→ 원근 투영을 수학적으로 표현하는 공간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평행선이 한 점에서 만난다고 가정</a:t>
            </a:r>
          </a:p>
          <a:p>
            <a:pPr lvl="1"/>
            <a:r>
              <a:rPr lang="ko-KR" altLang="en-US" dirty="0"/>
              <a:t>길이</a:t>
            </a:r>
            <a:r>
              <a:rPr lang="en-US" altLang="ko-KR" dirty="0"/>
              <a:t>·</a:t>
            </a:r>
            <a:r>
              <a:rPr lang="ko-KR" altLang="en-US" dirty="0"/>
              <a:t>각도는 보존되지 않음</a:t>
            </a:r>
            <a:r>
              <a:rPr lang="en-US" altLang="ko-KR" dirty="0"/>
              <a:t>, </a:t>
            </a:r>
            <a:r>
              <a:rPr lang="ko-KR" altLang="en-US" dirty="0"/>
              <a:t>비율만 유지</a:t>
            </a:r>
            <a:endParaRPr lang="en-US" altLang="ko-KR" sz="2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B26CEC-2770-35CE-9726-C510E8284A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2636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4F15-AB23-8A09-3217-1B39BED6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626830-BD91-488C-1DAC-3331DC4EA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F475F4-1CE5-1E6D-C62A-BBC63BAB4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투영의 진행 과정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6F9787E-CC65-A45C-D3FC-765C9A4B5E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47B5102-4237-E997-F448-9994E9045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32"/>
          <a:stretch>
            <a:fillRect/>
          </a:stretch>
        </p:blipFill>
        <p:spPr>
          <a:xfrm>
            <a:off x="3563888" y="980728"/>
            <a:ext cx="4810516" cy="385497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3C9F264-4A37-E035-3D01-BCFADE6652F5}"/>
                  </a:ext>
                </a:extLst>
              </p:cNvPr>
              <p:cNvSpPr txBox="1"/>
              <p:nvPr/>
            </p:nvSpPr>
            <p:spPr>
              <a:xfrm>
                <a:off x="827584" y="1848253"/>
                <a:ext cx="2938308" cy="517257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𝑣𝑖𝑒𝑤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3C9F264-4A37-E035-3D01-BCFADE665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848253"/>
                <a:ext cx="2938308" cy="5172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1E6D43-67D2-DFBE-B210-BCBA33694E54}"/>
                  </a:ext>
                </a:extLst>
              </p:cNvPr>
              <p:cNvSpPr txBox="1"/>
              <p:nvPr/>
            </p:nvSpPr>
            <p:spPr>
              <a:xfrm>
                <a:off x="841604" y="2536470"/>
                <a:ext cx="2938308" cy="517257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1E6D43-67D2-DFBE-B210-BCBA3369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04" y="2536470"/>
                <a:ext cx="2938308" cy="5172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2487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A66A-FE26-3BEA-790B-5E42F0D9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94422B-312B-6382-EBC5-13BA87CD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7B8B99-DD30-2E04-C2DE-C1666ADE4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두 개의 닮은꼴 삼각형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D82516-C662-6629-7AD4-33D61DEBD9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9ADE97-D1C6-6A74-4C15-AB09364D1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50" y="1124744"/>
            <a:ext cx="6768554" cy="26754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1F2DD5-9528-2CBA-BC68-9D8856ACD737}"/>
                  </a:ext>
                </a:extLst>
              </p:cNvPr>
              <p:cNvSpPr txBox="1"/>
              <p:nvPr/>
            </p:nvSpPr>
            <p:spPr>
              <a:xfrm>
                <a:off x="827584" y="3796478"/>
                <a:ext cx="2448272" cy="49084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:−</m:t>
                      </m:r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1F2DD5-9528-2CBA-BC68-9D8856ACD7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3796478"/>
                <a:ext cx="2448272" cy="490840"/>
              </a:xfrm>
              <a:prstGeom prst="rect">
                <a:avLst/>
              </a:prstGeom>
              <a:blipFill>
                <a:blip r:embed="rId3"/>
                <a:stretch>
                  <a:fillRect b="-7500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31CC0E-A762-245E-B296-053DC3D248D1}"/>
                  </a:ext>
                </a:extLst>
              </p:cNvPr>
              <p:cNvSpPr txBox="1"/>
              <p:nvPr/>
            </p:nvSpPr>
            <p:spPr>
              <a:xfrm>
                <a:off x="827584" y="4364560"/>
                <a:ext cx="2520280" cy="86408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31CC0E-A762-245E-B296-053DC3D24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4364560"/>
                <a:ext cx="2520280" cy="864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781380-72B4-42DA-CE8D-8F3F68F50D72}"/>
                  </a:ext>
                </a:extLst>
              </p:cNvPr>
              <p:cNvSpPr txBox="1"/>
              <p:nvPr/>
            </p:nvSpPr>
            <p:spPr>
              <a:xfrm>
                <a:off x="827584" y="5360962"/>
                <a:ext cx="2520280" cy="8540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9781380-72B4-42DA-CE8D-8F3F68F50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5360962"/>
                <a:ext cx="2520280" cy="8540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7C8E83-B215-D370-C969-0AFB87D23C2A}"/>
                  </a:ext>
                </a:extLst>
              </p:cNvPr>
              <p:cNvSpPr txBox="1"/>
              <p:nvPr/>
            </p:nvSpPr>
            <p:spPr>
              <a:xfrm>
                <a:off x="4500043" y="3873224"/>
                <a:ext cx="2520281" cy="517257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7C8E83-B215-D370-C969-0AFB87D23C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0043" y="3873224"/>
                <a:ext cx="2520281" cy="5172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A0A0B0-9A12-0C17-1660-B55491EC43DA}"/>
                  </a:ext>
                </a:extLst>
              </p:cNvPr>
              <p:cNvSpPr txBox="1"/>
              <p:nvPr/>
            </p:nvSpPr>
            <p:spPr>
              <a:xfrm>
                <a:off x="5148313" y="4420599"/>
                <a:ext cx="2520281" cy="92217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A0A0B0-9A12-0C17-1660-B55491EC4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313" y="4420599"/>
                <a:ext cx="2520281" cy="92217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6ADBF4-1AE2-D3FC-CF20-4AD1AEBB99B8}"/>
                  </a:ext>
                </a:extLst>
              </p:cNvPr>
              <p:cNvSpPr txBox="1"/>
              <p:nvPr/>
            </p:nvSpPr>
            <p:spPr>
              <a:xfrm>
                <a:off x="5148313" y="5366734"/>
                <a:ext cx="2064795" cy="8540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6ADBF4-1AE2-D3FC-CF20-4AD1AEBB9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313" y="5366734"/>
                <a:ext cx="2064795" cy="8540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5813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37AC-AD3C-BA7B-F690-E11F51254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BA4BA-D3D7-DE8F-06E5-144DE4350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BD6AA-E713-9A3C-011F-A1E7B91B8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NDC</a:t>
            </a:r>
            <a:r>
              <a:rPr lang="ko-KR" altLang="en-US" dirty="0"/>
              <a:t>에서 화면 공간으로의 변환</a:t>
            </a:r>
            <a:endParaRPr lang="en-US" altLang="ko-KR" dirty="0"/>
          </a:p>
          <a:p>
            <a:pPr lvl="1"/>
            <a:r>
              <a:rPr lang="en-US" altLang="ko-KR" dirty="0"/>
              <a:t>ex) NDC </a:t>
            </a:r>
            <a:r>
              <a:rPr lang="ko-KR" altLang="en-US" dirty="0"/>
              <a:t>→ </a:t>
            </a:r>
            <a:r>
              <a:rPr lang="en-US" altLang="ko-KR" dirty="0"/>
              <a:t>800 X 600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8EDA5A-F378-EE41-C563-B1E44934A2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5551B5-AA13-342B-633A-E94ACF120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76" y="2348880"/>
            <a:ext cx="8588563" cy="327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985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C286D-0D5E-792F-EFD8-56E86A03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AB7F5C-C55E-D67B-94D6-A53B2D365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03133-6A5A-7E10-484F-1A6A8B5B4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종횡비를 고려하지 않고 그대로 확대하는 경우의 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종횡비</a:t>
            </a:r>
            <a:r>
              <a:rPr lang="en-US" altLang="ko-KR" dirty="0"/>
              <a:t>(Aspect ratio) </a:t>
            </a:r>
            <a:r>
              <a:rPr lang="ko-KR" altLang="en-US" dirty="0"/>
              <a:t>적용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0CCB46-6342-4451-405A-E9C47F194B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DC1F59-ED8B-82A4-F996-1149B7B32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104" y="1293038"/>
            <a:ext cx="3669843" cy="21359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D1D8947-717D-BFD9-BB40-82B667B657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12" b="3169"/>
          <a:stretch>
            <a:fillRect/>
          </a:stretch>
        </p:blipFill>
        <p:spPr>
          <a:xfrm>
            <a:off x="3042007" y="4365104"/>
            <a:ext cx="3660795" cy="215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77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6E7FD-B530-EFD3-B443-31648A3AD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2C99F-C14C-21F2-3C9A-B64AFFD7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7D6D75-25E1-EB13-7E89-EC2D6C0B1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종횡비</a:t>
            </a:r>
            <a:r>
              <a:rPr lang="en-US" altLang="ko-KR" dirty="0"/>
              <a:t>(Aspect ratio) </a:t>
            </a:r>
            <a:r>
              <a:rPr lang="ko-KR" altLang="en-US" dirty="0"/>
              <a:t>적용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21535A-4379-E8D4-BE17-4B186BCD46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3926-F0CD-E454-1100-B311DFDD625A}"/>
                  </a:ext>
                </a:extLst>
              </p:cNvPr>
              <p:cNvSpPr txBox="1"/>
              <p:nvPr/>
            </p:nvSpPr>
            <p:spPr>
              <a:xfrm>
                <a:off x="713664" y="1268760"/>
                <a:ext cx="3210264" cy="8540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3926-F0CD-E454-1100-B311DFDD6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64" y="1268760"/>
                <a:ext cx="3210264" cy="8540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D092ED-3A72-CC18-1E62-7A1BC11838D5}"/>
                  </a:ext>
                </a:extLst>
              </p:cNvPr>
              <p:cNvSpPr txBox="1"/>
              <p:nvPr/>
            </p:nvSpPr>
            <p:spPr>
              <a:xfrm>
                <a:off x="3779912" y="1268760"/>
                <a:ext cx="3180366" cy="85401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D092ED-3A72-CC18-1E62-7A1BC1183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1268760"/>
                <a:ext cx="3180366" cy="854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168CDB3-2CFA-2044-FCBD-2F7CDBEFA5B7}"/>
                  </a:ext>
                </a:extLst>
              </p:cNvPr>
              <p:cNvSpPr txBox="1"/>
              <p:nvPr/>
            </p:nvSpPr>
            <p:spPr>
              <a:xfrm>
                <a:off x="713664" y="2276872"/>
                <a:ext cx="1914120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168CDB3-2CFA-2044-FCBD-2F7CDBEFA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64" y="2276872"/>
                <a:ext cx="1914120" cy="461665"/>
              </a:xfrm>
              <a:prstGeom prst="rect">
                <a:avLst/>
              </a:prstGeom>
              <a:blipFill>
                <a:blip r:embed="rId4"/>
                <a:stretch>
                  <a:fillRect l="-637" t="-17333" r="-15605" b="-533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09995D-F67C-7B7E-1585-D04DF32CF8E8}"/>
                  </a:ext>
                </a:extLst>
              </p:cNvPr>
              <p:cNvSpPr txBox="1"/>
              <p:nvPr/>
            </p:nvSpPr>
            <p:spPr>
              <a:xfrm>
                <a:off x="1425424" y="2728394"/>
                <a:ext cx="2498504" cy="1668727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09995D-F67C-7B7E-1585-D04DF32CF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424" y="2728394"/>
                <a:ext cx="2498504" cy="16687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F95BFB-5169-D7D1-D1A9-99C2296E862F}"/>
                  </a:ext>
                </a:extLst>
              </p:cNvPr>
              <p:cNvSpPr txBox="1"/>
              <p:nvPr/>
            </p:nvSpPr>
            <p:spPr>
              <a:xfrm>
                <a:off x="3779912" y="3092519"/>
                <a:ext cx="1008112" cy="75110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F95BFB-5169-D7D1-D1A9-99C2296E8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3092519"/>
                <a:ext cx="1008112" cy="7511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D18B41-4144-7610-CFD2-AD582AF1C93A}"/>
                  </a:ext>
                </a:extLst>
              </p:cNvPr>
              <p:cNvSpPr txBox="1"/>
              <p:nvPr/>
            </p:nvSpPr>
            <p:spPr>
              <a:xfrm>
                <a:off x="1434456" y="4424569"/>
                <a:ext cx="2498504" cy="146982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D18B41-4144-7610-CFD2-AD582AF1C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456" y="4424569"/>
                <a:ext cx="2498504" cy="146982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5503709-3D5A-647F-51C3-05E4B5E6C5AF}"/>
                  </a:ext>
                </a:extLst>
              </p:cNvPr>
              <p:cNvSpPr txBox="1"/>
              <p:nvPr/>
            </p:nvSpPr>
            <p:spPr>
              <a:xfrm>
                <a:off x="3428904" y="4568571"/>
                <a:ext cx="1008112" cy="106869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5503709-3D5A-647F-51C3-05E4B5E6C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904" y="4568571"/>
                <a:ext cx="1008112" cy="10686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A26B87-7357-F31C-8B68-AB2E0B8CB682}"/>
                  </a:ext>
                </a:extLst>
              </p:cNvPr>
              <p:cNvSpPr txBox="1"/>
              <p:nvPr/>
            </p:nvSpPr>
            <p:spPr>
              <a:xfrm>
                <a:off x="4131632" y="4337770"/>
                <a:ext cx="2672616" cy="153029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A26B87-7357-F31C-8B68-AB2E0B8CB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632" y="4337770"/>
                <a:ext cx="2672616" cy="153029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4937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F94F7-2CBB-B6E5-F16B-C7644A70C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270AD-CB9E-620B-EB17-BB58F7F89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12.1 </a:t>
            </a:r>
            <a:r>
              <a:rPr lang="ko-KR" altLang="en-US" dirty="0"/>
              <a:t>원근 투영 변환의 원리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0922E2D-AAC6-24A9-45A3-5F622F2FC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클립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좌표</a:t>
                </a:r>
                <a:r>
                  <a:rPr lang="en-US" altLang="ko-KR" dirty="0"/>
                  <a:t>(Clip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Coordinate)</a:t>
                </a:r>
              </a:p>
              <a:p>
                <a:pPr lvl="1"/>
                <a:r>
                  <a:rPr lang="ko-KR" altLang="en-US" dirty="0"/>
                  <a:t>원근 투영 행렬 </a:t>
                </a:r>
                <a:r>
                  <a:rPr lang="en-US" altLang="ko-KR" dirty="0"/>
                  <a:t>P</a:t>
                </a:r>
                <a:r>
                  <a:rPr lang="ko-KR" altLang="en-US" dirty="0"/>
                  <a:t>로 변환되는 좌표계</a:t>
                </a:r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endParaRPr lang="en-US" altLang="ko-KR" dirty="0"/>
              </a:p>
              <a:p>
                <a:r>
                  <a:rPr lang="ko-KR" altLang="en-US" dirty="0"/>
                  <a:t>클립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좌표</a:t>
                </a:r>
                <a:r>
                  <a:rPr lang="en-US" altLang="ko-KR" dirty="0"/>
                  <a:t>(Clip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Coordinate) </a:t>
                </a:r>
                <a:r>
                  <a:rPr lang="ko-KR" altLang="en-US" dirty="0"/>
                  <a:t>→ </a:t>
                </a:r>
                <a:r>
                  <a:rPr lang="en-US" altLang="ko-KR" dirty="0"/>
                  <a:t>NDC</a:t>
                </a:r>
                <a:r>
                  <a:rPr lang="ko-KR" altLang="en-US" dirty="0"/>
                  <a:t> 좌표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마지막 </a:t>
                </a:r>
                <a14:m>
                  <m:oMath xmlns:m="http://schemas.openxmlformats.org/officeDocument/2006/math">
                    <m:r>
                      <a:rPr lang="en-US" altLang="ko-K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altLang="ko-K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/>
                  <a:t>로 나눔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0922E2D-AAC6-24A9-45A3-5F622F2FC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3F0E36-E6D9-B5EA-C0D8-4284CFF3ECB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1ED5E-329C-1921-81F0-78632368F037}"/>
                  </a:ext>
                </a:extLst>
              </p:cNvPr>
              <p:cNvSpPr txBox="1"/>
              <p:nvPr/>
            </p:nvSpPr>
            <p:spPr>
              <a:xfrm>
                <a:off x="899592" y="1844824"/>
                <a:ext cx="4752528" cy="92217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𝑐𝑙𝑖𝑝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 , </m:t>
                          </m:r>
                          <m:r>
                            <a:rPr lang="en-US" altLang="ko-KR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91ED5E-329C-1921-81F0-78632368F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1844824"/>
                <a:ext cx="4752528" cy="9221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87EBE4-8E80-E0A1-6369-AD36C3658FAC}"/>
                  </a:ext>
                </a:extLst>
              </p:cNvPr>
              <p:cNvSpPr txBox="1"/>
              <p:nvPr/>
            </p:nvSpPr>
            <p:spPr>
              <a:xfrm>
                <a:off x="899592" y="4653136"/>
                <a:ext cx="4752528" cy="92217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𝑛𝑑𝑐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 , </m:t>
                          </m:r>
                          <m:f>
                            <m:fPr>
                              <m:ctrlP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ko-KR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ko-KR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 , 1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87EBE4-8E80-E0A1-6369-AD36C3658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4653136"/>
                <a:ext cx="4752528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613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73D45-48C4-604D-3E4B-3B4DC971C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240A1F-134D-90DE-A95C-9395FB178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 </a:t>
            </a:r>
            <a:r>
              <a:rPr lang="ko-KR" altLang="en-US" dirty="0"/>
              <a:t>동차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93B270-E21E-7DDC-5770-DE0EAABB1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사영</a:t>
            </a:r>
            <a:r>
              <a:rPr lang="ko-KR" altLang="en-US" dirty="0"/>
              <a:t> 공간 내에서 평행 이동하는 점에 따른 투영 결과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C65AA5F-AA97-98F4-221A-9C9EC62192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2EBCA2B-7D2D-7284-042F-B0329B1EC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484784"/>
            <a:ext cx="5274815" cy="26642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87EFF3-A70A-8E22-223B-2A762639709F}"/>
                  </a:ext>
                </a:extLst>
              </p:cNvPr>
              <p:cNvSpPr txBox="1"/>
              <p:nvPr/>
            </p:nvSpPr>
            <p:spPr>
              <a:xfrm>
                <a:off x="2195736" y="4372661"/>
                <a:ext cx="1368152" cy="80528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87EFF3-A70A-8E22-223B-2A7626397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736" y="4372661"/>
                <a:ext cx="1368152" cy="8052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44CEE5-8AAE-3F95-2EF3-65BA0DF26D88}"/>
                  </a:ext>
                </a:extLst>
              </p:cNvPr>
              <p:cNvSpPr txBox="1"/>
              <p:nvPr/>
            </p:nvSpPr>
            <p:spPr>
              <a:xfrm>
                <a:off x="3779912" y="4365104"/>
                <a:ext cx="1368152" cy="82246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44CEE5-8AAE-3F95-2EF3-65BA0DF26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4365104"/>
                <a:ext cx="1368152" cy="822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0232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35E6-6503-05F7-9FC8-F22CEB6D4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4A88B-C284-01A9-BB1D-E9A2E6958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 </a:t>
            </a:r>
            <a:r>
              <a:rPr lang="ko-KR" altLang="en-US" dirty="0"/>
              <a:t>동차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288707-30AD-F153-DA2D-2CA5664A4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NDC </a:t>
            </a:r>
            <a:r>
              <a:rPr lang="ko-KR" altLang="en-US" dirty="0"/>
              <a:t>좌표에서의 직선 방정식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동차 방정식</a:t>
            </a:r>
            <a:endParaRPr lang="en-US" altLang="ko-KR" dirty="0"/>
          </a:p>
          <a:p>
            <a:pPr lvl="1"/>
            <a:r>
              <a:rPr lang="ko-KR" altLang="en-US" dirty="0"/>
              <a:t>모든 항이 같은 차수로 이루어진 방정식</a:t>
            </a:r>
            <a:br>
              <a:rPr lang="en-US" altLang="ko-KR" dirty="0"/>
            </a:br>
            <a:r>
              <a:rPr lang="ko-KR" altLang="en-US" dirty="0"/>
              <a:t>→ 미지수에 대한 차수가 모두 동일</a:t>
            </a:r>
          </a:p>
          <a:p>
            <a:pPr lvl="1"/>
            <a:r>
              <a:rPr lang="ko-KR" altLang="en-US" dirty="0"/>
              <a:t>스케일을 곱해도 형태가 변하지 않음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B4714D-043A-5C2C-A508-56F1FC8C64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557CE1-244F-08F6-752A-9C1DA4F0D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044" y="692150"/>
            <a:ext cx="3882404" cy="324090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E09029-BB8A-CF3D-82D4-0EC50810C2C0}"/>
                  </a:ext>
                </a:extLst>
              </p:cNvPr>
              <p:cNvSpPr txBox="1"/>
              <p:nvPr/>
            </p:nvSpPr>
            <p:spPr>
              <a:xfrm>
                <a:off x="648429" y="1412776"/>
                <a:ext cx="2736304" cy="4616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E09029-BB8A-CF3D-82D4-0EC50810C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429" y="1412776"/>
                <a:ext cx="2736304" cy="461665"/>
              </a:xfrm>
              <a:prstGeom prst="rect">
                <a:avLst/>
              </a:prstGeom>
              <a:blipFill>
                <a:blip r:embed="rId3"/>
                <a:stretch>
                  <a:fillRect l="-668" b="-1333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BFD91B-F2EF-B287-21D1-9CE25493AC2E}"/>
                  </a:ext>
                </a:extLst>
              </p:cNvPr>
              <p:cNvSpPr txBox="1"/>
              <p:nvPr/>
            </p:nvSpPr>
            <p:spPr>
              <a:xfrm>
                <a:off x="656088" y="1916832"/>
                <a:ext cx="2736304" cy="80528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 + 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BFD91B-F2EF-B287-21D1-9CE25493A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88" y="1916832"/>
                <a:ext cx="2736304" cy="8052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8099D-7567-18AB-C774-78E98EDEACAE}"/>
                  </a:ext>
                </a:extLst>
              </p:cNvPr>
              <p:cNvSpPr txBox="1"/>
              <p:nvPr/>
            </p:nvSpPr>
            <p:spPr>
              <a:xfrm>
                <a:off x="658886" y="2852936"/>
                <a:ext cx="3763071" cy="58477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sSup>
                      <m:sSupPr>
                        <m:ctrlPr>
                          <a:rPr lang="en-US" altLang="ko-KR" sz="32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 + </m:t>
                    </m:r>
                    <m:r>
                      <a:rPr lang="en-US" altLang="ko-KR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3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ko-K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8099D-7567-18AB-C774-78E98EDEA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86" y="2852936"/>
                <a:ext cx="3763071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231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DA6C6-9AAA-3403-A385-B7DF60836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562AB6-0CF0-FF2A-96D8-745FF238C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12.2 </a:t>
            </a:r>
            <a:r>
              <a:rPr lang="ko-KR" altLang="en-US" dirty="0"/>
              <a:t>동차 좌표계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0E2BFD-FBBD-ED74-92BB-04DB327D8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소실점 </a:t>
            </a:r>
            <a:r>
              <a:rPr lang="en-US" altLang="ko-KR" dirty="0"/>
              <a:t>(Vanishing Point)</a:t>
            </a:r>
          </a:p>
          <a:p>
            <a:pPr lvl="1"/>
            <a:r>
              <a:rPr lang="ko-KR" altLang="en-US" dirty="0"/>
              <a:t>평행한 직선들이 원근 투영에서 한 점으로 모여 보이는 점</a:t>
            </a:r>
          </a:p>
          <a:p>
            <a:pPr lvl="1"/>
            <a:r>
              <a:rPr lang="en-US" altLang="ko-KR" dirty="0"/>
              <a:t>3</a:t>
            </a:r>
            <a:r>
              <a:rPr lang="ko-KR" altLang="en-US" dirty="0"/>
              <a:t>차원 방향 정보가 </a:t>
            </a:r>
            <a:r>
              <a:rPr lang="en-US" altLang="ko-KR" dirty="0"/>
              <a:t>2</a:t>
            </a:r>
            <a:r>
              <a:rPr lang="ko-KR" altLang="en-US" dirty="0"/>
              <a:t>차원으로 투영되며 생김</a:t>
            </a:r>
            <a:endParaRPr lang="en-US" altLang="ko-KR" dirty="0"/>
          </a:p>
          <a:p>
            <a:pPr lvl="4"/>
            <a:endParaRPr lang="en-US" altLang="ko-KR" dirty="0"/>
          </a:p>
          <a:p>
            <a:r>
              <a:rPr lang="ko-KR" altLang="en-US" dirty="0" err="1"/>
              <a:t>미델하르니스의</a:t>
            </a:r>
            <a:r>
              <a:rPr lang="ko-KR" altLang="en-US" dirty="0"/>
              <a:t> 가로수길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4EEEE-0603-181E-5E3D-FE894728BC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Picture 2" descr="A group of palm trees next to a tree&#10;&#10;Description automatically generated">
            <a:extLst>
              <a:ext uri="{FF2B5EF4-FFF2-40B4-BE49-F238E27FC236}">
                <a16:creationId xmlns:a16="http://schemas.microsoft.com/office/drawing/2014/main" id="{D9D8556D-9B04-67BA-8A7C-CB869CF93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689" y="2946548"/>
            <a:ext cx="4929757" cy="3651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25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291DC-1686-9255-24C8-62792100D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D0D75-196A-1C11-FF81-5B809F58E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12-1 </a:t>
            </a:r>
            <a:r>
              <a:rPr lang="ko-KR" altLang="en-US" dirty="0"/>
              <a:t>화면에 원근감 부여하기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2F12AA-C3B3-F6A1-2108-C69AD6B2D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원근 투영 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ECCD41-08B8-04C4-93F1-5A8E2397D9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8826FC0-DDB7-CE87-3721-D819CACD42DC}"/>
                  </a:ext>
                </a:extLst>
              </p:cNvPr>
              <p:cNvSpPr txBox="1"/>
              <p:nvPr/>
            </p:nvSpPr>
            <p:spPr>
              <a:xfrm>
                <a:off x="539750" y="1268760"/>
                <a:ext cx="3168154" cy="183062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8826FC0-DDB7-CE87-3721-D819CACD4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268760"/>
                <a:ext cx="3168154" cy="18306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87859603-81C4-2C67-C5A6-88CF3C525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569" y="735090"/>
            <a:ext cx="3379831" cy="28979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CB7A7DA-CF1B-CC58-6BEA-AAA3BA78B4E0}"/>
              </a:ext>
            </a:extLst>
          </p:cNvPr>
          <p:cNvSpPr txBox="1"/>
          <p:nvPr/>
        </p:nvSpPr>
        <p:spPr>
          <a:xfrm>
            <a:off x="107505" y="3804508"/>
            <a:ext cx="5112567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CameraObject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GetPerspectiveMatrix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 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invA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ViewportSize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AspectRatio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tanf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Deg2Rad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_FOV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0.5f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UnitX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invA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UnitY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      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-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   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63D05-24E5-FFB5-22BA-E91EAE793F73}"/>
              </a:ext>
            </a:extLst>
          </p:cNvPr>
          <p:cNvSpPr txBox="1"/>
          <p:nvPr/>
        </p:nvSpPr>
        <p:spPr>
          <a:xfrm>
            <a:off x="5379569" y="3804508"/>
            <a:ext cx="3592546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클립 좌표를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NDC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좌표로 변경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무한 원점인 경우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약간 보정해준다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SMALL_NUMBER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528817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C42F8-2363-054C-2A6E-8C3F0490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08B192-99B6-5842-4F93-06E56438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CA262C-A375-70FB-A5E7-D557F0299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차원으로 확장된 </a:t>
            </a:r>
            <a:r>
              <a:rPr lang="en-US" altLang="ko-KR" dirty="0"/>
              <a:t>NDC </a:t>
            </a:r>
            <a:r>
              <a:rPr lang="ko-KR" altLang="en-US" dirty="0"/>
              <a:t>영역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644C75-D77E-F6EE-CBFF-D9AC04724A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CFDF0-E425-2130-7A6D-35500FA6B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336288"/>
            <a:ext cx="4032448" cy="418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738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EAC27-CDD2-47C4-A6C6-1D04CDA6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FFFCBD-5070-C1F5-1AE1-1C09457F0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72DB38-E12A-F978-B9E8-81C19F97F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근 평면 </a:t>
            </a:r>
            <a:r>
              <a:rPr lang="en-US" altLang="ko-KR" sz="2400" dirty="0"/>
              <a:t>(Near plane)</a:t>
            </a:r>
          </a:p>
          <a:p>
            <a:pPr lvl="1"/>
            <a:r>
              <a:rPr lang="ko-KR" altLang="en-US" sz="2000" dirty="0"/>
              <a:t>카메라에서 가장 가까운 투영 기준 평면</a:t>
            </a:r>
          </a:p>
          <a:p>
            <a:pPr lvl="1"/>
            <a:r>
              <a:rPr lang="ko-KR" altLang="en-US" sz="2000" dirty="0"/>
              <a:t>깊이 계산의 시작 기준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원 평면 </a:t>
            </a:r>
            <a:r>
              <a:rPr lang="en-US" altLang="ko-KR" sz="2400" dirty="0"/>
              <a:t>(Far plane)</a:t>
            </a:r>
          </a:p>
          <a:p>
            <a:pPr lvl="1"/>
            <a:r>
              <a:rPr lang="ko-KR" altLang="en-US" sz="2000" dirty="0"/>
              <a:t>카메라에서 가장 먼 투영 제한 평면</a:t>
            </a:r>
          </a:p>
          <a:p>
            <a:pPr lvl="1"/>
            <a:r>
              <a:rPr lang="ko-KR" altLang="en-US" sz="2000" dirty="0"/>
              <a:t>깊이 계산의 끝 기준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ko-KR" altLang="en-US" sz="2400" dirty="0" err="1"/>
              <a:t>절두체</a:t>
            </a:r>
            <a:r>
              <a:rPr lang="en-US" altLang="ko-KR" sz="2400" dirty="0"/>
              <a:t> (Frustum)</a:t>
            </a:r>
          </a:p>
          <a:p>
            <a:pPr lvl="1"/>
            <a:r>
              <a:rPr lang="ko-KR" altLang="en-US" sz="2000" dirty="0"/>
              <a:t>원근 투영의 대상 공간</a:t>
            </a:r>
          </a:p>
          <a:p>
            <a:pPr lvl="1"/>
            <a:r>
              <a:rPr lang="ko-KR" altLang="en-US" sz="2000" dirty="0"/>
              <a:t>근 평면과 원 평면 사이의 잘린 피라미드 형태의 공간</a:t>
            </a:r>
          </a:p>
          <a:p>
            <a:pPr lvl="1"/>
            <a:r>
              <a:rPr lang="ko-KR" altLang="en-US" sz="2000" dirty="0"/>
              <a:t>카메라가 실제로 볼 수 있는 영역</a:t>
            </a:r>
            <a:r>
              <a:rPr lang="en-US" altLang="ko-KR" sz="2000" dirty="0"/>
              <a:t>(View Volume)</a:t>
            </a:r>
          </a:p>
          <a:p>
            <a:pPr lvl="1"/>
            <a:r>
              <a:rPr lang="ko-KR" altLang="en-US" sz="2000" dirty="0"/>
              <a:t>이 영역 안의 객체만 렌더링 → 밖에 있는 객체는 클리핑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2102F7-F2AD-B80D-1010-CD86FFF3AA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8AA53D-1470-C35F-624A-AF60780D0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64" y="1124744"/>
            <a:ext cx="3803724" cy="327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836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EB1A-515C-EE66-8C12-45E038F29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7E1BE-1E7D-1923-9B72-B1ABE023D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C11511-389C-08AA-B7A3-3EE423DF1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차원으로 확장한 </a:t>
            </a:r>
            <a:r>
              <a:rPr lang="en-US" altLang="ko-KR" dirty="0"/>
              <a:t>NDC</a:t>
            </a:r>
            <a:r>
              <a:rPr lang="ko-KR" altLang="en-US" dirty="0"/>
              <a:t>의 범위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0ECEA3-8901-708D-13D3-05C08B7EFB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6152414-460B-A37B-C983-B8D8E8D2D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1340768"/>
            <a:ext cx="6141234" cy="445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363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0288-C1AD-B45E-0C5A-B8D8DD4D3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41B88B-D0EA-8951-4821-889999EC7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AD76CC7-8509-F865-935A-B1471FF71A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3</a:t>
                </a:r>
                <a:r>
                  <a:rPr lang="ko-KR" altLang="en-US" dirty="0"/>
                  <a:t>차원으로 확장한 </a:t>
                </a:r>
                <a:r>
                  <a:rPr lang="en-US" altLang="ko-KR" dirty="0"/>
                  <a:t>NDC</a:t>
                </a:r>
                <a:r>
                  <a:rPr lang="ko-KR" altLang="en-US" dirty="0"/>
                  <a:t>의 범위</a:t>
                </a:r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endParaRPr lang="en-US" altLang="ko-KR" dirty="0"/>
              </a:p>
              <a:p>
                <a:pPr lvl="1"/>
                <a:endParaRPr lang="en-US" altLang="ko-KR" dirty="0"/>
              </a:p>
              <a:p>
                <a:pPr lvl="1"/>
                <a:r>
                  <a:rPr lang="ko-KR" altLang="en-US" dirty="0"/>
                  <a:t>깊이 값은 뷰 좌표계 의 </a:t>
                </a:r>
                <a:r>
                  <a:rPr lang="en-US" altLang="ko-KR" dirty="0"/>
                  <a:t>x, y </a:t>
                </a:r>
                <a:r>
                  <a:rPr lang="ko-KR" altLang="en-US" dirty="0"/>
                  <a:t>축에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직교 </a:t>
                </a:r>
                <a:r>
                  <a:rPr lang="en-US" altLang="ko-KR" dirty="0">
                    <a:sym typeface="Wingdings" panose="05000000000000000000" pitchFamily="2" charset="2"/>
                  </a:rPr>
                  <a:t> </a:t>
                </a:r>
                <a:r>
                  <a:rPr lang="en-US" altLang="ko-KR" dirty="0"/>
                  <a:t>i, j </a:t>
                </a:r>
                <a:r>
                  <a:rPr lang="ko-KR" altLang="en-US" dirty="0"/>
                  <a:t>→ </a:t>
                </a:r>
                <a:r>
                  <a:rPr lang="en-US" altLang="ko-KR" dirty="0"/>
                  <a:t>0</a:t>
                </a:r>
                <a:endParaRPr lang="ko-KR" altLang="en-US" dirty="0"/>
              </a:p>
              <a:p>
                <a:pPr lvl="1"/>
                <a:r>
                  <a:rPr lang="en-US" altLang="ko-KR" dirty="0"/>
                  <a:t>Near </a:t>
                </a:r>
                <a:r>
                  <a:rPr lang="ko-KR" altLang="en-US" dirty="0"/>
                  <a:t>평면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,1</m:t>
                        </m:r>
                      </m:e>
                    </m:d>
                  </m:oMath>
                </a14:m>
                <a:r>
                  <a:rPr lang="ko-KR" altLang="en-US" dirty="0"/>
                  <a:t> →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ko-KR" altLang="en-US" dirty="0"/>
                  <a:t> </a:t>
                </a:r>
                <a:endParaRPr lang="en-US" altLang="ko-KR" dirty="0"/>
              </a:p>
              <a:p>
                <a:pPr lvl="1"/>
                <a:r>
                  <a:rPr lang="en-US" altLang="ko-KR" dirty="0"/>
                  <a:t>Far </a:t>
                </a:r>
                <a:r>
                  <a:rPr lang="ko-KR" altLang="en-US" dirty="0"/>
                  <a:t>평면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,1</m:t>
                        </m:r>
                      </m:e>
                    </m:d>
                  </m:oMath>
                </a14:m>
                <a:r>
                  <a:rPr lang="ko-KR" altLang="en-US" dirty="0"/>
                  <a:t> →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0,0,1</m:t>
                        </m:r>
                      </m:e>
                    </m:d>
                  </m:oMath>
                </a14:m>
                <a:r>
                  <a:rPr lang="ko-KR" altLang="en-US" dirty="0"/>
                  <a:t> 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AD76CC7-8509-F865-935A-B1471FF71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3FCC7F-B18F-B5C7-E4F1-16E5B8AE3F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ADE2FDE-3F88-DD21-244A-88A46543AC39}"/>
                  </a:ext>
                </a:extLst>
              </p:cNvPr>
              <p:cNvSpPr txBox="1"/>
              <p:nvPr/>
            </p:nvSpPr>
            <p:spPr>
              <a:xfrm>
                <a:off x="3668776" y="1556404"/>
                <a:ext cx="1008112" cy="145296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ADE2FDE-3F88-DD21-244A-88A46543A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776" y="1556404"/>
                <a:ext cx="1008112" cy="14529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6894F9-37B7-9D67-1F58-D28E2F62F5A7}"/>
                  </a:ext>
                </a:extLst>
              </p:cNvPr>
              <p:cNvSpPr txBox="1"/>
              <p:nvPr/>
            </p:nvSpPr>
            <p:spPr>
              <a:xfrm>
                <a:off x="4283968" y="1311882"/>
                <a:ext cx="1584176" cy="194200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altLang="ko-KR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?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6894F9-37B7-9D67-1F58-D28E2F62F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968" y="1311882"/>
                <a:ext cx="1584176" cy="19420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C59A13-BBCA-2ECB-7AD2-C32DC725CCDA}"/>
                  </a:ext>
                </a:extLst>
              </p:cNvPr>
              <p:cNvSpPr txBox="1"/>
              <p:nvPr/>
            </p:nvSpPr>
            <p:spPr>
              <a:xfrm>
                <a:off x="611560" y="1367571"/>
                <a:ext cx="3528392" cy="1842684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C59A13-BBCA-2ECB-7AD2-C32DC725C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367571"/>
                <a:ext cx="3528392" cy="184268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8941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DF793-5CD4-B908-C7DD-F6E86C0D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ED8D4-745B-735B-6E88-6C2E3EBE3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47AF35A-BEFB-262B-860D-0BA3787675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Near </a:t>
                </a:r>
                <a:r>
                  <a:rPr lang="ko-KR" altLang="en-US" dirty="0"/>
                  <a:t>평면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0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,1</m:t>
                        </m:r>
                      </m:e>
                    </m:d>
                  </m:oMath>
                </a14:m>
                <a:r>
                  <a:rPr lang="ko-KR" altLang="en-US" dirty="0"/>
                  <a:t> →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ko-KR" altLang="en-US" dirty="0"/>
                  <a:t> </a:t>
                </a:r>
                <a:endParaRPr lang="en-US" altLang="ko-KR" dirty="0"/>
              </a:p>
              <a:p>
                <a:r>
                  <a:rPr lang="en-US" altLang="ko-KR" dirty="0"/>
                  <a:t>Far </a:t>
                </a:r>
                <a:r>
                  <a:rPr lang="ko-KR" altLang="en-US" dirty="0"/>
                  <a:t>평면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,1</m:t>
                        </m:r>
                      </m:e>
                    </m:d>
                  </m:oMath>
                </a14:m>
                <a:r>
                  <a:rPr lang="ko-KR" altLang="en-US" dirty="0"/>
                  <a:t> →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</m:t>
                        </m:r>
                        <m:r>
                          <a:rPr lang="en-US" altLang="ko-K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ko-KR" altLang="en-US" dirty="0"/>
                  <a:t> 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47AF35A-BEFB-262B-860D-0BA3787675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20" t="-10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1D243D-F511-9246-E994-DF83631769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C536E-97AC-5F69-561D-4B55B1770438}"/>
                  </a:ext>
                </a:extLst>
              </p:cNvPr>
              <p:cNvSpPr txBox="1"/>
              <p:nvPr/>
            </p:nvSpPr>
            <p:spPr>
              <a:xfrm>
                <a:off x="3419872" y="2305370"/>
                <a:ext cx="864096" cy="145296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C536E-97AC-5F69-561D-4B55B1770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872" y="2305370"/>
                <a:ext cx="864096" cy="14529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BC6E27A-C34A-CB87-4A30-F7E6A53025EC}"/>
                  </a:ext>
                </a:extLst>
              </p:cNvPr>
              <p:cNvSpPr txBox="1"/>
              <p:nvPr/>
            </p:nvSpPr>
            <p:spPr>
              <a:xfrm>
                <a:off x="4375593" y="2305370"/>
                <a:ext cx="1060503" cy="145296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?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BC6E27A-C34A-CB87-4A30-F7E6A5302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593" y="2305370"/>
                <a:ext cx="1060503" cy="14529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7F2E35-E217-3F64-5372-DDEEF3DC46A6}"/>
                  </a:ext>
                </a:extLst>
              </p:cNvPr>
              <p:cNvSpPr txBox="1"/>
              <p:nvPr/>
            </p:nvSpPr>
            <p:spPr>
              <a:xfrm>
                <a:off x="545907" y="2116537"/>
                <a:ext cx="3017981" cy="183062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7F2E35-E217-3F64-5372-DDEEF3DC4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07" y="2116537"/>
                <a:ext cx="3017981" cy="18306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26546-CD4F-B9B5-A67A-9AF39FE99536}"/>
                  </a:ext>
                </a:extLst>
              </p:cNvPr>
              <p:cNvSpPr txBox="1"/>
              <p:nvPr/>
            </p:nvSpPr>
            <p:spPr>
              <a:xfrm>
                <a:off x="3419872" y="4320581"/>
                <a:ext cx="864096" cy="145296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26546-CD4F-B9B5-A67A-9AF39FE99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872" y="4320581"/>
                <a:ext cx="864096" cy="14529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DCA8C9-8A7A-1994-4100-1DD679CA903D}"/>
                  </a:ext>
                </a:extLst>
              </p:cNvPr>
              <p:cNvSpPr txBox="1"/>
              <p:nvPr/>
            </p:nvSpPr>
            <p:spPr>
              <a:xfrm>
                <a:off x="4375593" y="4320581"/>
                <a:ext cx="1060503" cy="149451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?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DCA8C9-8A7A-1994-4100-1DD679CA9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593" y="4320581"/>
                <a:ext cx="1060503" cy="149451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2EEF42-AD7B-CBDE-3E92-368E65821396}"/>
                  </a:ext>
                </a:extLst>
              </p:cNvPr>
              <p:cNvSpPr txBox="1"/>
              <p:nvPr/>
            </p:nvSpPr>
            <p:spPr>
              <a:xfrm>
                <a:off x="545907" y="4131748"/>
                <a:ext cx="3017981" cy="183062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2EEF42-AD7B-CBDE-3E92-368E65821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07" y="4131748"/>
                <a:ext cx="3017981" cy="18306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4212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E0223-A42B-D987-574F-7D344C8F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D6EAAF-92CC-738E-AFD9-366D7752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D07C3A-657F-3D07-DEFD-3CE322FA8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투영 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B3AA12B-4883-0059-9F95-8FAB09F9B8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115E62C-BE11-C7CE-B415-272E249D4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740" y="1513551"/>
            <a:ext cx="5021355" cy="33829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8B2614-8FA8-6853-03F8-B11DB7180EFA}"/>
                  </a:ext>
                </a:extLst>
              </p:cNvPr>
              <p:cNvSpPr txBox="1"/>
              <p:nvPr/>
            </p:nvSpPr>
            <p:spPr>
              <a:xfrm>
                <a:off x="2363662" y="1961649"/>
                <a:ext cx="688080" cy="111280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8B2614-8FA8-6853-03F8-B11DB7180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662" y="1961649"/>
                <a:ext cx="688080" cy="11128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CF9BD-C05F-70B3-99EB-87FE65233341}"/>
                  </a:ext>
                </a:extLst>
              </p:cNvPr>
              <p:cNvSpPr txBox="1"/>
              <p:nvPr/>
            </p:nvSpPr>
            <p:spPr>
              <a:xfrm>
                <a:off x="3011734" y="1961649"/>
                <a:ext cx="844479" cy="111280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8CF9BD-C05F-70B3-99EB-87FE65233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1734" y="1961649"/>
                <a:ext cx="844479" cy="11128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963E33-2F65-4F26-68C7-9F0AF61FD593}"/>
                  </a:ext>
                </a:extLst>
              </p:cNvPr>
              <p:cNvSpPr txBox="1"/>
              <p:nvPr/>
            </p:nvSpPr>
            <p:spPr>
              <a:xfrm>
                <a:off x="203423" y="1772816"/>
                <a:ext cx="2352354" cy="139615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963E33-2F65-4F26-68C7-9F0AF61FD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423" y="1772816"/>
                <a:ext cx="2352354" cy="13961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B8682-9D1A-0380-7D87-7AD8FE9B97CB}"/>
                  </a:ext>
                </a:extLst>
              </p:cNvPr>
              <p:cNvSpPr txBox="1"/>
              <p:nvPr/>
            </p:nvSpPr>
            <p:spPr>
              <a:xfrm>
                <a:off x="2363662" y="3976860"/>
                <a:ext cx="688080" cy="111280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B8682-9D1A-0380-7D87-7AD8FE9B97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662" y="3976860"/>
                <a:ext cx="688080" cy="11128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816E71-70FE-8F2E-F207-2B71FD7FB136}"/>
                  </a:ext>
                </a:extLst>
              </p:cNvPr>
              <p:cNvSpPr txBox="1"/>
              <p:nvPr/>
            </p:nvSpPr>
            <p:spPr>
              <a:xfrm>
                <a:off x="3011734" y="3976860"/>
                <a:ext cx="844479" cy="115935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816E71-70FE-8F2E-F207-2B71FD7FB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1734" y="3976860"/>
                <a:ext cx="844479" cy="11593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7CF0E5C-EBF6-AC90-67BB-A022D5C5C9F7}"/>
                  </a:ext>
                </a:extLst>
              </p:cNvPr>
              <p:cNvSpPr txBox="1"/>
              <p:nvPr/>
            </p:nvSpPr>
            <p:spPr>
              <a:xfrm>
                <a:off x="203423" y="3788027"/>
                <a:ext cx="2352354" cy="1396151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7CF0E5C-EBF6-AC90-67BB-A022D5C5C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423" y="3788027"/>
                <a:ext cx="2352354" cy="139615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2852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F6492-3C55-3554-598F-62361E560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B2E4C9-B465-FA7F-A320-2B2BB37D1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12.3 </a:t>
            </a:r>
            <a:r>
              <a:rPr lang="ko-KR" altLang="en-US" dirty="0"/>
              <a:t>깊이 값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66374C-C44D-F539-EC0A-511F753C4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투영 행렬 </a:t>
            </a:r>
            <a:r>
              <a:rPr lang="en-US" altLang="ko-KR" dirty="0"/>
              <a:t>(Projection matrix)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72FC72-EE0C-522B-F0FE-E2EB47FC77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7B8B3-1AD4-7E1C-DA00-B14FACC6B671}"/>
                  </a:ext>
                </a:extLst>
              </p:cNvPr>
              <p:cNvSpPr txBox="1"/>
              <p:nvPr/>
            </p:nvSpPr>
            <p:spPr>
              <a:xfrm>
                <a:off x="4067944" y="2434999"/>
                <a:ext cx="4028283" cy="223695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𝑛𝑓</m:t>
                                    </m:r>
                                  </m:num>
                                  <m:den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ko-KR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altLang="ko-KR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7B8B3-1AD4-7E1C-DA00-B14FACC6B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2434999"/>
                <a:ext cx="4028283" cy="22369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E3BAE-D463-6AB5-FD06-34EEF8E6D183}"/>
                  </a:ext>
                </a:extLst>
              </p:cNvPr>
              <p:cNvSpPr txBox="1"/>
              <p:nvPr/>
            </p:nvSpPr>
            <p:spPr>
              <a:xfrm>
                <a:off x="439484" y="1572746"/>
                <a:ext cx="1972276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𝑘𝑛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+ 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 =−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7E3BAE-D463-6AB5-FD06-34EEF8E6D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4" y="1572746"/>
                <a:ext cx="197227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A42715-D936-E7BA-FD64-AA7845FEBAA9}"/>
                  </a:ext>
                </a:extLst>
              </p:cNvPr>
              <p:cNvSpPr txBox="1"/>
              <p:nvPr/>
            </p:nvSpPr>
            <p:spPr>
              <a:xfrm>
                <a:off x="439484" y="1962403"/>
                <a:ext cx="1972276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𝑘𝑓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+ 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A42715-D936-E7BA-FD64-AA7845FEB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4" y="1962403"/>
                <a:ext cx="1972276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0B4FE6-AF7F-B778-C617-D5646AAA92DB}"/>
                  </a:ext>
                </a:extLst>
              </p:cNvPr>
              <p:cNvSpPr txBox="1"/>
              <p:nvPr/>
            </p:nvSpPr>
            <p:spPr>
              <a:xfrm>
                <a:off x="395536" y="2636316"/>
                <a:ext cx="2502532" cy="66749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0B4FE6-AF7F-B778-C617-D5646AAA9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636316"/>
                <a:ext cx="2502532" cy="6674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89C3C2-6FD3-4036-933A-DEB6404980A3}"/>
                  </a:ext>
                </a:extLst>
              </p:cNvPr>
              <p:cNvSpPr txBox="1"/>
              <p:nvPr/>
            </p:nvSpPr>
            <p:spPr>
              <a:xfrm>
                <a:off x="395535" y="3380700"/>
                <a:ext cx="2948163" cy="66749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𝑘𝑓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A89C3C2-6FD3-4036-933A-DEB640498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5" y="3380700"/>
                <a:ext cx="2948163" cy="6674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47268-EECB-4677-6AF2-6E74FDD120A1}"/>
                  </a:ext>
                </a:extLst>
              </p:cNvPr>
              <p:cNvSpPr txBox="1"/>
              <p:nvPr/>
            </p:nvSpPr>
            <p:spPr>
              <a:xfrm>
                <a:off x="535387" y="4023886"/>
                <a:ext cx="2722598" cy="66749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= 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𝑓𝑓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𝑛𝑓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1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𝑓𝑓</m:t>
                          </m:r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47268-EECB-4677-6AF2-6E74FDD12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87" y="4023886"/>
                <a:ext cx="2722598" cy="6674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CB8D49-4922-0B89-A2DA-C906F3BDDA5D}"/>
                  </a:ext>
                </a:extLst>
              </p:cNvPr>
              <p:cNvSpPr txBox="1"/>
              <p:nvPr/>
            </p:nvSpPr>
            <p:spPr>
              <a:xfrm>
                <a:off x="386768" y="4671958"/>
                <a:ext cx="2722598" cy="66749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𝑛𝑓</m:t>
                          </m:r>
                        </m:num>
                        <m:den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 −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4CB8D49-4922-0B89-A2DA-C906F3B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68" y="4671958"/>
                <a:ext cx="2722598" cy="6674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93378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271F-E45F-CD3F-8242-CB0C4A5C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13354-B0BA-7CD4-8ADE-91D64F85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12-2 </a:t>
            </a:r>
            <a:r>
              <a:rPr lang="ko-KR" altLang="en-US" dirty="0"/>
              <a:t>깊이에 대한 정보 얻기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9F62D4-3D29-F50E-074F-8A5B6F0FF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투영 행렬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5DC055-2CDE-6921-D40A-C6FE409955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A52A3-77F6-6F35-4F99-D6F706E6BE62}"/>
              </a:ext>
            </a:extLst>
          </p:cNvPr>
          <p:cNvSpPr txBox="1"/>
          <p:nvPr/>
        </p:nvSpPr>
        <p:spPr>
          <a:xfrm>
            <a:off x="224412" y="1368240"/>
            <a:ext cx="7200602" cy="48320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CameraObject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GetPerspectiveViewMatrix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 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뷰 행렬 관련 요소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GetViewAxes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Vector3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_Transform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GetPosition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 행렬 관련 요소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invA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ViewportSize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AspectRatio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tanf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Deg2Rad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_FOV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0.5f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invA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invNF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_FarZ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_FarZ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invNF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_FarZ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NearZ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invNF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Matrix4x4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Vector4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viewX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viewY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zPos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834EC9-A258-56D4-A9C5-F1B2CBE17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759" y="692150"/>
            <a:ext cx="3212718" cy="28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800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316E5-3140-474B-654A-3CEC1D774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289EA0-F5E6-DAF4-6EB4-E7BF4BCF9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원근 보정 매핑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115A1-4357-A686-7A6B-423624647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시야각에 걸쳐 있는 두 점과 이를 투영한 결과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D02E45-375C-4899-479D-129ADF8DE7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5A4B8E-9310-385C-A1FD-5BF2E8416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72816"/>
            <a:ext cx="3400882" cy="350773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B55B752-600A-1947-7E02-70937280E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4" y="1439838"/>
            <a:ext cx="2029234" cy="18002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97B28F6-5496-A201-4E95-D3CFFADB3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89" y="3789040"/>
            <a:ext cx="195538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96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17C4F-0878-65A4-10A5-82705409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0D0640-DA19-DF5F-9346-FBE09E84B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원근 보정 매핑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2E21F-6CEB-F03D-19D8-0D04D1ABA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뷰 공간의 선을 수평으로 조정해 비교한 결과</a:t>
            </a:r>
            <a:endParaRPr lang="en-US" altLang="ko-KR" sz="2400" dirty="0"/>
          </a:p>
          <a:p>
            <a:pPr lvl="1"/>
            <a:r>
              <a:rPr lang="en-US" altLang="ko-KR" sz="2000" dirty="0"/>
              <a:t>NDC </a:t>
            </a:r>
            <a:r>
              <a:rPr lang="ko-KR" altLang="en-US" sz="2000" dirty="0"/>
              <a:t>의</a:t>
            </a:r>
            <a:r>
              <a:rPr lang="en-US" altLang="ko-KR" sz="2000" dirty="0"/>
              <a:t> </a:t>
            </a:r>
            <a:r>
              <a:rPr lang="ko-KR" altLang="en-US" sz="2000" dirty="0"/>
              <a:t>무게 중심 좌표 ≠</a:t>
            </a:r>
            <a:r>
              <a:rPr lang="ko-KR" altLang="en-US" sz="2000" dirty="0" err="1"/>
              <a:t>사영</a:t>
            </a:r>
            <a:r>
              <a:rPr lang="ko-KR" altLang="en-US" sz="2000" dirty="0"/>
              <a:t> 공간 무게 중심 좌표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투영 보정 보간 </a:t>
            </a:r>
            <a:r>
              <a:rPr lang="en-US" altLang="ko-KR" sz="2400" dirty="0"/>
              <a:t>(Perspective</a:t>
            </a:r>
            <a:r>
              <a:rPr lang="ko-KR" altLang="en-US" sz="2400" dirty="0"/>
              <a:t> </a:t>
            </a:r>
            <a:r>
              <a:rPr lang="en-US" altLang="ko-KR" sz="2400" dirty="0"/>
              <a:t>correction </a:t>
            </a:r>
            <a:r>
              <a:rPr lang="en-US" altLang="ko-KR" sz="2400" dirty="0" err="1"/>
              <a:t>interpoliation</a:t>
            </a:r>
            <a:r>
              <a:rPr lang="en-US" altLang="ko-KR" sz="2400" dirty="0"/>
              <a:t>)</a:t>
            </a:r>
          </a:p>
          <a:p>
            <a:pPr lvl="1"/>
            <a:r>
              <a:rPr lang="en-US" altLang="ko-KR" sz="2000" dirty="0"/>
              <a:t>NDC </a:t>
            </a:r>
            <a:r>
              <a:rPr lang="ko-KR" altLang="en-US" sz="2000" dirty="0"/>
              <a:t>무게 중심 좌표 → </a:t>
            </a:r>
            <a:r>
              <a:rPr lang="ko-KR" altLang="en-US" sz="2000" dirty="0" err="1"/>
              <a:t>사영</a:t>
            </a:r>
            <a:r>
              <a:rPr lang="ko-KR" altLang="en-US" sz="2000" dirty="0"/>
              <a:t> 공간 무게 중심 좌표 계산</a:t>
            </a:r>
            <a:endParaRPr lang="en-US" altLang="ko-KR" sz="2000" dirty="0"/>
          </a:p>
          <a:p>
            <a:pPr lvl="1"/>
            <a:r>
              <a:rPr lang="ko-KR" altLang="en-US" sz="2000" dirty="0"/>
              <a:t>투영</a:t>
            </a:r>
            <a:r>
              <a:rPr lang="en-US" altLang="ko-KR" sz="2000" dirty="0"/>
              <a:t> </a:t>
            </a:r>
            <a:r>
              <a:rPr lang="ko-KR" altLang="en-US" sz="2000" dirty="0"/>
              <a:t>전 무게 중심 좌표 값  → 투영 보정 보간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D95DE24-BCC5-1932-6F15-18FDD8DA76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C8E007B-BD6E-875B-100F-9411D43EC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3131711"/>
            <a:ext cx="6379677" cy="303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00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AF97-457D-C29D-1C3B-13210D2E2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9A772-9B2A-C2B7-F947-9CAA5F0AA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원근 보정 매핑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FDEFA11-EC6A-2338-4B63-911558060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𝑦</m:t>
                    </m:r>
                    <m:r>
                      <a:rPr lang="en-US" altLang="ko-KR" i="1">
                        <a:latin typeface="Cambria Math" panose="02040503050406030204" pitchFamily="18" charset="0"/>
                        <a:ea typeface="Noto Sans CJK KR Medium" panose="020B0600000000000000" pitchFamily="34" charset="-127"/>
                      </a:rPr>
                      <m:t>=−</m:t>
                    </m:r>
                    <m:f>
                      <m:fPr>
                        <m:ctrlPr>
                          <a:rPr lang="en-US" altLang="ko-K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i="1" dirty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ko-KR" altLang="en-US" sz="3000" dirty="0"/>
                  <a:t> 의 그래프</a:t>
                </a:r>
                <a:endParaRPr lang="ko-KR" altLang="en-US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1FDEFA11-EC6A-2338-4B63-911558060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F09C09-4E4A-CBDF-FA4C-80710282E2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0FB54C8-8818-433D-1CBA-3580CE07D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927" y="591061"/>
            <a:ext cx="4080525" cy="32699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B92346-E931-D731-7088-18A1DAF04111}"/>
                  </a:ext>
                </a:extLst>
              </p:cNvPr>
              <p:cNvSpPr txBox="1"/>
              <p:nvPr/>
            </p:nvSpPr>
            <p:spPr>
              <a:xfrm>
                <a:off x="491475" y="4077072"/>
                <a:ext cx="3556452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B92346-E931-D731-7088-18A1DAF04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75" y="4077072"/>
                <a:ext cx="3556452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7F2232-EF47-595D-B513-5433EADF552B}"/>
                  </a:ext>
                </a:extLst>
              </p:cNvPr>
              <p:cNvSpPr txBox="1"/>
              <p:nvPr/>
            </p:nvSpPr>
            <p:spPr>
              <a:xfrm>
                <a:off x="491475" y="4519429"/>
                <a:ext cx="3556452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7F2232-EF47-595D-B513-5433EADF5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75" y="4519429"/>
                <a:ext cx="3556452" cy="369332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4242814-CBBA-851A-D3F2-99A28231439B}"/>
                  </a:ext>
                </a:extLst>
              </p:cNvPr>
              <p:cNvSpPr txBox="1"/>
              <p:nvPr/>
            </p:nvSpPr>
            <p:spPr>
              <a:xfrm>
                <a:off x="491474" y="5092226"/>
                <a:ext cx="5232653" cy="6580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4242814-CBBA-851A-D3F2-99A282314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74" y="5092226"/>
                <a:ext cx="5232653" cy="6580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2976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39CC7-9F38-D51D-1B05-26488295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F6D7B3-627A-A6D0-C2A8-9B8CB6307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원근 보정 매핑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E8AA28-FEFB-F704-3815-7BE950A9E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투영 보정 보간 </a:t>
            </a:r>
            <a:r>
              <a:rPr lang="en-US" altLang="ko-KR" dirty="0"/>
              <a:t>(Perspective</a:t>
            </a:r>
            <a:r>
              <a:rPr lang="ko-KR" altLang="en-US" dirty="0"/>
              <a:t> </a:t>
            </a:r>
            <a:r>
              <a:rPr lang="en-US" altLang="ko-KR" dirty="0"/>
              <a:t>correction </a:t>
            </a:r>
            <a:r>
              <a:rPr lang="en-US" altLang="ko-KR" dirty="0" err="1"/>
              <a:t>interpoliation</a:t>
            </a:r>
            <a:r>
              <a:rPr lang="en-US" altLang="ko-KR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C1C22B-6A25-037E-95D6-A344D8AF90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16E8B2-D4EA-5CD0-FF0B-BE59EF420C2C}"/>
                  </a:ext>
                </a:extLst>
              </p:cNvPr>
              <p:cNvSpPr txBox="1"/>
              <p:nvPr/>
            </p:nvSpPr>
            <p:spPr>
              <a:xfrm>
                <a:off x="503963" y="1268760"/>
                <a:ext cx="2555869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616E8B2-D4EA-5CD0-FF0B-BE59EF420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1268760"/>
                <a:ext cx="2555869" cy="369332"/>
              </a:xfrm>
              <a:prstGeom prst="rect">
                <a:avLst/>
              </a:prstGeom>
              <a:blipFill>
                <a:blip r:embed="rId2"/>
                <a:stretch>
                  <a:fillRect b="-9836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15C6DF5-8CA4-91D1-4726-71EE5FA9BAF3}"/>
                  </a:ext>
                </a:extLst>
              </p:cNvPr>
              <p:cNvSpPr txBox="1"/>
              <p:nvPr/>
            </p:nvSpPr>
            <p:spPr>
              <a:xfrm>
                <a:off x="503963" y="1711117"/>
                <a:ext cx="2555869" cy="369332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15C6DF5-8CA4-91D1-4726-71EE5FA9B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1711117"/>
                <a:ext cx="2555869" cy="369332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42B17-0E35-5240-E6BD-5888F28CDDC3}"/>
                  </a:ext>
                </a:extLst>
              </p:cNvPr>
              <p:cNvSpPr txBox="1"/>
              <p:nvPr/>
            </p:nvSpPr>
            <p:spPr>
              <a:xfrm>
                <a:off x="503963" y="2283914"/>
                <a:ext cx="2744966" cy="65806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42B17-0E35-5240-E6BD-5888F28CDD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2283914"/>
                <a:ext cx="2744966" cy="6580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957769A-5EEC-4CBE-0DFF-BB69AF7927D9}"/>
                  </a:ext>
                </a:extLst>
              </p:cNvPr>
              <p:cNvSpPr txBox="1"/>
              <p:nvPr/>
            </p:nvSpPr>
            <p:spPr>
              <a:xfrm>
                <a:off x="503963" y="4470440"/>
                <a:ext cx="2957638" cy="714683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957769A-5EEC-4CBE-0DFF-BB69AF79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4470440"/>
                <a:ext cx="2957638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7D2288-3E7E-C302-74F8-30CA1D0D2895}"/>
                  </a:ext>
                </a:extLst>
              </p:cNvPr>
              <p:cNvSpPr txBox="1"/>
              <p:nvPr/>
            </p:nvSpPr>
            <p:spPr>
              <a:xfrm>
                <a:off x="503963" y="3297844"/>
                <a:ext cx="2491025" cy="881588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7D2288-3E7E-C302-74F8-30CA1D0D2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3297844"/>
                <a:ext cx="2491025" cy="8815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0678A1-D950-4321-7917-D3139C09AD81}"/>
                  </a:ext>
                </a:extLst>
              </p:cNvPr>
              <p:cNvSpPr txBox="1"/>
              <p:nvPr/>
            </p:nvSpPr>
            <p:spPr>
              <a:xfrm>
                <a:off x="503963" y="5456103"/>
                <a:ext cx="2957638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 + </m:t>
                      </m:r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0678A1-D950-4321-7917-D3139C09A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963" y="5456103"/>
                <a:ext cx="2957638" cy="67409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5E7925-AEF8-B2C2-15E3-D34116B6F787}"/>
                  </a:ext>
                </a:extLst>
              </p:cNvPr>
              <p:cNvSpPr txBox="1"/>
              <p:nvPr/>
            </p:nvSpPr>
            <p:spPr>
              <a:xfrm>
                <a:off x="4211960" y="1301044"/>
                <a:ext cx="4320480" cy="55681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 + </m:t>
                    </m:r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800" dirty="0"/>
                  <a:t> </a:t>
                </a:r>
                <a:r>
                  <a:rPr lang="en-US" altLang="ko-KR" sz="1800" dirty="0"/>
                  <a:t>+</a:t>
                </a:r>
                <a:r>
                  <a:rPr lang="en-US" altLang="ko-K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5E7925-AEF8-B2C2-15E3-D34116B6F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960" y="1301044"/>
                <a:ext cx="4320480" cy="5568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9B6964-6429-D4AF-A2B0-BD616C53008E}"/>
                  </a:ext>
                </a:extLst>
              </p:cNvPr>
              <p:cNvSpPr txBox="1"/>
              <p:nvPr/>
            </p:nvSpPr>
            <p:spPr>
              <a:xfrm>
                <a:off x="4227180" y="2005504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9B6964-6429-D4AF-A2B0-BD616C530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180" y="2005504"/>
                <a:ext cx="1424940" cy="6740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6D1FC-09CA-9E78-60E7-FB577C69FFEC}"/>
                  </a:ext>
                </a:extLst>
              </p:cNvPr>
              <p:cNvSpPr txBox="1"/>
              <p:nvPr/>
            </p:nvSpPr>
            <p:spPr>
              <a:xfrm>
                <a:off x="5632296" y="2005709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6D1FC-09CA-9E78-60E7-FB577C69F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296" y="2005709"/>
                <a:ext cx="1424940" cy="67409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327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6B3E8-6B95-3DBF-4CF4-36E9E064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2CBC-BE15-AFE5-7EAD-D987CBE21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12.4 </a:t>
            </a:r>
            <a:r>
              <a:rPr lang="ko-KR" altLang="en-US" dirty="0"/>
              <a:t>원근 보정 매핑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7A415F-7ED1-F1BE-E8D6-1716D7599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점으로 확대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x </a:t>
            </a:r>
            <a:r>
              <a:rPr lang="ko-KR" altLang="en-US" dirty="0"/>
              <a:t>→ </a:t>
            </a:r>
            <a:r>
              <a:rPr lang="en-US" altLang="ko-KR" dirty="0"/>
              <a:t>-z </a:t>
            </a:r>
            <a:r>
              <a:rPr lang="ko-KR" altLang="en-US" dirty="0"/>
              <a:t>로 치환</a:t>
            </a:r>
            <a:r>
              <a:rPr lang="en-US" altLang="ko-KR" dirty="0"/>
              <a:t>, </a:t>
            </a:r>
            <a:r>
              <a:rPr lang="ko-KR" altLang="en-US" dirty="0"/>
              <a:t>원근 보정 매핑 완성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C39A54-330E-1461-2D3D-69A697C8C5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3C694C-2008-F6DA-EF24-F9143BFB8825}"/>
                  </a:ext>
                </a:extLst>
              </p:cNvPr>
              <p:cNvSpPr txBox="1"/>
              <p:nvPr/>
            </p:nvSpPr>
            <p:spPr>
              <a:xfrm>
                <a:off x="555030" y="2348881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3C694C-2008-F6DA-EF24-F9143BFB8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030" y="2348881"/>
                <a:ext cx="1424940" cy="6740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9BCFB1-84CB-9DCF-B8D5-25AAEC78F6A4}"/>
                  </a:ext>
                </a:extLst>
              </p:cNvPr>
              <p:cNvSpPr txBox="1"/>
              <p:nvPr/>
            </p:nvSpPr>
            <p:spPr>
              <a:xfrm>
                <a:off x="1960146" y="2349086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9BCFB1-84CB-9DCF-B8D5-25AAEC78F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46" y="2349086"/>
                <a:ext cx="1424940" cy="6740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E32784-CD48-6DB0-1069-4E27F7A0FB32}"/>
                  </a:ext>
                </a:extLst>
              </p:cNvPr>
              <p:cNvSpPr txBox="1"/>
              <p:nvPr/>
            </p:nvSpPr>
            <p:spPr>
              <a:xfrm>
                <a:off x="525294" y="1432385"/>
                <a:ext cx="3610139" cy="88299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E32784-CD48-6DB0-1069-4E27F7A0F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94" y="1432385"/>
                <a:ext cx="3610139" cy="88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0892C4-7A02-DED0-7777-7BFB79260862}"/>
                  </a:ext>
                </a:extLst>
              </p:cNvPr>
              <p:cNvSpPr txBox="1"/>
              <p:nvPr/>
            </p:nvSpPr>
            <p:spPr>
              <a:xfrm>
                <a:off x="3351198" y="2348880"/>
                <a:ext cx="1424940" cy="67550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0892C4-7A02-DED0-7777-7BFB79260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198" y="2348880"/>
                <a:ext cx="1424940" cy="6755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8C2396-E1EB-0491-43B1-B33B3C75D2E7}"/>
                  </a:ext>
                </a:extLst>
              </p:cNvPr>
              <p:cNvSpPr txBox="1"/>
              <p:nvPr/>
            </p:nvSpPr>
            <p:spPr>
              <a:xfrm>
                <a:off x="610806" y="4915497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8C2396-E1EB-0491-43B1-B33B3C75D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806" y="4915497"/>
                <a:ext cx="1424940" cy="67409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453963D-A480-F297-8921-B4F52AE5BAB5}"/>
                  </a:ext>
                </a:extLst>
              </p:cNvPr>
              <p:cNvSpPr txBox="1"/>
              <p:nvPr/>
            </p:nvSpPr>
            <p:spPr>
              <a:xfrm>
                <a:off x="2015922" y="4915702"/>
                <a:ext cx="1424940" cy="674095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453963D-A480-F297-8921-B4F52AE5B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922" y="4915702"/>
                <a:ext cx="1424940" cy="67409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C856C-490A-E393-1054-AF8B1682B8E3}"/>
                  </a:ext>
                </a:extLst>
              </p:cNvPr>
              <p:cNvSpPr txBox="1"/>
              <p:nvPr/>
            </p:nvSpPr>
            <p:spPr>
              <a:xfrm>
                <a:off x="581070" y="3861048"/>
                <a:ext cx="3610139" cy="88299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C856C-490A-E393-1054-AF8B1682B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070" y="3861048"/>
                <a:ext cx="3610139" cy="882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16B262-2971-5A5A-2C2C-6C76902D6EF4}"/>
                  </a:ext>
                </a:extLst>
              </p:cNvPr>
              <p:cNvSpPr txBox="1"/>
              <p:nvPr/>
            </p:nvSpPr>
            <p:spPr>
              <a:xfrm>
                <a:off x="3406974" y="4915496"/>
                <a:ext cx="1424940" cy="675506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16B262-2971-5A5A-2C2C-6C76902D6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974" y="4915496"/>
                <a:ext cx="1424940" cy="67550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6311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E7809-31E6-1202-82E6-B9638C3B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37A03-AB42-0DCF-6447-569D6E2ED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12-3 </a:t>
            </a:r>
            <a:r>
              <a:rPr lang="ko-KR" altLang="en-US" dirty="0"/>
              <a:t>찌그러진 캐릭터 얼굴을 올바로 잡기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04C887-7A31-72A9-270A-F36350127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원근 보정 매핑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5CBEC6-205E-CF39-7E0F-88F0B58600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E52212A-C421-424E-A042-E365190EA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880" y="756204"/>
            <a:ext cx="2069677" cy="192604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88739F-8326-037F-7F25-2B242D3AB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814152"/>
            <a:ext cx="1607660" cy="194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3F70163-D6B0-B9CF-C85A-EB7BA7F22713}"/>
              </a:ext>
            </a:extLst>
          </p:cNvPr>
          <p:cNvSpPr txBox="1"/>
          <p:nvPr/>
        </p:nvSpPr>
        <p:spPr>
          <a:xfrm>
            <a:off x="323528" y="2884154"/>
            <a:ext cx="8496944" cy="332398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wdotv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udotv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wdotu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vdotv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invDenominator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wdotu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udotv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wdotv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udotu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invDenominator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(((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&gt;=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&amp;&amp;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 &amp;&amp; ((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&gt;=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&amp;&amp;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b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    &amp;&amp; ((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&gt;=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&amp;&amp;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투영보정에 사용할 공통 분모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Vector2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targetUV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invZ0</a:t>
            </a:r>
            <a:b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     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DrawPoint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fragment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FragmentShader3D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mainTexture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GetSample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targetUV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LinearColor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White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4208722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C4B0C-84BD-75E1-14CE-FEAB9BB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E8198-9280-2E5E-C739-A514F7C2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12.5 </a:t>
            </a:r>
            <a:r>
              <a:rPr lang="ko-KR" altLang="en-US" dirty="0"/>
              <a:t>깊이 버퍼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C53144-9CCC-35A2-E8AD-750FD873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깊이 버퍼 </a:t>
            </a:r>
            <a:r>
              <a:rPr lang="en-US" altLang="ko-KR" sz="2400" dirty="0"/>
              <a:t>(Depth Buffer, Z-Buffer)</a:t>
            </a:r>
          </a:p>
          <a:p>
            <a:pPr lvl="1"/>
            <a:r>
              <a:rPr lang="ko-KR" altLang="en-US" sz="2000" dirty="0"/>
              <a:t>픽셀마다 깊이</a:t>
            </a:r>
            <a:r>
              <a:rPr lang="en-US" altLang="ko-KR" sz="2000" dirty="0"/>
              <a:t>(z) </a:t>
            </a:r>
            <a:r>
              <a:rPr lang="ko-KR" altLang="en-US" sz="2000" dirty="0"/>
              <a:t>값을 저장하는 버퍼</a:t>
            </a:r>
          </a:p>
          <a:p>
            <a:pPr lvl="1"/>
            <a:r>
              <a:rPr lang="ko-KR" altLang="en-US" sz="2000" dirty="0"/>
              <a:t>더 가까운 픽셀만 화면에 표시</a:t>
            </a:r>
            <a:r>
              <a:rPr lang="en-US" altLang="ko-KR" sz="2000" dirty="0"/>
              <a:t>, </a:t>
            </a:r>
            <a:r>
              <a:rPr lang="ko-KR" altLang="en-US" sz="2000" dirty="0"/>
              <a:t>어떤 물체가 앞에 보일지 결정</a:t>
            </a:r>
            <a:endParaRPr lang="en-US" altLang="ko-KR" sz="2000" dirty="0"/>
          </a:p>
          <a:p>
            <a:pPr lvl="2"/>
            <a:r>
              <a:rPr lang="ko-KR" altLang="en-US" sz="1600" dirty="0"/>
              <a:t>기존 깊이 </a:t>
            </a:r>
            <a:r>
              <a:rPr lang="en-US" altLang="ko-KR" sz="1600" dirty="0"/>
              <a:t>vs </a:t>
            </a:r>
            <a:r>
              <a:rPr lang="ko-KR" altLang="en-US" sz="1600" dirty="0"/>
              <a:t>새 깊이 비교</a:t>
            </a:r>
          </a:p>
          <a:p>
            <a:pPr lvl="2"/>
            <a:r>
              <a:rPr lang="ko-KR" altLang="en-US" sz="1600" dirty="0"/>
              <a:t>더 가까우면 갱신</a:t>
            </a:r>
            <a:r>
              <a:rPr lang="en-US" altLang="ko-KR" sz="1600" dirty="0"/>
              <a:t>, </a:t>
            </a:r>
            <a:r>
              <a:rPr lang="ko-KR" altLang="en-US" sz="1600" dirty="0"/>
              <a:t>아니면 버림</a:t>
            </a:r>
            <a:endParaRPr lang="en-US" altLang="ko-KR" sz="1600" dirty="0"/>
          </a:p>
          <a:p>
            <a:pPr lvl="1"/>
            <a:r>
              <a:rPr lang="ko-KR" altLang="en-US" sz="2200" dirty="0" err="1"/>
              <a:t>절두체</a:t>
            </a:r>
            <a:r>
              <a:rPr lang="en-US" altLang="ko-KR" sz="2200" dirty="0"/>
              <a:t>(</a:t>
            </a:r>
            <a:r>
              <a:rPr lang="en-US" altLang="ko-KR" sz="2200" dirty="0" err="1"/>
              <a:t>Near~Far</a:t>
            </a:r>
            <a:r>
              <a:rPr lang="en-US" altLang="ko-KR" sz="2200" dirty="0"/>
              <a:t>) </a:t>
            </a:r>
            <a:r>
              <a:rPr lang="ko-KR" altLang="en-US" sz="2200" dirty="0"/>
              <a:t>범위 깊이 사용</a:t>
            </a:r>
            <a:endParaRPr lang="en-US" altLang="ko-KR" sz="2200" dirty="0"/>
          </a:p>
          <a:p>
            <a:pPr lvl="4"/>
            <a:endParaRPr lang="en-US" altLang="ko-KR" sz="1400" dirty="0"/>
          </a:p>
          <a:p>
            <a:r>
              <a:rPr lang="ko-KR" altLang="en-US" sz="2400" dirty="0"/>
              <a:t>뷰 공간 </a:t>
            </a:r>
            <a:r>
              <a:rPr lang="ko-KR" altLang="en-US" sz="2400" dirty="0" err="1"/>
              <a:t>좌표값</a:t>
            </a:r>
            <a:r>
              <a:rPr lang="ko-KR" altLang="en-US" sz="2400" dirty="0"/>
              <a:t> </a:t>
            </a:r>
            <a:r>
              <a:rPr lang="en-US" altLang="ko-KR" sz="2400" dirty="0"/>
              <a:t>NDC </a:t>
            </a:r>
            <a:r>
              <a:rPr lang="ko-KR" altLang="en-US" sz="2400" dirty="0" err="1"/>
              <a:t>좌표값</a:t>
            </a:r>
            <a:r>
              <a:rPr lang="ko-KR" altLang="en-US" sz="2400" dirty="0"/>
              <a:t> 비교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ECA558-B4CB-0779-EF35-A95307AF37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2EB48E6-7331-28C0-9B30-5EE4FA7B0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3590686"/>
            <a:ext cx="4824536" cy="3006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8908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6C4E-EA75-D25E-E19F-F0DE35808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5DB8-C988-55F7-8FAB-56BF70664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12-4 </a:t>
            </a:r>
            <a:r>
              <a:rPr lang="ko-KR" altLang="en-US" dirty="0"/>
              <a:t>깊이 버퍼 활용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87A9C0-5196-69FB-ABA5-49B5710B2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삼각형 </a:t>
            </a:r>
            <a:r>
              <a:rPr lang="en-US" altLang="ko-KR" dirty="0"/>
              <a:t>3</a:t>
            </a:r>
            <a:r>
              <a:rPr lang="ko-KR" altLang="en-US" dirty="0"/>
              <a:t> 점 </a:t>
            </a:r>
            <a:r>
              <a:rPr lang="en-US" altLang="ko-KR" dirty="0"/>
              <a:t>z</a:t>
            </a:r>
            <a:r>
              <a:rPr lang="en-US" altLang="ko-KR" baseline="-25000" dirty="0"/>
              <a:t>1</a:t>
            </a:r>
            <a:r>
              <a:rPr lang="en-US" altLang="ko-KR" dirty="0"/>
              <a:t>, z</a:t>
            </a:r>
            <a:r>
              <a:rPr lang="en-US" altLang="ko-KR" baseline="-25000" dirty="0"/>
              <a:t>2</a:t>
            </a:r>
            <a:r>
              <a:rPr lang="en-US" altLang="ko-KR" dirty="0"/>
              <a:t>, z</a:t>
            </a:r>
            <a:r>
              <a:rPr lang="en-US" altLang="ko-KR" baseline="-25000" dirty="0"/>
              <a:t>3</a:t>
            </a:r>
            <a:r>
              <a:rPr lang="en-US" altLang="ko-KR" dirty="0"/>
              <a:t> </a:t>
            </a:r>
            <a:r>
              <a:rPr lang="ko-KR" altLang="en-US" dirty="0"/>
              <a:t>의 깊이 값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8575E0E-4B6A-EA88-CF02-F4F63DA48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2F29DC-C47E-2E71-71C5-6E37A914C91A}"/>
                  </a:ext>
                </a:extLst>
              </p:cNvPr>
              <p:cNvSpPr txBox="1"/>
              <p:nvPr/>
            </p:nvSpPr>
            <p:spPr>
              <a:xfrm>
                <a:off x="181735" y="1268760"/>
                <a:ext cx="5184576" cy="523220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altLang="ko-K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 + 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 + 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ko-K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ko-KR" alt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2F29DC-C47E-2E71-71C5-6E37A914C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35" y="1268760"/>
                <a:ext cx="518457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F040923-0910-DF80-FECF-A1F97183579F}"/>
              </a:ext>
            </a:extLst>
          </p:cNvPr>
          <p:cNvSpPr txBox="1"/>
          <p:nvPr/>
        </p:nvSpPr>
        <p:spPr>
          <a:xfrm>
            <a:off x="287524" y="1916832"/>
            <a:ext cx="7452828" cy="504753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투영보정에 사용할 공통 분모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/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endParaRPr lang="en-US" altLang="ko-KR" sz="1400" b="1" dirty="0">
              <a:solidFill>
                <a:srgbClr val="008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깊이 버퍼 테스팅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toggleDepthTesting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깊이 테스팅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oneMinusST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b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InVertices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Position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prevDepth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GetDepthBufferValue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fragment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endParaRPr lang="en-US" altLang="ko-KR" sz="1400" b="1" dirty="0">
              <a:solidFill>
                <a:srgbClr val="8F08C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prevDepth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 처리하기 전 깊이 값을 버퍼에 보관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en-US" altLang="ko-KR" sz="1400" b="1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SetDepthBufferValue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fragment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else</a:t>
            </a: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 앞에 무언가 </a:t>
            </a:r>
            <a:r>
              <a:rPr lang="ko-KR" altLang="en-US" sz="1400" b="1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그려져있으므로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400" b="1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픽셀그리기는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생략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continue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CD8C12-6FA8-E571-6557-949EAFA1C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859" y="678046"/>
            <a:ext cx="2988617" cy="215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8139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2E6DC-E0EC-DCD4-5277-771C0FE2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4B9229-653E-66A2-8D8A-98AC2D6A7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12-5 </a:t>
            </a:r>
            <a:r>
              <a:rPr lang="ko-KR" altLang="en-US" dirty="0"/>
              <a:t>깊이 버퍼 시각화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3A9BCA-192E-8DF9-8505-8FECDE6D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깊이 색상</a:t>
            </a:r>
            <a:endParaRPr lang="en-US" altLang="ko-KR" sz="2400" dirty="0"/>
          </a:p>
          <a:p>
            <a:pPr lvl="1"/>
            <a:r>
              <a:rPr lang="en-US" altLang="ko-KR" sz="2000" dirty="0" err="1"/>
              <a:t>n</a:t>
            </a:r>
            <a:r>
              <a:rPr lang="en-US" altLang="ko-KR" sz="2000" baseline="-25000" dirty="0" err="1"/>
              <a:t>z</a:t>
            </a:r>
            <a:r>
              <a:rPr lang="en-US" altLang="ko-KR" sz="2000" dirty="0"/>
              <a:t> </a:t>
            </a:r>
            <a:r>
              <a:rPr lang="ko-KR" altLang="en-US" sz="2000" dirty="0"/>
              <a:t>로</a:t>
            </a:r>
            <a:r>
              <a:rPr lang="en-US" altLang="ko-KR" sz="2000" dirty="0"/>
              <a:t> </a:t>
            </a:r>
            <a:r>
              <a:rPr lang="ko-KR" altLang="en-US" sz="2000" dirty="0"/>
              <a:t>하면 구분 안감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r>
              <a:rPr lang="ko-KR" altLang="en-US" sz="2000" dirty="0" err="1"/>
              <a:t>뷰공간</a:t>
            </a:r>
            <a:r>
              <a:rPr lang="ko-KR" altLang="en-US" sz="2000" dirty="0"/>
              <a:t> 깊이 값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3935CC-9B4E-9B71-6991-883A2A9A7F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A62B3F5-110A-3433-3480-8885A91C8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096" y="593725"/>
            <a:ext cx="3366733" cy="22297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ED6786-AA11-CF48-C3D8-D788754E5B7D}"/>
                  </a:ext>
                </a:extLst>
              </p:cNvPr>
              <p:cNvSpPr txBox="1"/>
              <p:nvPr/>
            </p:nvSpPr>
            <p:spPr>
              <a:xfrm>
                <a:off x="827584" y="1556792"/>
                <a:ext cx="3528392" cy="390748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𝑑𝑒𝑝𝑡h</m:t>
                          </m:r>
                        </m:sub>
                      </m:sSub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</m:t>
                          </m:r>
                        </m:e>
                      </m:d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⋅0.5</m:t>
                      </m:r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ED6786-AA11-CF48-C3D8-D788754E5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556792"/>
                <a:ext cx="3528392" cy="390748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93FA7F2-B5DC-54FD-F600-724B16405148}"/>
              </a:ext>
            </a:extLst>
          </p:cNvPr>
          <p:cNvSpPr txBox="1"/>
          <p:nvPr/>
        </p:nvSpPr>
        <p:spPr>
          <a:xfrm>
            <a:off x="827584" y="4056026"/>
            <a:ext cx="6480720" cy="24622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 err="1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IsDepthBufferDrawing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float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grayScale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newDepth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*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0.5f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useLinearVisualization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카메라로부터의 거리에 따라 균일하게 증감하는 흑백 값으로 변환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grayScale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invZ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/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pPr>
              <a:buNone/>
            </a:pPr>
            <a:endParaRPr lang="en-US" altLang="ko-KR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// </a:t>
            </a:r>
            <a:r>
              <a:rPr lang="ko-KR" altLang="en-US" sz="1400" b="1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뎁스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버퍼 그리기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DrawPoint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fragment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LinearColor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White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 err="1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grayScale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727B42-9D86-2186-B683-8231B065BF66}"/>
                  </a:ext>
                </a:extLst>
              </p:cNvPr>
              <p:cNvSpPr txBox="1"/>
              <p:nvPr/>
            </p:nvSpPr>
            <p:spPr>
              <a:xfrm>
                <a:off x="813128" y="3140968"/>
                <a:ext cx="3610139" cy="882999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altLang="ko-KR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 </m:t>
                      </m:r>
                      <m:r>
                        <a:rPr lang="en-US" altLang="ko-KR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 + </m:t>
                          </m:r>
                          <m:sSub>
                            <m:sSub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8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lang="ko-KR" altLang="en-US" sz="1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727B42-9D86-2186-B683-8231B065B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128" y="3140968"/>
                <a:ext cx="3610139" cy="88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85937E-8A39-FB68-79D6-6D103C207212}"/>
                  </a:ext>
                </a:extLst>
              </p:cNvPr>
              <p:cNvSpPr txBox="1"/>
              <p:nvPr/>
            </p:nvSpPr>
            <p:spPr>
              <a:xfrm>
                <a:off x="4423267" y="3155836"/>
                <a:ext cx="2768838" cy="872418"/>
              </a:xfrm>
              <a:prstGeom prst="rect">
                <a:avLst/>
              </a:prstGeom>
              <a:noFill/>
              <a:ln w="25400">
                <a:noFill/>
                <a:prstDash val="sysDot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𝑑𝑒𝑝𝑡h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85937E-8A39-FB68-79D6-6D103C207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3267" y="3155836"/>
                <a:ext cx="2768838" cy="8724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5400">
                <a:noFill/>
                <a:prstDash val="sysDot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0844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DA348-EFD5-C94F-E323-9DBEF983E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AD405D-2590-27CF-AA0D-295EBF28F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12.6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4667ED-5BB4-E744-853F-35DC9D057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원근 투영 행렬 </a:t>
            </a:r>
            <a:r>
              <a:rPr lang="en-US" altLang="ko-KR" dirty="0"/>
              <a:t>(Perspective Projection Matrix)</a:t>
            </a:r>
          </a:p>
          <a:p>
            <a:pPr lvl="1"/>
            <a:r>
              <a:rPr lang="en-US" altLang="ko-KR" dirty="0"/>
              <a:t>3D </a:t>
            </a:r>
            <a:r>
              <a:rPr lang="ko-KR" altLang="en-US" dirty="0"/>
              <a:t>좌표를 원근이 적용된 </a:t>
            </a:r>
            <a:r>
              <a:rPr lang="en-US" altLang="ko-KR" dirty="0"/>
              <a:t>Clip Space</a:t>
            </a:r>
            <a:r>
              <a:rPr lang="ko-KR" altLang="en-US" dirty="0"/>
              <a:t>로 변환</a:t>
            </a:r>
            <a:endParaRPr lang="en-US" altLang="ko-KR" dirty="0"/>
          </a:p>
          <a:p>
            <a:pPr lvl="1"/>
            <a:r>
              <a:rPr lang="en-US" altLang="ko-KR" dirty="0"/>
              <a:t>w</a:t>
            </a:r>
            <a:r>
              <a:rPr lang="ko-KR" altLang="en-US" dirty="0"/>
              <a:t>로 나누어 원근 효과 생성</a:t>
            </a:r>
          </a:p>
          <a:p>
            <a:endParaRPr lang="ko-KR" altLang="en-US" dirty="0"/>
          </a:p>
          <a:p>
            <a:r>
              <a:rPr lang="ko-KR" altLang="en-US" dirty="0"/>
              <a:t>원근 보정 매핑 </a:t>
            </a:r>
            <a:r>
              <a:rPr lang="en-US" altLang="ko-KR" dirty="0"/>
              <a:t>(Perspective-Correct Mapping)</a:t>
            </a:r>
          </a:p>
          <a:p>
            <a:pPr lvl="1"/>
            <a:r>
              <a:rPr lang="ko-KR" altLang="en-US" dirty="0"/>
              <a:t>텍스처 좌표를 원근 왜곡 없이 보간</a:t>
            </a:r>
            <a:endParaRPr lang="en-US" altLang="ko-KR" dirty="0"/>
          </a:p>
          <a:p>
            <a:pPr lvl="1"/>
            <a:r>
              <a:rPr lang="en-US" altLang="ko-KR" dirty="0"/>
              <a:t>1/w</a:t>
            </a:r>
            <a:r>
              <a:rPr lang="ko-KR" altLang="en-US" dirty="0"/>
              <a:t>를 이용해 선형 보간 수행</a:t>
            </a:r>
          </a:p>
          <a:p>
            <a:endParaRPr lang="en-US" altLang="ko-KR" dirty="0"/>
          </a:p>
          <a:p>
            <a:r>
              <a:rPr lang="ko-KR" altLang="en-US" dirty="0"/>
              <a:t>깊이 버퍼 </a:t>
            </a:r>
            <a:r>
              <a:rPr lang="en-US" altLang="ko-KR" dirty="0"/>
              <a:t>(Depth Buffer)</a:t>
            </a:r>
          </a:p>
          <a:p>
            <a:pPr lvl="1"/>
            <a:r>
              <a:rPr lang="ko-KR" altLang="en-US" dirty="0"/>
              <a:t>픽셀마다 깊이 값을 저장하여 가시성 결정</a:t>
            </a:r>
          </a:p>
          <a:p>
            <a:pPr lvl="1"/>
            <a:r>
              <a:rPr lang="ko-KR" altLang="en-US" dirty="0"/>
              <a:t>더 가까운 픽셀만 화면에 표시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870D254-B10A-2175-8B89-ED3A47D21F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4551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372E0-4740-A873-42F1-E4EA23D00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9AAFC0D1-B041-DC47-CAB9-CA6AA79A1B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13. </a:t>
            </a:r>
            <a:r>
              <a:rPr lang="ko-KR" altLang="en-US" dirty="0" err="1"/>
              <a:t>절두체</a:t>
            </a:r>
            <a:endParaRPr lang="ko-KR" altLang="en-US" dirty="0"/>
          </a:p>
        </p:txBody>
      </p:sp>
      <p:sp>
        <p:nvSpPr>
          <p:cNvPr id="6" name="부제목 5">
            <a:extLst>
              <a:ext uri="{FF2B5EF4-FFF2-40B4-BE49-F238E27FC236}">
                <a16:creationId xmlns:a16="http://schemas.microsoft.com/office/drawing/2014/main" id="{75C5A28C-8D66-80BF-2209-70FADAEE2C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최적화된 </a:t>
            </a:r>
            <a:r>
              <a:rPr lang="en-US" altLang="ko-KR" dirty="0"/>
              <a:t>3</a:t>
            </a:r>
            <a:r>
              <a:rPr lang="ko-KR" altLang="en-US" dirty="0"/>
              <a:t>차원 공간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87E4309-252C-5110-455B-D49561B64C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207349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400" b="1" dirty="0">
            <a:solidFill>
              <a:srgbClr val="6F008A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8088</TotalTime>
  <Words>2081</Words>
  <Application>Microsoft Office PowerPoint</Application>
  <PresentationFormat>화면 슬라이드 쇼(4:3)</PresentationFormat>
  <Paragraphs>380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4" baseType="lpstr">
      <vt:lpstr>Wingdings</vt:lpstr>
      <vt:lpstr>가을체</vt:lpstr>
      <vt:lpstr>나눔바른고딕</vt:lpstr>
      <vt:lpstr>D2Coding</vt:lpstr>
      <vt:lpstr>굴림</vt:lpstr>
      <vt:lpstr>HY견고딕</vt:lpstr>
      <vt:lpstr>Cambria Math</vt:lpstr>
      <vt:lpstr>Arial</vt:lpstr>
      <vt:lpstr>기본 디자인</vt:lpstr>
      <vt:lpstr>12. 원근 투영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12.1 원근 투영 변환의 원리</vt:lpstr>
      <vt:lpstr>12.2 동차 좌표계</vt:lpstr>
      <vt:lpstr>12.2 동차 좌표계</vt:lpstr>
      <vt:lpstr>12.2 동차 좌표계</vt:lpstr>
      <vt:lpstr>실습 12-1 화면에 원근감 부여하기</vt:lpstr>
      <vt:lpstr>12.3 깊이 값</vt:lpstr>
      <vt:lpstr>12.3 깊이 값</vt:lpstr>
      <vt:lpstr>12.3 깊이 값</vt:lpstr>
      <vt:lpstr>12.3 깊이 값</vt:lpstr>
      <vt:lpstr>12.3 깊이 값</vt:lpstr>
      <vt:lpstr>12.3 깊이 값</vt:lpstr>
      <vt:lpstr>12.3 깊이 값</vt:lpstr>
      <vt:lpstr>실습 12-2 깊이에 대한 정보 얻기</vt:lpstr>
      <vt:lpstr>12.4 원근 보정 매핑</vt:lpstr>
      <vt:lpstr>12.4 원근 보정 매핑</vt:lpstr>
      <vt:lpstr>12.4 원근 보정 매핑</vt:lpstr>
      <vt:lpstr>12.4 원근 보정 매핑</vt:lpstr>
      <vt:lpstr>12.4 원근 보정 매핑</vt:lpstr>
      <vt:lpstr>실습 12-3 찌그러진 캐릭터 얼굴을 올바로 잡기</vt:lpstr>
      <vt:lpstr>12.5 깊이 버퍼</vt:lpstr>
      <vt:lpstr>실습 12-4 깊이 버퍼 활용</vt:lpstr>
      <vt:lpstr>실습 12-5 깊이 버퍼 시각화</vt:lpstr>
      <vt:lpstr>12.6 정리</vt:lpstr>
      <vt:lpstr>13. 절두체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275</cp:revision>
  <dcterms:created xsi:type="dcterms:W3CDTF">2003-11-30T16:03:20Z</dcterms:created>
  <dcterms:modified xsi:type="dcterms:W3CDTF">2026-04-25T16:53:33Z</dcterms:modified>
</cp:coreProperties>
</file>