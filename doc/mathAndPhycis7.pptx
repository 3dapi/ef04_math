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654" r:id="rId2"/>
    <p:sldId id="655" r:id="rId3"/>
    <p:sldId id="665" r:id="rId4"/>
    <p:sldId id="667" r:id="rId5"/>
    <p:sldId id="668" r:id="rId6"/>
    <p:sldId id="669" r:id="rId7"/>
    <p:sldId id="670" r:id="rId8"/>
    <p:sldId id="671" r:id="rId9"/>
    <p:sldId id="664" r:id="rId10"/>
    <p:sldId id="656" r:id="rId11"/>
    <p:sldId id="672" r:id="rId12"/>
    <p:sldId id="673" r:id="rId13"/>
    <p:sldId id="657" r:id="rId14"/>
    <p:sldId id="674" r:id="rId15"/>
    <p:sldId id="675" r:id="rId16"/>
    <p:sldId id="676" r:id="rId17"/>
    <p:sldId id="677" r:id="rId18"/>
    <p:sldId id="678" r:id="rId19"/>
    <p:sldId id="658" r:id="rId20"/>
    <p:sldId id="679" r:id="rId21"/>
    <p:sldId id="680" r:id="rId22"/>
    <p:sldId id="659" r:id="rId23"/>
    <p:sldId id="681" r:id="rId24"/>
    <p:sldId id="682" r:id="rId25"/>
    <p:sldId id="683" r:id="rId26"/>
    <p:sldId id="660" r:id="rId27"/>
    <p:sldId id="661" r:id="rId28"/>
    <p:sldId id="684" r:id="rId29"/>
    <p:sldId id="685" r:id="rId30"/>
    <p:sldId id="686" r:id="rId31"/>
    <p:sldId id="662" r:id="rId32"/>
    <p:sldId id="687" r:id="rId33"/>
    <p:sldId id="663" r:id="rId34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D2Coding" panose="020B0609020101020101" pitchFamily="49" charset="-127"/>
      <p:regular r:id="rId37"/>
      <p:bold r:id="rId38"/>
    </p:embeddedFont>
    <p:embeddedFont>
      <p:font typeface="HY견고딕" panose="02030600000101010101" pitchFamily="18" charset="-127"/>
      <p:regular r:id="rId39"/>
    </p:embeddedFont>
    <p:embeddedFont>
      <p:font typeface="가을체" panose="02030600000101010101" pitchFamily="18" charset="-127"/>
      <p:regular r:id="rId40"/>
    </p:embeddedFont>
    <p:embeddedFont>
      <p:font typeface="나눔바른고딕" panose="020B0603020101020101" pitchFamily="50" charset="-127"/>
      <p:regular r:id="rId41"/>
      <p:bold r:id="rId4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FF"/>
    <a:srgbClr val="CCFFCC"/>
    <a:srgbClr val="008000"/>
    <a:srgbClr val="CC0000"/>
    <a:srgbClr val="009900"/>
    <a:srgbClr val="FF00FF"/>
    <a:srgbClr val="FF9900"/>
    <a:srgbClr val="FF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368" y="11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/>
            </a:lvl1pPr>
            <a:lvl2pPr>
              <a:buSzPct val="60000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6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141907F-69C8-8C31-F8DE-56CE694B4A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17. </a:t>
            </a:r>
            <a:r>
              <a:rPr lang="ko-KR" altLang="en-US" dirty="0"/>
              <a:t>캐릭터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FFF52203-8F39-37DE-58E4-EE1953AFD1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게임에 생기를 불어넣는 기술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7B5B7C-A068-7D0E-902E-09E4A7C6CC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3410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76D78-927D-A81A-506D-093B4D7FA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17.1 </a:t>
            </a:r>
            <a:r>
              <a:rPr lang="ko-KR" altLang="en-US" dirty="0" err="1"/>
              <a:t>스켈레탈</a:t>
            </a:r>
            <a:r>
              <a:rPr lang="ko-KR" altLang="en-US" dirty="0"/>
              <a:t>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D62C82-70E0-EC10-D980-F4B9DED45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스켈레탈</a:t>
            </a:r>
            <a:r>
              <a:rPr lang="ko-KR" altLang="en-US" dirty="0"/>
              <a:t> 애니메이션을 구성하는 본과 메시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본 구성 정보</a:t>
            </a:r>
            <a:endParaRPr lang="en-US" altLang="ko-KR" dirty="0"/>
          </a:p>
          <a:p>
            <a:pPr lvl="1"/>
            <a:r>
              <a:rPr lang="ko-KR" altLang="en-US" dirty="0"/>
              <a:t>본 이름</a:t>
            </a:r>
            <a:endParaRPr lang="en-US" altLang="ko-KR" dirty="0"/>
          </a:p>
          <a:p>
            <a:pPr lvl="1"/>
            <a:r>
              <a:rPr lang="ko-KR" altLang="en-US" dirty="0" err="1"/>
              <a:t>바인드포즈</a:t>
            </a:r>
            <a:r>
              <a:rPr lang="en-US" altLang="ko-KR" dirty="0"/>
              <a:t>(</a:t>
            </a:r>
            <a:r>
              <a:rPr lang="en-US" altLang="ko-KR" dirty="0" err="1"/>
              <a:t>Bindpose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최초 배치 정보</a:t>
            </a:r>
            <a:endParaRPr lang="en-US" altLang="ko-KR" dirty="0"/>
          </a:p>
          <a:p>
            <a:pPr lvl="2"/>
            <a:r>
              <a:rPr lang="ko-KR" altLang="en-US" dirty="0"/>
              <a:t>본 애니메이션 기준점</a:t>
            </a:r>
            <a:endParaRPr lang="en-US" altLang="ko-KR" dirty="0"/>
          </a:p>
          <a:p>
            <a:pPr lvl="1"/>
            <a:r>
              <a:rPr lang="ko-KR" altLang="en-US" dirty="0"/>
              <a:t>트랜스폼 정보</a:t>
            </a:r>
            <a:endParaRPr lang="en-US" altLang="ko-KR" dirty="0"/>
          </a:p>
          <a:p>
            <a:pPr lvl="2"/>
            <a:r>
              <a:rPr lang="ko-KR" altLang="en-US" dirty="0"/>
              <a:t>시간 기반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CC1334-C873-531E-455C-EF253D902D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816C590-7E92-A1F1-09D2-1C94E8B805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588" t="13332" r="20521" b="4549"/>
          <a:stretch>
            <a:fillRect/>
          </a:stretch>
        </p:blipFill>
        <p:spPr>
          <a:xfrm>
            <a:off x="3995936" y="1495532"/>
            <a:ext cx="4962302" cy="470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1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6C26-B490-82C7-844E-B1E95879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0DC24-024F-1F0D-6669-5162204B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17.1 </a:t>
            </a:r>
            <a:r>
              <a:rPr lang="ko-KR" altLang="en-US" dirty="0" err="1"/>
              <a:t>스켈레탈</a:t>
            </a:r>
            <a:r>
              <a:rPr lang="ko-KR" altLang="en-US" dirty="0"/>
              <a:t>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197BE0-4D21-9BA7-A1C2-2406A5161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A33354-009C-CAC7-9EC1-F1A70C9670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E80B9-7D0F-7EB7-05E5-52D7B896403A}"/>
              </a:ext>
            </a:extLst>
          </p:cNvPr>
          <p:cNvSpPr txBox="1"/>
          <p:nvPr/>
        </p:nvSpPr>
        <p:spPr>
          <a:xfrm>
            <a:off x="683568" y="692150"/>
            <a:ext cx="6174432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endParaRPr lang="en-US" altLang="ko-KR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size_t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_Hash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본의 이름</a:t>
            </a:r>
            <a:endParaRPr lang="ko-KR" altLang="en-US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_Name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본의 현재 트랜스폼 정보</a:t>
            </a:r>
            <a:endParaRPr lang="ko-KR" altLang="en-US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본의 최초 트랜스폼 정보</a:t>
            </a:r>
            <a:endParaRPr lang="ko-KR" altLang="en-US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3627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44C8-5477-BA64-773A-863F6478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BF404-23F2-9581-A18E-6A63041E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17.1 </a:t>
            </a:r>
            <a:r>
              <a:rPr lang="ko-KR" altLang="en-US" dirty="0" err="1"/>
              <a:t>스켈레탈</a:t>
            </a:r>
            <a:r>
              <a:rPr lang="ko-KR" altLang="en-US" dirty="0"/>
              <a:t>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29E749-5B07-55EF-3DDA-D80CD5177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본을 추가한 메시 구조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9B619D-E86B-4F55-0F2D-0B411C40F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9D2B21-176E-332B-1A0C-C5335F8B1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948508"/>
            <a:ext cx="8910428" cy="34328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01716D-8CE8-F41D-82D3-BAD27320AD3C}"/>
              </a:ext>
            </a:extLst>
          </p:cNvPr>
          <p:cNvSpPr txBox="1"/>
          <p:nvPr/>
        </p:nvSpPr>
        <p:spPr>
          <a:xfrm>
            <a:off x="3995936" y="764704"/>
            <a:ext cx="3888432" cy="169277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enum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 err="1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MeshType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: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UINT32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Normal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20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Skinned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11143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40A47-E3CC-6974-CB0D-4DB71969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EC107-2B70-779C-7BE7-E3F124E0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17.1 </a:t>
            </a:r>
            <a:r>
              <a:rPr lang="ko-KR" altLang="en-US" dirty="0" err="1"/>
              <a:t>스켈레탈</a:t>
            </a:r>
            <a:r>
              <a:rPr lang="ko-KR" altLang="en-US" dirty="0"/>
              <a:t>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3336CE-145C-525E-8637-C0E261D6D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리깅</a:t>
            </a:r>
            <a:endParaRPr lang="en-US" altLang="ko-KR" dirty="0"/>
          </a:p>
          <a:p>
            <a:pPr lvl="1"/>
            <a:r>
              <a:rPr lang="en-US" altLang="ko-KR" dirty="0"/>
              <a:t>Bone</a:t>
            </a:r>
            <a:r>
              <a:rPr lang="ko-KR" altLang="en-US" dirty="0"/>
              <a:t>과 정점 연결</a:t>
            </a:r>
            <a:endParaRPr lang="en-US" altLang="ko-KR" dirty="0"/>
          </a:p>
          <a:p>
            <a:pPr lvl="1"/>
            <a:r>
              <a:rPr lang="en-US" altLang="ko-KR" dirty="0"/>
              <a:t>Bone</a:t>
            </a:r>
            <a:r>
              <a:rPr lang="ko-KR" altLang="en-US" dirty="0"/>
              <a:t>의 움직임에 따라 </a:t>
            </a:r>
            <a:r>
              <a:rPr lang="en-US" altLang="ko-KR" dirty="0"/>
              <a:t>Mesh</a:t>
            </a:r>
            <a:r>
              <a:rPr lang="ko-KR" altLang="en-US" dirty="0"/>
              <a:t>가 변형되도록 설정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r>
              <a:rPr lang="ko-KR" altLang="en-US" dirty="0"/>
              <a:t>수학적 관점</a:t>
            </a:r>
            <a:endParaRPr lang="en-US" altLang="ko-KR" dirty="0"/>
          </a:p>
          <a:p>
            <a:pPr lvl="1"/>
            <a:r>
              <a:rPr lang="ko-KR" altLang="en-US" dirty="0"/>
              <a:t>정점에 </a:t>
            </a:r>
            <a:r>
              <a:rPr lang="en-US" altLang="ko-KR" dirty="0"/>
              <a:t>Bone Transform</a:t>
            </a:r>
            <a:r>
              <a:rPr lang="ko-KR" altLang="en-US" dirty="0"/>
              <a:t>과</a:t>
            </a:r>
            <a:br>
              <a:rPr lang="en-US" altLang="ko-KR" dirty="0"/>
            </a:br>
            <a:r>
              <a:rPr lang="en-US" altLang="ko-KR" dirty="0"/>
              <a:t>Weight </a:t>
            </a:r>
            <a:r>
              <a:rPr lang="ko-KR" altLang="en-US" dirty="0"/>
              <a:t>설정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7EB024-C66B-E152-B6B8-C304F3FB6C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93BFAB4-1A11-279E-B597-A5BE7B0F67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95" r="20932"/>
          <a:stretch>
            <a:fillRect/>
          </a:stretch>
        </p:blipFill>
        <p:spPr>
          <a:xfrm>
            <a:off x="5076056" y="2171324"/>
            <a:ext cx="3926443" cy="43358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44C6A1-29CE-B1E4-B50F-D0B0A80084E4}"/>
              </a:ext>
            </a:extLst>
          </p:cNvPr>
          <p:cNvSpPr txBox="1"/>
          <p:nvPr/>
        </p:nvSpPr>
        <p:spPr>
          <a:xfrm>
            <a:off x="467544" y="4437112"/>
            <a:ext cx="4410236" cy="163121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struct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Bones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Values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2643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4E25-2131-A80B-748E-9E81F4A5F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E3CC2-F1E0-37B2-82E7-B741B806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17.1 </a:t>
            </a:r>
            <a:r>
              <a:rPr lang="ko-KR" altLang="en-US" dirty="0" err="1"/>
              <a:t>스켈레탈</a:t>
            </a:r>
            <a:r>
              <a:rPr lang="ko-KR" altLang="en-US" dirty="0"/>
              <a:t>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75CF13-3B8B-2B0C-AD58-01C73892B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점과 본과의 연결 정보를 추가한 메시 구조의 예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EE814F-25E9-3DA6-4E43-9AB9BF3762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ABCBCD-3529-FC09-B6C5-BA6092C488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0"/>
          <a:stretch>
            <a:fillRect/>
          </a:stretch>
        </p:blipFill>
        <p:spPr>
          <a:xfrm>
            <a:off x="323528" y="1196752"/>
            <a:ext cx="8599292" cy="31683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DC4244-6DD0-030F-5631-EAAC49217F24}"/>
              </a:ext>
            </a:extLst>
          </p:cNvPr>
          <p:cNvSpPr txBox="1"/>
          <p:nvPr/>
        </p:nvSpPr>
        <p:spPr>
          <a:xfrm>
            <a:off x="323528" y="5499229"/>
            <a:ext cx="6912768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{ {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}, {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 },  { {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}, {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 },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{ {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}, {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 }, { {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}, {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 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1EC479-4F6F-252A-EF0C-DE3B9B95CC62}"/>
              </a:ext>
            </a:extLst>
          </p:cNvPr>
          <p:cNvSpPr txBox="1"/>
          <p:nvPr/>
        </p:nvSpPr>
        <p:spPr>
          <a:xfrm>
            <a:off x="326862" y="4452011"/>
            <a:ext cx="6912768" cy="95410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(-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halfSize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))},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FF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</a:t>
            </a:r>
            <a:r>
              <a:rPr lang="en-US" altLang="ko-KR" sz="1400" b="1" dirty="0">
                <a:solidFill>
                  <a:srgbClr val="E2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halfSize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};</a:t>
            </a:r>
          </a:p>
        </p:txBody>
      </p:sp>
    </p:spTree>
    <p:extLst>
      <p:ext uri="{BB962C8B-B14F-4D97-AF65-F5344CB8AC3E}">
        <p14:creationId xmlns:p14="http://schemas.microsoft.com/office/powerpoint/2010/main" val="185446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94CC6-C914-CC58-EEFD-B51CEACF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9312A-6C38-F376-AE53-5FF2906F9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17.1 </a:t>
            </a:r>
            <a:r>
              <a:rPr lang="ko-KR" altLang="en-US" dirty="0" err="1"/>
              <a:t>스켈레탈</a:t>
            </a:r>
            <a:r>
              <a:rPr lang="ko-KR" altLang="en-US" dirty="0"/>
              <a:t>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81C7B-C10E-5513-AAEC-6E1EA7EC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키프레임 </a:t>
            </a:r>
            <a:r>
              <a:rPr lang="en-US" altLang="ko-KR" dirty="0"/>
              <a:t>Keyframe</a:t>
            </a:r>
          </a:p>
          <a:p>
            <a:pPr lvl="1"/>
            <a:r>
              <a:rPr lang="ko-KR" altLang="en-US" dirty="0"/>
              <a:t>애니메이션에서 </a:t>
            </a:r>
            <a:br>
              <a:rPr lang="en-US" altLang="ko-KR" dirty="0"/>
            </a:br>
            <a:r>
              <a:rPr lang="ko-KR" altLang="en-US" dirty="0"/>
              <a:t>특정 시간의 </a:t>
            </a:r>
            <a:r>
              <a:rPr lang="en-US" altLang="ko-KR" dirty="0"/>
              <a:t>Bone Transform </a:t>
            </a:r>
            <a:r>
              <a:rPr lang="ko-KR" altLang="en-US" dirty="0"/>
              <a:t>상태를 저장한 기준 프레임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키프레임 데이터 예시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17FFE9-E2D6-99D7-4C6C-7A44010241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Picture 2" descr="The Rotation.y property has a key at the currently previewed frame.">
            <a:extLst>
              <a:ext uri="{FF2B5EF4-FFF2-40B4-BE49-F238E27FC236}">
                <a16:creationId xmlns:a16="http://schemas.microsoft.com/office/drawing/2014/main" id="{A9D5B417-D96C-6810-41FD-895595BFA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29" y="3284984"/>
            <a:ext cx="81915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413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5828-C19C-AFAE-5567-8C96B3F7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5EC35-9BE1-6183-A806-C5B77FE3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17.1 </a:t>
            </a:r>
            <a:r>
              <a:rPr lang="ko-KR" altLang="en-US" dirty="0" err="1"/>
              <a:t>스켈레탈</a:t>
            </a:r>
            <a:r>
              <a:rPr lang="ko-KR" altLang="en-US" dirty="0"/>
              <a:t>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889AF-8E45-0516-8CC2-C30A79B5D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애니메이션 워크플로우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05FDED-EEB5-5A7A-C366-507F45E047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35CF99-3091-2874-EE53-92AFEE12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68760"/>
            <a:ext cx="8199080" cy="515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8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C044-5614-AE22-4005-0C8BC21D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10FBF-DE1D-4884-EE80-AAE514CE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17-1 </a:t>
            </a:r>
            <a:r>
              <a:rPr lang="ko-KR" altLang="en-US" dirty="0" err="1"/>
              <a:t>스켈레탈</a:t>
            </a:r>
            <a:r>
              <a:rPr lang="ko-KR" altLang="en-US" dirty="0"/>
              <a:t> 애니메이션의 구현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68E04F-A7A1-3CE6-15AC-ABE2F531D4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CE994F-0DED-C597-07AD-9913A6259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764704"/>
            <a:ext cx="2559443" cy="1464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6CF42A-B28F-53A6-113C-5063F15ACCD7}"/>
              </a:ext>
            </a:extLst>
          </p:cNvPr>
          <p:cNvSpPr txBox="1"/>
          <p:nvPr/>
        </p:nvSpPr>
        <p:spPr>
          <a:xfrm>
            <a:off x="192586" y="764704"/>
            <a:ext cx="8123830" cy="60016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size_t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vertexCount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vertices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GetVertices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IsSkinnedMesh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totalDeltaPosition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GetWeights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size_t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GetConnectedBones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Bones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HasBone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boneTransform</a:t>
            </a:r>
            <a:endParaRPr lang="en-US" altLang="ko-KR" sz="1600" b="1" dirty="0">
              <a:solidFill>
                <a:srgbClr val="00008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deltaPosition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boneTransform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GetBindPose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totalDeltaPosition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deltaPosition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Values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vertices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totalDeltaPosition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 </a:t>
            </a:r>
          </a:p>
        </p:txBody>
      </p:sp>
    </p:spTree>
    <p:extLst>
      <p:ext uri="{BB962C8B-B14F-4D97-AF65-F5344CB8AC3E}">
        <p14:creationId xmlns:p14="http://schemas.microsoft.com/office/powerpoint/2010/main" val="244155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75F0-0CE4-E045-A5A3-CB8C86E06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DFB1C-66E0-1C7F-1BE3-74064208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 </a:t>
            </a:r>
            <a:r>
              <a:rPr lang="ko-KR" altLang="en-US" dirty="0"/>
              <a:t>트랜스폼 계층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85926B-DA1A-8DE0-FEDD-06CE21CBA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본 계층 구조 </a:t>
            </a:r>
            <a:r>
              <a:rPr lang="en-US" altLang="ko-KR" sz="2400" dirty="0"/>
              <a:t>Bone Hierarchy</a:t>
            </a:r>
          </a:p>
          <a:p>
            <a:pPr lvl="1"/>
            <a:r>
              <a:rPr lang="en-US" altLang="ko-KR" sz="2000" dirty="0"/>
              <a:t>Bone</a:t>
            </a:r>
            <a:r>
              <a:rPr lang="ko-KR" altLang="en-US" sz="2000" dirty="0"/>
              <a:t>들이 부모</a:t>
            </a:r>
            <a:r>
              <a:rPr lang="en-US" altLang="ko-KR" sz="2000" dirty="0"/>
              <a:t>-</a:t>
            </a:r>
            <a:r>
              <a:rPr lang="ko-KR" altLang="en-US" sz="2000" dirty="0"/>
              <a:t>자식 관계로 연결된 트리 구조</a:t>
            </a:r>
          </a:p>
          <a:p>
            <a:pPr lvl="1"/>
            <a:r>
              <a:rPr lang="ko-KR" altLang="en-US" sz="2000" dirty="0"/>
              <a:t>부모 </a:t>
            </a:r>
            <a:r>
              <a:rPr lang="en-US" altLang="ko-KR" sz="2000" dirty="0"/>
              <a:t>Bone</a:t>
            </a:r>
            <a:r>
              <a:rPr lang="ko-KR" altLang="en-US" sz="2000" dirty="0"/>
              <a:t>의 </a:t>
            </a:r>
            <a:r>
              <a:rPr lang="en-US" altLang="ko-KR" sz="2000" dirty="0"/>
              <a:t>Transform</a:t>
            </a:r>
            <a:r>
              <a:rPr lang="ko-KR" altLang="en-US" sz="2000" dirty="0"/>
              <a:t>은 자식 </a:t>
            </a:r>
            <a:r>
              <a:rPr lang="en-US" altLang="ko-KR" sz="2000" dirty="0"/>
              <a:t>Bone</a:t>
            </a:r>
            <a:r>
              <a:rPr lang="ko-KR" altLang="en-US" sz="2000" dirty="0"/>
              <a:t>에 전달</a:t>
            </a:r>
          </a:p>
          <a:p>
            <a:pPr lvl="1"/>
            <a:r>
              <a:rPr lang="ko-KR" altLang="en-US" sz="2000" dirty="0"/>
              <a:t>자식 </a:t>
            </a:r>
            <a:r>
              <a:rPr lang="en-US" altLang="ko-KR" sz="2000" dirty="0"/>
              <a:t>Bone</a:t>
            </a:r>
            <a:r>
              <a:rPr lang="ko-KR" altLang="en-US" sz="2000" dirty="0"/>
              <a:t>의 </a:t>
            </a:r>
            <a:r>
              <a:rPr lang="en-US" altLang="ko-KR" sz="2000" dirty="0"/>
              <a:t>Transform</a:t>
            </a:r>
            <a:r>
              <a:rPr lang="ko-KR" altLang="en-US" sz="2000" dirty="0"/>
              <a:t>은 부모 </a:t>
            </a:r>
            <a:r>
              <a:rPr lang="en-US" altLang="ko-KR" sz="2000" dirty="0"/>
              <a:t>Bone</a:t>
            </a:r>
            <a:r>
              <a:rPr lang="ko-KR" altLang="en-US" sz="2000" dirty="0"/>
              <a:t>에 영향 없음</a:t>
            </a:r>
          </a:p>
          <a:p>
            <a:pPr lvl="1"/>
            <a:r>
              <a:rPr lang="ko-KR" altLang="en-US" sz="2000" dirty="0"/>
              <a:t>부모 </a:t>
            </a:r>
            <a:r>
              <a:rPr lang="en-US" altLang="ko-KR" sz="2000" dirty="0"/>
              <a:t>Bone</a:t>
            </a:r>
            <a:r>
              <a:rPr lang="ko-KR" altLang="en-US" sz="2000" dirty="0"/>
              <a:t>은 여러 자식 </a:t>
            </a:r>
            <a:r>
              <a:rPr lang="en-US" altLang="ko-KR" sz="2000" dirty="0"/>
              <a:t>Bone</a:t>
            </a:r>
            <a:r>
              <a:rPr lang="ko-KR" altLang="en-US" sz="2000" dirty="0"/>
              <a:t>을 가질 수 있음</a:t>
            </a:r>
          </a:p>
          <a:p>
            <a:pPr lvl="1"/>
            <a:r>
              <a:rPr lang="ko-KR" altLang="en-US" sz="2000" dirty="0"/>
              <a:t>자식 </a:t>
            </a:r>
            <a:r>
              <a:rPr lang="en-US" altLang="ko-KR" sz="2000" dirty="0"/>
              <a:t>Bone</a:t>
            </a:r>
            <a:r>
              <a:rPr lang="ko-KR" altLang="en-US" sz="2000" dirty="0"/>
              <a:t>은 하나의 부모 </a:t>
            </a:r>
            <a:r>
              <a:rPr lang="en-US" altLang="ko-KR" sz="2000" dirty="0"/>
              <a:t>Bone</a:t>
            </a:r>
            <a:r>
              <a:rPr lang="ko-KR" altLang="en-US" sz="2000" dirty="0"/>
              <a:t>만 가짐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CB5086-CB42-42E2-3DD3-636DFF6ADE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016316-1213-8D27-5B63-3C2C33CC2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988241"/>
            <a:ext cx="7289736" cy="360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39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E420-4901-E3E6-B2BC-5CD97514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D3B1C8-9E09-81E0-B061-D02A2726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 </a:t>
            </a:r>
            <a:r>
              <a:rPr lang="ko-KR" altLang="en-US" dirty="0"/>
              <a:t>트랜스폼 계층 구조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AA075B-CDA5-451D-1533-246B2758B6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76A70-7340-61B4-AA0E-03653E71B3B3}"/>
              </a:ext>
            </a:extLst>
          </p:cNvPr>
          <p:cNvSpPr txBox="1"/>
          <p:nvPr/>
        </p:nvSpPr>
        <p:spPr>
          <a:xfrm>
            <a:off x="542117" y="836712"/>
            <a:ext cx="7920880" cy="415498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TransformComponent</a:t>
            </a:r>
            <a:endParaRPr lang="en-US" altLang="ko-KR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계층 구조를 위한 변수</a:t>
            </a:r>
            <a:endParaRPr lang="ko-KR" altLang="en-US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LocalTransform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WorldTransform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 </a:t>
            </a:r>
            <a:r>
              <a:rPr lang="en-US" altLang="ko-KR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부모</a:t>
            </a:r>
            <a:r>
              <a:rPr lang="en-US" altLang="ko-KR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1" dirty="0">
                <a:solidFill>
                  <a:srgbClr val="008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자식 노드</a:t>
            </a:r>
            <a:endParaRPr lang="ko-KR" altLang="en-US" b="1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TransformComponent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ParentPtr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nullptr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TransformComponent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*&gt; </a:t>
            </a:r>
            <a:r>
              <a:rPr lang="en-US" altLang="ko-KR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ChildrenPtr</a:t>
            </a: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75574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D854A-3D96-4C5D-A8CE-39367064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AB968-E9A4-E7F6-4B80-0FEDB0BD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 </a:t>
            </a:r>
            <a:r>
              <a:rPr lang="ko-KR" altLang="en-US" dirty="0"/>
              <a:t>트랜스폼 계층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A4E3F-1956-45CB-3546-CD4F4DE36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로컬 트랜스폼 </a:t>
            </a:r>
            <a:r>
              <a:rPr lang="en-US" altLang="ko-KR" dirty="0"/>
              <a:t>/ </a:t>
            </a:r>
            <a:r>
              <a:rPr lang="ko-KR" altLang="en-US" dirty="0"/>
              <a:t>월드 트랜스폼 구분 → 다양한 상황에 대처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로컬 트랜스폼</a:t>
            </a:r>
            <a:endParaRPr lang="en-US" altLang="ko-KR" dirty="0"/>
          </a:p>
          <a:p>
            <a:pPr lvl="1"/>
            <a:r>
              <a:rPr lang="ko-KR" altLang="en-US" dirty="0"/>
              <a:t>부모로부터 상대적인 트랜스폼</a:t>
            </a:r>
            <a:endParaRPr lang="en-US" altLang="ko-KR" dirty="0"/>
          </a:p>
          <a:p>
            <a:pPr lvl="1"/>
            <a:r>
              <a:rPr lang="ko-KR" altLang="en-US" dirty="0"/>
              <a:t>상대 트랜스폼 </a:t>
            </a:r>
            <a:r>
              <a:rPr lang="en-US" altLang="ko-KR" dirty="0"/>
              <a:t>(Relative</a:t>
            </a:r>
            <a:r>
              <a:rPr lang="ko-KR" altLang="en-US" dirty="0"/>
              <a:t> </a:t>
            </a:r>
            <a:r>
              <a:rPr lang="en-US" altLang="ko-KR" dirty="0"/>
              <a:t>transform)</a:t>
            </a:r>
          </a:p>
          <a:p>
            <a:endParaRPr lang="en-US" altLang="ko-KR" dirty="0"/>
          </a:p>
          <a:p>
            <a:r>
              <a:rPr lang="ko-KR" altLang="en-US" dirty="0"/>
              <a:t>월드 트랜스폼</a:t>
            </a:r>
            <a:endParaRPr lang="en-US" altLang="ko-KR" dirty="0"/>
          </a:p>
          <a:p>
            <a:pPr lvl="1"/>
            <a:r>
              <a:rPr lang="ko-KR" altLang="en-US" dirty="0"/>
              <a:t>계층 구조와 상관 없이</a:t>
            </a:r>
            <a:br>
              <a:rPr lang="en-US" altLang="ko-KR" dirty="0"/>
            </a:br>
            <a:r>
              <a:rPr lang="ko-KR" altLang="en-US" dirty="0"/>
              <a:t>자신의 속한 공간에서의 트랜스폼</a:t>
            </a:r>
            <a:endParaRPr lang="en-US" altLang="ko-KR" dirty="0"/>
          </a:p>
          <a:p>
            <a:pPr lvl="1"/>
            <a:r>
              <a:rPr lang="ko-KR" altLang="en-US" dirty="0"/>
              <a:t>절대</a:t>
            </a:r>
            <a:r>
              <a:rPr lang="en-US" altLang="ko-KR" dirty="0"/>
              <a:t> </a:t>
            </a:r>
            <a:r>
              <a:rPr lang="ko-KR" altLang="en-US" dirty="0"/>
              <a:t>트랜스폼 </a:t>
            </a:r>
            <a:r>
              <a:rPr lang="en-US" altLang="ko-KR" dirty="0"/>
              <a:t>(Absolute transform)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06AA45-15F0-65C9-B2B7-39C7A1C751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5044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F30D-94EC-550E-0E7C-B6601631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0D67E-7119-00A0-B1B8-08F17D9C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트랜스폼 계층 구조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4C052D-8204-7734-4913-B38337C2E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부모의 월드 트랜스폼이 변경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C64704-0A31-2DA7-DF5B-D8DC3B5482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F10529-73A9-CE4E-B505-E96D15B68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79" y="1650962"/>
            <a:ext cx="8658902" cy="300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53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5470-EE08-A33B-6171-132EB4C5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38632-7E91-C384-1B63-AFAB40AC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트랜스폼 계층 구조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CF181-F5A4-C95A-0C7C-8AE72EF04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자신의 로컬 트랜스폼 변경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0A83F-3070-49AF-A7AA-A3F265C579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EBAC58-1021-F9CD-9881-52ED24FC8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39014"/>
            <a:ext cx="8640960" cy="287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19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A390-1C28-AABB-D024-B0326D807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925E-457D-9675-2E49-31C81C37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트랜스폼 계층 구조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B54DF1-F327-AA54-8E66-C16B66988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자신의 월드 트랜스폼 변경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17D842-3AA2-73FF-0100-80D69E8F3F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61C725-A103-7F6E-3B04-D38438255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28800"/>
            <a:ext cx="8640960" cy="285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85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D9709-D280-7ADE-1306-F436E9E6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19502-8213-2FD0-3895-924B3737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트랜스폼 계층 구조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7ADE0D-2436-1BF0-ACC4-09AAEA4AA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부모로부터 독립</a:t>
            </a:r>
            <a:r>
              <a:rPr lang="en-US" altLang="ko-KR" dirty="0"/>
              <a:t>, </a:t>
            </a:r>
            <a:r>
              <a:rPr lang="ko-KR" altLang="en-US" dirty="0"/>
              <a:t>루트 트랜스폼으로 설정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AE36E2-31CB-4795-DE4C-EAFFB15307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6DECB7-8490-88F6-1E4E-D6DBA3574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44801"/>
            <a:ext cx="8640960" cy="272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37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525F-648A-C8ED-1903-D66040C70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72B1E-10DD-EB54-CA5B-6D37C439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트랜스폼 계층 구조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CEC45-3726-94FF-A548-7A1F3F17B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새로운 부모에 편입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E77A7A-5D27-C83A-4F1F-C58B26A052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1C2513F-E32B-10DA-DD30-F23AB1B3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28775"/>
            <a:ext cx="8640960" cy="268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0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23D4-7E5F-73AA-B763-10BB3C4E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644DE-9953-6081-8CBF-6228B191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17.2.1 </a:t>
            </a:r>
            <a:r>
              <a:rPr lang="ko-KR" altLang="en-US" dirty="0"/>
              <a:t>트랜스폼 계층 구조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60EAD5-A04B-0DF3-22D5-CE112522E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필수 기능</a:t>
            </a:r>
            <a:endParaRPr lang="en-US" altLang="ko-KR" dirty="0"/>
          </a:p>
          <a:p>
            <a:pPr lvl="1"/>
            <a:r>
              <a:rPr lang="ko-KR" altLang="en-US" dirty="0"/>
              <a:t>부모 월드 트랜스폼 정보 </a:t>
            </a:r>
            <a:r>
              <a:rPr lang="en-US" altLang="ko-KR" dirty="0"/>
              <a:t>+ </a:t>
            </a:r>
            <a:r>
              <a:rPr lang="ko-KR" altLang="en-US" dirty="0"/>
              <a:t>자신의 로컬 트랜스폼 정보 →</a:t>
            </a:r>
            <a:br>
              <a:rPr lang="en-US" altLang="ko-KR" dirty="0"/>
            </a:br>
            <a:r>
              <a:rPr lang="ko-KR" altLang="en-US" dirty="0"/>
              <a:t>자신의 월드 트랜스폼 계산</a:t>
            </a:r>
            <a:endParaRPr lang="en-US" altLang="ko-KR" dirty="0"/>
          </a:p>
          <a:p>
            <a:pPr lvl="1"/>
            <a:r>
              <a:rPr lang="ko-KR" altLang="en-US" dirty="0"/>
              <a:t>부모 월드 트랜스폼 정보 </a:t>
            </a:r>
            <a:r>
              <a:rPr lang="en-US" altLang="ko-KR" dirty="0"/>
              <a:t>+ </a:t>
            </a:r>
            <a:r>
              <a:rPr lang="ko-KR" altLang="en-US" dirty="0"/>
              <a:t>자신의 월드 트랜스폼 정보 →</a:t>
            </a:r>
            <a:br>
              <a:rPr lang="en-US" altLang="ko-KR" dirty="0"/>
            </a:br>
            <a:r>
              <a:rPr lang="ko-KR" altLang="en-US" dirty="0"/>
              <a:t>부모로부터 상대적인 자신의 로컬 트랜스폼 계산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5A12E3-21AA-EF90-EEAC-FD91ECD700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664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A690-AA7E-5F9E-3A55-884C4FB0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8E6CB-7912-2024-B187-43E0380F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17.2.2 </a:t>
            </a:r>
            <a:r>
              <a:rPr lang="ko-KR" altLang="en-US" dirty="0"/>
              <a:t>로컬 트랜스폼 → 월드 트랜스폼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4EEF4E-25CB-DC8B-676E-A71702166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부모 월드 크기</a:t>
            </a:r>
            <a:endParaRPr lang="en-US" altLang="ko-KR" sz="2000" dirty="0"/>
          </a:p>
          <a:p>
            <a:r>
              <a:rPr lang="ko-KR" altLang="en-US" sz="2000" dirty="0"/>
              <a:t>자신 로컬 크기</a:t>
            </a:r>
            <a:endParaRPr lang="en-US" altLang="ko-KR" sz="2000" dirty="0"/>
          </a:p>
          <a:p>
            <a:r>
              <a:rPr lang="ko-KR" altLang="en-US" sz="2000" dirty="0"/>
              <a:t>자신 월드 크기</a:t>
            </a:r>
            <a:endParaRPr lang="en-US" altLang="ko-KR" sz="2000" dirty="0"/>
          </a:p>
          <a:p>
            <a:pPr lvl="1"/>
            <a:endParaRPr lang="en-US" altLang="ko-KR" sz="1600" dirty="0"/>
          </a:p>
          <a:p>
            <a:r>
              <a:rPr lang="ko-KR" altLang="en-US" sz="2000" dirty="0"/>
              <a:t>두 벡터 곱</a:t>
            </a:r>
            <a:endParaRPr lang="en-US" altLang="ko-KR" sz="2000" dirty="0"/>
          </a:p>
          <a:p>
            <a:pPr lvl="1"/>
            <a:endParaRPr lang="en-US" altLang="ko-KR" sz="1600" dirty="0"/>
          </a:p>
          <a:p>
            <a:r>
              <a:rPr lang="ko-KR" altLang="en-US" sz="2000" dirty="0"/>
              <a:t>자신 월드 크기</a:t>
            </a:r>
            <a:endParaRPr lang="en-US" altLang="ko-KR" sz="2000" dirty="0"/>
          </a:p>
          <a:p>
            <a:pPr lvl="1"/>
            <a:endParaRPr lang="en-US" altLang="ko-KR" sz="1600" dirty="0"/>
          </a:p>
          <a:p>
            <a:r>
              <a:rPr lang="ko-KR" altLang="en-US" sz="2000" dirty="0"/>
              <a:t>자신의</a:t>
            </a:r>
            <a:r>
              <a:rPr lang="en-US" altLang="ko-KR" sz="2000" dirty="0"/>
              <a:t> </a:t>
            </a:r>
            <a:r>
              <a:rPr lang="ko-KR" altLang="en-US" sz="2000" dirty="0"/>
              <a:t>로컬 회전</a:t>
            </a:r>
            <a:endParaRPr lang="en-US" altLang="ko-KR" sz="2000" dirty="0"/>
          </a:p>
          <a:p>
            <a:r>
              <a:rPr lang="ko-KR" altLang="en-US" sz="2000" dirty="0"/>
              <a:t>무모의 월드 회전</a:t>
            </a:r>
            <a:endParaRPr lang="en-US" altLang="ko-KR" sz="2000" dirty="0"/>
          </a:p>
          <a:p>
            <a:r>
              <a:rPr lang="ko-KR" altLang="en-US" sz="2000" dirty="0"/>
              <a:t>자신의 월드 회전</a:t>
            </a:r>
            <a:endParaRPr lang="en-US" altLang="ko-KR" sz="2000" dirty="0"/>
          </a:p>
          <a:p>
            <a:pPr lvl="1"/>
            <a:endParaRPr lang="en-US" altLang="ko-KR" sz="1600" dirty="0"/>
          </a:p>
          <a:p>
            <a:r>
              <a:rPr lang="ko-KR" altLang="en-US" sz="2000" dirty="0"/>
              <a:t>부모 월드 트랜스폼 모델링 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37904D-00DC-9BAF-7218-AD68648134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1D5E4A-E091-A3FC-ABF9-57CEA77A0DEC}"/>
                  </a:ext>
                </a:extLst>
              </p:cNvPr>
              <p:cNvSpPr txBox="1"/>
              <p:nvPr/>
            </p:nvSpPr>
            <p:spPr>
              <a:xfrm>
                <a:off x="899592" y="5272890"/>
                <a:ext cx="5431127" cy="1174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𝑝𝑎𝑟𝑒𝑛𝑡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1D5E4A-E091-A3FC-ABF9-57CEA77A0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272890"/>
                <a:ext cx="5431127" cy="11747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A8609A-2383-447D-8020-EACAD2F6DFC4}"/>
                  </a:ext>
                </a:extLst>
              </p:cNvPr>
              <p:cNvSpPr txBox="1"/>
              <p:nvPr/>
            </p:nvSpPr>
            <p:spPr>
              <a:xfrm>
                <a:off x="2163057" y="733095"/>
                <a:ext cx="1904886" cy="318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A8609A-2383-447D-8020-EACAD2F6D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057" y="733095"/>
                <a:ext cx="1904886" cy="318677"/>
              </a:xfrm>
              <a:prstGeom prst="rect">
                <a:avLst/>
              </a:prstGeom>
              <a:blipFill>
                <a:blip r:embed="rId3"/>
                <a:stretch>
                  <a:fillRect l="-5128" t="-32075" b="-169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FCC004-FE36-82BE-D0B4-7B8AE61F5A30}"/>
                  </a:ext>
                </a:extLst>
              </p:cNvPr>
              <p:cNvSpPr txBox="1"/>
              <p:nvPr/>
            </p:nvSpPr>
            <p:spPr>
              <a:xfrm>
                <a:off x="2163057" y="1052736"/>
                <a:ext cx="1904886" cy="341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FCC004-FE36-82BE-D0B4-7B8AE61F5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057" y="1052736"/>
                <a:ext cx="1904886" cy="341568"/>
              </a:xfrm>
              <a:prstGeom prst="rect">
                <a:avLst/>
              </a:prstGeom>
              <a:blipFill>
                <a:blip r:embed="rId4"/>
                <a:stretch>
                  <a:fillRect l="-3205" b="-160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325288-084A-5C2B-78AB-28AE76FAF019}"/>
                  </a:ext>
                </a:extLst>
              </p:cNvPr>
              <p:cNvSpPr txBox="1"/>
              <p:nvPr/>
            </p:nvSpPr>
            <p:spPr>
              <a:xfrm>
                <a:off x="2163058" y="1412776"/>
                <a:ext cx="3129022" cy="3415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ko-KR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325288-084A-5C2B-78AB-28AE76FAF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058" y="1412776"/>
                <a:ext cx="3129022" cy="341568"/>
              </a:xfrm>
              <a:prstGeom prst="rect">
                <a:avLst/>
              </a:prstGeom>
              <a:blipFill>
                <a:blip r:embed="rId5"/>
                <a:stretch>
                  <a:fillRect l="-1949" b="-160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2C99A1-ECEE-D5AF-F42F-12B966C1BAD9}"/>
                  </a:ext>
                </a:extLst>
              </p:cNvPr>
              <p:cNvSpPr txBox="1"/>
              <p:nvPr/>
            </p:nvSpPr>
            <p:spPr>
              <a:xfrm>
                <a:off x="2157987" y="2132856"/>
                <a:ext cx="637445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acc>
                      <m:accPr>
                        <m:chr m:val="⃗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= 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d>
                      <m:d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2C99A1-ECEE-D5AF-F42F-12B966C1B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987" y="2132856"/>
                <a:ext cx="6374453" cy="276999"/>
              </a:xfrm>
              <a:prstGeom prst="rect">
                <a:avLst/>
              </a:prstGeom>
              <a:blipFill>
                <a:blip r:embed="rId6"/>
                <a:stretch>
                  <a:fillRect l="-956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C99ADB-2F7C-FBEA-EA0D-26BC0768C020}"/>
                  </a:ext>
                </a:extLst>
              </p:cNvPr>
              <p:cNvSpPr txBox="1"/>
              <p:nvPr/>
            </p:nvSpPr>
            <p:spPr>
              <a:xfrm>
                <a:off x="2195736" y="2720851"/>
                <a:ext cx="2050043" cy="348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en-US" altLang="ko-K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C99ADB-2F7C-FBEA-EA0D-26BC0768C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2720851"/>
                <a:ext cx="2050043" cy="348109"/>
              </a:xfrm>
              <a:prstGeom prst="rect">
                <a:avLst/>
              </a:prstGeom>
              <a:blipFill>
                <a:blip r:embed="rId7"/>
                <a:stretch>
                  <a:fillRect l="-2976" t="-19298" b="-175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5FCF74-E0C1-1C91-D03D-936762036717}"/>
                  </a:ext>
                </a:extLst>
              </p:cNvPr>
              <p:cNvSpPr txBox="1"/>
              <p:nvPr/>
            </p:nvSpPr>
            <p:spPr>
              <a:xfrm>
                <a:off x="2411760" y="3759765"/>
                <a:ext cx="6953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5FCF74-E0C1-1C91-D03D-936762036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759765"/>
                <a:ext cx="695319" cy="276999"/>
              </a:xfrm>
              <a:prstGeom prst="rect">
                <a:avLst/>
              </a:prstGeom>
              <a:blipFill>
                <a:blip r:embed="rId8"/>
                <a:stretch>
                  <a:fillRect l="-12281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B41E48-74F5-C16F-0757-6605AC8C8FA6}"/>
                  </a:ext>
                </a:extLst>
              </p:cNvPr>
              <p:cNvSpPr txBox="1"/>
              <p:nvPr/>
            </p:nvSpPr>
            <p:spPr>
              <a:xfrm>
                <a:off x="2411760" y="3429000"/>
                <a:ext cx="69531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B41E48-74F5-C16F-0757-6605AC8C8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429000"/>
                <a:ext cx="695319" cy="276999"/>
              </a:xfrm>
              <a:prstGeom prst="rect">
                <a:avLst/>
              </a:prstGeom>
              <a:blipFill>
                <a:blip r:embed="rId9"/>
                <a:stretch>
                  <a:fillRect l="-12281" b="-2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CBAF01-9B01-3F9E-52C2-9A2A4D43AB8B}"/>
                  </a:ext>
                </a:extLst>
              </p:cNvPr>
              <p:cNvSpPr txBox="1"/>
              <p:nvPr/>
            </p:nvSpPr>
            <p:spPr>
              <a:xfrm>
                <a:off x="2411760" y="4138541"/>
                <a:ext cx="1631423" cy="305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CBAF01-9B01-3F9E-52C2-9A2A4D43A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4138541"/>
                <a:ext cx="1631423" cy="305405"/>
              </a:xfrm>
              <a:prstGeom prst="rect">
                <a:avLst/>
              </a:prstGeom>
              <a:blipFill>
                <a:blip r:embed="rId10"/>
                <a:stretch>
                  <a:fillRect l="-5243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288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D9F05-CA91-CD00-C9D8-2EDE4145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85D25-33D3-A5A2-37AD-0878981B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17.2.2 </a:t>
            </a:r>
            <a:r>
              <a:rPr lang="ko-KR" altLang="en-US" dirty="0"/>
              <a:t>로컬 트랜스폼 → 월드 트랜스폼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9C6560-8AC9-452B-E59E-267B5C0FD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자신의</a:t>
            </a:r>
            <a:r>
              <a:rPr lang="en-US" altLang="ko-KR" sz="2000" dirty="0"/>
              <a:t> </a:t>
            </a:r>
            <a:r>
              <a:rPr lang="ko-KR" altLang="en-US" sz="2000" dirty="0"/>
              <a:t>로컬 트랜스폼 모델링 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CD09AB-684F-ADA3-6670-DAB631EBC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00137D-33B8-FF92-F3F4-9720229A87CD}"/>
                  </a:ext>
                </a:extLst>
              </p:cNvPr>
              <p:cNvSpPr txBox="1"/>
              <p:nvPr/>
            </p:nvSpPr>
            <p:spPr>
              <a:xfrm>
                <a:off x="899592" y="1196752"/>
                <a:ext cx="5431127" cy="12951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00137D-33B8-FF92-F3F4-9720229A8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196752"/>
                <a:ext cx="5431127" cy="12951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A89801-5AF6-E308-7C96-23E4E523C16D}"/>
                  </a:ext>
                </a:extLst>
              </p:cNvPr>
              <p:cNvSpPr txBox="1"/>
              <p:nvPr/>
            </p:nvSpPr>
            <p:spPr>
              <a:xfrm>
                <a:off x="899591" y="3718013"/>
                <a:ext cx="7128793" cy="12951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  <m:sup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A89801-5AF6-E308-7C96-23E4E523C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1" y="3718013"/>
                <a:ext cx="7128793" cy="12951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37FF72-1BFD-3A08-AB37-0ED921047002}"/>
                  </a:ext>
                </a:extLst>
              </p:cNvPr>
              <p:cNvSpPr txBox="1"/>
              <p:nvPr/>
            </p:nvSpPr>
            <p:spPr>
              <a:xfrm>
                <a:off x="899591" y="3206861"/>
                <a:ext cx="280831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𝑤𝑜𝑟𝑙𝑑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𝑝𝑎𝑟𝑒𝑛𝑡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𝑙𝑜𝑐𝑎𝑙</m:t>
                        </m:r>
                      </m:sub>
                    </m:sSub>
                  </m:oMath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37FF72-1BFD-3A08-AB37-0ED92104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1" y="3206861"/>
                <a:ext cx="2808314" cy="307777"/>
              </a:xfrm>
              <a:prstGeom prst="rect">
                <a:avLst/>
              </a:prstGeom>
              <a:blipFill>
                <a:blip r:embed="rId4"/>
                <a:stretch>
                  <a:fillRect l="-32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73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C1CF2-6A22-7280-8863-807F9D54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D6CA2-8504-11E6-C9DE-090974F1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17.2.2 </a:t>
            </a:r>
            <a:r>
              <a:rPr lang="ko-KR" altLang="en-US" dirty="0"/>
              <a:t>로컬 트랜스폼 → 월드 트랜스폼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2AA24D-D178-D4B9-0A06-AC61A210FE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572F75-3AB6-77F5-2AE7-D1D76A39A5E9}"/>
                  </a:ext>
                </a:extLst>
              </p:cNvPr>
              <p:cNvSpPr txBox="1"/>
              <p:nvPr/>
            </p:nvSpPr>
            <p:spPr>
              <a:xfrm>
                <a:off x="293037" y="992195"/>
                <a:ext cx="8239403" cy="4145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acc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acc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acc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572F75-3AB6-77F5-2AE7-D1D76A39A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37" y="992195"/>
                <a:ext cx="8239403" cy="414537"/>
              </a:xfrm>
              <a:prstGeom prst="rect">
                <a:avLst/>
              </a:prstGeom>
              <a:blipFill>
                <a:blip r:embed="rId2"/>
                <a:stretch>
                  <a:fillRect l="-888" t="-20588" b="-14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E85BD5-1FE7-9B34-F354-97C5E9681E80}"/>
                  </a:ext>
                </a:extLst>
              </p:cNvPr>
              <p:cNvSpPr txBox="1"/>
              <p:nvPr/>
            </p:nvSpPr>
            <p:spPr>
              <a:xfrm>
                <a:off x="1013117" y="1496251"/>
                <a:ext cx="4104456" cy="8917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  <m:sup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nor/>
                            </m:rPr>
                            <a:rPr lang="ko-KR" alt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E85BD5-1FE7-9B34-F354-97C5E9681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17" y="1496251"/>
                <a:ext cx="4104456" cy="891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9D45A7-5A51-EA6E-46C8-008ACD9BAD1A}"/>
                  </a:ext>
                </a:extLst>
              </p:cNvPr>
              <p:cNvSpPr txBox="1"/>
              <p:nvPr/>
            </p:nvSpPr>
            <p:spPr>
              <a:xfrm>
                <a:off x="1013117" y="2438399"/>
                <a:ext cx="4104456" cy="4145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acc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9D45A7-5A51-EA6E-46C8-008ACD9BA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17" y="2438399"/>
                <a:ext cx="4104456" cy="414537"/>
              </a:xfrm>
              <a:prstGeom prst="rect">
                <a:avLst/>
              </a:prstGeom>
              <a:blipFill>
                <a:blip r:embed="rId4"/>
                <a:stretch>
                  <a:fillRect l="-1189" t="-19118" b="-14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730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1A57-64C8-B920-CC3E-5C3C425F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7BC4C-0015-F442-7F9F-5E36A9C9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17.2.3 </a:t>
            </a:r>
            <a:r>
              <a:rPr lang="ko-KR" altLang="en-US" dirty="0"/>
              <a:t>월드 트랜스폼 → 로컬 트랜스폼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2B05849-D1F7-D4A1-5B26-39F3C2C2F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n-US" altLang="ko-KR" sz="24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400" dirty="0"/>
                  <a:t> 역변환</a:t>
                </a:r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크기</a:t>
                </a:r>
                <a:r>
                  <a:rPr lang="en-US" altLang="ko-KR" sz="2400" dirty="0"/>
                  <a:t> </a:t>
                </a:r>
                <a:r>
                  <a:rPr lang="ko-KR" altLang="en-US" sz="2400" dirty="0"/>
                  <a:t>변환 없는 회전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sz="2400" dirty="0"/>
                  <a:t> 역 변환</a:t>
                </a:r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이동 트랜스 폼 역 변환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</m:e>
                      <m:sup>
                        <m:r>
                          <a:rPr lang="en-US" altLang="ko-K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o-KR" altLang="en-US" sz="2400" dirty="0"/>
                  <a:t> 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ko-KR" altLang="en-US" sz="2400" dirty="0"/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2B05849-D1F7-D4A1-5B26-39F3C2C2F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5F3F7-676B-730F-0F56-F1CDFD22E3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EE0C4B-EE29-A1CB-1F6F-A18CB47E08EF}"/>
                  </a:ext>
                </a:extLst>
              </p:cNvPr>
              <p:cNvSpPr txBox="1"/>
              <p:nvPr/>
            </p:nvSpPr>
            <p:spPr>
              <a:xfrm>
                <a:off x="827584" y="1340768"/>
                <a:ext cx="2304256" cy="697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EE0C4B-EE29-A1CB-1F6F-A18CB47E0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340768"/>
                <a:ext cx="2304256" cy="6976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3C1F4F-4F7D-EAF6-BE4A-CDD4AFEFBEBC}"/>
                  </a:ext>
                </a:extLst>
              </p:cNvPr>
              <p:cNvSpPr txBox="1"/>
              <p:nvPr/>
            </p:nvSpPr>
            <p:spPr>
              <a:xfrm>
                <a:off x="827584" y="2852936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3C1F4F-4F7D-EAF6-BE4A-CDD4AFEFB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852936"/>
                <a:ext cx="432048" cy="307777"/>
              </a:xfrm>
              <a:prstGeom prst="rect">
                <a:avLst/>
              </a:prstGeom>
              <a:blipFill>
                <a:blip r:embed="rId4"/>
                <a:stretch>
                  <a:fillRect l="-21127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AABF2E-54B8-3B7A-0FF3-A1730DA97B93}"/>
                  </a:ext>
                </a:extLst>
              </p:cNvPr>
              <p:cNvSpPr txBox="1"/>
              <p:nvPr/>
            </p:nvSpPr>
            <p:spPr>
              <a:xfrm>
                <a:off x="683569" y="4077072"/>
                <a:ext cx="31683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𝑇𝑅𝑆</m:t>
                              </m:r>
                            </m:e>
                          </m:d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AABF2E-54B8-3B7A-0FF3-A1730DA97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9" y="4077072"/>
                <a:ext cx="3168352" cy="276999"/>
              </a:xfrm>
              <a:prstGeom prst="rect">
                <a:avLst/>
              </a:prstGeom>
              <a:blipFill>
                <a:blip r:embed="rId5"/>
                <a:stretch>
                  <a:fillRect l="-2500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C30A63-B848-7A4E-E300-A7EE549C25D8}"/>
                  </a:ext>
                </a:extLst>
              </p:cNvPr>
              <p:cNvSpPr txBox="1"/>
              <p:nvPr/>
            </p:nvSpPr>
            <p:spPr>
              <a:xfrm>
                <a:off x="683569" y="4437112"/>
                <a:ext cx="2520279" cy="20418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C30A63-B848-7A4E-E300-A7EE549C2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9" y="4437112"/>
                <a:ext cx="2520279" cy="20418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73CA3E-9128-4807-8000-11D51C231D14}"/>
                  </a:ext>
                </a:extLst>
              </p:cNvPr>
              <p:cNvSpPr txBox="1"/>
              <p:nvPr/>
            </p:nvSpPr>
            <p:spPr>
              <a:xfrm>
                <a:off x="3203849" y="4847833"/>
                <a:ext cx="2520279" cy="1117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73CA3E-9128-4807-8000-11D51C231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9" y="4847833"/>
                <a:ext cx="2520279" cy="11178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1E90F9-73AF-4EF6-B304-4248F5648EA8}"/>
                  </a:ext>
                </a:extLst>
              </p:cNvPr>
              <p:cNvSpPr txBox="1"/>
              <p:nvPr/>
            </p:nvSpPr>
            <p:spPr>
              <a:xfrm>
                <a:off x="4427984" y="1592600"/>
                <a:ext cx="4104456" cy="8917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  <m:sup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nor/>
                            </m:rPr>
                            <a:rPr lang="ko-KR" alt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1E90F9-73AF-4EF6-B304-4248F5648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1592600"/>
                <a:ext cx="4104456" cy="8917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3CAE19-E15D-8732-C158-5ABC21A03DE8}"/>
                  </a:ext>
                </a:extLst>
              </p:cNvPr>
              <p:cNvSpPr txBox="1"/>
              <p:nvPr/>
            </p:nvSpPr>
            <p:spPr>
              <a:xfrm>
                <a:off x="5796137" y="4875982"/>
                <a:ext cx="2520279" cy="10544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13CAE19-E15D-8732-C158-5ABC21A03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7" y="4875982"/>
                <a:ext cx="2520279" cy="10544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264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B2722-19C1-6BE3-7307-E785B318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E58D5-F268-1771-C0A0-AEEFBE3A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17.2.3 </a:t>
            </a:r>
            <a:r>
              <a:rPr lang="ko-KR" altLang="en-US" dirty="0"/>
              <a:t>월드 트랜스폼 → 로컬 트랜스폼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7FC0C72-DBDF-1428-7231-6500BD846B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이동 트랜스 폼 역 변환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</m:e>
                      <m:sup>
                        <m:r>
                          <a:rPr lang="en-US" altLang="ko-K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o-KR" altLang="en-US" sz="2400" dirty="0"/>
                  <a:t> 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ko-KR" altLang="en-US" sz="2400" dirty="0"/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7FC0C72-DBDF-1428-7231-6500BD846B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19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771A06-22C9-9C4F-2D99-227E457082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7EF3B8-EDE5-D113-BFD0-65DFAACDAFB2}"/>
                  </a:ext>
                </a:extLst>
              </p:cNvPr>
              <p:cNvSpPr txBox="1"/>
              <p:nvPr/>
            </p:nvSpPr>
            <p:spPr>
              <a:xfrm>
                <a:off x="683569" y="1340768"/>
                <a:ext cx="316835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7EF3B8-EDE5-D113-BFD0-65DFAACDA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9" y="1340768"/>
                <a:ext cx="3168352" cy="276999"/>
              </a:xfrm>
              <a:prstGeom prst="rect">
                <a:avLst/>
              </a:prstGeom>
              <a:blipFill>
                <a:blip r:embed="rId3"/>
                <a:stretch>
                  <a:fillRect l="-2500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219457-9EA3-9F5D-AF66-4E904B46729B}"/>
                  </a:ext>
                </a:extLst>
              </p:cNvPr>
              <p:cNvSpPr txBox="1"/>
              <p:nvPr/>
            </p:nvSpPr>
            <p:spPr>
              <a:xfrm>
                <a:off x="2483768" y="1124744"/>
                <a:ext cx="2520279" cy="2196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ac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ac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acc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219457-9EA3-9F5D-AF66-4E904B467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1124744"/>
                <a:ext cx="2520279" cy="21966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6CF01A-337E-5E50-F06D-DCF99080486A}"/>
                  </a:ext>
                </a:extLst>
              </p:cNvPr>
              <p:cNvSpPr txBox="1"/>
              <p:nvPr/>
            </p:nvSpPr>
            <p:spPr>
              <a:xfrm>
                <a:off x="504395" y="3499287"/>
                <a:ext cx="3600400" cy="6497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acc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6CF01A-337E-5E50-F06D-DCF990804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95" y="3499287"/>
                <a:ext cx="3600400" cy="6497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57AC53-43E9-A2D0-C1CB-019E1FDA1883}"/>
                  </a:ext>
                </a:extLst>
              </p:cNvPr>
              <p:cNvSpPr txBox="1"/>
              <p:nvPr/>
            </p:nvSpPr>
            <p:spPr>
              <a:xfrm>
                <a:off x="899593" y="5589240"/>
                <a:ext cx="4104456" cy="3146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18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57AC53-43E9-A2D0-C1CB-019E1FDA1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3" y="5589240"/>
                <a:ext cx="4104456" cy="314638"/>
              </a:xfrm>
              <a:prstGeom prst="rect">
                <a:avLst/>
              </a:prstGeom>
              <a:blipFill>
                <a:blip r:embed="rId6"/>
                <a:stretch>
                  <a:fillRect l="-1337" t="-43137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34D9B5-1192-D71D-4795-63C2D458AE12}"/>
                  </a:ext>
                </a:extLst>
              </p:cNvPr>
              <p:cNvSpPr txBox="1"/>
              <p:nvPr/>
            </p:nvSpPr>
            <p:spPr>
              <a:xfrm>
                <a:off x="899593" y="4265593"/>
                <a:ext cx="3600400" cy="3146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acc>
                            <m:accPr>
                              <m:chr m:val="̂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834D9B5-1192-D71D-4795-63C2D458A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3" y="4265593"/>
                <a:ext cx="3600400" cy="314638"/>
              </a:xfrm>
              <a:prstGeom prst="rect">
                <a:avLst/>
              </a:prstGeom>
              <a:blipFill>
                <a:blip r:embed="rId7"/>
                <a:stretch>
                  <a:fillRect l="-1525" t="-43137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1327CB-DFB2-C1C3-C419-364C102FABF6}"/>
                  </a:ext>
                </a:extLst>
              </p:cNvPr>
              <p:cNvSpPr txBox="1"/>
              <p:nvPr/>
            </p:nvSpPr>
            <p:spPr>
              <a:xfrm>
                <a:off x="899593" y="4696744"/>
                <a:ext cx="4104456" cy="7759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sz="1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nor/>
                            </m:rPr>
                            <a:rPr lang="ko-KR" altLang="en-US" sz="1800" b="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1327CB-DFB2-C1C3-C419-364C102FA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3" y="4696744"/>
                <a:ext cx="4104456" cy="7759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7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B2AF-63E4-90CE-FA37-BCA2BC0E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76FBC3-D81D-2D7E-7BCC-562243D7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17.2.3 </a:t>
            </a:r>
            <a:r>
              <a:rPr lang="ko-KR" altLang="en-US" dirty="0"/>
              <a:t>월드 트랜스폼 → 로컬 트랜스폼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91DCBB-0A8C-ED08-19A4-8EB9DE5D1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로컬 트랜스폼 </a:t>
            </a:r>
            <a:r>
              <a:rPr lang="en-US" altLang="ko-KR" sz="2400" dirty="0"/>
              <a:t>= </a:t>
            </a:r>
            <a:r>
              <a:rPr lang="ko-KR" altLang="en-US" sz="2400" dirty="0"/>
              <a:t>부모 월드 트랜스폼 </a:t>
            </a:r>
            <a:r>
              <a:rPr lang="en-US" altLang="ko-KR" sz="2400" dirty="0"/>
              <a:t>·</a:t>
            </a:r>
            <a:r>
              <a:rPr lang="ko-KR" altLang="en-US" sz="2400" dirty="0"/>
              <a:t>자신 월드 트랜스폼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6D0ACB-3CBD-4992-0DC9-AA3739A77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9307CD-6207-DE66-4398-0414AE972969}"/>
                  </a:ext>
                </a:extLst>
              </p:cNvPr>
              <p:cNvSpPr txBox="1"/>
              <p:nvPr/>
            </p:nvSpPr>
            <p:spPr>
              <a:xfrm>
                <a:off x="683568" y="1268760"/>
                <a:ext cx="280831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𝑤𝑜𝑟𝑙𝑑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𝑝𝑎𝑟𝑒𝑛𝑡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𝑙𝑜𝑐𝑎𝑙</m:t>
                        </m:r>
                      </m:sub>
                    </m:sSub>
                  </m:oMath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9307CD-6207-DE66-4398-0414AE972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268760"/>
                <a:ext cx="2808314" cy="307777"/>
              </a:xfrm>
              <a:prstGeom prst="rect">
                <a:avLst/>
              </a:prstGeom>
              <a:blipFill>
                <a:blip r:embed="rId2"/>
                <a:stretch>
                  <a:fillRect l="-2820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BA7545-34ED-CC97-5496-2C6177355558}"/>
                  </a:ext>
                </a:extLst>
              </p:cNvPr>
              <p:cNvSpPr txBox="1"/>
              <p:nvPr/>
            </p:nvSpPr>
            <p:spPr>
              <a:xfrm>
                <a:off x="683568" y="2492896"/>
                <a:ext cx="2808314" cy="308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𝑝𝑎𝑟𝑒𝑛𝑡</m:t>
                          </m:r>
                        </m:sub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⋅ </m:t>
                      </m:r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BA7545-34ED-CC97-5496-2C6177355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492896"/>
                <a:ext cx="2808314" cy="308674"/>
              </a:xfrm>
              <a:prstGeom prst="rect">
                <a:avLst/>
              </a:prstGeom>
              <a:blipFill>
                <a:blip r:embed="rId3"/>
                <a:stretch>
                  <a:fillRect l="-2820" b="-21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BA34D9-0620-F6B5-4DCE-F7B9348D5F34}"/>
                  </a:ext>
                </a:extLst>
              </p:cNvPr>
              <p:cNvSpPr txBox="1"/>
              <p:nvPr/>
            </p:nvSpPr>
            <p:spPr>
              <a:xfrm>
                <a:off x="835968" y="1625537"/>
                <a:ext cx="4672136" cy="308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𝑝𝑎𝑟𝑒𝑛𝑡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⋅ 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𝑝𝑎𝑟𝑒𝑛𝑡</m:t>
                          </m:r>
                        </m:sub>
                        <m:sup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⋅ </m:t>
                      </m:r>
                      <m:sSub>
                        <m:sSub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𝑝𝑎𝑟𝑒𝑛𝑡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BA34D9-0620-F6B5-4DCE-F7B9348D5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68" y="1625537"/>
                <a:ext cx="4672136" cy="308674"/>
              </a:xfrm>
              <a:prstGeom prst="rect">
                <a:avLst/>
              </a:prstGeom>
              <a:blipFill>
                <a:blip r:embed="rId4"/>
                <a:stretch>
                  <a:fillRect l="-1695" b="-2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6AB953-D115-A77C-4E39-B60CCC847C99}"/>
                  </a:ext>
                </a:extLst>
              </p:cNvPr>
              <p:cNvSpPr txBox="1"/>
              <p:nvPr/>
            </p:nvSpPr>
            <p:spPr>
              <a:xfrm>
                <a:off x="835968" y="1983211"/>
                <a:ext cx="4672136" cy="308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𝑝𝑎𝑟𝑒𝑛𝑡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⋅ 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𝑤𝑜𝑟𝑙𝑑</m:t>
                          </m:r>
                        </m:sub>
                      </m:sSub>
                      <m:r>
                        <a:rPr lang="en-US" altLang="ko-K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6AB953-D115-A77C-4E39-B60CCC847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68" y="1983211"/>
                <a:ext cx="4672136" cy="308674"/>
              </a:xfrm>
              <a:prstGeom prst="rect">
                <a:avLst/>
              </a:prstGeom>
              <a:blipFill>
                <a:blip r:embed="rId5"/>
                <a:stretch>
                  <a:fillRect l="-1695" b="-21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C0BC07-B357-3B58-13B8-26C2F8F51267}"/>
                  </a:ext>
                </a:extLst>
              </p:cNvPr>
              <p:cNvSpPr txBox="1"/>
              <p:nvPr/>
            </p:nvSpPr>
            <p:spPr>
              <a:xfrm>
                <a:off x="862276" y="2910695"/>
                <a:ext cx="2053540" cy="627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f>
                            <m:f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C0BC07-B357-3B58-13B8-26C2F8F51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76" y="2910695"/>
                <a:ext cx="2053540" cy="6279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9B88B0-E469-9C8A-EEC4-B0A210F33D69}"/>
                  </a:ext>
                </a:extLst>
              </p:cNvPr>
              <p:cNvSpPr txBox="1"/>
              <p:nvPr/>
            </p:nvSpPr>
            <p:spPr>
              <a:xfrm>
                <a:off x="2987826" y="3087613"/>
                <a:ext cx="28803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9B88B0-E469-9C8A-EEC4-B0A210F33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6" y="3087613"/>
                <a:ext cx="288030" cy="276999"/>
              </a:xfrm>
              <a:prstGeom prst="rect">
                <a:avLst/>
              </a:prstGeom>
              <a:blipFill>
                <a:blip r:embed="rId7"/>
                <a:stretch>
                  <a:fillRect l="-29787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01B285-7B60-9E22-6269-086D93198493}"/>
                  </a:ext>
                </a:extLst>
              </p:cNvPr>
              <p:cNvSpPr txBox="1"/>
              <p:nvPr/>
            </p:nvSpPr>
            <p:spPr>
              <a:xfrm>
                <a:off x="3347864" y="3136612"/>
                <a:ext cx="360040" cy="2923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01B285-7B60-9E22-6269-086D93198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3136612"/>
                <a:ext cx="360040" cy="292388"/>
              </a:xfrm>
              <a:prstGeom prst="rect">
                <a:avLst/>
              </a:prstGeom>
              <a:blipFill>
                <a:blip r:embed="rId8"/>
                <a:stretch>
                  <a:fillRect l="-28814" t="-45833" r="-35593"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52CF2B-37F3-DC3C-4CAE-3BB91EB47D1F}"/>
                  </a:ext>
                </a:extLst>
              </p:cNvPr>
              <p:cNvSpPr txBox="1"/>
              <p:nvPr/>
            </p:nvSpPr>
            <p:spPr>
              <a:xfrm>
                <a:off x="718260" y="3799561"/>
                <a:ext cx="4672136" cy="6976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>
                            <m:f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>
                            <m:f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52CF2B-37F3-DC3C-4CAE-3BB91EB47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60" y="3799561"/>
                <a:ext cx="4672136" cy="6976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1D931F-163A-C007-2C7D-057AECF571A1}"/>
                  </a:ext>
                </a:extLst>
              </p:cNvPr>
              <p:cNvSpPr txBox="1"/>
              <p:nvPr/>
            </p:nvSpPr>
            <p:spPr>
              <a:xfrm>
                <a:off x="718260" y="4642591"/>
                <a:ext cx="467213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1D931F-163A-C007-2C7D-057AECF57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60" y="4642591"/>
                <a:ext cx="4672136" cy="307777"/>
              </a:xfrm>
              <a:prstGeom prst="rect">
                <a:avLst/>
              </a:prstGeom>
              <a:blipFill>
                <a:blip r:embed="rId10"/>
                <a:stretch>
                  <a:fillRect l="-1958" b="-2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9507EE-7011-8D88-9E47-F582613669A7}"/>
                  </a:ext>
                </a:extLst>
              </p:cNvPr>
              <p:cNvSpPr txBox="1"/>
              <p:nvPr/>
            </p:nvSpPr>
            <p:spPr>
              <a:xfrm>
                <a:off x="718260" y="5095705"/>
                <a:ext cx="4672136" cy="3495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9507EE-7011-8D88-9E47-F58261366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60" y="5095705"/>
                <a:ext cx="4672136" cy="349519"/>
              </a:xfrm>
              <a:prstGeom prst="rect">
                <a:avLst/>
              </a:prstGeom>
              <a:blipFill>
                <a:blip r:embed="rId11"/>
                <a:stretch>
                  <a:fillRect l="-2350" t="-35088" b="-1929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1585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1324B-86AE-085D-89B6-B434C3FF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D8F5E-B231-ADE2-C3AA-7A1038634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17.2.3 </a:t>
            </a:r>
            <a:r>
              <a:rPr lang="ko-KR" altLang="en-US" dirty="0"/>
              <a:t>월드 트랜스폼 → 로컬 트랜스폼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477EC-E183-0DB4-E100-6ED06151A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로컬 트랜스폼 </a:t>
            </a:r>
            <a:r>
              <a:rPr lang="en-US" altLang="ko-KR" sz="2400" dirty="0"/>
              <a:t>= </a:t>
            </a:r>
            <a:r>
              <a:rPr lang="ko-KR" altLang="en-US" sz="2400" dirty="0"/>
              <a:t>부모 월드 트랜스폼 </a:t>
            </a:r>
            <a:r>
              <a:rPr lang="en-US" altLang="ko-KR" sz="2400" dirty="0"/>
              <a:t>·</a:t>
            </a:r>
            <a:r>
              <a:rPr lang="ko-KR" altLang="en-US" sz="2400" dirty="0"/>
              <a:t>자신 월드 트랜스폼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BDFCB-D129-3873-DB18-F1A55DD89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DFDE93-30E5-9161-E2A9-697750DB6C55}"/>
              </a:ext>
            </a:extLst>
          </p:cNvPr>
          <p:cNvSpPr txBox="1"/>
          <p:nvPr/>
        </p:nvSpPr>
        <p:spPr>
          <a:xfrm>
            <a:off x="539749" y="1260043"/>
            <a:ext cx="8208963" cy="532453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WorldToLocal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20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ParentWorldTm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{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20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 트랜스폼 정보가 월드인 경우</a:t>
            </a:r>
            <a:endParaRPr lang="ko-KR" altLang="en-US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invPrn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ParentWorldTm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Inverse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endParaRPr lang="en-US" altLang="ko-KR" sz="20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SetScale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invPrn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GetScale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20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GetScale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SetRotation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invPrn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GetRotation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20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GetRotation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ret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SetPosition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invPrn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GetPosition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 </a:t>
            </a:r>
            <a:r>
              <a:rPr lang="en-US" altLang="ko-KR" sz="20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invPrn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GetScale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       </a:t>
            </a:r>
            <a:r>
              <a:rPr lang="en-US" altLang="ko-KR" sz="20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2000" b="1" dirty="0" err="1">
                <a:solidFill>
                  <a:srgbClr val="0000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invPrn</a:t>
            </a:r>
            <a:r>
              <a:rPr lang="en-US" altLang="ko-KR" sz="20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GetRotation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         </a:t>
            </a:r>
            <a:r>
              <a:rPr lang="en-US" altLang="ko-KR" sz="20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GetPosition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)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20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52350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037C3-15B7-6A7E-D232-0100E4F82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60FCD-2BB0-D02A-FF25-5FD69E95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17-2 </a:t>
            </a:r>
            <a:r>
              <a:rPr lang="ko-KR" altLang="en-US" dirty="0"/>
              <a:t>계층 구조를 활용한 태양계 시스템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92001F-E14A-E19C-E526-97949661A0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A5767C-A72F-514B-8471-FCFC9AA1F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31140"/>
            <a:ext cx="3168352" cy="1508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ED6081-9843-BE5E-C684-322F2D0E6CAF}"/>
              </a:ext>
            </a:extLst>
          </p:cNvPr>
          <p:cNvSpPr txBox="1"/>
          <p:nvPr/>
        </p:nvSpPr>
        <p:spPr>
          <a:xfrm>
            <a:off x="251520" y="2311879"/>
            <a:ext cx="8496746" cy="10772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각 행성에 회전 부여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goSun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AddLocalYawRotation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rotateSpeedSun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goEarth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AddLocalYawRotation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rotateSpeedEarth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goMoon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AddLocalYawRotation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rotateSpeedMoon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BF848-1EAB-0787-650B-63FB334473C9}"/>
              </a:ext>
            </a:extLst>
          </p:cNvPr>
          <p:cNvSpPr txBox="1"/>
          <p:nvPr/>
        </p:nvSpPr>
        <p:spPr>
          <a:xfrm>
            <a:off x="251520" y="3406348"/>
            <a:ext cx="8496746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TransformComponent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UpdateWorld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자신의 월드 정보 업데이트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HasParent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TransformComponent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*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GetParentPtr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WorldTransform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LocalTransform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LocalToWorld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parent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GetWorldTransform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WorldTransform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월드 정보 변경 시 자식의 월드 정보도 업데이트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로컬 정보는 변함 없음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 )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UpdateChildrenWorld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4280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1A72-BA87-6977-3033-7E66CFF4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30DB5-40F7-33CE-BE3F-C6690FF0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 </a:t>
            </a:r>
            <a:r>
              <a:rPr lang="ko-KR" altLang="en-US" dirty="0"/>
              <a:t>캐릭터 메시와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0CC5D-5F48-D051-9A17-70C035D26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캐릭터 본의 계층 구조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6A8009-331F-4AB6-512C-72190595AC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0525A1-33E9-0998-82AF-FEA137FA4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016" y="1268760"/>
            <a:ext cx="6543967" cy="458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38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5FE7F-1143-AD3D-69FC-0F33D8D3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BA5EA-DC70-733A-3B79-75BE8DC1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 </a:t>
            </a:r>
            <a:r>
              <a:rPr lang="ko-KR" altLang="en-US" dirty="0"/>
              <a:t>캐릭터 메시와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9EA19-04FC-2E41-265E-1464F2910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캐릭터 </a:t>
            </a:r>
            <a:r>
              <a:rPr lang="ko-KR" altLang="en-US"/>
              <a:t>본 클래스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5E0BE3-318C-964A-916F-43C227FB39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D5A3E-191F-BA4A-48E3-B361675FBCFB}"/>
              </a:ext>
            </a:extLst>
          </p:cNvPr>
          <p:cNvSpPr txBox="1"/>
          <p:nvPr/>
        </p:nvSpPr>
        <p:spPr>
          <a:xfrm>
            <a:off x="611560" y="1261646"/>
            <a:ext cx="7560840" cy="526297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 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트랜스폼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TransformComponent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{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GetBindPose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{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ParentName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InBone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InBone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키 관련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HasParent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{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compare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ParentName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!=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GetParentName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{ </a:t>
            </a: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ParentName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}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 트랜스폼 정보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TransformComponent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최초 트랜스폼 정보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부모 정보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ParentName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34419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F732-EE32-947E-8C06-073DFDCB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9E1AF-78EB-1C97-B42C-4CC5A2D3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 </a:t>
            </a:r>
            <a:r>
              <a:rPr lang="ko-KR" altLang="en-US" dirty="0"/>
              <a:t>캐릭터 메시와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97A236-0382-9F84-FF2C-DB7861126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본 계층 구조 생성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8A015E-F013-1221-654F-867C41F0F9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FAD21-0E5D-E9E9-A0B7-50CDDE746AA6}"/>
              </a:ext>
            </a:extLst>
          </p:cNvPr>
          <p:cNvSpPr txBox="1"/>
          <p:nvPr/>
        </p:nvSpPr>
        <p:spPr>
          <a:xfrm>
            <a:off x="539750" y="1340768"/>
            <a:ext cx="7560642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본의 계층 구조 생성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pelvis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PelvisBone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pelvis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root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SpineBone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spine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pelvis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leftArm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LeftArmBone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leftArm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rightArm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RightArmBone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rightArm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leftLeg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LeftLegBone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leftLeg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pelvis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rightLeg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RightLegBone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rightLeg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pelvis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neck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characterMesh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NeckBone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neck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SetParent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20177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2F24-DE9A-86BC-3A34-A2192682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55F14-32CE-8015-2C7E-6208F7C9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17.3 </a:t>
            </a:r>
            <a:r>
              <a:rPr lang="ko-KR" altLang="en-US" dirty="0"/>
              <a:t>캐릭터 메시와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AAFE96-2438-68B8-DD99-9BF96FD90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리깅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F315D9-6182-38FD-AB2B-8E82EE6B3A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73C22-BF34-09C0-4040-204D82719EBE}"/>
              </a:ext>
            </a:extLst>
          </p:cNvPr>
          <p:cNvSpPr txBox="1"/>
          <p:nvPr/>
        </p:nvSpPr>
        <p:spPr>
          <a:xfrm>
            <a:off x="539750" y="1268760"/>
            <a:ext cx="7992690" cy="427809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6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메시에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ko-KR" altLang="en-US" sz="16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리깅</a:t>
            </a:r>
            <a:r>
              <a:rPr lang="ko-KR" altLang="en-US" sz="16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endParaRPr lang="ko-KR" altLang="en-US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static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boneOrder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NeckBone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SpineBone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LeftArmBone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RightArmBone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LeftLegBone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RightLegBone</a:t>
            </a:r>
            <a:endParaRPr lang="en-US" altLang="ko-KR" sz="16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cb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cb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begin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cb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size_t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++) {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{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boneOrder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part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};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Values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{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};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startIt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6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begin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24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6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6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fill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startIt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startIt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6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24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07892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5157-411D-C4BE-B442-29D0DE30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334AF-87FC-414D-834E-C9456442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en-US" altLang="ko-KR" dirty="0"/>
              <a:t>17-3 </a:t>
            </a:r>
            <a:r>
              <a:rPr lang="ko-KR" altLang="en-US" dirty="0"/>
              <a:t>캐릭터 애니메이션 구현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5ED656-FCB2-655E-4992-8DA0DEE94D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821238" y="6597650"/>
            <a:ext cx="3927475" cy="260350"/>
          </a:xfrm>
        </p:spPr>
        <p:txBody>
          <a:bodyPr/>
          <a:lstStyle/>
          <a:p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24392C-B5B0-A0B4-A6BC-DB0E970E6376}"/>
              </a:ext>
            </a:extLst>
          </p:cNvPr>
          <p:cNvSpPr txBox="1"/>
          <p:nvPr/>
        </p:nvSpPr>
        <p:spPr>
          <a:xfrm>
            <a:off x="539750" y="692696"/>
            <a:ext cx="7920682" cy="547842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애니메이션 로직을 담당하는 함수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SoftRenderer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LateUpdate3D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GameObject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goPlayer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GetGameObject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PlayerGo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캐릭터 메시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Mesh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GetMesh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goPlayer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GetMeshKey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목의 회전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neckBone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NeckBone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neckBone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SetLocalRotation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neckCurve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팔의 회전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leftArmBone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LeftArmBone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leftArmBone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SetLocalRotation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armLegCurve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rightArmBone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RightArmBone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rightArmBone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SetLocalRotation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-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armLegCurve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다리의 회전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leftLegBone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LeftLegBone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leftLegBone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SetLocalRotation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-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armLegCurve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rightLegBone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RightLegBone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rightLegBone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4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SetLocalRotation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armLegCurve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8264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2DBED-83FA-10C9-BB8C-EF199FDF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1C49E-6D9C-9A68-CB9A-00B0BC71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en-US" altLang="ko-KR" dirty="0"/>
              <a:t>17-3 </a:t>
            </a:r>
            <a:r>
              <a:rPr lang="ko-KR" altLang="en-US" dirty="0"/>
              <a:t>캐릭터 애니메이션 구현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207430-7021-B59D-5B70-B92B93048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821238" y="6597650"/>
            <a:ext cx="3927475" cy="260350"/>
          </a:xfrm>
        </p:spPr>
        <p:txBody>
          <a:bodyPr/>
          <a:lstStyle/>
          <a:p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50465-D501-94E2-CB63-B26B852321F5}"/>
              </a:ext>
            </a:extLst>
          </p:cNvPr>
          <p:cNvSpPr txBox="1"/>
          <p:nvPr/>
        </p:nvSpPr>
        <p:spPr>
          <a:xfrm>
            <a:off x="509702" y="620688"/>
            <a:ext cx="7950730" cy="61863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SoftRenderer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DrawMesh3D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Vertex3D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vertices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vertexCount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size_t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indice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GetIndices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size_t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vertexCount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  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vertices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GetVertices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위치에 대해 </a:t>
            </a:r>
            <a:r>
              <a:rPr lang="ko-KR" altLang="en-US" sz="12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스키닝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연산 수행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IsSkinnedMesh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Zero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GetWeights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size_t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&lt;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GetConnectedBones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 ++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boneName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Bones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HasBone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boneName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InMesh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GetBone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boneName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GetWorldTransform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모델링 공간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GetBindPose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모델링 공간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en-US" altLang="ko-KR" sz="12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공간을 중심으로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 로컬 공간을 계산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boneLocal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WorldToLocal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en-US" altLang="ko-KR" sz="12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공간으로 점을 변화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WorldToLocalVector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vertices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 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en-US" altLang="ko-KR" sz="1200" b="1" dirty="0" err="1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공간에서의 점의 최종 위치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skinnedLocalPosition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boneLocal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모델링 공간으로 다시 변경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skinnedWorldPosition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bindPose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skinnedLocalPosition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가중치를 반영한 후 최종 위치에 누적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 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+=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skinnedWorldPosition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sz="1200" b="1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Values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  }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} 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 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vertices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 err="1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   }</a:t>
            </a:r>
          </a:p>
        </p:txBody>
      </p:sp>
    </p:spTree>
    <p:extLst>
      <p:ext uri="{BB962C8B-B14F-4D97-AF65-F5344CB8AC3E}">
        <p14:creationId xmlns:p14="http://schemas.microsoft.com/office/powerpoint/2010/main" val="367365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F8BF-7B70-8655-0FA1-D58CD8E5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6EBB4-D058-11C1-8C1D-C8784F70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17.4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F1CA6F-FED9-8123-41EF-9101FC43A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캐릭터 애니메이션</a:t>
            </a:r>
          </a:p>
          <a:p>
            <a:pPr lvl="1"/>
            <a:r>
              <a:rPr lang="ko-KR" altLang="en-US" sz="1600" dirty="0"/>
              <a:t>캐릭터 애니메이션은 </a:t>
            </a:r>
            <a:r>
              <a:rPr lang="en-US" altLang="ko-KR" sz="1600" dirty="0"/>
              <a:t>Bone Transform</a:t>
            </a:r>
            <a:r>
              <a:rPr lang="ko-KR" altLang="en-US" sz="1600" dirty="0"/>
              <a:t>을 이용하여 </a:t>
            </a:r>
            <a:r>
              <a:rPr lang="en-US" altLang="ko-KR" sz="1600" dirty="0"/>
              <a:t>Mesh </a:t>
            </a:r>
            <a:r>
              <a:rPr lang="ko-KR" altLang="en-US" sz="1600" dirty="0"/>
              <a:t>정점을 변형하는 기술</a:t>
            </a:r>
          </a:p>
          <a:p>
            <a:r>
              <a:rPr lang="en-US" altLang="ko-KR" sz="2000" dirty="0"/>
              <a:t>Bone</a:t>
            </a:r>
          </a:p>
          <a:p>
            <a:pPr lvl="1"/>
            <a:r>
              <a:rPr lang="ko-KR" altLang="en-US" sz="1600" dirty="0"/>
              <a:t>캐릭터 움직임의 기준 트랜스폼</a:t>
            </a:r>
          </a:p>
          <a:p>
            <a:r>
              <a:rPr lang="en-US" altLang="ko-KR" sz="2000" dirty="0"/>
              <a:t>Bind Pose</a:t>
            </a:r>
          </a:p>
          <a:p>
            <a:pPr lvl="1"/>
            <a:r>
              <a:rPr lang="ko-KR" altLang="en-US" sz="1600" dirty="0"/>
              <a:t>캐릭터의 초기 자세</a:t>
            </a:r>
          </a:p>
          <a:p>
            <a:pPr lvl="1"/>
            <a:r>
              <a:rPr lang="ko-KR" altLang="en-US" sz="1600" dirty="0" err="1"/>
              <a:t>스키닝</a:t>
            </a:r>
            <a:r>
              <a:rPr lang="ko-KR" altLang="en-US" sz="1600" dirty="0"/>
              <a:t> 계산의 기준 상태</a:t>
            </a:r>
          </a:p>
          <a:p>
            <a:r>
              <a:rPr lang="en-US" altLang="ko-KR" sz="2000" dirty="0"/>
              <a:t>Weight</a:t>
            </a:r>
          </a:p>
          <a:p>
            <a:pPr lvl="1"/>
            <a:r>
              <a:rPr lang="ko-KR" altLang="en-US" sz="1600" dirty="0"/>
              <a:t>정점이 각 </a:t>
            </a:r>
            <a:r>
              <a:rPr lang="en-US" altLang="ko-KR" sz="1600" dirty="0"/>
              <a:t>Bone</a:t>
            </a:r>
            <a:r>
              <a:rPr lang="ko-KR" altLang="en-US" sz="1600" dirty="0"/>
              <a:t>의 영향을 받는 비율</a:t>
            </a:r>
          </a:p>
          <a:p>
            <a:r>
              <a:rPr lang="en-US" altLang="ko-KR" sz="2000" dirty="0"/>
              <a:t>Keyframe</a:t>
            </a:r>
          </a:p>
          <a:p>
            <a:pPr lvl="1"/>
            <a:r>
              <a:rPr lang="ko-KR" altLang="en-US" sz="1600" dirty="0"/>
              <a:t>특정 시간의 </a:t>
            </a:r>
            <a:r>
              <a:rPr lang="en-US" altLang="ko-KR" sz="1600" dirty="0"/>
              <a:t>Bone Transform </a:t>
            </a:r>
            <a:r>
              <a:rPr lang="ko-KR" altLang="en-US" sz="1600" dirty="0"/>
              <a:t>상태</a:t>
            </a:r>
          </a:p>
          <a:p>
            <a:r>
              <a:rPr lang="ko-KR" altLang="en-US" sz="2000" dirty="0"/>
              <a:t>트랜스폼 계층 구조</a:t>
            </a:r>
          </a:p>
          <a:p>
            <a:pPr lvl="1"/>
            <a:r>
              <a:rPr lang="en-US" altLang="ko-KR" sz="1600" dirty="0"/>
              <a:t>Bone</a:t>
            </a:r>
            <a:r>
              <a:rPr lang="ko-KR" altLang="en-US" sz="1600" dirty="0"/>
              <a:t>은 부모</a:t>
            </a:r>
            <a:r>
              <a:rPr lang="en-US" altLang="ko-KR" sz="1600" dirty="0"/>
              <a:t>-</a:t>
            </a:r>
            <a:r>
              <a:rPr lang="ko-KR" altLang="en-US" sz="1600" dirty="0"/>
              <a:t>자식 관계의 트리 구조로 구성</a:t>
            </a:r>
          </a:p>
          <a:p>
            <a:pPr lvl="1"/>
            <a:r>
              <a:rPr lang="ko-KR" altLang="en-US" sz="1600" dirty="0"/>
              <a:t>부모 </a:t>
            </a:r>
            <a:r>
              <a:rPr lang="en-US" altLang="ko-KR" sz="1600" dirty="0"/>
              <a:t>Bone</a:t>
            </a:r>
            <a:r>
              <a:rPr lang="ko-KR" altLang="en-US" sz="1600" dirty="0"/>
              <a:t>의 </a:t>
            </a:r>
            <a:r>
              <a:rPr lang="en-US" altLang="ko-KR" sz="1600" dirty="0"/>
              <a:t>Transform</a:t>
            </a:r>
            <a:r>
              <a:rPr lang="ko-KR" altLang="en-US" sz="1600" dirty="0"/>
              <a:t>은 자식 </a:t>
            </a:r>
            <a:r>
              <a:rPr lang="en-US" altLang="ko-KR" sz="1600" dirty="0"/>
              <a:t>Bone</a:t>
            </a:r>
            <a:r>
              <a:rPr lang="ko-KR" altLang="en-US" sz="1600" dirty="0"/>
              <a:t>의 </a:t>
            </a:r>
            <a:r>
              <a:rPr lang="en-US" altLang="ko-KR" sz="1600" dirty="0"/>
              <a:t>World Transform</a:t>
            </a:r>
            <a:r>
              <a:rPr lang="ko-KR" altLang="en-US" sz="1600" dirty="0"/>
              <a:t>에 반영</a:t>
            </a:r>
          </a:p>
          <a:p>
            <a:r>
              <a:rPr lang="ko-KR" altLang="en-US" sz="2000" dirty="0" err="1"/>
              <a:t>스키닝</a:t>
            </a:r>
            <a:endParaRPr lang="ko-KR" altLang="en-US" sz="2000" dirty="0"/>
          </a:p>
          <a:p>
            <a:pPr lvl="1"/>
            <a:r>
              <a:rPr lang="ko-KR" altLang="en-US" sz="1600" dirty="0"/>
              <a:t>각 정점은 연결된 </a:t>
            </a:r>
            <a:r>
              <a:rPr lang="en-US" altLang="ko-KR" sz="1600" dirty="0"/>
              <a:t>Bone</a:t>
            </a:r>
            <a:r>
              <a:rPr lang="ko-KR" altLang="en-US" sz="1600" dirty="0"/>
              <a:t>의 </a:t>
            </a:r>
            <a:r>
              <a:rPr lang="en-US" altLang="ko-KR" sz="1600" dirty="0"/>
              <a:t>Transform</a:t>
            </a:r>
            <a:r>
              <a:rPr lang="ko-KR" altLang="en-US" sz="1600" dirty="0"/>
              <a:t>에 의해 변형</a:t>
            </a:r>
          </a:p>
          <a:p>
            <a:pPr lvl="1"/>
            <a:r>
              <a:rPr lang="ko-KR" altLang="en-US" sz="1600" dirty="0"/>
              <a:t>여러 </a:t>
            </a:r>
            <a:r>
              <a:rPr lang="en-US" altLang="ko-KR" sz="1600" dirty="0"/>
              <a:t>Bone</a:t>
            </a:r>
            <a:r>
              <a:rPr lang="ko-KR" altLang="en-US" sz="1600" dirty="0"/>
              <a:t>이 연결된 경우 </a:t>
            </a:r>
            <a:r>
              <a:rPr lang="en-US" altLang="ko-KR" sz="1600" dirty="0"/>
              <a:t>Weight</a:t>
            </a:r>
            <a:r>
              <a:rPr lang="ko-KR" altLang="en-US" sz="1600" dirty="0"/>
              <a:t>를 이용해 변형 결과를 합산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A185C8-C159-1B3D-A88F-B85B2BD7A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930903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400" b="1" dirty="0">
            <a:solidFill>
              <a:srgbClr val="6F008A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11024</TotalTime>
  <Words>2344</Words>
  <Application>Microsoft Office PowerPoint</Application>
  <PresentationFormat>화면 슬라이드 쇼(4:3)</PresentationFormat>
  <Paragraphs>412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Cambria Math</vt:lpstr>
      <vt:lpstr>굴림</vt:lpstr>
      <vt:lpstr>HY견고딕</vt:lpstr>
      <vt:lpstr>가을체</vt:lpstr>
      <vt:lpstr>Wingdings</vt:lpstr>
      <vt:lpstr>Arial</vt:lpstr>
      <vt:lpstr>D2Coding</vt:lpstr>
      <vt:lpstr>나눔바른고딕</vt:lpstr>
      <vt:lpstr>기본 디자인</vt:lpstr>
      <vt:lpstr>17. 캐릭터</vt:lpstr>
      <vt:lpstr>17.1 스켈레탈 애니메이션</vt:lpstr>
      <vt:lpstr>17.1 스켈레탈 애니메이션</vt:lpstr>
      <vt:lpstr>17.1 스켈레탈 애니메이션</vt:lpstr>
      <vt:lpstr>17.1 스켈레탈 애니메이션</vt:lpstr>
      <vt:lpstr>17.1 스켈레탈 애니메이션</vt:lpstr>
      <vt:lpstr>17.1 스켈레탈 애니메이션</vt:lpstr>
      <vt:lpstr>17.1 스켈레탈 애니메이션</vt:lpstr>
      <vt:lpstr>17-1 스켈레탈 애니메이션의 구현</vt:lpstr>
      <vt:lpstr>17.2 트랜스폼 계층 구조</vt:lpstr>
      <vt:lpstr>17.2 트랜스폼 계층 구조</vt:lpstr>
      <vt:lpstr>17.2 트랜스폼 계층 구조</vt:lpstr>
      <vt:lpstr>17.2.1 트랜스폼 계층 구조 변환</vt:lpstr>
      <vt:lpstr>17.2.1 트랜스폼 계층 구조 변환</vt:lpstr>
      <vt:lpstr>17.2.1 트랜스폼 계층 구조 변환</vt:lpstr>
      <vt:lpstr>17.2.1 트랜스폼 계층 구조 변환</vt:lpstr>
      <vt:lpstr>17.2.1 트랜스폼 계층 구조 변환</vt:lpstr>
      <vt:lpstr>17.2.1 트랜스폼 계층 구조 변환</vt:lpstr>
      <vt:lpstr>17.2.2 로컬 트랜스폼 → 월드 트랜스폼</vt:lpstr>
      <vt:lpstr>17.2.2 로컬 트랜스폼 → 월드 트랜스폼</vt:lpstr>
      <vt:lpstr>17.2.2 로컬 트랜스폼 → 월드 트랜스폼</vt:lpstr>
      <vt:lpstr>17.2.3 월드 트랜스폼 → 로컬 트랜스폼</vt:lpstr>
      <vt:lpstr>17.2.3 월드 트랜스폼 → 로컬 트랜스폼</vt:lpstr>
      <vt:lpstr>17.2.3 월드 트랜스폼 → 로컬 트랜스폼</vt:lpstr>
      <vt:lpstr>17.2.3 월드 트랜스폼 → 로컬 트랜스폼</vt:lpstr>
      <vt:lpstr>17-2 계층 구조를 활용한 태양계 시스템</vt:lpstr>
      <vt:lpstr>17.3 캐릭터 메시와 애니메이션</vt:lpstr>
      <vt:lpstr>17.3 캐릭터 메시와 애니메이션</vt:lpstr>
      <vt:lpstr>17.3 캐릭터 메시와 애니메이션</vt:lpstr>
      <vt:lpstr>17.3 캐릭터 메시와 애니메이션</vt:lpstr>
      <vt:lpstr>17-3 캐릭터 애니메이션 구현</vt:lpstr>
      <vt:lpstr>17-3 캐릭터 애니메이션 구현</vt:lpstr>
      <vt:lpstr>17.4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337</cp:revision>
  <dcterms:created xsi:type="dcterms:W3CDTF">2003-11-30T16:03:20Z</dcterms:created>
  <dcterms:modified xsi:type="dcterms:W3CDTF">2026-05-26T14:31:37Z</dcterms:modified>
</cp:coreProperties>
</file>